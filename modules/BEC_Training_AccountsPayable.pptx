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narration_ap_09.mp3" ContentType="audio/mpeg"/>
  <Override PartName="/ppt/media/narration_ap_11.mp3" ContentType="audio/mpeg"/>
  <Override PartName="/ppt/media/narration_ap_12.mp3" ContentType="audio/mpeg"/>
  <Override PartName="/ppt/media/narration_ap_13.mp3" ContentType="audio/mpeg"/>
  <Override PartName="/ppt/media/narration_ap_18.mp3" ContentType="audio/mpeg"/>
  <Override PartName="/ppt/media/narration_ap_21.mp3" ContentType="audio/mpeg"/>
  <Override PartName="/ppt/media/narration_ap_22.mp3" ContentType="audio/mpeg"/>
  <Override PartName="/ppt/media/narration_ap_25.mp3" ContentType="audio/mpeg"/>
  <Override PartName="/ppt/media/narration_ap_27.mp3" ContentType="audio/mpeg"/>
  <Override PartName="/ppt/media/narration_ap_L01.mp3" ContentType="audio/mpeg"/>
  <Override PartName="/ppt/media/narration_ap_L03.mp3" ContentType="audio/mpeg"/>
  <Override PartName="/ppt/media/narration_ap_L15.mp3" ContentType="audio/mpeg"/>
  <Override PartName="/ppt/media/narration_ap_L18.mp3" ContentType="audio/mpeg"/>
  <Override PartName="/ppt/media/narration_ap_L20.mp3" ContentType="audio/mpeg"/>
  <Override PartName="/ppt/media/narration_ap_L22.mp3" ContentType="audio/mpeg"/>
  <Override PartName="/ppt/media/narration_fix_AP_6.mp3" ContentType="audio/mpeg"/>
  <Override PartName="/ppt/media/narration_slide11.mp3" ContentType="audio/mpeg"/>
  <Override PartName="/ppt/media/narration_slide12.mp3" ContentType="audio/mpeg"/>
  <Override PartName="/ppt/media/narration_slide20.mp3" ContentType="audio/mpeg"/>
  <Override PartName="/ppt/media/narration_slide29.mp3" ContentType="audio/mpeg"/>
  <Override PartName="/ppt/media/narration_slide31.mp3" ContentType="audio/mpeg"/>
  <Override PartName="/ppt/media/narration_v15_ap_05.mp3" ContentType="audio/mpeg"/>
  <Override PartName="/ppt/media/narration_v16_ap_02.mp3" ContentType="audio/mpe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85" r:id="rId35"/>
    <p:sldId id="286" r:id="rId36"/>
    <p:sldId id="258" r:id="rId4"/>
    <p:sldId id="259" r:id="rId5"/>
    <p:sldId id="260" r:id="rId6"/>
    <p:sldId id="294" r:id="rId44"/>
    <p:sldId id="295" r:id="rId45"/>
    <p:sldId id="296" r:id="rId46"/>
    <p:sldId id="297" r:id="rId47"/>
    <p:sldId id="298" r:id="rId48"/>
    <p:sldId id="299" r:id="rId49"/>
    <p:sldId id="292" r:id="rId42"/>
    <p:sldId id="263" r:id="rId11"/>
    <p:sldId id="264" r:id="rId12"/>
    <p:sldId id="265" r:id="rId13"/>
    <p:sldId id="266" r:id="rId14"/>
    <p:sldId id="267" r:id="rId15"/>
    <p:sldId id="301" r:id="rId40"/>
    <p:sldId id="268" r:id="rId16"/>
    <p:sldId id="269" r:id="rId17"/>
    <p:sldId id="270" r:id="rId18"/>
    <p:sldId id="271" r:id="rId19"/>
    <p:sldId id="302" r:id="rId41"/>
    <p:sldId id="272" r:id="rId20"/>
    <p:sldId id="273" r:id="rId21"/>
    <p:sldId id="300" r:id="rId50"/>
    <p:sldId id="275" r:id="rId23"/>
    <p:sldId id="276" r:id="rId24"/>
    <p:sldId id="277" r:id="rId25"/>
    <p:sldId id="278" r:id="rId26"/>
    <p:sldId id="279" r:id="rId27"/>
    <p:sldId id="280" r:id="rId28"/>
    <p:sldId id="281" r:id="rId29"/>
    <p:sldId id="28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kiosk restart="3600000"/>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0" d="100"/>
          <a:sy n="120" d="100"/>
        </p:scale>
        <p:origin x="198"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5.xml"/><Relationship Id="rId5" Type="http://schemas.openxmlformats.org/officeDocument/2006/relationships/slide" Target="slides/slide6.xml"/><Relationship Id="rId6" Type="http://schemas.openxmlformats.org/officeDocument/2006/relationships/slide" Target="slides/slide7.xml"/><Relationship Id="rId11" Type="http://schemas.openxmlformats.org/officeDocument/2006/relationships/slide" Target="slides/slide15.xml"/><Relationship Id="rId12" Type="http://schemas.openxmlformats.org/officeDocument/2006/relationships/slide" Target="slides/slide16.xml"/><Relationship Id="rId13" Type="http://schemas.openxmlformats.org/officeDocument/2006/relationships/slide" Target="slides/slide17.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slide" Target="slides/slide21.xml"/><Relationship Id="rId17" Type="http://schemas.openxmlformats.org/officeDocument/2006/relationships/slide" Target="slides/slide22.xml"/><Relationship Id="rId18" Type="http://schemas.openxmlformats.org/officeDocument/2006/relationships/slide" Target="slides/slide23.xml"/><Relationship Id="rId19" Type="http://schemas.openxmlformats.org/officeDocument/2006/relationships/slide" Target="slides/slide24.xml"/><Relationship Id="rId20" Type="http://schemas.openxmlformats.org/officeDocument/2006/relationships/slide" Target="slides/slide26.xml"/><Relationship Id="rId21" Type="http://schemas.openxmlformats.org/officeDocument/2006/relationships/slide" Target="slides/slide27.xml"/><Relationship Id="rId23" Type="http://schemas.openxmlformats.org/officeDocument/2006/relationships/slide" Target="slides/slide29.xml"/><Relationship Id="rId24" Type="http://schemas.openxmlformats.org/officeDocument/2006/relationships/slide" Target="slides/slide30.xml"/><Relationship Id="rId25" Type="http://schemas.openxmlformats.org/officeDocument/2006/relationships/slide" Target="slides/slide31.xml"/><Relationship Id="rId26" Type="http://schemas.openxmlformats.org/officeDocument/2006/relationships/slide" Target="slides/slide32.xml"/><Relationship Id="rId27" Type="http://schemas.openxmlformats.org/officeDocument/2006/relationships/slide" Target="slides/slide33.xml"/><Relationship Id="rId28" Type="http://schemas.openxmlformats.org/officeDocument/2006/relationships/slide" Target="slides/slide34.xml"/><Relationship Id="rId29" Type="http://schemas.openxmlformats.org/officeDocument/2006/relationships/slide" Target="slides/slide35.xml"/><Relationship Id="rId30" Type="http://schemas.openxmlformats.org/officeDocument/2006/relationships/slide" Target="slides/slide36.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3.xml"/><Relationship Id="rId36" Type="http://schemas.openxmlformats.org/officeDocument/2006/relationships/slide" Target="slides/slide4.xml"/><Relationship Id="rId40" Type="http://schemas.openxmlformats.org/officeDocument/2006/relationships/slide" Target="slides/slide20.xml"/><Relationship Id="rId41" Type="http://schemas.openxmlformats.org/officeDocument/2006/relationships/slide" Target="slides/slide25.xml"/><Relationship Id="rId42" Type="http://schemas.openxmlformats.org/officeDocument/2006/relationships/slide" Target="slides/slide14.xml"/><Relationship Id="rId44" Type="http://schemas.openxmlformats.org/officeDocument/2006/relationships/slide" Target="slides/slide8.xml"/><Relationship Id="rId45" Type="http://schemas.openxmlformats.org/officeDocument/2006/relationships/slide" Target="slides/slide9.xml"/><Relationship Id="rId46" Type="http://schemas.openxmlformats.org/officeDocument/2006/relationships/slide" Target="slides/slide10.xml"/><Relationship Id="rId47" Type="http://schemas.openxmlformats.org/officeDocument/2006/relationships/slide" Target="slides/slide11.xml"/><Relationship Id="rId48" Type="http://schemas.openxmlformats.org/officeDocument/2006/relationships/slide" Target="slides/slide12.xml"/><Relationship Id="rId49" Type="http://schemas.openxmlformats.org/officeDocument/2006/relationships/slide" Target="slides/slide13.xml"/><Relationship Id="rId50"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ap_L01.mp3"/><Relationship Id="rId7" Type="http://schemas.microsoft.com/office/2007/relationships/media" Target="../media/narration_ap_L01.mp3"/><Relationship Id="rId8" Type="http://schemas.openxmlformats.org/officeDocument/2006/relationships/image" Target="../media/audio_icon.png"/></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1.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microsoft.com/office/2007/relationships/media" Target="../media/narration_v16_ap_02.mp3"/><Relationship Id="rId7" Type="http://schemas.openxmlformats.org/officeDocument/2006/relationships/audio" Target="../media/narration_v16_ap_02.mp3"/><Relationship Id="rId8" Type="http://schemas.openxmlformats.org/officeDocument/2006/relationships/image" Target="../media/audio_icon.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ap_L03.mp3"/><Relationship Id="rId4" Type="http://schemas.microsoft.com/office/2007/relationships/media" Target="../media/narration_ap_L03.mp3"/><Relationship Id="rId5" Type="http://schemas.openxmlformats.org/officeDocument/2006/relationships/image" Target="../media/audio_icon.png"/><Relationship Id="rId6" Type="http://schemas.openxmlformats.org/officeDocument/2006/relationships/slide" Target="slide2.xml"/><Relationship Id="rId7"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31.mp3"/><Relationship Id="rId4" Type="http://schemas.microsoft.com/office/2007/relationships/media" Target="../media/narration_slide31.mp3"/><Relationship Id="rId5" Type="http://schemas.openxmlformats.org/officeDocument/2006/relationships/image" Target="../media/audio_icon.png"/><Relationship Id="rId6" Type="http://schemas.openxmlformats.org/officeDocument/2006/relationships/slide" Target="slide3.xml"/><Relationship Id="rId7"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 Target="slide4.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microsoft.com/office/2007/relationships/media" Target="../media/narration_v15_ap_05.mp3"/><Relationship Id="rId7" Type="http://schemas.openxmlformats.org/officeDocument/2006/relationships/audio" Target="../media/narration_v15_ap_05.mp3"/><Relationship Id="rId8" Type="http://schemas.openxmlformats.org/officeDocument/2006/relationships/image" Target="../media/audio_icon.png"/></Relationships>
</file>

<file path=ppt/slides/_rels/slide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5.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fix_AP_6.mp3"/><Relationship Id="rId7" Type="http://schemas.microsoft.com/office/2007/relationships/media" Target="../media/narration_fix_AP_6.mp3"/><Relationship Id="rId8" Type="http://schemas.openxmlformats.org/officeDocument/2006/relationships/image" Target="../media/audio_icon.png"/></Relationships>
</file>

<file path=ppt/slides/_rels/slide7.xml.rels><?xml version='1.0' encoding='UTF-8' standalone='yes'?>
<Relationships xmlns="http://schemas.openxmlformats.org/package/2006/relationships"><Relationship Id="rId1" Type="http://schemas.microsoft.com/office/2007/relationships/media" Target="../media/media5.mp4"/><Relationship Id="rId2" Type="http://schemas.openxmlformats.org/officeDocument/2006/relationships/video" Target="../media/media5.mp4"/><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3.jpg"/><Relationship Id="rId6" Type="http://schemas.openxmlformats.org/officeDocument/2006/relationships/slide" Target="slide6.xml"/><Relationship Id="rId7"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ap_L20.mp3"/><Relationship Id="rId4" Type="http://schemas.microsoft.com/office/2007/relationships/media" Target="../media/narration_ap_L20.mp3"/><Relationship Id="rId5" Type="http://schemas.openxmlformats.org/officeDocument/2006/relationships/image" Target="../media/audio_icon.png"/><Relationship Id="rId6" Type="http://schemas.openxmlformats.org/officeDocument/2006/relationships/slide" Target="slide7.xml"/><Relationship Id="rId7"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audio" Target="../media/narration_ap_09.mp3"/><Relationship Id="rId6" Type="http://schemas.microsoft.com/office/2007/relationships/media" Target="../media/narration_ap_09.mp3"/><Relationship Id="rId7" Type="http://schemas.openxmlformats.org/officeDocument/2006/relationships/image" Target="../media/audio_icon.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ap_L22.mp3"/><Relationship Id="rId4" Type="http://schemas.microsoft.com/office/2007/relationships/media" Target="../media/narration_ap_L22.mp3"/><Relationship Id="rId5" Type="http://schemas.openxmlformats.org/officeDocument/2006/relationships/image" Target="../media/audio_icon.png"/><Relationship Id="rId6" Type="http://schemas.openxmlformats.org/officeDocument/2006/relationships/slide" Target="slide9.xml"/><Relationship Id="rId7"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audio" Target="../media/narration_ap_11.mp3"/><Relationship Id="rId6" Type="http://schemas.microsoft.com/office/2007/relationships/media" Target="../media/narration_ap_11.mp3"/><Relationship Id="rId7" Type="http://schemas.openxmlformats.org/officeDocument/2006/relationships/image" Target="../media/audio_icon.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slide" Target="slide11.xml"/><Relationship Id="rId5" Type="http://schemas.openxmlformats.org/officeDocument/2006/relationships/slide" Target="slide13.xml"/><Relationship Id="rId6" Type="http://schemas.openxmlformats.org/officeDocument/2006/relationships/audio" Target="../media/narration_ap_12.mp3"/><Relationship Id="rId7" Type="http://schemas.microsoft.com/office/2007/relationships/media" Target="../media/narration_ap_12.mp3"/><Relationship Id="rId8" Type="http://schemas.openxmlformats.org/officeDocument/2006/relationships/image" Target="../media/audio_icon.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audio" Target="../media/narration_ap_13.mp3"/><Relationship Id="rId6" Type="http://schemas.microsoft.com/office/2007/relationships/media" Target="../media/narration_ap_13.mp3"/><Relationship Id="rId7" Type="http://schemas.openxmlformats.org/officeDocument/2006/relationships/image" Target="../media/audio_icon.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ap_L18.mp3"/><Relationship Id="rId4" Type="http://schemas.microsoft.com/office/2007/relationships/media" Target="../media/narration_ap_L18.mp3"/><Relationship Id="rId5" Type="http://schemas.openxmlformats.org/officeDocument/2006/relationships/image" Target="../media/audio_icon.png"/><Relationship Id="rId6" Type="http://schemas.openxmlformats.org/officeDocument/2006/relationships/slide" Target="slide13.xml"/><Relationship Id="rId7"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4.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slide12.mp3"/><Relationship Id="rId7" Type="http://schemas.microsoft.com/office/2007/relationships/media" Target="../media/narration_slide12.mp3"/><Relationship Id="rId8" Type="http://schemas.openxmlformats.org/officeDocument/2006/relationships/image" Target="../media/audio_icon.png"/></Relationships>
</file>

<file path=ppt/slides/_rels/slide1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5.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slide11.mp3"/><Relationship Id="rId7" Type="http://schemas.microsoft.com/office/2007/relationships/media" Target="../media/narration_slide11.mp3"/><Relationship Id="rId8" Type="http://schemas.openxmlformats.org/officeDocument/2006/relationships/image" Target="../media/audio_icon.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8.xml"/><Relationship Id="rId4" Type="http://schemas.openxmlformats.org/officeDocument/2006/relationships/slide" Target="slide20.xml"/><Relationship Id="rId5" Type="http://schemas.openxmlformats.org/officeDocument/2006/relationships/slide" Target="slide16.xml"/><Relationship Id="rId6" Type="http://schemas.openxmlformats.org/officeDocument/2006/relationships/audio" Target="../media/narration_ap_18.mp3"/><Relationship Id="rId7" Type="http://schemas.microsoft.com/office/2007/relationships/media" Target="../media/narration_ap_18.mp3"/><Relationship Id="rId8" Type="http://schemas.openxmlformats.org/officeDocument/2006/relationships/image" Target="../media/audio_icon.png"/><Relationship Id="rId9" Type="http://schemas.openxmlformats.org/officeDocument/2006/relationships/slide" Target="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7.xml"/><Relationship Id="rId4" Type="http://schemas.openxmlformats.org/officeDocument/2006/relationships/slide" Target="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7.xml"/><Relationship Id="rId4" Type="http://schemas.openxmlformats.org/officeDocument/2006/relationships/slide" Target="slide22.xml"/><Relationship Id="rId5" Type="http://schemas.openxmlformats.org/officeDocument/2006/relationships/audio" Target="../media/narration_ap_21.mp3"/><Relationship Id="rId6" Type="http://schemas.microsoft.com/office/2007/relationships/media" Target="../media/narration_ap_21.mp3"/><Relationship Id="rId7" Type="http://schemas.openxmlformats.org/officeDocument/2006/relationships/image" Target="../media/audio_icon.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3.xml"/><Relationship Id="rId4" Type="http://schemas.openxmlformats.org/officeDocument/2006/relationships/slide" Target="slide24.xml"/><Relationship Id="rId5" Type="http://schemas.openxmlformats.org/officeDocument/2006/relationships/slide" Target="slide21.xml"/><Relationship Id="rId6" Type="http://schemas.openxmlformats.org/officeDocument/2006/relationships/audio" Target="../media/narration_ap_22.mp3"/><Relationship Id="rId7" Type="http://schemas.microsoft.com/office/2007/relationships/media" Target="../media/narration_ap_22.mp3"/><Relationship Id="rId8" Type="http://schemas.openxmlformats.org/officeDocument/2006/relationships/image" Target="../media/audio_icon.png"/><Relationship Id="rId9" Type="http://schemas.openxmlformats.org/officeDocument/2006/relationships/slide" Target="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6.xml"/><Relationship Id="rId4" Type="http://schemas.openxmlformats.org/officeDocument/2006/relationships/slide" Target="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6.xml"/><Relationship Id="rId4" Type="http://schemas.openxmlformats.org/officeDocument/2006/relationships/slide" Target="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2.xml"/><Relationship Id="rId4" Type="http://schemas.openxmlformats.org/officeDocument/2006/relationships/slide" Target="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2.xml"/><Relationship Id="rId4" Type="http://schemas.openxmlformats.org/officeDocument/2006/relationships/slide" Target="slide27.xml"/><Relationship Id="rId5" Type="http://schemas.openxmlformats.org/officeDocument/2006/relationships/audio" Target="../media/narration_ap_25.mp3"/><Relationship Id="rId6" Type="http://schemas.microsoft.com/office/2007/relationships/media" Target="../media/narration_ap_25.mp3"/><Relationship Id="rId7" Type="http://schemas.openxmlformats.org/officeDocument/2006/relationships/image" Target="../media/audio_icon.png"/></Relationships>
</file>

<file path=ppt/slides/_rels/slide27.xml.rels><?xml version='1.0' encoding='UTF-8' standalone='yes'?>
<Relationships xmlns="http://schemas.openxmlformats.org/package/2006/relationships"><Relationship Id="rId1" Type="http://schemas.openxmlformats.org/officeDocument/2006/relationships/slide" Target="slide28.xml"/><Relationship Id="rId2" Type="http://schemas.openxmlformats.org/officeDocument/2006/relationships/slide" Target="slide26.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slide20.mp3"/><Relationship Id="rId7" Type="http://schemas.microsoft.com/office/2007/relationships/media" Target="../media/narration_slide20.mp3"/><Relationship Id="rId8" Type="http://schemas.openxmlformats.org/officeDocument/2006/relationships/image" Target="../media/audio_icon.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7.xml"/><Relationship Id="rId4" Type="http://schemas.openxmlformats.org/officeDocument/2006/relationships/slide" Target="slide29.xml"/><Relationship Id="rId5" Type="http://schemas.openxmlformats.org/officeDocument/2006/relationships/audio" Target="../media/narration_ap_27.mp3"/><Relationship Id="rId6" Type="http://schemas.microsoft.com/office/2007/relationships/media" Target="../media/narration_ap_27.mp3"/><Relationship Id="rId7" Type="http://schemas.openxmlformats.org/officeDocument/2006/relationships/image" Target="../media/audio_icon.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1.xml"/><Relationship Id="rId4" Type="http://schemas.openxmlformats.org/officeDocument/2006/relationships/slide" Target="slide30.xml"/><Relationship Id="rId5" Type="http://schemas.openxmlformats.org/officeDocument/2006/relationships/slide" Target="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2.xml"/><Relationship Id="rId4" Type="http://schemas.openxmlformats.org/officeDocument/2006/relationships/slide" Target="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2.xml"/><Relationship Id="rId4" Type="http://schemas.openxmlformats.org/officeDocument/2006/relationships/slide" Target="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3.xml"/><Relationship Id="rId4" Type="http://schemas.openxmlformats.org/officeDocument/2006/relationships/slide" Target="slide34.xml"/><Relationship Id="rId5" Type="http://schemas.openxmlformats.org/officeDocument/2006/relationships/slide" Target="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5.xml"/><Relationship Id="rId4" Type="http://schemas.openxmlformats.org/officeDocument/2006/relationships/slide" Target="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5.xml"/><Relationship Id="rId4" Type="http://schemas.openxmlformats.org/officeDocument/2006/relationships/slide" Target="slide32.xml"/></Relationships>
</file>

<file path=ppt/slides/_rels/slide35.xml.rels><?xml version='1.0' encoding='UTF-8' standalone='yes'?>
<Relationships xmlns="http://schemas.openxmlformats.org/package/2006/relationships"><Relationship Id="rId1" Type="http://schemas.openxmlformats.org/officeDocument/2006/relationships/slide" Target="slide36.xml"/><Relationship Id="rId2" Type="http://schemas.openxmlformats.org/officeDocument/2006/relationships/slide" Target="slide32.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ap_L15.mp3"/><Relationship Id="rId7" Type="http://schemas.microsoft.com/office/2007/relationships/media" Target="../media/narration_ap_L15.mp3"/><Relationship Id="rId8" Type="http://schemas.openxmlformats.org/officeDocument/2006/relationships/image" Target="../media/audio_icon.png"/></Relationships>
</file>

<file path=ppt/slides/_rels/slide36.xml.rels><?xml version='1.0' encoding='UTF-8' standalone='yes'?>
<Relationships xmlns="http://schemas.openxmlformats.org/package/2006/relationships"><Relationship Id="rId2" Type="http://schemas.openxmlformats.org/officeDocument/2006/relationships/slide" Target="slide35.xml"/><Relationship Id="rId3" Type="http://schemas.openxmlformats.org/officeDocument/2006/relationships/slideLayout" Target="../slideLayouts/slideLayout7.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audio" Target="../media/narration_slide29.mp3"/><Relationship Id="rId7" Type="http://schemas.microsoft.com/office/2007/relationships/media" Target="../media/narration_slide29.mp3"/><Relationship Id="rId8" Type="http://schemas.openxmlformats.org/officeDocument/2006/relationships/image" Target="../media/audio_icon.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31520" y="893064"/>
            <a:ext cx="10698480" cy="1578864"/>
          </a:xfrm>
          <a:prstGeom prst="rect">
            <a:avLst/>
          </a:prstGeom>
          <a:noFill/>
        </p:spPr>
        <p:txBody>
          <a:bodyPr wrap="none">
            <a:spAutoFit/>
          </a:bodyPr>
          <a:lstStyle/>
          <a:p>
            <a:pPr algn="ctr"/>
            <a:r>
              <a:rPr sz="4800" b="1">
                <a:solidFill>
                  <a:srgbClr val="000000"/>
                </a:solidFill>
              </a:rPr>
              <a:t>BUSINESS EMAIL COMPROMISE TRAINING</a:t>
            </a:r>
          </a:p>
        </p:txBody>
      </p:sp>
      <p:sp>
        <p:nvSpPr>
          <p:cNvPr id="5" name="TextBox 4"/>
          <p:cNvSpPr txBox="1"/>
          <p:nvPr/>
        </p:nvSpPr>
        <p:spPr>
          <a:xfrm>
            <a:off x="792480" y="2816352"/>
            <a:ext cx="10607040" cy="649224"/>
          </a:xfrm>
          <a:prstGeom prst="rect">
            <a:avLst/>
          </a:prstGeom>
          <a:noFill/>
        </p:spPr>
        <p:txBody>
          <a:bodyPr wrap="square">
            <a:spAutoFit/>
          </a:bodyPr>
          <a:lstStyle/>
          <a:p>
            <a:pPr algn="ctr"/>
            <a:r>
              <a:rPr sz="3600" b="1" i="0">
                <a:solidFill>
                  <a:srgbClr val="333333"/>
                </a:solidFill>
              </a:rPr>
              <a:t>Accounts Payable Team Edition</a:t>
            </a:r>
          </a:p>
        </p:txBody>
      </p:sp>
      <p:sp>
        <p:nvSpPr>
          <p:cNvPr id="6" name="TextBox 5"/>
          <p:cNvSpPr txBox="1"/>
          <p:nvPr/>
        </p:nvSpPr>
        <p:spPr>
          <a:xfrm>
            <a:off x="792480" y="3810000"/>
            <a:ext cx="10607040" cy="649224"/>
          </a:xfrm>
          <a:prstGeom prst="rect">
            <a:avLst/>
          </a:prstGeom>
          <a:noFill/>
        </p:spPr>
        <p:txBody>
          <a:bodyPr wrap="square">
            <a:spAutoFit/>
          </a:bodyPr>
          <a:lstStyle/>
          <a:p>
            <a:pPr algn="ctr"/>
            <a:r>
              <a:rPr sz="3600" b="1" i="0">
                <a:solidFill>
                  <a:srgbClr val="2E6B8F"/>
                </a:solidFill>
              </a:rPr>
              <a:t>Detect  →  Verify  →  Contain</a:t>
            </a:r>
          </a:p>
        </p:txBody>
      </p:sp>
      <p:sp>
        <p:nvSpPr>
          <p:cNvPr id="7" name="TextBox 6"/>
          <p:cNvSpPr txBox="1"/>
          <p:nvPr/>
        </p:nvSpPr>
        <p:spPr>
          <a:xfrm>
            <a:off x="792480" y="4803648"/>
            <a:ext cx="10607040" cy="1207008"/>
          </a:xfrm>
          <a:prstGeom prst="rect">
            <a:avLst/>
          </a:prstGeom>
          <a:noFill/>
        </p:spPr>
        <p:txBody>
          <a:bodyPr wrap="square">
            <a:spAutoFit/>
          </a:bodyPr>
          <a:lstStyle/>
          <a:p>
            <a:pPr algn="ctr"/>
            <a:r>
              <a:rPr sz="3600" b="0" i="1">
                <a:solidFill>
                  <a:srgbClr val="333333"/>
                </a:solidFill>
              </a:rPr>
              <a:t>Invoices, bank details and payment approvals all pass through your desk. One habit protects them all.</a:t>
            </a:r>
          </a:p>
        </p:txBody>
      </p:sp>
      <p:pic>
        <p:nvPicPr>
          <p:cNvPr id="8" name="narration_ap_L01.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9" name="Kiosk Next">
            <a:hlinkClick r:id="rId2" action="ppaction://hlinksldjump"/>
          </p:cNvPr>
          <p:cNvSpPr/>
          <p:nvPr/>
        </p:nvSpPr>
        <p:spPr>
          <a:xfrm>
            <a:off x="536448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849" fill="hold"/>
                                        <p:tgtEl>
                                          <p:spTgt spid="8"/>
                                        </p:tgtEl>
                                      </p:cBhvr>
                                    </p:cmd>
                                  </p:childTnLst>
                                </p:cTn>
                              </p:par>
                              <p:par>
                                <p:cTn id="20" presetID="26" presetClass="emph" presetSubtype="0" repeatCount="indefinite" fill="hold" grpId="0" nodeType="withEffect">
                                  <p:stCondLst>
                                    <p:cond delay="23849"/>
                                  </p:stCondLst>
                                  <p:childTnLst>
                                    <p:animEffect transition="out" filter="fade">
                                      <p:cBhvr>
                                        <p:cTn id="21" dur="1000" tmFilter="0, 0; .2, .5; .8, .5; 1, 0"/>
                                        <p:tgtEl>
                                          <p:spTgt spid="9"/>
                                        </p:tgtEl>
                                      </p:cBhvr>
                                    </p:animEffect>
                                    <p:animScale>
                                      <p:cBhvr>
                                        <p:cTn id="22" dur="500" autoRev="1" fill="hold"/>
                                        <p:tgtEl>
                                          <p:spTgt spid="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8"/>
                </p:tgtEl>
              </p:cMediaNode>
            </p:audio>
          </p:childTnLst>
        </p:cTn>
      </p:par>
    </p:tnLst>
    <p:bldLst>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AGENDA</a:t>
            </a:r>
          </a:p>
        </p:txBody>
      </p:sp>
      <p:sp>
        <p:nvSpPr>
          <p:cNvPr id="5" name="TextBox 4"/>
          <p:cNvSpPr txBox="1"/>
          <p:nvPr/>
        </p:nvSpPr>
        <p:spPr>
          <a:xfrm>
            <a:off x="792480" y="1375918"/>
            <a:ext cx="10607040" cy="4422140"/>
          </a:xfrm>
          <a:prstGeom prst="rect">
            <a:avLst/>
          </a:prstGeom>
          <a:noFill/>
        </p:spPr>
        <p:txBody>
          <a:bodyPr wrap="square">
            <a:spAutoFit/>
          </a:bodyPr>
          <a:lstStyle/>
          <a:p>
            <a:pPr marL="363474" indent="-363474">
              <a:spcAft>
                <a:spcPts val="848"/>
              </a:spcAft>
              <a:buFont typeface="Arial"/>
              <a:buChar char="•"/>
              <a:defRPr sz="2100">
                <a:solidFill>
                  <a:srgbClr val="333333"/>
                </a:solidFill>
              </a:defRPr>
            </a:pPr>
            <a:r>
              <a:rPr sz="2000">
                <a:solidFill>
                  <a:srgbClr val="333333"/>
                </a:solidFill>
              </a:rPr>
              <a:t>What business email compromise is, and why your desk is the target</a:t>
            </a:r>
          </a:p>
          <a:p>
            <a:pPr marL="363474" indent="-363474">
              <a:spcAft>
                <a:spcPts val="848"/>
              </a:spcAft>
              <a:buFont typeface="Arial"/>
              <a:buChar char="•"/>
              <a:defRPr sz="2100">
                <a:solidFill>
                  <a:srgbClr val="333333"/>
                </a:solidFill>
              </a:defRPr>
            </a:pPr>
            <a:r>
              <a:rPr sz="2000" b="1">
                <a:solidFill>
                  <a:srgbClr val="333333"/>
                </a:solidFill>
              </a:rPr>
              <a:t>Phase 1, Detect</a:t>
            </a:r>
          </a:p>
          <a:p>
            <a:pPr marL="363474" indent="-363474">
              <a:spcAft>
                <a:spcPts val="848"/>
              </a:spcAft>
              <a:buFont typeface="Arial"/>
              <a:buChar char="◦"/>
              <a:defRPr sz="2100">
                <a:solidFill>
                  <a:srgbClr val="333333"/>
                </a:solidFill>
              </a:defRPr>
            </a:pPr>
            <a:r>
              <a:rPr sz="2000">
                <a:solidFill>
                  <a:srgbClr val="333333"/>
                </a:solidFill>
              </a:rPr>
              <a:t>Two email red flags, and the psychology behind them</a:t>
            </a:r>
          </a:p>
          <a:p>
            <a:pPr marL="363474" indent="-363474">
              <a:spcAft>
                <a:spcPts val="848"/>
              </a:spcAft>
              <a:buFont typeface="Arial"/>
              <a:buChar char="◦"/>
              <a:defRPr sz="2100">
                <a:solidFill>
                  <a:srgbClr val="333333"/>
                </a:solidFill>
              </a:defRPr>
            </a:pPr>
            <a:r>
              <a:rPr sz="2000">
                <a:solidFill>
                  <a:srgbClr val="333333"/>
                </a:solidFill>
              </a:rPr>
              <a:t>Text messages, QR codes and ClickFix</a:t>
            </a:r>
          </a:p>
          <a:p>
            <a:pPr marL="363474" indent="-363474">
              <a:spcAft>
                <a:spcPts val="848"/>
              </a:spcAft>
              <a:buFont typeface="Arial"/>
              <a:buChar char="◦"/>
              <a:defRPr sz="2100">
                <a:solidFill>
                  <a:srgbClr val="333333"/>
                </a:solidFill>
              </a:defRPr>
            </a:pPr>
            <a:r>
              <a:rPr sz="2000">
                <a:solidFill>
                  <a:srgbClr val="333333"/>
                </a:solidFill>
              </a:rPr>
              <a:t>AI-written emails</a:t>
            </a:r>
          </a:p>
          <a:p>
            <a:pPr marL="363474" indent="-363474">
              <a:spcAft>
                <a:spcPts val="848"/>
              </a:spcAft>
              <a:buFont typeface="Arial"/>
              <a:buChar char="•"/>
              <a:defRPr sz="2100">
                <a:solidFill>
                  <a:srgbClr val="333333"/>
                </a:solidFill>
              </a:defRPr>
            </a:pPr>
            <a:r>
              <a:rPr sz="2000" b="1">
                <a:solidFill>
                  <a:srgbClr val="333333"/>
                </a:solidFill>
              </a:rPr>
              <a:t>Phase 2, Verify</a:t>
            </a:r>
          </a:p>
          <a:p>
            <a:pPr marL="363474" indent="-363474">
              <a:spcAft>
                <a:spcPts val="848"/>
              </a:spcAft>
              <a:buFont typeface="Arial"/>
              <a:buChar char="◦"/>
              <a:defRPr sz="2100">
                <a:solidFill>
                  <a:srgbClr val="333333"/>
                </a:solidFill>
              </a:defRPr>
            </a:pPr>
            <a:r>
              <a:rPr sz="2000">
                <a:solidFill>
                  <a:srgbClr val="333333"/>
                </a:solidFill>
              </a:rPr>
              <a:t>The one habit that stops it</a:t>
            </a:r>
          </a:p>
          <a:p>
            <a:pPr marL="363474" indent="-363474">
              <a:spcAft>
                <a:spcPts val="848"/>
              </a:spcAft>
              <a:buFont typeface="Arial"/>
              <a:buChar char="◦"/>
              <a:defRPr sz="2100">
                <a:solidFill>
                  <a:srgbClr val="333333"/>
                </a:solidFill>
              </a:defRPr>
            </a:pPr>
            <a:r>
              <a:rPr sz="2000">
                <a:solidFill>
                  <a:srgbClr val="333333"/>
                </a:solidFill>
              </a:rPr>
              <a:t>Two scenarios: an AI cloned voice and an AI deepfake video</a:t>
            </a:r>
          </a:p>
          <a:p>
            <a:pPr marL="363474" indent="-363474">
              <a:spcAft>
                <a:spcPts val="848"/>
              </a:spcAft>
              <a:buFont typeface="Arial"/>
              <a:buChar char="•"/>
              <a:defRPr sz="2100">
                <a:solidFill>
                  <a:srgbClr val="333333"/>
                </a:solidFill>
              </a:defRPr>
            </a:pPr>
            <a:r>
              <a:rPr sz="2000" b="1">
                <a:solidFill>
                  <a:srgbClr val="333333"/>
                </a:solidFill>
              </a:rPr>
              <a:t>Phase 3, Contain</a:t>
            </a:r>
          </a:p>
          <a:p>
            <a:pPr marL="363474" indent="-363474">
              <a:spcAft>
                <a:spcPts val="848"/>
              </a:spcAft>
              <a:buFont typeface="Arial"/>
              <a:buChar char="◦"/>
              <a:defRPr sz="2100">
                <a:solidFill>
                  <a:srgbClr val="333333"/>
                </a:solidFill>
              </a:defRPr>
            </a:pPr>
            <a:r>
              <a:rPr sz="2000">
                <a:solidFill>
                  <a:srgbClr val="333333"/>
                </a:solidFill>
              </a:rPr>
              <a:t>What to do if you suspect an attempt, and a knowledge check</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a:t>
            </a:r>
          </a:p>
        </p:txBody>
      </p:sp>
      <p:sp>
        <p:nvSpPr>
          <p:cNvPr id="8" name="Kiosk Previous">
            <a:hlinkClick r:id="rId2"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1"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10" name="narration_v16_ap_02.mp3">
            <a:hlinkClick r:id="" action="ppaction://media"/>
          </p:cNvPr>
          <p:cNvPicPr>
            <a:picLocks noChangeAspect="1"/>
          </p:cNvPicPr>
          <p:nvPr>
            <a:audioFile r:link="rId7"/>
            <p:extLst>
              <p:ext uri="{DAA4B4D4-6D71-4841-9C94-3DE7FCFB9230}">
                <p14:media xmlns:p14="http://schemas.microsoft.com/office/powerpoint/2010/main" r:embed="rId6"/>
              </p:ext>
            </p:extLst>
          </p:nvPr>
        </p:nvPicPr>
        <p:blipFill>
          <a:blip r:embed="rId8"/>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265" fill="hold"/>
                                        <p:tgtEl>
                                          <p:spTgt spid="10"/>
                                        </p:tgtEl>
                                      </p:cBhvr>
                                    </p:cmd>
                                  </p:childTnLst>
                                </p:cTn>
                              </p:par>
                              <p:par>
                                <p:cTn id="20" presetID="26" presetClass="emph" presetSubtype="0" repeatCount="indefinite" fill="hold" grpId="0" nodeType="withEffect">
                                  <p:stCondLst>
                                    <p:cond delay="35265"/>
                                  </p:stCondLst>
                                  <p:childTnLst>
                                    <p:animEffect transition="out" filter="fade">
                                      <p:cBhvr>
                                        <p:cTn id="21" dur="1000" tmFilter="0, 0; .2, .5; .8, .5; 1, 0"/>
                                        <p:tgtEl>
                                          <p:spTgt spid="9"/>
                                        </p:tgtEl>
                                      </p:cBhvr>
                                    </p:animEffect>
                                    <p:animScale>
                                      <p:cBhvr>
                                        <p:cTn id="22" dur="500" autoRev="1" fill="hold"/>
                                        <p:tgtEl>
                                          <p:spTgt spid="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457200" y="457200"/>
            <a:ext cx="11247120" cy="789939"/>
          </a:xfrm>
          <a:prstGeom prst="rect">
            <a:avLst/>
          </a:prstGeom>
          <a:noFill/>
        </p:spPr>
        <p:txBody>
          <a:bodyPr wrap="square">
            <a:spAutoFit/>
          </a:bodyPr>
          <a:lstStyle/>
          <a:p>
            <a:pPr algn="ctr"/>
            <a:r>
              <a:rPr sz="4400" b="1">
                <a:solidFill>
                  <a:srgbClr val="000000"/>
                </a:solidFill>
              </a:rPr>
              <a:t>WHAT IS BUSINESS EMAIL COMPROMISE?</a:t>
            </a:r>
          </a:p>
        </p:txBody>
      </p:sp>
      <p:sp>
        <p:nvSpPr>
          <p:cNvPr id="5" name="TextBox 4"/>
          <p:cNvSpPr txBox="1"/>
          <p:nvPr/>
        </p:nvSpPr>
        <p:spPr>
          <a:xfrm>
            <a:off x="792480" y="1453575"/>
            <a:ext cx="10607040" cy="1392936"/>
          </a:xfrm>
          <a:prstGeom prst="rect">
            <a:avLst/>
          </a:prstGeom>
          <a:noFill/>
        </p:spPr>
        <p:txBody>
          <a:bodyPr wrap="square">
            <a:spAutoFit/>
          </a:bodyPr>
          <a:lstStyle/>
          <a:p>
            <a:pPr algn="l"/>
            <a:r>
              <a:rPr sz="2000">
                <a:solidFill>
                  <a:srgbClr val="333333"/>
                </a:solidFill>
              </a:rPr>
              <a:t>BEC, also called email account compromise, is a scam in which a criminal impersonates someone you trust, or breaks into their real email account, to trick you into redirecting a payment. Either way, the message looks completely legitimate and asks for something you would normally do.</a:t>
            </a:r>
          </a:p>
        </p:txBody>
      </p:sp>
      <p:sp>
        <p:nvSpPr>
          <p:cNvPr id="6" name="Rounded Rectangle 5"/>
          <p:cNvSpPr/>
          <p:nvPr/>
        </p:nvSpPr>
        <p:spPr>
          <a:xfrm>
            <a:off x="929640" y="2932550"/>
            <a:ext cx="10332720" cy="2723842"/>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59"/>
              </a:spcAft>
            </a:pPr>
            <a:r>
              <a:rPr sz="2000" b="1">
                <a:solidFill>
                  <a:srgbClr val="000000"/>
                </a:solidFill>
              </a:rPr>
              <a:t>From: Accounts, Stratton Supplies &lt;accounts@stratton-supplies.co&gt;</a:t>
            </a:r>
          </a:p>
          <a:p>
            <a:pPr>
              <a:spcAft>
                <a:spcPts val="659"/>
              </a:spcAft>
            </a:pPr>
            <a:r>
              <a:rPr sz="2000" b="1">
                <a:solidFill>
                  <a:srgbClr val="000000"/>
                </a:solidFill>
              </a:rPr>
              <a:t>Subject: Updated Bank Details for Next Invoice</a:t>
            </a:r>
          </a:p>
          <a:p>
            <a:pPr>
              <a:spcAft>
                <a:spcPts val="659"/>
              </a:spcAft>
            </a:pPr>
            <a:r>
              <a:rPr sz="2000" b="0">
                <a:solidFill>
                  <a:srgbClr val="000000"/>
                </a:solidFill>
              </a:rPr>
              <a:t/>
            </a:r>
          </a:p>
          <a:p>
            <a:pPr>
              <a:spcAft>
                <a:spcPts val="659"/>
              </a:spcAft>
            </a:pPr>
            <a:r>
              <a:rPr sz="2000" b="0">
                <a:solidFill>
                  <a:srgbClr val="000000"/>
                </a:solidFill>
              </a:rPr>
              <a:t>“We've changed banks recently, so please use the new account details attached for your next payment to us. Let us know if you have any questions. Regards, Stratton Supplies”</a:t>
            </a:r>
          </a:p>
        </p:txBody>
      </p:sp>
      <p:sp>
        <p:nvSpPr>
          <p:cNvPr id="7" name="TextBox 6"/>
          <p:cNvSpPr txBox="1"/>
          <p:nvPr/>
        </p:nvSpPr>
        <p:spPr>
          <a:xfrm>
            <a:off x="10698480" y="6309360"/>
            <a:ext cx="1280160" cy="365760"/>
          </a:xfrm>
          <a:prstGeom prst="rect">
            <a:avLst/>
          </a:prstGeom>
          <a:noFill/>
        </p:spPr>
        <p:txBody>
          <a:bodyPr wrap="none">
            <a:spAutoFit/>
          </a:bodyPr>
          <a:lstStyle/>
          <a:p>
            <a:r>
              <a:rPr/>
              <a:t>3</a:t>
            </a:r>
          </a:p>
        </p:txBody>
      </p:sp>
      <p:pic>
        <p:nvPicPr>
          <p:cNvPr id="102" name="narration_ap_L03.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03"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Sources: FBI IC3 PSA I-091124, I-061118; IC3 2025 Annual Report</a:t>
            </a:r>
          </a:p>
        </p:txBody>
      </p:sp>
      <p:sp>
        <p:nvSpPr>
          <p:cNvPr id="104" name="Kiosk Previous">
            <a:hlinkClick r:id="rId6"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05" name="Kiosk Next">
            <a:hlinkClick r:id="rId7"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933" fill="hold"/>
                                        <p:tgtEl>
                                          <p:spTgt spid="102"/>
                                        </p:tgtEl>
                                      </p:cBhvr>
                                    </p:cmd>
                                  </p:childTnLst>
                                </p:cTn>
                              </p:par>
                              <p:par>
                                <p:cTn id="20" presetID="26" presetClass="emph" presetSubtype="0" repeatCount="indefinite" fill="hold" grpId="0" nodeType="withEffect">
                                  <p:stCondLst>
                                    <p:cond delay="33933"/>
                                  </p:stCondLst>
                                  <p:childTnLst>
                                    <p:animEffect transition="out" filter="fade">
                                      <p:cBhvr>
                                        <p:cTn id="21" dur="1000" tmFilter="0, 0; .2, .5; .8, .5; 1, 0"/>
                                        <p:tgtEl>
                                          <p:spTgt spid="105"/>
                                        </p:tgtEl>
                                      </p:cBhvr>
                                    </p:animEffect>
                                    <p:animScale>
                                      <p:cBhvr>
                                        <p:cTn id="22" dur="500" autoRev="1" fill="hold"/>
                                        <p:tgtEl>
                                          <p:spTgt spid="10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2"/>
                </p:tgtEl>
              </p:cMediaNode>
            </p:audio>
          </p:childTnLst>
        </p:cTn>
      </p:par>
    </p:tnLst>
    <p:bldLst>
      <p:bldP spid="105"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457200" y="457200"/>
            <a:ext cx="11247120" cy="789939"/>
          </a:xfrm>
          <a:prstGeom prst="rect">
            <a:avLst/>
          </a:prstGeom>
          <a:noFill/>
        </p:spPr>
        <p:txBody>
          <a:bodyPr wrap="square">
            <a:spAutoFit/>
          </a:bodyPr>
          <a:lstStyle/>
          <a:p>
            <a:pPr algn="ctr"/>
            <a:r>
              <a:rPr sz="4400" b="1">
                <a:solidFill>
                  <a:srgbClr val="000000"/>
                </a:solidFill>
              </a:rPr>
              <a:t>HOW A BEC ATTACK ACTUALLY FLOWS</a:t>
            </a:r>
          </a:p>
        </p:txBody>
      </p:sp>
      <p:sp>
        <p:nvSpPr>
          <p:cNvPr id="5" name="Rounded Rectangle 4"/>
          <p:cNvSpPr/>
          <p:nvPr/>
        </p:nvSpPr>
        <p:spPr>
          <a:xfrm>
            <a:off x="548640" y="1846466"/>
            <a:ext cx="2622804" cy="3526764"/>
          </a:xfrm>
          <a:prstGeom prst="roundRect">
            <a:avLst>
              <a:gd name="adj" fmla="val 8000"/>
            </a:avLst>
          </a:prstGeom>
          <a:solidFill>
            <a:srgbClr val="2E6B8F"/>
          </a:solidFill>
          <a:ln>
            <a:solidFill>
              <a:srgbClr val="2E6B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1. RESEARCH</a:t>
            </a:r>
          </a:p>
          <a:p>
            <a:pPr algn="ctr"/>
            <a:r>
              <a:rPr sz="2800">
                <a:solidFill>
                  <a:srgbClr val="FFFFFF"/>
                </a:solidFill>
              </a:rPr>
              <a:t>The attacker studies vendor names, invoice patterns, and who approves payments</a:t>
            </a:r>
          </a:p>
        </p:txBody>
      </p:sp>
      <p:sp>
        <p:nvSpPr>
          <p:cNvPr id="6" name="TextBox 5"/>
          <p:cNvSpPr txBox="1"/>
          <p:nvPr/>
        </p:nvSpPr>
        <p:spPr>
          <a:xfrm>
            <a:off x="3125724" y="3335528"/>
            <a:ext cx="292608" cy="548640"/>
          </a:xfrm>
          <a:prstGeom prst="rect">
            <a:avLst/>
          </a:prstGeom>
          <a:noFill/>
        </p:spPr>
        <p:txBody>
          <a:bodyPr wrap="none">
            <a:spAutoFit/>
          </a:bodyPr>
          <a:lstStyle/>
          <a:p>
            <a:pPr algn="ctr"/>
            <a:r>
              <a:rPr sz="2000" b="1">
                <a:solidFill>
                  <a:srgbClr val="2E6B8F"/>
                </a:solidFill>
              </a:rPr>
              <a:t>→</a:t>
            </a:r>
          </a:p>
        </p:txBody>
      </p:sp>
      <p:sp>
        <p:nvSpPr>
          <p:cNvPr id="7" name="Rounded Rectangle 6"/>
          <p:cNvSpPr/>
          <p:nvPr/>
        </p:nvSpPr>
        <p:spPr>
          <a:xfrm>
            <a:off x="3372612" y="1846466"/>
            <a:ext cx="2622804" cy="3526764"/>
          </a:xfrm>
          <a:prstGeom prst="roundRect">
            <a:avLst>
              <a:gd name="adj" fmla="val 8000"/>
            </a:avLst>
          </a:prstGeom>
          <a:solidFill>
            <a:srgbClr val="2E6B8F"/>
          </a:solidFill>
          <a:ln>
            <a:solidFill>
              <a:srgbClr val="2E6B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2. SPOOF</a:t>
            </a:r>
          </a:p>
          <a:p>
            <a:pPr algn="ctr"/>
            <a:r>
              <a:rPr sz="2800">
                <a:solidFill>
                  <a:srgbClr val="FFFFFF"/>
                </a:solidFill>
              </a:rPr>
              <a:t>A lookalike domain, or a real mailbox the attacker has broken into</a:t>
            </a:r>
          </a:p>
        </p:txBody>
      </p:sp>
      <p:sp>
        <p:nvSpPr>
          <p:cNvPr id="8" name="TextBox 7"/>
          <p:cNvSpPr txBox="1"/>
          <p:nvPr/>
        </p:nvSpPr>
        <p:spPr>
          <a:xfrm>
            <a:off x="5949696" y="3335528"/>
            <a:ext cx="292608" cy="548640"/>
          </a:xfrm>
          <a:prstGeom prst="rect">
            <a:avLst/>
          </a:prstGeom>
          <a:noFill/>
        </p:spPr>
        <p:txBody>
          <a:bodyPr wrap="none">
            <a:spAutoFit/>
          </a:bodyPr>
          <a:lstStyle/>
          <a:p>
            <a:pPr algn="ctr"/>
            <a:r>
              <a:rPr sz="2000" b="1">
                <a:solidFill>
                  <a:srgbClr val="2E6B8F"/>
                </a:solidFill>
              </a:rPr>
              <a:t>→</a:t>
            </a:r>
          </a:p>
        </p:txBody>
      </p:sp>
      <p:sp>
        <p:nvSpPr>
          <p:cNvPr id="9" name="Rounded Rectangle 8"/>
          <p:cNvSpPr/>
          <p:nvPr/>
        </p:nvSpPr>
        <p:spPr>
          <a:xfrm>
            <a:off x="6196584" y="1846466"/>
            <a:ext cx="2622804" cy="3526764"/>
          </a:xfrm>
          <a:prstGeom prst="roundRect">
            <a:avLst>
              <a:gd name="adj" fmla="val 8000"/>
            </a:avLst>
          </a:prstGeom>
          <a:solidFill>
            <a:srgbClr val="2E6B8F"/>
          </a:solidFill>
          <a:ln>
            <a:solidFill>
              <a:srgbClr val="2E6B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3. URGENCY</a:t>
            </a:r>
          </a:p>
          <a:p>
            <a:pPr algn="ctr"/>
            <a:r>
              <a:rPr sz="2800">
                <a:solidFill>
                  <a:srgbClr val="FFFFFF"/>
                </a:solidFill>
              </a:rPr>
              <a:t>A deadline or bank-change excuse, designed to make you skip verification</a:t>
            </a:r>
          </a:p>
        </p:txBody>
      </p:sp>
      <p:sp>
        <p:nvSpPr>
          <p:cNvPr id="10" name="TextBox 9"/>
          <p:cNvSpPr txBox="1"/>
          <p:nvPr/>
        </p:nvSpPr>
        <p:spPr>
          <a:xfrm>
            <a:off x="8773668" y="3335528"/>
            <a:ext cx="292608" cy="548640"/>
          </a:xfrm>
          <a:prstGeom prst="rect">
            <a:avLst/>
          </a:prstGeom>
          <a:noFill/>
        </p:spPr>
        <p:txBody>
          <a:bodyPr wrap="none">
            <a:spAutoFit/>
          </a:bodyPr>
          <a:lstStyle/>
          <a:p>
            <a:pPr algn="ctr"/>
            <a:r>
              <a:rPr sz="2000" b="1">
                <a:solidFill>
                  <a:srgbClr val="2E6B8F"/>
                </a:solidFill>
              </a:rPr>
              <a:t>→</a:t>
            </a:r>
          </a:p>
        </p:txBody>
      </p:sp>
      <p:sp>
        <p:nvSpPr>
          <p:cNvPr id="11" name="Rounded Rectangle 10"/>
          <p:cNvSpPr/>
          <p:nvPr/>
        </p:nvSpPr>
        <p:spPr>
          <a:xfrm>
            <a:off x="9020556" y="1846466"/>
            <a:ext cx="2622804" cy="3526764"/>
          </a:xfrm>
          <a:prstGeom prst="roundRect">
            <a:avLst>
              <a:gd name="adj" fmla="val 8000"/>
            </a:avLst>
          </a:prstGeom>
          <a:solidFill>
            <a:srgbClr val="2E6B8F"/>
          </a:solidFill>
          <a:ln>
            <a:solidFill>
              <a:srgbClr val="2E6B8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4. REDIRECT</a:t>
            </a:r>
          </a:p>
          <a:p>
            <a:pPr algn="ctr"/>
            <a:r>
              <a:rPr sz="2800">
                <a:solidFill>
                  <a:srgbClr val="FFFFFF"/>
                </a:solidFill>
              </a:rPr>
              <a:t>Payment goes to the attacker's account, often before anyone notices</a:t>
            </a:r>
          </a:p>
        </p:txBody>
      </p:sp>
      <p:sp>
        <p:nvSpPr>
          <p:cNvPr id="12" name="TextBox 11"/>
          <p:cNvSpPr txBox="1"/>
          <p:nvPr/>
        </p:nvSpPr>
        <p:spPr>
          <a:xfrm>
            <a:off x="10698480" y="6309360"/>
            <a:ext cx="1280160" cy="365760"/>
          </a:xfrm>
          <a:prstGeom prst="rect">
            <a:avLst/>
          </a:prstGeom>
          <a:noFill/>
        </p:spPr>
        <p:txBody>
          <a:bodyPr wrap="none">
            <a:spAutoFit/>
          </a:bodyPr>
          <a:lstStyle/>
          <a:p>
            <a:r>
              <a:rPr/>
              <a:t>4</a:t>
            </a:r>
          </a:p>
        </p:txBody>
      </p:sp>
      <p:pic>
        <p:nvPicPr>
          <p:cNvPr id="62" name="narration_slide31.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3" name="Kiosk Previous">
            <a:hlinkClick r:id="rId6"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64" name="Kiosk Next">
            <a:hlinkClick r:id="rId7"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548" fill="hold"/>
                                        <p:tgtEl>
                                          <p:spTgt spid="62"/>
                                        </p:tgtEl>
                                      </p:cBhvr>
                                    </p:cmd>
                                  </p:childTnLst>
                                </p:cTn>
                              </p:par>
                              <p:par>
                                <p:cTn id="20" presetID="26" presetClass="emph" presetSubtype="0" repeatCount="indefinite" fill="hold" grpId="0" nodeType="withEffect">
                                  <p:stCondLst>
                                    <p:cond delay="32548"/>
                                  </p:stCondLst>
                                  <p:childTnLst>
                                    <p:animEffect transition="out" filter="fade">
                                      <p:cBhvr>
                                        <p:cTn id="21" dur="1000" tmFilter="0, 0; .2, .5; .8, .5; 1, 0"/>
                                        <p:tgtEl>
                                          <p:spTgt spid="64"/>
                                        </p:tgtEl>
                                      </p:cBhvr>
                                    </p:animEffect>
                                    <p:animScale>
                                      <p:cBhvr>
                                        <p:cTn id="22" dur="500" autoRev="1" fill="hold"/>
                                        <p:tgtEl>
                                          <p:spTgt spid="6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2"/>
                </p:tgtEl>
              </p:cMediaNode>
            </p:audio>
          </p:childTnLst>
        </p:cTn>
      </p:par>
    </p:tnLst>
    <p:bldLst>
      <p:bldP spid="6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YOUR DESK MOVES THE MONEY</a:t>
            </a:r>
          </a:p>
        </p:txBody>
      </p:sp>
      <p:sp>
        <p:nvSpPr>
          <p:cNvPr id="5" name="TextBox 4"/>
          <p:cNvSpPr txBox="1"/>
          <p:nvPr/>
        </p:nvSpPr>
        <p:spPr>
          <a:xfrm>
            <a:off x="792480" y="1416270"/>
            <a:ext cx="10607040" cy="1485900"/>
          </a:xfrm>
          <a:prstGeom prst="rect">
            <a:avLst/>
          </a:prstGeom>
          <a:noFill/>
        </p:spPr>
        <p:txBody>
          <a:bodyPr wrap="square">
            <a:spAutoFit/>
          </a:bodyPr>
          <a:lstStyle/>
          <a:p>
            <a:pPr algn="ctr"/>
            <a:r>
              <a:rPr sz="2800" b="0" i="0">
                <a:solidFill>
                  <a:srgbClr val="333333"/>
                </a:solidFill>
              </a:rPr>
              <a:t>You process invoices, change vendor bank details and release payments. That is exactly what BEC attackers try to redirect, so every request that touches a bank account deserves a second look.</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5</a:t>
            </a:r>
          </a:p>
        </p:txBody>
      </p:sp>
      <p:sp>
        <p:nvSpPr>
          <p:cNvPr id="7" name="Rounded Rectangle 4"/>
          <p:cNvSpPr/>
          <p:nvPr/>
        </p:nvSpPr>
        <p:spPr>
          <a:xfrm>
            <a:off x="548640" y="2996624"/>
            <a:ext cx="3484880" cy="2651353"/>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United States</a:t>
            </a:r>
          </a:p>
          <a:p>
            <a:pPr algn="ctr"/>
            <a:r>
              <a:rPr sz="2600">
                <a:solidFill>
                  <a:srgbClr val="FFFFFF"/>
                </a:solidFill>
              </a:rPr>
              <a:t>USD 3.05 billion in BEC losses reported to the FBI in 2025, from 24,768 complaints</a:t>
            </a:r>
          </a:p>
        </p:txBody>
      </p:sp>
      <p:sp>
        <p:nvSpPr>
          <p:cNvPr id="8" name="Rounded Rectangle 5"/>
          <p:cNvSpPr/>
          <p:nvPr/>
        </p:nvSpPr>
        <p:spPr>
          <a:xfrm>
            <a:off x="4353560" y="2996624"/>
            <a:ext cx="3484880" cy="2651353"/>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Australia</a:t>
            </a:r>
          </a:p>
          <a:p>
            <a:pPr algn="ctr"/>
            <a:r>
              <a:rPr sz="2600">
                <a:solidFill>
                  <a:srgbClr val="FFFFFF"/>
                </a:solidFill>
              </a:rPr>
              <a:t>15% of business cybercrime reports in 2024–25 were BEC fraud with a financial loss</a:t>
            </a:r>
          </a:p>
        </p:txBody>
      </p:sp>
      <p:sp>
        <p:nvSpPr>
          <p:cNvPr id="9" name="Rounded Rectangle 6"/>
          <p:cNvSpPr/>
          <p:nvPr/>
        </p:nvSpPr>
        <p:spPr>
          <a:xfrm>
            <a:off x="8158480" y="2996624"/>
            <a:ext cx="3484880" cy="2651353"/>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Worldwide</a:t>
            </a:r>
          </a:p>
          <a:p>
            <a:pPr algn="ctr"/>
            <a:r>
              <a:rPr sz="2600">
                <a:solidFill>
                  <a:srgbClr val="FFFFFF"/>
                </a:solidFill>
              </a:rPr>
              <a:t>USD 55.5 billion in exposed losses, 2013 to 2023, reported in 186 countries (FBI)</a:t>
            </a:r>
          </a:p>
        </p:txBody>
      </p:sp>
      <p:sp>
        <p:nvSpPr>
          <p:cNvPr id="12" name="Citation"/>
          <p:cNvSpPr txBox="1"/>
          <p:nvPr/>
        </p:nvSpPr>
        <p:spPr>
          <a:xfrm>
            <a:off x="457200" y="5870448"/>
            <a:ext cx="11247120" cy="432308"/>
          </a:xfrm>
          <a:prstGeom prst="rect">
            <a:avLst/>
          </a:prstGeom>
          <a:noFill/>
        </p:spPr>
        <p:txBody>
          <a:bodyPr wrap="square">
            <a:spAutoFit/>
          </a:bodyPr>
          <a:lstStyle/>
          <a:p>
            <a:pPr algn="l"/>
            <a:r>
              <a:rPr lang="en-US" sz="1600" i="1">
                <a:solidFill>
                  <a:srgbClr val="666666"/>
                </a:solidFill>
              </a:rPr>
              <a:t>Sources: FBI IC3 2025 Annual Report; FBI IC3 PSA I-091124-PSA; Australian Signals Directorate Cyber Threat Report 2024–25</a:t>
            </a:r>
          </a:p>
        </p:txBody>
      </p:sp>
      <p:sp>
        <p:nvSpPr>
          <p:cNvPr id="13" name="Kiosk Previous">
            <a:hlinkClick r:id="rId2"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4" name="Kiosk Next">
            <a:hlinkClick r:id="rId1"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15" name="narration_v15_ap_05.mp3">
            <a:hlinkClick r:id="" action="ppaction://media"/>
          </p:cNvPr>
          <p:cNvPicPr>
            <a:picLocks noChangeAspect="1"/>
          </p:cNvPicPr>
          <p:nvPr>
            <a:audioFile r:link="rId7"/>
            <p:extLst>
              <p:ext uri="{DAA4B4D4-6D71-4841-9C94-3DE7FCFB9230}">
                <p14:media xmlns:p14="http://schemas.microsoft.com/office/powerpoint/2010/main" r:embed="rId6"/>
              </p:ext>
            </p:extLst>
          </p:nvPr>
        </p:nvPicPr>
        <p:blipFill>
          <a:blip r:embed="rId8"/>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5798" fill="hold"/>
                                        <p:tgtEl>
                                          <p:spTgt spid="15"/>
                                        </p:tgtEl>
                                      </p:cBhvr>
                                    </p:cmd>
                                  </p:childTnLst>
                                </p:cTn>
                              </p:par>
                              <p:par>
                                <p:cTn id="20" presetID="26" presetClass="emph" presetSubtype="0" repeatCount="indefinite" fill="hold" grpId="0" nodeType="withEffect">
                                  <p:stCondLst>
                                    <p:cond delay="55798"/>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92480" y="1789176"/>
            <a:ext cx="10607040" cy="649224"/>
          </a:xfrm>
          <a:prstGeom prst="rect">
            <a:avLst/>
          </a:prstGeom>
          <a:noFill/>
        </p:spPr>
        <p:txBody>
          <a:bodyPr wrap="square">
            <a:spAutoFit/>
          </a:bodyPr>
          <a:lstStyle/>
          <a:p>
            <a:pPr algn="ctr"/>
            <a:r>
              <a:rPr sz="3600" b="1" i="0">
                <a:solidFill>
                  <a:srgbClr val="2E6B8F"/>
                </a:solidFill>
              </a:rPr>
              <a:t>PHASE 1</a:t>
            </a:r>
          </a:p>
        </p:txBody>
      </p:sp>
      <p:sp>
        <p:nvSpPr>
          <p:cNvPr id="5" name="TextBox 4"/>
          <p:cNvSpPr txBox="1"/>
          <p:nvPr/>
        </p:nvSpPr>
        <p:spPr>
          <a:xfrm>
            <a:off x="731520" y="2941320"/>
            <a:ext cx="10698480" cy="1021080"/>
          </a:xfrm>
          <a:prstGeom prst="rect">
            <a:avLst/>
          </a:prstGeom>
          <a:noFill/>
        </p:spPr>
        <p:txBody>
          <a:bodyPr wrap="none">
            <a:spAutoFit/>
          </a:bodyPr>
          <a:lstStyle/>
          <a:p>
            <a:pPr algn="ctr"/>
            <a:r>
              <a:rPr sz="6000" b="1">
                <a:solidFill>
                  <a:srgbClr val="000000"/>
                </a:solidFill>
              </a:rPr>
              <a:t>DETECT</a:t>
            </a:r>
          </a:p>
        </p:txBody>
      </p:sp>
      <p:sp>
        <p:nvSpPr>
          <p:cNvPr id="6" name="TextBox 5"/>
          <p:cNvSpPr txBox="1"/>
          <p:nvPr/>
        </p:nvSpPr>
        <p:spPr>
          <a:xfrm>
            <a:off x="792480" y="4465320"/>
            <a:ext cx="10607040" cy="649224"/>
          </a:xfrm>
          <a:prstGeom prst="rect">
            <a:avLst/>
          </a:prstGeom>
          <a:noFill/>
        </p:spPr>
        <p:txBody>
          <a:bodyPr wrap="square">
            <a:spAutoFit/>
          </a:bodyPr>
          <a:lstStyle/>
          <a:p>
            <a:pPr algn="ctr"/>
            <a:r>
              <a:rPr sz="3600" b="0" i="1">
                <a:solidFill>
                  <a:srgbClr val="333333"/>
                </a:solidFill>
              </a:rPr>
              <a:t>Can you spot it before it costs anything?</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6</a:t>
            </a:r>
          </a:p>
        </p:txBody>
      </p:sp>
      <p:pic>
        <p:nvPicPr>
          <p:cNvPr id="57" name="narration_slide4.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58" name="Kiosk Previous">
            <a:hlinkClick r:id="rId2"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59" name="Kiosk Next">
            <a:hlinkClick r:id="rId1"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311" fill="hold"/>
                                        <p:tgtEl>
                                          <p:spTgt spid="57"/>
                                        </p:tgtEl>
                                      </p:cBhvr>
                                    </p:cmd>
                                  </p:childTnLst>
                                </p:cTn>
                              </p:par>
                              <p:par>
                                <p:cTn id="20" presetID="26" presetClass="emph" presetSubtype="0" repeatCount="indefinite" fill="hold" grpId="0" nodeType="withEffect">
                                  <p:stCondLst>
                                    <p:cond delay="11311"/>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457200" y="320040"/>
            <a:ext cx="11247120" cy="789939"/>
          </a:xfrm>
          <a:prstGeom prst="rect">
            <a:avLst/>
          </a:prstGeom>
          <a:noFill/>
        </p:spPr>
        <p:txBody>
          <a:bodyPr wrap="square">
            <a:spAutoFit/>
          </a:bodyPr>
          <a:lstStyle/>
          <a:p>
            <a:pPr algn="ctr"/>
            <a:r>
              <a:rPr sz="4400" b="1">
                <a:solidFill>
                  <a:srgbClr val="000000"/>
                </a:solidFill>
              </a:rPr>
              <a:t>SCENARIO: THE REMITTANCE UPDATE</a:t>
            </a:r>
          </a:p>
        </p:txBody>
      </p:sp>
      <p:sp>
        <p:nvSpPr>
          <p:cNvPr id="5" name="TextBox 4"/>
          <p:cNvSpPr txBox="1"/>
          <p:nvPr/>
        </p:nvSpPr>
        <p:spPr>
          <a:xfrm>
            <a:off x="792480" y="1295019"/>
            <a:ext cx="10607040" cy="928116"/>
          </a:xfrm>
          <a:prstGeom prst="rect">
            <a:avLst/>
          </a:prstGeom>
          <a:noFill/>
        </p:spPr>
        <p:txBody>
          <a:bodyPr wrap="square">
            <a:spAutoFit/>
          </a:bodyPr>
          <a:lstStyle/>
          <a:p>
            <a:pPr algn="ctr"/>
            <a:r>
              <a:rPr sz="2600" b="0" i="1">
                <a:solidFill>
                  <a:srgbClr val="333333"/>
                </a:solidFill>
              </a:rPr>
              <a:t>A vendor's bank details “change”, plus a bonus look at a second technique.</a:t>
            </a:r>
          </a:p>
        </p:txBody>
      </p:sp>
      <p:pic>
        <p:nvPicPr>
          <p:cNvPr id="6" name="Video_Project_9.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940212" y="2287778"/>
            <a:ext cx="6317672" cy="3474720"/>
          </a:xfrm>
          <a:prstGeom prst="rect">
            <a:avLst/>
          </a:prstGeom>
        </p:spPr>
      </p:pic>
      <p:sp>
        <p:nvSpPr>
          <p:cNvPr id="7" name="TextBox 6"/>
          <p:cNvSpPr txBox="1"/>
          <p:nvPr/>
        </p:nvSpPr>
        <p:spPr>
          <a:xfrm>
            <a:off x="10698480" y="6309360"/>
            <a:ext cx="1280160" cy="365760"/>
          </a:xfrm>
          <a:prstGeom prst="rect">
            <a:avLst/>
          </a:prstGeom>
          <a:noFill/>
        </p:spPr>
        <p:txBody>
          <a:bodyPr wrap="none">
            <a:spAutoFit/>
          </a:bodyPr>
          <a:lstStyle/>
          <a:p>
            <a:pPr algn="r"/>
            <a:r>
              <a:rPr sz="1100"/>
              <a:t>7</a:t>
            </a:r>
          </a:p>
        </p:txBody>
      </p:sp>
      <p:sp>
        <p:nvSpPr>
          <p:cNvPr id="8" name="TextBox 7">
            <a:extLst>
              <a:ext uri="{FF2B5EF4-FFF2-40B4-BE49-F238E27FC236}">
                <a16:creationId xmlns:a16="http://schemas.microsoft.com/office/drawing/2014/main" id="{77227381-E50C-38A4-71DD-596AB25EFFDC}"/>
              </a:ext>
            </a:extLst>
          </p:cNvPr>
          <p:cNvSpPr txBox="1"/>
          <p:nvPr/>
        </p:nvSpPr>
        <p:spPr>
          <a:xfrm>
            <a:off x="1999753" y="5827141"/>
            <a:ext cx="7315200" cy="463296"/>
          </a:xfrm>
          <a:prstGeom prst="rect">
            <a:avLst/>
          </a:prstGeom>
          <a:noFill/>
        </p:spPr>
        <p:txBody>
          <a:bodyPr wrap="square" rtlCol="0">
            <a:spAutoFit/>
          </a:bodyPr>
          <a:lstStyle/>
          <a:p>
            <a:pPr algn="ctr"/>
            <a:r>
              <a:rPr lang="en-US" dirty="0" sz="2400"/>
              <a:t>                  Click to play the video</a:t>
            </a:r>
            <a:endParaRPr lang="en-AU" dirty="0"/>
          </a:p>
        </p:txBody>
      </p:sp>
      <p:sp>
        <p:nvSpPr>
          <p:cNvPr id="9" name="Kiosk Previous">
            <a:hlinkClick r:id="rId6"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0" name="Kiosk Next">
            <a:hlinkClick r:id="rId7"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7951"/>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a:t>
            </a:r>
          </a:p>
        </p:txBody>
      </p:sp>
      <p:sp>
        <p:nvSpPr>
          <p:cNvPr id="6" name="TextBox 5"/>
          <p:cNvSpPr txBox="1"/>
          <p:nvPr/>
        </p:nvSpPr>
        <p:spPr>
          <a:xfrm>
            <a:off x="792480" y="1787298"/>
            <a:ext cx="10607040" cy="401320"/>
          </a:xfrm>
          <a:prstGeom prst="rect">
            <a:avLst/>
          </a:prstGeom>
          <a:noFill/>
        </p:spPr>
        <p:txBody>
          <a:bodyPr wrap="square">
            <a:spAutoFit/>
          </a:bodyPr>
          <a:lstStyle/>
          <a:p>
            <a:pPr algn="ctr"/>
            <a:r>
              <a:rPr sz="2000" b="0" i="1" dirty="0">
                <a:solidFill>
                  <a:srgbClr val="333333"/>
                </a:solidFill>
              </a:rPr>
              <a:t>You have 30 seconds. Read this email and call out every red flag you can find.</a:t>
            </a:r>
          </a:p>
        </p:txBody>
      </p:sp>
      <p:sp>
        <p:nvSpPr>
          <p:cNvPr id="7" name="TextBox 7"/>
          <p:cNvSpPr txBox="1"/>
          <p:nvPr/>
        </p:nvSpPr>
        <p:spPr>
          <a:xfrm>
            <a:off x="792480" y="5351118"/>
            <a:ext cx="10607040" cy="401320"/>
          </a:xfrm>
          <a:prstGeom prst="rect">
            <a:avLst/>
          </a:prstGeom>
          <a:noFill/>
        </p:spPr>
        <p:txBody>
          <a:bodyPr wrap="square">
            <a:spAutoFit/>
          </a:bodyPr>
          <a:lstStyle/>
          <a:p>
            <a:pPr algn="ctr"/>
            <a:r>
              <a:rPr lang="en-US" sz="2000" b="0" i="1" dirty="0">
                <a:solidFill>
                  <a:srgbClr val="333333"/>
                </a:solidFill>
              </a:rPr>
              <a:t>Answer is on the next slide</a:t>
            </a:r>
            <a:endParaRPr sz="2000" b="0" i="1" dirty="0">
              <a:solidFill>
                <a:srgbClr val="333333"/>
              </a:solidFill>
            </a:endParaRPr>
          </a:p>
        </p:txBody>
      </p:sp>
      <p:sp>
        <p:nvSpPr>
          <p:cNvPr id="8" name="TextBox 8"/>
          <p:cNvSpPr txBox="1"/>
          <p:nvPr/>
        </p:nvSpPr>
        <p:spPr>
          <a:xfrm>
            <a:off x="10698480" y="6309360"/>
            <a:ext cx="1280160" cy="365760"/>
          </a:xfrm>
          <a:prstGeom prst="rect">
            <a:avLst/>
          </a:prstGeom>
          <a:noFill/>
        </p:spPr>
        <p:txBody>
          <a:bodyPr wrap="none">
            <a:spAutoFit/>
          </a:bodyPr>
          <a:lstStyle/>
          <a:p>
            <a:pPr algn="r"/>
            <a:r>
              <a:rPr sz="1100"/>
              <a:t>8</a:t>
            </a:r>
          </a:p>
        </p:txBody>
      </p:sp>
      <p:sp>
        <p:nvSpPr>
          <p:cNvPr id="9" name="Rounded Rectangle 5"/>
          <p:cNvSpPr/>
          <p:nvPr/>
        </p:nvSpPr>
        <p:spPr>
          <a:xfrm>
            <a:off x="929640" y="2288340"/>
            <a:ext cx="10332720" cy="2963056"/>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47"/>
              </a:spcAft>
            </a:pPr>
            <a:r>
              <a:rPr sz="2000" b="1">
                <a:solidFill>
                  <a:srgbClr val="000000"/>
                </a:solidFill>
              </a:rPr>
              <a:t>From: Dana Whitfield &lt;dana.whitfield@stratton-supplies.com&gt;</a:t>
            </a:r>
          </a:p>
          <a:p>
            <a:pPr>
              <a:spcAft>
                <a:spcPts val="647"/>
              </a:spcAft>
            </a:pPr>
            <a:r>
              <a:rPr sz="2000" b="1">
                <a:solidFill>
                  <a:srgbClr val="000000"/>
                </a:solidFill>
              </a:rPr>
              <a:t>Subject: Re: Invoice 20418 for September</a:t>
            </a:r>
          </a:p>
          <a:p>
            <a:pPr>
              <a:spcAft>
                <a:spcPts val="647"/>
              </a:spcAft>
            </a:pPr>
            <a:r>
              <a:rPr sz="2000" b="0">
                <a:solidFill>
                  <a:srgbClr val="000000"/>
                </a:solidFill>
              </a:rPr>
              <a:t>Earlier in the thread: “Invoice 20418 for September is attached, due in 14 days.”</a:t>
            </a:r>
          </a:p>
          <a:p>
            <a:pPr>
              <a:spcAft>
                <a:spcPts val="647"/>
              </a:spcAft>
            </a:pPr>
            <a:r>
              <a:rPr sz="2000" b="0">
                <a:solidFill>
                  <a:srgbClr val="000000"/>
                </a:solidFill>
              </a:rPr>
              <a:t>“Hi, thanks for confirming receipt. We changed banks last week, so please pay invoice 20418 to the new account below: BSB 000-000, account 00000000. A late fee of 5% applies if it isn't received today. Dana Whitfield, Accounts, Stratton Supplies, 07 5550 0142”</a:t>
            </a:r>
          </a:p>
        </p:txBody>
      </p:sp>
      <p:pic>
        <p:nvPicPr>
          <p:cNvPr id="10" name="narration_ap_L20.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1" name="Kiosk Previous">
            <a:hlinkClick r:id="rId6"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2" name="Kiosk Next">
            <a:hlinkClick r:id="rId7"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360" fill="hold"/>
                                        <p:tgtEl>
                                          <p:spTgt spid="10"/>
                                        </p:tgtEl>
                                      </p:cBhvr>
                                    </p:cmd>
                                  </p:childTnLst>
                                </p:cTn>
                              </p:par>
                              <p:par>
                                <p:cTn id="20" presetID="26" presetClass="emph" presetSubtype="0" repeatCount="indefinite" fill="hold" grpId="0" nodeType="withEffect">
                                  <p:stCondLst>
                                    <p:cond delay="15360"/>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896"/>
              </a:spcAft>
              <a:defRPr sz="2200">
                <a:solidFill>
                  <a:srgbClr val="333333"/>
                </a:solidFill>
              </a:defRPr>
            </a:pPr>
            <a:r>
              <a:rPr dirty="0" sz="2000"/>
              <a:t>🚩  A bank-detail change by email, inside a thread: a real thread proves nothing.</a:t>
            </a:r>
          </a:p>
          <a:p>
            <a:pPr>
              <a:spcAft>
                <a:spcPts val="896"/>
              </a:spcAft>
              <a:defRPr sz="2200">
                <a:solidFill>
                  <a:srgbClr val="333333"/>
                </a:solidFill>
              </a:defRPr>
            </a:pPr>
            <a:r>
              <a:rPr dirty="0" sz="2000"/>
              <a:t>🚩  An ordinary reason: “we changed banks last week”.</a:t>
            </a:r>
          </a:p>
          <a:p>
            <a:pPr>
              <a:spcAft>
                <a:spcPts val="896"/>
              </a:spcAft>
              <a:defRPr sz="2200">
                <a:solidFill>
                  <a:srgbClr val="333333"/>
                </a:solidFill>
              </a:defRPr>
            </a:pPr>
            <a:r>
              <a:rPr dirty="0" sz="2000"/>
              <a:t>🚩  A late-fee threat: “5% if it isn’t received today”.</a:t>
            </a:r>
          </a:p>
          <a:p>
            <a:pPr>
              <a:spcAft>
                <a:spcPts val="896"/>
              </a:spcAft>
              <a:defRPr sz="2200">
                <a:solidFill>
                  <a:srgbClr val="333333"/>
                </a:solidFill>
              </a:defRPr>
            </a:pPr>
            <a:r>
              <a:rPr dirty="0" sz="2000"/>
              <a:t>🚩  A phone number in the signature: calling it checks nothing.</a:t>
            </a:r>
          </a:p>
          <a:p>
            <a:pPr>
              <a:spcAft>
                <a:spcPts val="896"/>
              </a:spcAft>
              <a:defRPr sz="2200">
                <a:solidFill>
                  <a:srgbClr val="333333"/>
                </a:solidFill>
              </a:defRPr>
            </a:pPr>
            <a:r>
              <a:rPr dirty="0" sz="2000"/>
              <a:t>🚩  A familiar signature and invoice number, copied from earlier emails.</a:t>
            </a:r>
          </a:p>
          <a:p>
            <a:pPr>
              <a:spcAft>
                <a:spcPts val="896"/>
              </a:spcAft>
              <a:defRPr sz="2200">
                <a:solidFill>
                  <a:srgbClr val="333333"/>
                </a:solidFill>
              </a:defRPr>
            </a:pPr>
            <a:r>
              <a:rPr lang="en-AU" sz="2000" dirty="0">
                <a:solidFill>
                  <a:srgbClr val="333333"/>
                </a:solidFill>
              </a:rPr>
              <a:t>Check bank-detail changes through a number from your vendor master file.</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9</a:t>
            </a:r>
          </a:p>
        </p:txBody>
      </p:sp>
      <p:sp>
        <p:nvSpPr>
          <p:cNvPr id="8"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FBI IC3 PSA I-091124-PSA; Cialdini, HBR (2001)</a:t>
            </a:r>
          </a:p>
        </p:txBody>
      </p:sp>
      <p:sp>
        <p:nvSpPr>
          <p:cNvPr id="9" name="TextBox 4"/>
          <p:cNvSpPr txBox="1"/>
          <p:nvPr/>
        </p:nvSpPr>
        <p:spPr>
          <a:xfrm>
            <a:off x="8412480" y="1691640"/>
            <a:ext cx="3291840" cy="457200"/>
          </a:xfrm>
          <a:prstGeom prst="rect">
            <a:avLst/>
          </a:prstGeom>
          <a:noFill/>
        </p:spPr>
        <p:txBody>
          <a:bodyPr wrap="square">
            <a:spAutoFit/>
          </a:bodyPr>
          <a:lstStyle/>
          <a:p>
            <a:pPr algn="ctr"/>
            <a:r>
              <a:rPr sz="2200" b="1" i="0">
                <a:solidFill>
                  <a:srgbClr val="333333"/>
                </a:solidFill>
              </a:rPr>
              <a:t>LEVERS PULLED</a:t>
            </a:r>
          </a:p>
        </p:txBody>
      </p:sp>
      <p:sp>
        <p:nvSpPr>
          <p:cNvPr id="10" name="Rounded Rectangle 4"/>
          <p:cNvSpPr/>
          <p:nvPr/>
        </p:nvSpPr>
        <p:spPr>
          <a:xfrm>
            <a:off x="8412480" y="2240280"/>
            <a:ext cx="3291840" cy="118872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Authority</a:t>
            </a:r>
          </a:p>
          <a:p>
            <a:pPr algn="ctr"/>
            <a:r>
              <a:rPr sz="1800">
                <a:solidFill>
                  <a:srgbClr val="FFFFFF"/>
                </a:solidFill>
              </a:rPr>
              <a:t>A vendor’s name and signature make it feel safe to obey.</a:t>
            </a:r>
          </a:p>
        </p:txBody>
      </p:sp>
      <p:sp>
        <p:nvSpPr>
          <p:cNvPr id="11" name="Rounded Rectangle 4"/>
          <p:cNvSpPr/>
          <p:nvPr/>
        </p:nvSpPr>
        <p:spPr>
          <a:xfrm>
            <a:off x="8412480" y="3520440"/>
            <a:ext cx="3291840" cy="118872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Scarcity</a:t>
            </a:r>
          </a:p>
          <a:p>
            <a:pPr algn="ctr"/>
            <a:r>
              <a:rPr sz="2000">
                <a:solidFill>
                  <a:srgbClr val="FFFFFF"/>
                </a:solidFill>
              </a:rPr>
              <a:t>A deadline and a penalty make you skip the check.</a:t>
            </a:r>
          </a:p>
        </p:txBody>
      </p:sp>
      <p:sp>
        <p:nvSpPr>
          <p:cNvPr id="12" name="TextBox 4"/>
          <p:cNvSpPr txBox="1"/>
          <p:nvPr/>
        </p:nvSpPr>
        <p:spPr>
          <a:xfrm>
            <a:off x="8412480" y="4846320"/>
            <a:ext cx="3291840" cy="1005840"/>
          </a:xfrm>
          <a:prstGeom prst="rect">
            <a:avLst/>
          </a:prstGeom>
          <a:noFill/>
        </p:spPr>
        <p:txBody>
          <a:bodyPr wrap="square">
            <a:spAutoFit/>
          </a:bodyPr>
          <a:lstStyle/>
          <a:p>
            <a:pPr algn="ctr"/>
            <a:r>
              <a:rPr sz="2000" b="0" i="1">
                <a:solidFill>
                  <a:srgbClr val="333333"/>
                </a:solidFill>
              </a:rPr>
              <a:t>Plus trust in a familiar thread.</a:t>
            </a:r>
          </a:p>
        </p:txBody>
      </p:sp>
      <p:sp>
        <p:nvSpPr>
          <p:cNvPr id="13" name="Kiosk Previous">
            <a:hlinkClick r:id="rId3"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4" name="Kiosk Next">
            <a:hlinkClick r:id="rId4"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15" name="narration_ap_09.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140" fill="hold"/>
                                        <p:tgtEl>
                                          <p:spTgt spid="15"/>
                                        </p:tgtEl>
                                      </p:cBhvr>
                                    </p:cmd>
                                  </p:childTnLst>
                                </p:cTn>
                              </p:par>
                              <p:par>
                                <p:cTn id="20" presetID="26" presetClass="emph" presetSubtype="0" repeatCount="indefinite" fill="hold" grpId="0" nodeType="withEffect">
                                  <p:stCondLst>
                                    <p:cond delay="52140"/>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7951"/>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a:t>
            </a:r>
          </a:p>
        </p:txBody>
      </p:sp>
      <p:sp>
        <p:nvSpPr>
          <p:cNvPr id="6" name="TextBox 5"/>
          <p:cNvSpPr txBox="1"/>
          <p:nvPr/>
        </p:nvSpPr>
        <p:spPr>
          <a:xfrm>
            <a:off x="792480" y="1753992"/>
            <a:ext cx="10607040" cy="463296"/>
          </a:xfrm>
          <a:prstGeom prst="rect">
            <a:avLst/>
          </a:prstGeom>
          <a:noFill/>
        </p:spPr>
        <p:txBody>
          <a:bodyPr wrap="square">
            <a:spAutoFit/>
          </a:bodyPr>
          <a:lstStyle/>
          <a:p>
            <a:pPr algn="ctr"/>
            <a:r>
              <a:rPr sz="2400" b="0" i="1" dirty="0">
                <a:solidFill>
                  <a:srgbClr val="333333"/>
                </a:solidFill>
              </a:rPr>
              <a:t>You have 30 seconds. Read this email and call out every red flag you can find.</a:t>
            </a:r>
          </a:p>
        </p:txBody>
      </p:sp>
      <p:sp>
        <p:nvSpPr>
          <p:cNvPr id="7" name="TextBox 7"/>
          <p:cNvSpPr txBox="1"/>
          <p:nvPr/>
        </p:nvSpPr>
        <p:spPr>
          <a:xfrm>
            <a:off x="792480" y="5322447"/>
            <a:ext cx="10607040" cy="463296"/>
          </a:xfrm>
          <a:prstGeom prst="rect">
            <a:avLst/>
          </a:prstGeom>
          <a:noFill/>
        </p:spPr>
        <p:txBody>
          <a:bodyPr wrap="square">
            <a:spAutoFit/>
          </a:bodyPr>
          <a:lstStyle/>
          <a:p>
            <a:pPr algn="ctr"/>
            <a:r>
              <a:rPr lang="en-US" sz="2400" b="0" i="1" dirty="0">
                <a:solidFill>
                  <a:srgbClr val="333333"/>
                </a:solidFill>
              </a:rPr>
              <a:t>Answer is on the next slide</a:t>
            </a:r>
            <a:endParaRPr sz="2400" b="0" i="1" dirty="0">
              <a:solidFill>
                <a:srgbClr val="333333"/>
              </a:solidFill>
            </a:endParaRPr>
          </a:p>
        </p:txBody>
      </p:sp>
      <p:sp>
        <p:nvSpPr>
          <p:cNvPr id="8" name="TextBox 8"/>
          <p:cNvSpPr txBox="1"/>
          <p:nvPr/>
        </p:nvSpPr>
        <p:spPr>
          <a:xfrm>
            <a:off x="10698480" y="6309360"/>
            <a:ext cx="1280160" cy="365760"/>
          </a:xfrm>
          <a:prstGeom prst="rect">
            <a:avLst/>
          </a:prstGeom>
          <a:noFill/>
        </p:spPr>
        <p:txBody>
          <a:bodyPr wrap="none">
            <a:spAutoFit/>
          </a:bodyPr>
          <a:lstStyle/>
          <a:p>
            <a:pPr algn="r"/>
            <a:r>
              <a:rPr sz="1100"/>
              <a:t>10</a:t>
            </a:r>
          </a:p>
        </p:txBody>
      </p:sp>
      <p:sp>
        <p:nvSpPr>
          <p:cNvPr id="9" name="Rounded Rectangle 5"/>
          <p:cNvSpPr/>
          <p:nvPr/>
        </p:nvSpPr>
        <p:spPr>
          <a:xfrm>
            <a:off x="929640" y="2283705"/>
            <a:ext cx="10332720" cy="2972326"/>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1032"/>
              </a:spcAft>
            </a:pPr>
            <a:r>
              <a:rPr sz="2400" b="1">
                <a:solidFill>
                  <a:srgbClr val="000000"/>
                </a:solidFill>
              </a:rPr>
              <a:t>From: Accounts, Stratton Supplies &lt;accounts@stratton-supplies.co&gt;</a:t>
            </a:r>
          </a:p>
          <a:p>
            <a:pPr>
              <a:spcAft>
                <a:spcPts val="1032"/>
              </a:spcAft>
            </a:pPr>
            <a:r>
              <a:rPr sz="2400" b="1">
                <a:solidFill>
                  <a:srgbClr val="000000"/>
                </a:solidFill>
              </a:rPr>
              <a:t>Subject: Updated bank details: this month's invoice is overdue</a:t>
            </a:r>
          </a:p>
          <a:p>
            <a:pPr>
              <a:spcAft>
                <a:spcPts val="1032"/>
              </a:spcAft>
            </a:pPr>
            <a:r>
              <a:rPr sz="2400" b="0">
                <a:solidFill>
                  <a:srgbClr val="000000"/>
                </a:solidFill>
              </a:rPr>
              <a:t>“Hi, this month's invoice is now overdue. Our bank details changed after a system upgrade, so please pay it today to: BSB 000-000, account 00000000. Thanks, Accounts Team”</a:t>
            </a:r>
          </a:p>
        </p:txBody>
      </p:sp>
      <p:pic>
        <p:nvPicPr>
          <p:cNvPr id="10" name="narration_ap_L2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1" name="Kiosk Previous">
            <a:hlinkClick r:id="rId6"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2" name="Kiosk Next">
            <a:hlinkClick r:id="rId7"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251" fill="hold"/>
                                        <p:tgtEl>
                                          <p:spTgt spid="10"/>
                                        </p:tgtEl>
                                      </p:cBhvr>
                                    </p:cmd>
                                  </p:childTnLst>
                                </p:cTn>
                              </p:par>
                              <p:par>
                                <p:cTn id="20" presetID="26" presetClass="emph" presetSubtype="0" repeatCount="indefinite" fill="hold" grpId="0" nodeType="withEffect">
                                  <p:stCondLst>
                                    <p:cond delay="12251"/>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1136"/>
              </a:spcAft>
              <a:defRPr sz="2800">
                <a:solidFill>
                  <a:srgbClr val="333333"/>
                </a:solidFill>
              </a:defRPr>
            </a:pPr>
            <a:r>
              <a:rPr dirty="0" sz="2000"/>
              <a:t>🚩  New bank details by email only, with a “system upgrade” as the excuse.</a:t>
            </a:r>
          </a:p>
          <a:p>
            <a:pPr>
              <a:spcAft>
                <a:spcPts val="1136"/>
              </a:spcAft>
              <a:defRPr sz="2800">
                <a:solidFill>
                  <a:srgbClr val="333333"/>
                </a:solidFill>
              </a:defRPr>
            </a:pPr>
            <a:r>
              <a:rPr dirty="0" sz="2000"/>
              <a:t>🚩  Overdue and “today”: pressure to pay before you check.</a:t>
            </a:r>
          </a:p>
          <a:p>
            <a:pPr>
              <a:spcAft>
                <a:spcPts val="1136"/>
              </a:spcAft>
              <a:defRPr sz="2800">
                <a:solidFill>
                  <a:srgbClr val="333333"/>
                </a:solidFill>
              </a:defRPr>
            </a:pPr>
            <a:r>
              <a:rPr dirty="0" sz="2000"/>
              <a:t>🚩  A generic sign-off, “Accounts Team”, with no named contact.</a:t>
            </a:r>
          </a:p>
          <a:p>
            <a:pPr>
              <a:spcAft>
                <a:spcPts val="1136"/>
              </a:spcAft>
              <a:defRPr sz="2800">
                <a:solidFill>
                  <a:srgbClr val="333333"/>
                </a:solidFill>
              </a:defRPr>
            </a:pPr>
            <a:r>
              <a:rPr dirty="0" sz="2000"/>
              <a:t>🚩  A lookalike domain ending in .co, not the vendor's usual .com.</a:t>
            </a:r>
          </a:p>
          <a:p>
            <a:pPr>
              <a:spcAft>
                <a:spcPts val="1136"/>
              </a:spcAft>
              <a:defRPr sz="2800">
                <a:solidFill>
                  <a:srgbClr val="333333"/>
                </a:solidFill>
              </a:defRPr>
            </a:pPr>
            <a:r>
              <a:rPr dirty="0" sz="2000"/>
              <a:t>🚩  No invoice number or purchase order to match against your records.</a:t>
            </a:r>
          </a:p>
          <a:p>
            <a:pPr>
              <a:spcAft>
                <a:spcPts val="1136"/>
              </a:spcAft>
              <a:defRPr sz="2800">
                <a:solidFill>
                  <a:srgbClr val="333333"/>
                </a:solidFill>
              </a:defRPr>
            </a:pPr>
            <a:r>
              <a:rPr lang="en-AU" sz="2000" dirty="0">
                <a:solidFill>
                  <a:srgbClr val="333333"/>
                </a:solidFill>
              </a:rPr>
              <a:t>When your usual check goes unanswered, the pressure peaks. Hold the new details and keep trying.</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11</a:t>
            </a:r>
          </a:p>
        </p:txBody>
      </p:sp>
      <p:sp>
        <p:nvSpPr>
          <p:cNvPr id="8"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FBI IC3 PSA I-091124-PSA; Cialdini, HBR (2001)</a:t>
            </a:r>
          </a:p>
        </p:txBody>
      </p:sp>
      <p:sp>
        <p:nvSpPr>
          <p:cNvPr id="9" name="TextBox 4"/>
          <p:cNvSpPr txBox="1"/>
          <p:nvPr/>
        </p:nvSpPr>
        <p:spPr>
          <a:xfrm>
            <a:off x="8412480" y="1691640"/>
            <a:ext cx="3291840" cy="457200"/>
          </a:xfrm>
          <a:prstGeom prst="rect">
            <a:avLst/>
          </a:prstGeom>
          <a:noFill/>
        </p:spPr>
        <p:txBody>
          <a:bodyPr wrap="square">
            <a:spAutoFit/>
          </a:bodyPr>
          <a:lstStyle/>
          <a:p>
            <a:pPr algn="ctr"/>
            <a:r>
              <a:rPr sz="2200" b="1" i="0">
                <a:solidFill>
                  <a:srgbClr val="333333"/>
                </a:solidFill>
              </a:rPr>
              <a:t>LEVERS PULLED</a:t>
            </a:r>
          </a:p>
        </p:txBody>
      </p:sp>
      <p:sp>
        <p:nvSpPr>
          <p:cNvPr id="10" name="Rounded Rectangle 4"/>
          <p:cNvSpPr/>
          <p:nvPr/>
        </p:nvSpPr>
        <p:spPr>
          <a:xfrm>
            <a:off x="8412480" y="2240280"/>
            <a:ext cx="3291840" cy="118872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Scarcity</a:t>
            </a:r>
          </a:p>
          <a:p>
            <a:pPr algn="ctr"/>
            <a:r>
              <a:rPr sz="2000">
                <a:solidFill>
                  <a:srgbClr val="FFFFFF"/>
                </a:solidFill>
              </a:rPr>
              <a:t>“Overdue” and “today” put a clock on you.</a:t>
            </a:r>
          </a:p>
        </p:txBody>
      </p:sp>
      <p:sp>
        <p:nvSpPr>
          <p:cNvPr id="11" name="TextBox 4"/>
          <p:cNvSpPr txBox="1"/>
          <p:nvPr/>
        </p:nvSpPr>
        <p:spPr>
          <a:xfrm>
            <a:off x="8412480" y="3566160"/>
            <a:ext cx="3291840" cy="1005840"/>
          </a:xfrm>
          <a:prstGeom prst="rect">
            <a:avLst/>
          </a:prstGeom>
          <a:noFill/>
        </p:spPr>
        <p:txBody>
          <a:bodyPr wrap="square">
            <a:spAutoFit/>
          </a:bodyPr>
          <a:lstStyle/>
          <a:p>
            <a:pPr algn="ctr"/>
            <a:r>
              <a:rPr sz="2000" b="0" i="1">
                <a:solidFill>
                  <a:srgbClr val="333333"/>
                </a:solidFill>
              </a:rPr>
              <a:t>Plus a lookalike domain that is easy to miss.</a:t>
            </a:r>
          </a:p>
        </p:txBody>
      </p:sp>
      <p:sp>
        <p:nvSpPr>
          <p:cNvPr id="12" name="Kiosk Previous">
            <a:hlinkClick r:id="rId3"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3" name="Kiosk Next">
            <a:hlinkClick r:id="rId4"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14" name="narration_ap_11.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3206" fill="hold"/>
                                        <p:tgtEl>
                                          <p:spTgt spid="14"/>
                                        </p:tgtEl>
                                      </p:cBhvr>
                                    </p:cmd>
                                  </p:childTnLst>
                                </p:cTn>
                              </p:par>
                              <p:par>
                                <p:cTn id="20" presetID="26" presetClass="emph" presetSubtype="0" repeatCount="indefinite" fill="hold" grpId="0" nodeType="withEffect">
                                  <p:stCondLst>
                                    <p:cond delay="43206"/>
                                  </p:stCondLst>
                                  <p:childTnLst>
                                    <p:animEffect transition="out" filter="fade">
                                      <p:cBhvr>
                                        <p:cTn id="21" dur="1000" tmFilter="0, 0; .2, .5; .8, .5; 1, 0"/>
                                        <p:tgtEl>
                                          <p:spTgt spid="13"/>
                                        </p:tgtEl>
                                      </p:cBhvr>
                                    </p:animEffect>
                                    <p:animScale>
                                      <p:cBhvr>
                                        <p:cTn id="22" dur="500" autoRev="1" fill="hold"/>
                                        <p:tgtEl>
                                          <p:spTgt spid="1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4"/>
                </p:tgtEl>
              </p:cMediaNode>
            </p:audio>
          </p:childTnLst>
        </p:cTn>
      </p:par>
    </p:tnLst>
    <p:bldLst>
      <p:bldP spid="13"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SAME LEVERS, OTHER CHANNELS</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t>12</a:t>
            </a:r>
          </a:p>
        </p:txBody>
      </p:sp>
      <p:sp>
        <p:nvSpPr>
          <p:cNvPr id="6" name="TextBox 4"/>
          <p:cNvSpPr txBox="1"/>
          <p:nvPr/>
        </p:nvSpPr>
        <p:spPr>
          <a:xfrm>
            <a:off x="548640" y="1572768"/>
            <a:ext cx="5394960" cy="457200"/>
          </a:xfrm>
          <a:prstGeom prst="rect">
            <a:avLst/>
          </a:prstGeom>
          <a:noFill/>
        </p:spPr>
        <p:txBody>
          <a:bodyPr wrap="square">
            <a:spAutoFit/>
          </a:bodyPr>
          <a:lstStyle/>
          <a:p>
            <a:pPr algn="ctr"/>
            <a:r>
              <a:rPr sz="2000" b="1" i="0">
                <a:solidFill>
                  <a:srgbClr val="333333"/>
                </a:solidFill>
              </a:rPr>
              <a:t>Text message: an “overdue invoice”</a:t>
            </a:r>
          </a:p>
        </p:txBody>
      </p:sp>
      <p:sp>
        <p:nvSpPr>
          <p:cNvPr id="7" name="Rounded Rectangle 11"/>
          <p:cNvSpPr/>
          <p:nvPr/>
        </p:nvSpPr>
        <p:spPr>
          <a:xfrm>
            <a:off x="548640" y="2103120"/>
            <a:ext cx="5394960" cy="2194560"/>
          </a:xfrm>
          <a:prstGeom prst="roundRect">
            <a:avLst>
              <a:gd name="adj" fmla="val 12000"/>
            </a:avLst>
          </a:prstGeom>
          <a:solidFill>
            <a:srgbClr val="2B2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12"/>
          <p:cNvSpPr/>
          <p:nvPr/>
        </p:nvSpPr>
        <p:spPr>
          <a:xfrm>
            <a:off x="822959" y="2286000"/>
            <a:ext cx="4846320" cy="1828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000" b="1">
                <a:solidFill>
                  <a:srgbClr val="2E2A45"/>
                </a:solidFill>
              </a:rPr>
              <a:t>Accounts Team</a:t>
            </a:r>
          </a:p>
          <a:p>
            <a:pPr algn="l"/>
            <a:r>
              <a:rPr sz="2000" b="0">
                <a:solidFill>
                  <a:srgbClr val="2E2A45"/>
                </a:solidFill>
              </a:rPr>
              <a:t>Invoice 20418 is overdue. A late fee applies from 5 pm today. Pay now to avoid it.</a:t>
            </a:r>
          </a:p>
          <a:p>
            <a:pPr algn="l"/>
            <a:r>
              <a:rPr sz="2000" b="0" u="sng">
                <a:solidFill>
                  <a:srgbClr val="1F5FBF"/>
                </a:solidFill>
              </a:rPr>
              <a:t>https://secure-invoice-pay.com/20418</a:t>
            </a:r>
          </a:p>
        </p:txBody>
      </p:sp>
      <p:sp>
        <p:nvSpPr>
          <p:cNvPr id="9" name="Rounded Rectangle 4"/>
          <p:cNvSpPr/>
          <p:nvPr/>
        </p:nvSpPr>
        <p:spPr>
          <a:xfrm>
            <a:off x="548640" y="4434840"/>
            <a:ext cx="2606040" cy="50292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Authority</a:t>
            </a:r>
          </a:p>
        </p:txBody>
      </p:sp>
      <p:sp>
        <p:nvSpPr>
          <p:cNvPr id="10" name="Rounded Rectangle 4"/>
          <p:cNvSpPr/>
          <p:nvPr/>
        </p:nvSpPr>
        <p:spPr>
          <a:xfrm>
            <a:off x="3337560" y="4434840"/>
            <a:ext cx="2606040" cy="50292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Scarcity</a:t>
            </a:r>
          </a:p>
        </p:txBody>
      </p:sp>
      <p:sp>
        <p:nvSpPr>
          <p:cNvPr id="11" name="TextBox 4"/>
          <p:cNvSpPr txBox="1"/>
          <p:nvPr/>
        </p:nvSpPr>
        <p:spPr>
          <a:xfrm>
            <a:off x="548640" y="5029200"/>
            <a:ext cx="5394960" cy="777240"/>
          </a:xfrm>
          <a:prstGeom prst="rect">
            <a:avLst/>
          </a:prstGeom>
          <a:noFill/>
        </p:spPr>
        <p:txBody>
          <a:bodyPr wrap="square">
            <a:spAutoFit/>
          </a:bodyPr>
          <a:lstStyle/>
          <a:p>
            <a:pPr algn="ctr"/>
            <a:r>
              <a:rPr sz="2000" b="0" i="0">
                <a:solidFill>
                  <a:srgbClr val="333333"/>
                </a:solidFill>
              </a:rPr>
              <a:t>Do not tap. Check the invoice in your system and through your vendor contact, then report it.</a:t>
            </a:r>
          </a:p>
        </p:txBody>
      </p:sp>
      <p:sp>
        <p:nvSpPr>
          <p:cNvPr id="12" name="TextBox 4"/>
          <p:cNvSpPr txBox="1"/>
          <p:nvPr/>
        </p:nvSpPr>
        <p:spPr>
          <a:xfrm>
            <a:off x="6263640" y="1572768"/>
            <a:ext cx="5394960" cy="457200"/>
          </a:xfrm>
          <a:prstGeom prst="rect">
            <a:avLst/>
          </a:prstGeom>
          <a:noFill/>
        </p:spPr>
        <p:txBody>
          <a:bodyPr wrap="square">
            <a:spAutoFit/>
          </a:bodyPr>
          <a:lstStyle/>
          <a:p>
            <a:pPr algn="ctr"/>
            <a:r>
              <a:rPr sz="2000" b="1" i="0">
                <a:solidFill>
                  <a:srgbClr val="333333"/>
                </a:solidFill>
              </a:rPr>
              <a:t>QR code: a “retired” payment portal</a:t>
            </a:r>
          </a:p>
        </p:txBody>
      </p:sp>
      <p:sp>
        <p:nvSpPr>
          <p:cNvPr id="13" name="Rounded Rectangle 17"/>
          <p:cNvSpPr/>
          <p:nvPr/>
        </p:nvSpPr>
        <p:spPr>
          <a:xfrm>
            <a:off x="6263640" y="2103120"/>
            <a:ext cx="5394960" cy="2194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4"/>
          <p:cNvSpPr txBox="1"/>
          <p:nvPr/>
        </p:nvSpPr>
        <p:spPr>
          <a:xfrm>
            <a:off x="6355079" y="2148839"/>
            <a:ext cx="5212080" cy="365760"/>
          </a:xfrm>
          <a:prstGeom prst="rect">
            <a:avLst/>
          </a:prstGeom>
          <a:noFill/>
        </p:spPr>
        <p:txBody>
          <a:bodyPr wrap="square">
            <a:spAutoFit/>
          </a:bodyPr>
          <a:lstStyle/>
          <a:p>
            <a:pPr algn="ctr"/>
            <a:r>
              <a:rPr sz="2200" b="1" i="0">
                <a:solidFill>
                  <a:srgbClr val="2E2A45"/>
                </a:solidFill>
              </a:rPr>
              <a:t>INVOICE #4471</a:t>
            </a:r>
          </a:p>
        </p:txBody>
      </p:sp>
      <p:sp>
        <p:nvSpPr>
          <p:cNvPr id="15" name="TextBox 4"/>
          <p:cNvSpPr txBox="1"/>
          <p:nvPr/>
        </p:nvSpPr>
        <p:spPr>
          <a:xfrm>
            <a:off x="6355079" y="2487168"/>
            <a:ext cx="5212080" cy="320040"/>
          </a:xfrm>
          <a:prstGeom prst="rect">
            <a:avLst/>
          </a:prstGeom>
          <a:noFill/>
        </p:spPr>
        <p:txBody>
          <a:bodyPr wrap="square">
            <a:spAutoFit/>
          </a:bodyPr>
          <a:lstStyle/>
          <a:p>
            <a:pPr algn="ctr"/>
            <a:r>
              <a:rPr sz="2000" b="0" i="0">
                <a:solidFill>
                  <a:srgbClr val="2E2A45"/>
                </a:solidFill>
              </a:rPr>
              <a:t>Stratton Supplies, due today</a:t>
            </a:r>
          </a:p>
        </p:txBody>
      </p:sp>
      <p:pic>
        <p:nvPicPr>
          <p:cNvPr id="16" name="Picture 20" descr="image.png"/>
          <p:cNvPicPr>
            <a:picLocks noChangeAspect="1"/>
          </p:cNvPicPr>
          <p:nvPr/>
        </p:nvPicPr>
        <p:blipFill>
          <a:blip r:embed="rId3"/>
          <a:stretch>
            <a:fillRect/>
          </a:stretch>
        </p:blipFill>
        <p:spPr>
          <a:xfrm>
            <a:off x="8412480" y="2852927"/>
            <a:ext cx="1097280" cy="1097280"/>
          </a:xfrm>
          <a:prstGeom prst="rect">
            <a:avLst/>
          </a:prstGeom>
        </p:spPr>
      </p:pic>
      <p:sp>
        <p:nvSpPr>
          <p:cNvPr id="17" name="TextBox 4"/>
          <p:cNvSpPr txBox="1"/>
          <p:nvPr/>
        </p:nvSpPr>
        <p:spPr>
          <a:xfrm>
            <a:off x="6355079" y="3886199"/>
            <a:ext cx="5212080" cy="365760"/>
          </a:xfrm>
          <a:prstGeom prst="rect">
            <a:avLst/>
          </a:prstGeom>
          <a:noFill/>
        </p:spPr>
        <p:txBody>
          <a:bodyPr wrap="square">
            <a:spAutoFit/>
          </a:bodyPr>
          <a:lstStyle/>
          <a:p>
            <a:pPr algn="ctr"/>
            <a:r>
              <a:rPr sz="2000" b="1" i="0">
                <a:solidFill>
                  <a:srgbClr val="2E2A45"/>
                </a:solidFill>
              </a:rPr>
              <a:t>Scan to pay or update banking details</a:t>
            </a:r>
          </a:p>
        </p:txBody>
      </p:sp>
      <p:sp>
        <p:nvSpPr>
          <p:cNvPr id="18" name="Rounded Rectangle 4"/>
          <p:cNvSpPr/>
          <p:nvPr/>
        </p:nvSpPr>
        <p:spPr>
          <a:xfrm>
            <a:off x="6263640" y="4434840"/>
            <a:ext cx="2606040" cy="50292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Scarcity</a:t>
            </a:r>
          </a:p>
        </p:txBody>
      </p:sp>
      <p:sp>
        <p:nvSpPr>
          <p:cNvPr id="19" name="TextBox 4"/>
          <p:cNvSpPr txBox="1"/>
          <p:nvPr/>
        </p:nvSpPr>
        <p:spPr>
          <a:xfrm>
            <a:off x="6263640" y="5029200"/>
            <a:ext cx="5394960" cy="777240"/>
          </a:xfrm>
          <a:prstGeom prst="rect">
            <a:avLst/>
          </a:prstGeom>
          <a:noFill/>
        </p:spPr>
        <p:txBody>
          <a:bodyPr wrap="square">
            <a:spAutoFit/>
          </a:bodyPr>
          <a:lstStyle/>
          <a:p>
            <a:pPr algn="ctr"/>
            <a:r>
              <a:rPr sz="2000" b="0" i="0">
                <a:solidFill>
                  <a:srgbClr val="333333"/>
                </a:solidFill>
              </a:rPr>
              <a:t>Do not scan. Use the vendor details in your master file, then report it.</a:t>
            </a:r>
          </a:p>
        </p:txBody>
      </p:sp>
      <p:sp>
        <p:nvSpPr>
          <p:cNvPr id="20"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Get Cyber Safe (smishing); ASD’s ACSC, Quishing; Cialdini, HBR (2001)</a:t>
            </a:r>
          </a:p>
        </p:txBody>
      </p:sp>
      <p:sp>
        <p:nvSpPr>
          <p:cNvPr id="21" name="Kiosk Previous">
            <a:hlinkClick r:id="rId4"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22" name="Kiosk Next">
            <a:hlinkClick r:id="rId5"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23" name="narration_ap_12.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5662" fill="hold"/>
                                        <p:tgtEl>
                                          <p:spTgt spid="23"/>
                                        </p:tgtEl>
                                      </p:cBhvr>
                                    </p:cmd>
                                  </p:childTnLst>
                                </p:cTn>
                              </p:par>
                              <p:par>
                                <p:cTn id="20" presetID="26" presetClass="emph" presetSubtype="0" repeatCount="indefinite" fill="hold" grpId="0" nodeType="withEffect">
                                  <p:stCondLst>
                                    <p:cond delay="45662"/>
                                  </p:stCondLst>
                                  <p:childTnLst>
                                    <p:animEffect transition="out" filter="fade">
                                      <p:cBhvr>
                                        <p:cTn id="21" dur="1000" tmFilter="0, 0; .2, .5; .8, .5; 1, 0"/>
                                        <p:tgtEl>
                                          <p:spTgt spid="22"/>
                                        </p:tgtEl>
                                      </p:cBhvr>
                                    </p:animEffect>
                                    <p:animScale>
                                      <p:cBhvr>
                                        <p:cTn id="22" dur="500" autoRev="1" fill="hold"/>
                                        <p:tgtEl>
                                          <p:spTgt spid="2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3"/>
                </p:tgtEl>
              </p:cMediaNode>
            </p:audio>
          </p:childTnLst>
        </p:cTn>
      </p:par>
    </p:tnLst>
    <p:bldLst>
      <p:bldP spid="2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CLICKFIX: HOW A REAL MAILBOX GETS TAKEN</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t>13</a:t>
            </a:r>
          </a:p>
        </p:txBody>
      </p:sp>
      <p:sp>
        <p:nvSpPr>
          <p:cNvPr id="6" name="Rounded Rectangle 4"/>
          <p:cNvSpPr/>
          <p:nvPr/>
        </p:nvSpPr>
        <p:spPr>
          <a:xfrm>
            <a:off x="457200" y="1554480"/>
            <a:ext cx="1920240" cy="182880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1</a:t>
            </a:r>
          </a:p>
          <a:p>
            <a:pPr algn="ctr"/>
            <a:r>
              <a:rPr sz="2000">
                <a:solidFill>
                  <a:srgbClr val="FFFFFF"/>
                </a:solidFill>
              </a:rPr>
              <a:t>A fake security check on a web page</a:t>
            </a:r>
          </a:p>
        </p:txBody>
      </p:sp>
      <p:sp>
        <p:nvSpPr>
          <p:cNvPr id="7" name="Right Arrow 11"/>
          <p:cNvSpPr/>
          <p:nvPr/>
        </p:nvSpPr>
        <p:spPr>
          <a:xfrm>
            <a:off x="241401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4"/>
          <p:cNvSpPr/>
          <p:nvPr/>
        </p:nvSpPr>
        <p:spPr>
          <a:xfrm>
            <a:off x="2788920" y="1554480"/>
            <a:ext cx="1920240" cy="182880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2</a:t>
            </a:r>
          </a:p>
          <a:p>
            <a:pPr algn="ctr"/>
            <a:r>
              <a:rPr sz="2000">
                <a:solidFill>
                  <a:srgbClr val="FFFFFF"/>
                </a:solidFill>
              </a:rPr>
              <a:t>You paste a command to “fix” it</a:t>
            </a:r>
          </a:p>
        </p:txBody>
      </p:sp>
      <p:sp>
        <p:nvSpPr>
          <p:cNvPr id="9" name="Right Arrow 13"/>
          <p:cNvSpPr/>
          <p:nvPr/>
        </p:nvSpPr>
        <p:spPr>
          <a:xfrm>
            <a:off x="474573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4"/>
          <p:cNvSpPr/>
          <p:nvPr/>
        </p:nvSpPr>
        <p:spPr>
          <a:xfrm>
            <a:off x="5120640" y="1554480"/>
            <a:ext cx="1920240" cy="182880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3</a:t>
            </a:r>
          </a:p>
          <a:p>
            <a:pPr algn="ctr"/>
            <a:r>
              <a:rPr sz="2000">
                <a:solidFill>
                  <a:srgbClr val="FFFFFF"/>
                </a:solidFill>
              </a:rPr>
              <a:t>It steals saved passwords and sessions</a:t>
            </a:r>
          </a:p>
        </p:txBody>
      </p:sp>
      <p:sp>
        <p:nvSpPr>
          <p:cNvPr id="11" name="Right Arrow 15"/>
          <p:cNvSpPr/>
          <p:nvPr/>
        </p:nvSpPr>
        <p:spPr>
          <a:xfrm>
            <a:off x="707745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4"/>
          <p:cNvSpPr/>
          <p:nvPr/>
        </p:nvSpPr>
        <p:spPr>
          <a:xfrm>
            <a:off x="7452359" y="1554480"/>
            <a:ext cx="1920240" cy="182880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4</a:t>
            </a:r>
          </a:p>
          <a:p>
            <a:pPr algn="ctr"/>
            <a:r>
              <a:rPr sz="2000">
                <a:solidFill>
                  <a:srgbClr val="FFFFFF"/>
                </a:solidFill>
              </a:rPr>
              <a:t>A real mailbox is taken over</a:t>
            </a:r>
          </a:p>
        </p:txBody>
      </p:sp>
      <p:sp>
        <p:nvSpPr>
          <p:cNvPr id="13" name="Right Arrow 17"/>
          <p:cNvSpPr/>
          <p:nvPr/>
        </p:nvSpPr>
        <p:spPr>
          <a:xfrm>
            <a:off x="940917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4"/>
          <p:cNvSpPr/>
          <p:nvPr/>
        </p:nvSpPr>
        <p:spPr>
          <a:xfrm>
            <a:off x="9784080" y="1554480"/>
            <a:ext cx="1920240" cy="182880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5</a:t>
            </a:r>
          </a:p>
          <a:p>
            <a:pPr algn="ctr"/>
            <a:r>
              <a:rPr sz="2000">
                <a:solidFill>
                  <a:srgbClr val="FFFFFF"/>
                </a:solidFill>
              </a:rPr>
              <a:t>The BEC message comes from a real address</a:t>
            </a:r>
          </a:p>
        </p:txBody>
      </p:sp>
      <p:sp>
        <p:nvSpPr>
          <p:cNvPr id="15" name="TextBox 4"/>
          <p:cNvSpPr txBox="1"/>
          <p:nvPr/>
        </p:nvSpPr>
        <p:spPr>
          <a:xfrm>
            <a:off x="795528" y="3520440"/>
            <a:ext cx="10607040" cy="685800"/>
          </a:xfrm>
          <a:prstGeom prst="rect">
            <a:avLst/>
          </a:prstGeom>
          <a:noFill/>
        </p:spPr>
        <p:txBody>
          <a:bodyPr wrap="square">
            <a:spAutoFit/>
          </a:bodyPr>
          <a:lstStyle/>
          <a:p>
            <a:pPr algn="ctr"/>
            <a:r>
              <a:rPr sz="2000" b="0" i="0">
                <a:solidFill>
                  <a:srgbClr val="333333"/>
                </a:solidFill>
              </a:rPr>
              <a:t>Growing fast: the top way in during 2025 in Microsoft’s data (47%), and 52% of Push Security’s detections through Q2 2026, reaching 67% in August.</a:t>
            </a:r>
          </a:p>
        </p:txBody>
      </p:sp>
      <p:sp>
        <p:nvSpPr>
          <p:cNvPr id="16" name="TextBox 4"/>
          <p:cNvSpPr txBox="1"/>
          <p:nvPr/>
        </p:nvSpPr>
        <p:spPr>
          <a:xfrm>
            <a:off x="795528" y="4206240"/>
            <a:ext cx="10607040" cy="365760"/>
          </a:xfrm>
          <a:prstGeom prst="rect">
            <a:avLst/>
          </a:prstGeom>
          <a:noFill/>
        </p:spPr>
        <p:txBody>
          <a:bodyPr wrap="square">
            <a:spAutoFit/>
          </a:bodyPr>
          <a:lstStyle/>
          <a:p>
            <a:pPr algn="ctr"/>
            <a:r>
              <a:rPr sz="2000" b="0" i="0">
                <a:solidFill>
                  <a:srgbClr val="333333"/>
                </a:solidFill>
              </a:rPr>
              <a:t>Most arrive through web search results and compromised sites, not email.</a:t>
            </a:r>
          </a:p>
        </p:txBody>
      </p:sp>
      <p:sp>
        <p:nvSpPr>
          <p:cNvPr id="17" name="TextBox 4"/>
          <p:cNvSpPr txBox="1"/>
          <p:nvPr/>
        </p:nvSpPr>
        <p:spPr>
          <a:xfrm>
            <a:off x="795528" y="4572000"/>
            <a:ext cx="10607040" cy="731520"/>
          </a:xfrm>
          <a:prstGeom prst="rect">
            <a:avLst/>
          </a:prstGeom>
          <a:noFill/>
        </p:spPr>
        <p:txBody>
          <a:bodyPr wrap="square">
            <a:spAutoFit/>
          </a:bodyPr>
          <a:lstStyle/>
          <a:p>
            <a:pPr algn="ctr"/>
            <a:r>
              <a:rPr sz="2000" b="1" i="0">
                <a:solidFill>
                  <a:srgbClr val="333333"/>
                </a:solidFill>
              </a:rPr>
              <a:t>In Accounts Payable: bank-detail changes can then come from a genuine vendor address, inside a real thread, so every change needs a callback.</a:t>
            </a:r>
          </a:p>
        </p:txBody>
      </p:sp>
      <p:sp>
        <p:nvSpPr>
          <p:cNvPr id="18" name="TextBox 4"/>
          <p:cNvSpPr txBox="1"/>
          <p:nvPr/>
        </p:nvSpPr>
        <p:spPr>
          <a:xfrm>
            <a:off x="795528" y="5303520"/>
            <a:ext cx="10607040" cy="411480"/>
          </a:xfrm>
          <a:prstGeom prst="rect">
            <a:avLst/>
          </a:prstGeom>
          <a:noFill/>
        </p:spPr>
        <p:txBody>
          <a:bodyPr wrap="square">
            <a:spAutoFit/>
          </a:bodyPr>
          <a:lstStyle/>
          <a:p>
            <a:pPr algn="ctr"/>
            <a:r>
              <a:rPr sz="2000" b="0" i="1">
                <a:solidFill>
                  <a:srgbClr val="333333"/>
                </a:solidFill>
              </a:rPr>
              <a:t>Already pasted something? Stop and tell IT at once. Do not try to clean it up.</a:t>
            </a:r>
          </a:p>
        </p:txBody>
      </p:sp>
      <p:sp>
        <p:nvSpPr>
          <p:cNvPr id="19"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Push Security, “The state of ClickFix” (Sep 2026), which cites Microsoft’s 2025 report</a:t>
            </a:r>
          </a:p>
        </p:txBody>
      </p:sp>
      <p:sp>
        <p:nvSpPr>
          <p:cNvPr id="20" name="Kiosk Previous">
            <a:hlinkClick r:id="rId3"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21" name="Kiosk Next">
            <a:hlinkClick r:id="rId4"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22" name="narration_ap_13.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457" fill="hold"/>
                                        <p:tgtEl>
                                          <p:spTgt spid="22"/>
                                        </p:tgtEl>
                                      </p:cBhvr>
                                    </p:cmd>
                                  </p:childTnLst>
                                </p:cTn>
                              </p:par>
                              <p:par>
                                <p:cTn id="20" presetID="26" presetClass="emph" presetSubtype="0" repeatCount="indefinite" fill="hold" grpId="0" nodeType="withEffect">
                                  <p:stCondLst>
                                    <p:cond delay="80457"/>
                                  </p:stCondLst>
                                  <p:childTnLst>
                                    <p:animEffect transition="out" filter="fade">
                                      <p:cBhvr>
                                        <p:cTn id="21" dur="1000" tmFilter="0, 0; .2, .5; .8, .5; 1, 0"/>
                                        <p:tgtEl>
                                          <p:spTgt spid="21"/>
                                        </p:tgtEl>
                                      </p:cBhvr>
                                    </p:animEffect>
                                    <p:animScale>
                                      <p:cBhvr>
                                        <p:cTn id="22" dur="500" autoRev="1"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2"/>
                </p:tgtEl>
              </p:cMediaNode>
            </p:audio>
          </p:childTnLst>
        </p:cTn>
      </p:par>
    </p:tnLst>
    <p:bldLst>
      <p:bldP spid="2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42188"/>
          </a:xfrm>
          <a:prstGeom prst="rect">
            <a:avLst/>
          </a:prstGeom>
          <a:noFill/>
        </p:spPr>
        <p:txBody>
          <a:bodyPr wrap="square">
            <a:spAutoFit/>
          </a:bodyPr>
          <a:lstStyle/>
          <a:p>
            <a:pPr algn="ctr"/>
            <a:r>
              <a:rPr sz="4000" b="1">
                <a:solidFill>
                  <a:srgbClr val="000000"/>
                </a:solidFill>
              </a:rPr>
              <a:t>ALSO WATCH FOR: AI-WRITTEN SUPPLIER EMAILS</a:t>
            </a:r>
          </a:p>
        </p:txBody>
      </p:sp>
      <p:sp>
        <p:nvSpPr>
          <p:cNvPr id="5" name="Rounded Rectangle 4"/>
          <p:cNvSpPr/>
          <p:nvPr/>
        </p:nvSpPr>
        <p:spPr>
          <a:xfrm>
            <a:off x="548640" y="1369838"/>
            <a:ext cx="3454400" cy="356535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What it looks like</a:t>
            </a:r>
          </a:p>
          <a:p>
            <a:pPr algn="ctr"/>
            <a:r>
              <a:rPr sz="2800">
                <a:solidFill>
                  <a:srgbClr val="FFFFFF"/>
                </a:solidFill>
              </a:rPr>
              <a:t>A polished email in the vendor's usual tone that asks you to update bank details or pay a new invoice.</a:t>
            </a:r>
          </a:p>
        </p:txBody>
      </p:sp>
      <p:sp>
        <p:nvSpPr>
          <p:cNvPr id="6" name="Rounded Rectangle 5"/>
          <p:cNvSpPr/>
          <p:nvPr/>
        </p:nvSpPr>
        <p:spPr>
          <a:xfrm>
            <a:off x="4368800" y="1369838"/>
            <a:ext cx="3454400" cy="356535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Why it works</a:t>
            </a:r>
          </a:p>
          <a:p>
            <a:pPr algn="ctr"/>
            <a:r>
              <a:rPr sz="2800">
                <a:solidFill>
                  <a:srgbClr val="FFFFFF"/>
                </a:solidFill>
              </a:rPr>
              <a:t>AI tools help criminals write fluent, convincing messages, so spelling mistakes are no longer a reliable clue.</a:t>
            </a:r>
          </a:p>
        </p:txBody>
      </p:sp>
      <p:sp>
        <p:nvSpPr>
          <p:cNvPr id="7" name="Rounded Rectangle 6"/>
          <p:cNvSpPr/>
          <p:nvPr/>
        </p:nvSpPr>
        <p:spPr>
          <a:xfrm>
            <a:off x="8188960" y="1369838"/>
            <a:ext cx="3454400" cy="3565350"/>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How to verify</a:t>
            </a:r>
          </a:p>
          <a:p>
            <a:pPr algn="ctr"/>
            <a:r>
              <a:rPr sz="2800">
                <a:solidFill>
                  <a:srgbClr val="FFFFFF"/>
                </a:solidFill>
              </a:rPr>
              <a:t>Judge the request, not the writing. Call the vendor on a number from your vendor master file.</a:t>
            </a:r>
          </a:p>
        </p:txBody>
      </p:sp>
      <p:sp>
        <p:nvSpPr>
          <p:cNvPr id="8" name="TextBox 7"/>
          <p:cNvSpPr txBox="1"/>
          <p:nvPr/>
        </p:nvSpPr>
        <p:spPr>
          <a:xfrm>
            <a:off x="10698480" y="6309360"/>
            <a:ext cx="1280160" cy="365760"/>
          </a:xfrm>
          <a:prstGeom prst="rect">
            <a:avLst/>
          </a:prstGeom>
          <a:noFill/>
        </p:spPr>
        <p:txBody>
          <a:bodyPr wrap="none">
            <a:spAutoFit/>
          </a:bodyPr>
          <a:lstStyle/>
          <a:p>
            <a:pPr algn="r"/>
            <a:r>
              <a:rPr sz="1100"/>
              <a:t>14</a:t>
            </a:r>
          </a:p>
        </p:txBody>
      </p:sp>
      <p:sp>
        <p:nvSpPr>
          <p:cNvPr id="9" name="TextBox 8"/>
          <p:cNvSpPr txBox="1"/>
          <p:nvPr/>
        </p:nvSpPr>
        <p:spPr>
          <a:xfrm>
            <a:off x="792480" y="5014198"/>
            <a:ext cx="10607040" cy="649224"/>
          </a:xfrm>
          <a:prstGeom prst="rect">
            <a:avLst/>
          </a:prstGeom>
          <a:noFill/>
        </p:spPr>
        <p:txBody>
          <a:bodyPr wrap="square">
            <a:spAutoFit/>
          </a:bodyPr>
          <a:lstStyle/>
          <a:p>
            <a:pPr algn="ctr"/>
            <a:r>
              <a:rPr sz="3600" b="0" i="1">
                <a:solidFill>
                  <a:srgbClr val="333333"/>
                </a:solidFill>
              </a:rPr>
              <a:t>Judge the request, not the writing.</a:t>
            </a:r>
          </a:p>
        </p:txBody>
      </p:sp>
      <p:pic>
        <p:nvPicPr>
          <p:cNvPr id="11" name="narration_ap_L18.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2"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 FBI IC3 PSA I-120324-PSA (generative AI makes scam text convincing)</a:t>
            </a:r>
          </a:p>
        </p:txBody>
      </p:sp>
      <p:sp>
        <p:nvSpPr>
          <p:cNvPr id="13" name="Kiosk Previous">
            <a:hlinkClick r:id="rId6"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4" name="Kiosk Next">
            <a:hlinkClick action="ppaction://hlinksldjump" r:id="rId7"/>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708" fill="hold"/>
                                        <p:tgtEl>
                                          <p:spTgt spid="11"/>
                                        </p:tgtEl>
                                      </p:cBhvr>
                                    </p:cmd>
                                  </p:childTnLst>
                                </p:cTn>
                              </p:par>
                              <p:par>
                                <p:cTn id="20" presetID="26" presetClass="emph" presetSubtype="0" repeatCount="indefinite" fill="hold" grpId="0" nodeType="withEffect">
                                  <p:stCondLst>
                                    <p:cond delay="28708"/>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92480" y="1789176"/>
            <a:ext cx="10607040" cy="649224"/>
          </a:xfrm>
          <a:prstGeom prst="rect">
            <a:avLst/>
          </a:prstGeom>
          <a:noFill/>
        </p:spPr>
        <p:txBody>
          <a:bodyPr wrap="square">
            <a:spAutoFit/>
          </a:bodyPr>
          <a:lstStyle/>
          <a:p>
            <a:pPr algn="ctr"/>
            <a:r>
              <a:rPr sz="3600" b="1" i="0">
                <a:solidFill>
                  <a:srgbClr val="2E6B8F"/>
                </a:solidFill>
              </a:rPr>
              <a:t>PHASE 2</a:t>
            </a:r>
          </a:p>
        </p:txBody>
      </p:sp>
      <p:sp>
        <p:nvSpPr>
          <p:cNvPr id="5" name="TextBox 4"/>
          <p:cNvSpPr txBox="1"/>
          <p:nvPr/>
        </p:nvSpPr>
        <p:spPr>
          <a:xfrm>
            <a:off x="731520" y="2941320"/>
            <a:ext cx="10698480" cy="1021080"/>
          </a:xfrm>
          <a:prstGeom prst="rect">
            <a:avLst/>
          </a:prstGeom>
          <a:noFill/>
        </p:spPr>
        <p:txBody>
          <a:bodyPr wrap="none">
            <a:spAutoFit/>
          </a:bodyPr>
          <a:lstStyle/>
          <a:p>
            <a:pPr algn="ctr"/>
            <a:r>
              <a:rPr sz="6000" b="1">
                <a:solidFill>
                  <a:srgbClr val="000000"/>
                </a:solidFill>
              </a:rPr>
              <a:t>VERIFY</a:t>
            </a:r>
          </a:p>
        </p:txBody>
      </p:sp>
      <p:sp>
        <p:nvSpPr>
          <p:cNvPr id="6" name="TextBox 5"/>
          <p:cNvSpPr txBox="1"/>
          <p:nvPr/>
        </p:nvSpPr>
        <p:spPr>
          <a:xfrm>
            <a:off x="792480" y="4465320"/>
            <a:ext cx="10607040" cy="649224"/>
          </a:xfrm>
          <a:prstGeom prst="rect">
            <a:avLst/>
          </a:prstGeom>
          <a:noFill/>
        </p:spPr>
        <p:txBody>
          <a:bodyPr wrap="square">
            <a:spAutoFit/>
          </a:bodyPr>
          <a:lstStyle/>
          <a:p>
            <a:pPr algn="ctr"/>
            <a:r>
              <a:rPr sz="3600" b="0" i="1">
                <a:solidFill>
                  <a:srgbClr val="333333"/>
                </a:solidFill>
              </a:rPr>
              <a:t>The one habit that would have stopped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15</a:t>
            </a:r>
          </a:p>
        </p:txBody>
      </p:sp>
      <p:pic>
        <p:nvPicPr>
          <p:cNvPr id="57" name="narration_slide12.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58" name="Kiosk Previous">
            <a:hlinkClick action="ppaction://hlinksldjump" r:id="rId2"/>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59" name="Kiosk Next">
            <a:hlinkClick r:id="rId1"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608" fill="hold"/>
                                        <p:tgtEl>
                                          <p:spTgt spid="57"/>
                                        </p:tgtEl>
                                      </p:cBhvr>
                                    </p:cmd>
                                  </p:childTnLst>
                                </p:cTn>
                              </p:par>
                              <p:par>
                                <p:cTn id="20" presetID="26" presetClass="emph" presetSubtype="0" repeatCount="indefinite" fill="hold" grpId="0" nodeType="withEffect">
                                  <p:stCondLst>
                                    <p:cond delay="6608"/>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457200" y="411480"/>
            <a:ext cx="11247120" cy="662940"/>
          </a:xfrm>
          <a:prstGeom prst="rect">
            <a:avLst/>
          </a:prstGeom>
          <a:noFill/>
        </p:spPr>
        <p:txBody>
          <a:bodyPr wrap="square">
            <a:spAutoFit/>
          </a:bodyPr>
          <a:lstStyle/>
          <a:p>
            <a:pPr algn="ctr"/>
            <a:r>
              <a:rPr sz="3600" b="1">
                <a:solidFill>
                  <a:srgbClr val="000000"/>
                </a:solidFill>
              </a:rPr>
              <a:t>ALWAYS VERIFY: SOMEWHERE THE REQUEST CAN'T REACH</a:t>
            </a:r>
          </a:p>
        </p:txBody>
      </p:sp>
      <p:sp>
        <p:nvSpPr>
          <p:cNvPr id="5" name="Rounded Rectangle 4"/>
          <p:cNvSpPr/>
          <p:nvPr/>
        </p:nvSpPr>
        <p:spPr>
          <a:xfrm>
            <a:off x="548640" y="1253686"/>
            <a:ext cx="2602230" cy="3589702"/>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rPr>
              <a:t>Known Contact</a:t>
            </a:r>
          </a:p>
          <a:p>
            <a:pPr algn="ctr"/>
            <a:r>
              <a:rPr sz="2400">
                <a:solidFill>
                  <a:srgbClr val="FFFFFF"/>
                </a:solidFill>
              </a:rPr>
              <a:t>Call the vendor using a number from your vendor master file, never one the email gave you</a:t>
            </a:r>
          </a:p>
        </p:txBody>
      </p:sp>
      <p:sp>
        <p:nvSpPr>
          <p:cNvPr id="6" name="Rounded Rectangle 5"/>
          <p:cNvSpPr/>
          <p:nvPr/>
        </p:nvSpPr>
        <p:spPr>
          <a:xfrm>
            <a:off x="3379470" y="1253686"/>
            <a:ext cx="2602230" cy="3589702"/>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rPr>
              <a:t>System of Record</a:t>
            </a:r>
          </a:p>
          <a:p>
            <a:pPr algn="ctr"/>
            <a:r>
              <a:rPr sz="2400">
                <a:solidFill>
                  <a:srgbClr val="FFFFFF"/>
                </a:solidFill>
              </a:rPr>
              <a:t>Check the vendor file directly for any real change request, not the inbox that received this one</a:t>
            </a:r>
          </a:p>
        </p:txBody>
      </p:sp>
      <p:sp>
        <p:nvSpPr>
          <p:cNvPr id="7" name="Rounded Rectangle 6"/>
          <p:cNvSpPr/>
          <p:nvPr/>
        </p:nvSpPr>
        <p:spPr>
          <a:xfrm>
            <a:off x="6210300" y="1253686"/>
            <a:ext cx="2602230" cy="3589702"/>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rPr>
              <a:t>Second Set of Eyes</a:t>
            </a:r>
          </a:p>
          <a:p>
            <a:pPr algn="ctr"/>
            <a:r>
              <a:rPr sz="2400">
                <a:solidFill>
                  <a:srgbClr val="FFFFFF"/>
                </a:solidFill>
              </a:rPr>
              <a:t>For anything above threshold, get another person to confirm independently</a:t>
            </a:r>
          </a:p>
        </p:txBody>
      </p:sp>
      <p:sp>
        <p:nvSpPr>
          <p:cNvPr id="8" name="Rounded Rectangle 7"/>
          <p:cNvSpPr/>
          <p:nvPr/>
        </p:nvSpPr>
        <p:spPr>
          <a:xfrm>
            <a:off x="9041130" y="1253686"/>
            <a:ext cx="2602230" cy="3589702"/>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FFFFFF"/>
                </a:solidFill>
              </a:rPr>
              <a:t>Time to Verify</a:t>
            </a:r>
          </a:p>
          <a:p>
            <a:pPr algn="ctr"/>
            <a:r>
              <a:rPr sz="2400">
                <a:solidFill>
                  <a:srgbClr val="FFFFFF"/>
                </a:solidFill>
              </a:rPr>
              <a:t>Invoice deadlines are the tactic, so slowing down is always allowed</a:t>
            </a:r>
          </a:p>
        </p:txBody>
      </p:sp>
      <p:sp>
        <p:nvSpPr>
          <p:cNvPr id="9" name="TextBox 8"/>
          <p:cNvSpPr txBox="1"/>
          <p:nvPr/>
        </p:nvSpPr>
        <p:spPr>
          <a:xfrm>
            <a:off x="792480" y="4914704"/>
            <a:ext cx="10607040" cy="866140"/>
          </a:xfrm>
          <a:prstGeom prst="rect">
            <a:avLst/>
          </a:prstGeom>
          <a:noFill/>
        </p:spPr>
        <p:txBody>
          <a:bodyPr wrap="square">
            <a:spAutoFit/>
          </a:bodyPr>
          <a:lstStyle/>
          <a:p>
            <a:pPr algn="ctr"/>
            <a:r>
              <a:rPr sz="2400" b="1" i="1">
                <a:solidFill>
                  <a:srgbClr val="333333"/>
                </a:solidFill>
              </a:rPr>
              <a:t>If a change didn't come through your normal process, it isn't a change request. It's a test.</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t>16</a:t>
            </a:r>
          </a:p>
        </p:txBody>
      </p:sp>
      <p:pic>
        <p:nvPicPr>
          <p:cNvPr id="60" name="narration_slide11.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61" name="Kiosk Previous">
            <a:hlinkClick r:id="rId2"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62" name="Kiosk Next">
            <a:hlinkClick r:id="rId1"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594" fill="hold"/>
                                        <p:tgtEl>
                                          <p:spTgt spid="60"/>
                                        </p:tgtEl>
                                      </p:cBhvr>
                                    </p:cmd>
                                  </p:childTnLst>
                                </p:cTn>
                              </p:par>
                              <p:par>
                                <p:cTn id="20" presetID="26" presetClass="emph" presetSubtype="0" repeatCount="indefinite" fill="hold" grpId="0" nodeType="withEffect">
                                  <p:stCondLst>
                                    <p:cond delay="40594"/>
                                  </p:stCondLst>
                                  <p:childTnLst>
                                    <p:animEffect transition="out" filter="fade">
                                      <p:cBhvr>
                                        <p:cTn id="21" dur="1000" tmFilter="0, 0; .2, .5; .8, .5; 1, 0"/>
                                        <p:tgtEl>
                                          <p:spTgt spid="62"/>
                                        </p:tgtEl>
                                      </p:cBhvr>
                                    </p:animEffect>
                                    <p:animScale>
                                      <p:cBhvr>
                                        <p:cTn id="22" dur="500" autoRev="1" fill="hold"/>
                                        <p:tgtEl>
                                          <p:spTgt spid="6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60"/>
                </p:tgtEl>
              </p:cMediaNode>
            </p:audio>
          </p:childTnLst>
        </p:cTn>
      </p:par>
    </p:tnLst>
    <p:bldLst>
      <p:bldP spid="6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7951"/>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SCENARIO: PHONE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THE VENDOR CALL</a:t>
            </a:r>
          </a:p>
        </p:txBody>
      </p:sp>
      <p:sp>
        <p:nvSpPr>
          <p:cNvPr id="6" name="Rounded Rectangle 6">
            <a:hlinkClick action="ppaction://hlinksldjump" r:id="rId3"/>
          </p:cNvPr>
          <p:cNvSpPr/>
          <p:nvPr/>
        </p:nvSpPr>
        <p:spPr>
          <a:xfrm>
            <a:off x="548640" y="4023360"/>
            <a:ext cx="3529584" cy="1737360"/>
          </a:xfrm>
          <a:prstGeom prst="roundRect">
            <a:avLst>
              <a:gd name="adj" fmla="val 8000"/>
            </a:avLst>
          </a:prstGeom>
          <a:solidFill>
            <a:srgbClr val="4A7FA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dirty="0">
                <a:solidFill>
                  <a:srgbClr val="FFFFFF"/>
                </a:solidFill>
              </a:rPr>
              <a:t>Take the details down, and enter the change with a note that he confirmed it by phone.</a:t>
            </a:r>
          </a:p>
        </p:txBody>
      </p:sp>
      <p:sp>
        <p:nvSpPr>
          <p:cNvPr id="13" name="Rounded Rectangle X">
            <a:hlinkClick action="ppaction://hlinksldjump" r:id="rId4"/>
          </p:cNvPr>
          <p:cNvSpPr/>
          <p:nvPr/>
        </p:nvSpPr>
        <p:spPr>
          <a:xfrm>
            <a:off x="4329684" y="4023360"/>
            <a:ext cx="3529584" cy="1737360"/>
          </a:xfrm>
          <a:prstGeom prst="roundRect">
            <a:avLst>
              <a:gd name="adj" fmla="val 8000"/>
            </a:avLst>
          </a:prstGeom>
          <a:solidFill>
            <a:srgbClr val="4A7FA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dirty="0">
                <a:solidFill>
                  <a:srgbClr val="FFFFFF"/>
                </a:solidFill>
              </a:rPr>
              <a:t>Ask him to email the signed change form, then process it once the approver signs.</a:t>
            </a:r>
          </a:p>
        </p:txBody>
      </p:sp>
      <p:sp>
        <p:nvSpPr>
          <p:cNvPr id="7" name="Rounded Rectangle 7">
            <a:hlinkClick action="ppaction://hlinksldjump" r:id="rId9"/>
          </p:cNvPr>
          <p:cNvSpPr/>
          <p:nvPr/>
        </p:nvSpPr>
        <p:spPr>
          <a:xfrm>
            <a:off x="8110728" y="4023360"/>
            <a:ext cx="3529584" cy="1737360"/>
          </a:xfrm>
          <a:prstGeom prst="roundRect">
            <a:avLst>
              <a:gd name="adj" fmla="val 8000"/>
            </a:avLst>
          </a:prstGeom>
          <a:solidFill>
            <a:srgbClr val="4A7FA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dirty="0">
                <a:solidFill>
                  <a:srgbClr val="FFFFFF"/>
                </a:solidFill>
              </a:rPr>
              <a:t>Tell him changes need the signed form, and call the contact on file before approving.</a:t>
            </a:r>
          </a:p>
        </p:txBody>
      </p:sp>
      <p:sp>
        <p:nvSpPr>
          <p:cNvPr id="8" name="TextBox 8"/>
          <p:cNvSpPr txBox="1"/>
          <p:nvPr/>
        </p:nvSpPr>
        <p:spPr>
          <a:xfrm>
            <a:off x="792480" y="5897880"/>
            <a:ext cx="10607040" cy="365760"/>
          </a:xfrm>
          <a:prstGeom prst="rect">
            <a:avLst/>
          </a:prstGeom>
          <a:noFill/>
        </p:spPr>
        <p:txBody>
          <a:bodyPr wrap="square">
            <a:spAutoFit/>
          </a:bodyPr>
          <a:lstStyle/>
          <a:p>
            <a:pPr algn="ctr"/>
            <a:r>
              <a:rPr sz="2200" b="0" i="1">
                <a:solidFill>
                  <a:srgbClr val="333333"/>
                </a:solidFill>
              </a:rPr>
              <a:t>Click a card to choose.</a:t>
            </a:r>
          </a:p>
        </p:txBody>
      </p:sp>
      <p:sp>
        <p:nvSpPr>
          <p:cNvPr id="9" name="TextBox 9"/>
          <p:cNvSpPr txBox="1"/>
          <p:nvPr/>
        </p:nvSpPr>
        <p:spPr>
          <a:xfrm>
            <a:off x="10698480" y="6309360"/>
            <a:ext cx="1280160" cy="365760"/>
          </a:xfrm>
          <a:prstGeom prst="rect">
            <a:avLst/>
          </a:prstGeom>
          <a:noFill/>
        </p:spPr>
        <p:txBody>
          <a:bodyPr wrap="none">
            <a:spAutoFit/>
          </a:bodyPr>
          <a:lstStyle/>
          <a:p>
            <a:pPr algn="r"/>
            <a:r>
              <a:rPr sz="1100"/>
              <a:t>17</a:t>
            </a:r>
          </a:p>
        </p:txBody>
      </p:sp>
      <p:sp>
        <p:nvSpPr>
          <p:cNvPr id="10" name="Rounded Rectangle 5"/>
          <p:cNvSpPr/>
          <p:nvPr/>
        </p:nvSpPr>
        <p:spPr>
          <a:xfrm>
            <a:off x="914400" y="1600200"/>
            <a:ext cx="10360152" cy="2350008"/>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spcAft>
                <a:spcPts val="634"/>
              </a:spcAft>
            </a:pPr>
            <a:r>
              <a:rPr sz="2200" b="0">
                <a:solidFill>
                  <a:srgbClr val="000000"/>
                </a:solidFill>
              </a:rPr>
              <a:t>A call from “Mark” at TechSupply Corp, a supplier you pay every month. It sounds exactly like him. He says the old account is closed, he is travelling and can’t email, and he needs you to take the new bank details down now for this month’s payment. Your process: bank changes need a signed vendor change form, a callback to the contact on file, and a second approver.</a:t>
            </a:r>
          </a:p>
        </p:txBody>
      </p:sp>
      <p:sp>
        <p:nvSpPr>
          <p:cNvPr id="11" name="Kiosk Previous">
            <a:hlinkClick r:id="rId5" action="ppaction://hlinksldjump"/>
          </p:cNvPr>
          <p:cNvSpPr/>
          <p:nvPr/>
        </p:nvSpPr>
        <p:spPr>
          <a:xfrm>
            <a:off x="536448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pic>
        <p:nvPicPr>
          <p:cNvPr id="12" name="narration_ap_18.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828"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4A7FA8"/>
                </a:solidFill>
              </a:rPr>
              <a:t>PAYMENT SENT: FRAUD SUCCEEDED</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3200" b="0" i="0">
                <a:solidFill>
                  <a:srgbClr val="333333"/>
                </a:solidFill>
              </a:rPr>
              <a:t>The note tells the second approver the change was checked, so it is approved. The next payment goes to the new account. “Mark” was a voice clone, and the real vendor never called. The checker approved what the maker wrote.</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18</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4A7FA8"/>
                </a:solidFill>
              </a:rPr>
              <a:t>ATTEMPT STOPPED</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3200" b="0" i="0" dirty="0">
                <a:solidFill>
                  <a:srgbClr val="333333"/>
                </a:solidFill>
              </a:rPr>
              <a:t>You call the contact on file. The real vendor answers, never asked for a change, and the old account stays. You report the attempt, and the real Mark is warned that his voice is being cloned.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19</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4A7FA8"/>
                </a:solidFill>
              </a:rPr>
              <a:t>PARTLY RIGHT</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3200" b="0" i="0" dirty="0">
                <a:solidFill>
                  <a:srgbClr val="333333"/>
                </a:solidFill>
              </a:rPr>
              <a:t>The form arrives and looks genuine. Nothing is paid yet, but nobody has called the vendor, and a signed form from the caller proves nothing. Whether this ends well now depends on the approver doing the callback you skipped.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20</a:t>
            </a:r>
          </a:p>
        </p:txBody>
      </p:sp>
      <p:sp>
        <p:nvSpPr>
          <p:cNvPr id="8" name="Kiosk Previous">
            <a:hlinkClick action="ppaction://hlinksldjump" r:id="rId3"/>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action="ppaction://hlinksldjump" r:id="rId4"/>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000000"/>
                </a:solidFill>
              </a:rPr>
              <a:t>DEBRIEF</a:t>
            </a:r>
          </a:p>
        </p:txBody>
      </p:sp>
      <p:sp>
        <p:nvSpPr>
          <p:cNvPr id="5" name="TextBox 4"/>
          <p:cNvSpPr txBox="1"/>
          <p:nvPr/>
        </p:nvSpPr>
        <p:spPr>
          <a:xfrm>
            <a:off x="792480" y="1744472"/>
            <a:ext cx="10607040" cy="3803904"/>
          </a:xfrm>
          <a:prstGeom prst="rect">
            <a:avLst/>
          </a:prstGeom>
          <a:noFill/>
        </p:spPr>
        <p:txBody>
          <a:bodyPr wrap="square">
            <a:spAutoFit/>
          </a:bodyPr>
          <a:lstStyle/>
          <a:p>
            <a:pPr>
              <a:spcAft>
                <a:spcPts val="1440"/>
              </a:spcAft>
              <a:defRPr sz="3600">
                <a:solidFill>
                  <a:srgbClr val="333333"/>
                </a:solidFill>
              </a:defRPr>
            </a:pPr>
            <a:r>
              <a:rPr sz="3200">
                <a:solidFill>
                  <a:srgbClr val="333333"/>
                </a:solidFill>
              </a:rPr>
              <a:t>A cloned voice can sound exactly like a supplier you know. Writing “confirmed by phone” is the workaround that makes an unchecked change look checked, and the second approver can only approve what you wrote.</a:t>
            </a:r>
          </a:p>
          <a:p>
            <a:pPr>
              <a:spcAft>
                <a:spcPts val="1440"/>
              </a:spcAft>
              <a:defRPr sz="3600">
                <a:solidFill>
                  <a:srgbClr val="333333"/>
                </a:solidFill>
              </a:defRPr>
            </a:pPr>
            <a:r>
              <a:rPr sz="3200">
                <a:solidFill>
                  <a:srgbClr val="333333"/>
                </a:solidFill>
              </a:rPr>
              <a:t>The signed form starts the process, and the callback to the contact already on file is what makes it a control. Never call a number the request gave you.</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21</a:t>
            </a:r>
          </a:p>
        </p:txBody>
      </p:sp>
      <p:sp>
        <p:nvSpPr>
          <p:cNvPr id="8"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Sources: FBI IC3 PSA I-120324-PSA; Canadian Centre for Cyber Security</a:t>
            </a:r>
          </a:p>
        </p:txBody>
      </p:sp>
      <p:sp>
        <p:nvSpPr>
          <p:cNvPr id="9" name="Kiosk Previous">
            <a:hlinkClick r:id="rId3"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0" name="Kiosk Next">
            <a:hlinkClick r:id="rId4"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11" name="narration_ap_21.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954" fill="hold"/>
                                        <p:tgtEl>
                                          <p:spTgt spid="11"/>
                                        </p:tgtEl>
                                      </p:cBhvr>
                                    </p:cmd>
                                  </p:childTnLst>
                                </p:cTn>
                              </p:par>
                              <p:par>
                                <p:cTn id="20" presetID="26" presetClass="emph" presetSubtype="0" repeatCount="indefinite" fill="hold" grpId="0" nodeType="withEffect">
                                  <p:stCondLst>
                                    <p:cond delay="23954"/>
                                  </p:stCondLst>
                                  <p:childTnLst>
                                    <p:animEffect transition="out" filter="fade">
                                      <p:cBhvr>
                                        <p:cTn id="21" dur="1000" tmFilter="0, 0; .2, .5; .8, .5; 1, 0"/>
                                        <p:tgtEl>
                                          <p:spTgt spid="10"/>
                                        </p:tgtEl>
                                      </p:cBhvr>
                                    </p:animEffect>
                                    <p:animScale>
                                      <p:cBhvr>
                                        <p:cTn id="22" dur="500" autoRev="1" fill="hold"/>
                                        <p:tgtEl>
                                          <p:spTgt spid="1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SCENARIO: VIDEO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THE VIDEO CALL</a:t>
            </a:r>
          </a:p>
        </p:txBody>
      </p:sp>
      <p:sp>
        <p:nvSpPr>
          <p:cNvPr id="6" name="Rounded Rectangle 6">
            <a:hlinkClick action="ppaction://hlinksldjump" r:id="rId3"/>
          </p:cNvPr>
          <p:cNvSpPr/>
          <p:nvPr/>
        </p:nvSpPr>
        <p:spPr>
          <a:xfrm>
            <a:off x="548640" y="4023360"/>
            <a:ext cx="3529584" cy="1737360"/>
          </a:xfrm>
          <a:prstGeom prst="roundRect">
            <a:avLst>
              <a:gd name="adj" fmla="val 8000"/>
            </a:avLst>
          </a:prstGeom>
          <a:solidFill>
            <a:srgbClr val="4A7FA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Pay the new details this run, and ask her to confirm in writing afterwards.</a:t>
            </a:r>
          </a:p>
        </p:txBody>
      </p:sp>
      <p:sp>
        <p:nvSpPr>
          <p:cNvPr id="13" name="Rounded Rectangle X">
            <a:hlinkClick action="ppaction://hlinksldjump" r:id="rId4"/>
          </p:cNvPr>
          <p:cNvSpPr/>
          <p:nvPr/>
        </p:nvSpPr>
        <p:spPr>
          <a:xfrm>
            <a:off x="4329684" y="4023360"/>
            <a:ext cx="3529584" cy="1737360"/>
          </a:xfrm>
          <a:prstGeom prst="roundRect">
            <a:avLst>
              <a:gd name="adj" fmla="val 8000"/>
            </a:avLst>
          </a:prstGeom>
          <a:solidFill>
            <a:srgbClr val="4A7FA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rPr>
              <a:t>Pay the details already on file for this run, and tell your AP manager about the call.</a:t>
            </a:r>
          </a:p>
        </p:txBody>
      </p:sp>
      <p:sp>
        <p:nvSpPr>
          <p:cNvPr id="7" name="Rounded Rectangle 7">
            <a:hlinkClick action="ppaction://hlinksldjump" r:id="rId9"/>
          </p:cNvPr>
          <p:cNvSpPr/>
          <p:nvPr/>
        </p:nvSpPr>
        <p:spPr>
          <a:xfrm>
            <a:off x="8110728" y="4023360"/>
            <a:ext cx="3529584" cy="1737360"/>
          </a:xfrm>
          <a:prstGeom prst="roundRect">
            <a:avLst>
              <a:gd name="adj" fmla="val 8000"/>
            </a:avLst>
          </a:prstGeom>
          <a:solidFill>
            <a:srgbClr val="4A7FA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dirty="0">
                <a:solidFill>
                  <a:srgbClr val="FFFFFF"/>
                </a:solidFill>
              </a:rPr>
              <a:t>Hold the payment until the vendor answers, and don't mention the call to anyone.</a:t>
            </a:r>
          </a:p>
        </p:txBody>
      </p:sp>
      <p:sp>
        <p:nvSpPr>
          <p:cNvPr id="8" name="TextBox 8"/>
          <p:cNvSpPr txBox="1"/>
          <p:nvPr/>
        </p:nvSpPr>
        <p:spPr>
          <a:xfrm>
            <a:off x="792480" y="5897880"/>
            <a:ext cx="10607040" cy="365760"/>
          </a:xfrm>
          <a:prstGeom prst="rect">
            <a:avLst/>
          </a:prstGeom>
          <a:noFill/>
        </p:spPr>
        <p:txBody>
          <a:bodyPr wrap="square">
            <a:spAutoFit/>
          </a:bodyPr>
          <a:lstStyle/>
          <a:p>
            <a:pPr algn="ctr"/>
            <a:r>
              <a:rPr sz="2200" b="0" i="1">
                <a:solidFill>
                  <a:srgbClr val="333333"/>
                </a:solidFill>
              </a:rPr>
              <a:t>Click a card to choose.</a:t>
            </a:r>
          </a:p>
        </p:txBody>
      </p:sp>
      <p:sp>
        <p:nvSpPr>
          <p:cNvPr id="9" name="TextBox 9"/>
          <p:cNvSpPr txBox="1"/>
          <p:nvPr/>
        </p:nvSpPr>
        <p:spPr>
          <a:xfrm>
            <a:off x="10698480" y="6309360"/>
            <a:ext cx="1280160" cy="365760"/>
          </a:xfrm>
          <a:prstGeom prst="rect">
            <a:avLst/>
          </a:prstGeom>
          <a:noFill/>
        </p:spPr>
        <p:txBody>
          <a:bodyPr wrap="none">
            <a:spAutoFit/>
          </a:bodyPr>
          <a:lstStyle/>
          <a:p>
            <a:pPr algn="r"/>
            <a:r>
              <a:rPr sz="1100"/>
              <a:t>22</a:t>
            </a:r>
          </a:p>
        </p:txBody>
      </p:sp>
      <p:sp>
        <p:nvSpPr>
          <p:cNvPr id="10" name="Rounded Rectangle 5"/>
          <p:cNvSpPr/>
          <p:nvPr/>
        </p:nvSpPr>
        <p:spPr>
          <a:xfrm>
            <a:off x="914400" y="1600200"/>
            <a:ext cx="10360152" cy="2350008"/>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spcAft>
                <a:spcPts val="846"/>
              </a:spcAft>
            </a:pPr>
            <a:r>
              <a:rPr sz="2200" b="0">
                <a:solidFill>
                  <a:srgbClr val="000000"/>
                </a:solidFill>
              </a:rPr>
              <a:t>A video call from the vendor’s finance director, with two colleagues. Her face and voice look right. She asks you to confirm new remittance details before the payment run closes at 3 pm. You try the contact in your master file, and it rings out. Your process: payments to changed details need an approved vendor change.</a:t>
            </a:r>
          </a:p>
        </p:txBody>
      </p:sp>
      <p:sp>
        <p:nvSpPr>
          <p:cNvPr id="11" name="Kiosk Previous">
            <a:hlinkClick r:id="rId5" action="ppaction://hlinksldjump"/>
          </p:cNvPr>
          <p:cNvSpPr/>
          <p:nvPr/>
        </p:nvSpPr>
        <p:spPr>
          <a:xfrm>
            <a:off x="536448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pic>
        <p:nvPicPr>
          <p:cNvPr id="12" name="narration_ap_22.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365"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4A7FA8"/>
                </a:solidFill>
              </a:rPr>
              <a:t>PAYMENT SENT: FRAUD SUCCEEDED</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2800" b="0" i="0">
                <a:solidFill>
                  <a:srgbClr val="333333"/>
                </a:solidFill>
              </a:rPr>
              <a:t>The payment goes to the new account and is gone before the confirmation “arrives”. Everyone on the video was a deepfake, built from public footage of the vendor's team. “Pay now, paperwork later” moved the money first and the checks second.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23</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4A7FA8"/>
                </a:solidFill>
              </a:rPr>
              <a:t>ATTEMPT STOPPED</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3200" b="0" i="0">
                <a:solidFill>
                  <a:srgbClr val="333333"/>
                </a:solidFill>
              </a:rPr>
              <a:t>The payment goes to the genuine account on file, on time. Your manager reaches the real vendor later and learns nobody asked for a change. The attempt is reported, and the vendor is warned about the fake call.</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24</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4A7FA8"/>
                </a:solidFill>
              </a:rPr>
              <a:t>PARTLY RIGHT</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3200" b="0" i="0">
                <a:solidFill>
                  <a:srgbClr val="333333"/>
                </a:solidFill>
              </a:rPr>
              <a:t>The payment is safe, but it misses the run and a late fee may apply. Nobody else in Accounts Payable has been warned, so the same caller can try the next clerk. Being cautious alone is not enough: report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25</a:t>
            </a:r>
          </a:p>
        </p:txBody>
      </p:sp>
      <p:sp>
        <p:nvSpPr>
          <p:cNvPr id="8" name="Kiosk Previous">
            <a:hlinkClick action="ppaction://hlinksldjump" r:id="rId3"/>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action="ppaction://hlinksldjump" r:id="rId4"/>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000000"/>
                </a:solidFill>
              </a:rPr>
              <a:t>DEBRIEF</a:t>
            </a:r>
          </a:p>
        </p:txBody>
      </p:sp>
      <p:sp>
        <p:nvSpPr>
          <p:cNvPr id="5" name="TextBox 4"/>
          <p:cNvSpPr txBox="1"/>
          <p:nvPr/>
        </p:nvSpPr>
        <p:spPr>
          <a:xfrm>
            <a:off x="792480" y="1642491"/>
            <a:ext cx="10607040" cy="4007866"/>
          </a:xfrm>
          <a:prstGeom prst="rect">
            <a:avLst/>
          </a:prstGeom>
          <a:noFill/>
        </p:spPr>
        <p:txBody>
          <a:bodyPr wrap="square">
            <a:spAutoFit/>
          </a:bodyPr>
          <a:lstStyle/>
          <a:p>
            <a:pPr>
              <a:spcAft>
                <a:spcPts val="1328"/>
              </a:spcAft>
              <a:defRPr sz="3300">
                <a:solidFill>
                  <a:srgbClr val="333333"/>
                </a:solidFill>
              </a:defRPr>
            </a:pPr>
            <a:r>
              <a:rPr lang="en-AU" sz="3200" dirty="0">
                <a:solidFill>
                  <a:srgbClr val="333333"/>
                </a:solidFill>
              </a:rPr>
              <a:t>A video call with several familiar faces can still be fake. Seeing more than one person adds social proof, and a deadline makes you fix the problem on their terms.</a:t>
            </a:r>
          </a:p>
          <a:p>
            <a:pPr>
              <a:spcAft>
                <a:spcPts val="1328"/>
              </a:spcAft>
              <a:defRPr sz="3300">
                <a:solidFill>
                  <a:srgbClr val="333333"/>
                </a:solidFill>
              </a:defRPr>
            </a:pPr>
            <a:r>
              <a:rPr dirty="0" sz="3200"/>
              <a:t>When you cannot verify in time, the safe default is the details already on file. Then tell your manager, so the next clerk is not caught.</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26</a:t>
            </a:r>
          </a:p>
        </p:txBody>
      </p:sp>
      <p:sp>
        <p:nvSpPr>
          <p:cNvPr id="8"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Sources: FBI IC3 PSA I-120324-PSA; CNN Business (Arup, 2024)</a:t>
            </a:r>
          </a:p>
        </p:txBody>
      </p:sp>
      <p:sp>
        <p:nvSpPr>
          <p:cNvPr id="9" name="Kiosk Previous">
            <a:hlinkClick r:id="rId3"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0" name="Kiosk Next">
            <a:hlinkClick r:id="rId4"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11" name="narration_ap_25.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316" fill="hold"/>
                                        <p:tgtEl>
                                          <p:spTgt spid="11"/>
                                        </p:tgtEl>
                                      </p:cBhvr>
                                    </p:cmd>
                                  </p:childTnLst>
                                </p:cTn>
                              </p:par>
                              <p:par>
                                <p:cTn id="20" presetID="26" presetClass="emph" presetSubtype="0" repeatCount="indefinite" fill="hold" grpId="0" nodeType="withEffect">
                                  <p:stCondLst>
                                    <p:cond delay="21316"/>
                                  </p:stCondLst>
                                  <p:childTnLst>
                                    <p:animEffect transition="out" filter="fade">
                                      <p:cBhvr>
                                        <p:cTn id="21" dur="1000" tmFilter="0, 0; .2, .5; .8, .5; 1, 0"/>
                                        <p:tgtEl>
                                          <p:spTgt spid="10"/>
                                        </p:tgtEl>
                                      </p:cBhvr>
                                    </p:animEffect>
                                    <p:animScale>
                                      <p:cBhvr>
                                        <p:cTn id="22" dur="500" autoRev="1" fill="hold"/>
                                        <p:tgtEl>
                                          <p:spTgt spid="1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92480" y="1510284"/>
            <a:ext cx="10607040" cy="649224"/>
          </a:xfrm>
          <a:prstGeom prst="rect">
            <a:avLst/>
          </a:prstGeom>
          <a:noFill/>
        </p:spPr>
        <p:txBody>
          <a:bodyPr wrap="square">
            <a:spAutoFit/>
          </a:bodyPr>
          <a:lstStyle/>
          <a:p>
            <a:pPr algn="ctr"/>
            <a:r>
              <a:rPr sz="3600" b="1" i="0">
                <a:solidFill>
                  <a:srgbClr val="2E6B8F"/>
                </a:solidFill>
              </a:rPr>
              <a:t>PHASE 3</a:t>
            </a:r>
          </a:p>
        </p:txBody>
      </p:sp>
      <p:sp>
        <p:nvSpPr>
          <p:cNvPr id="5" name="TextBox 4"/>
          <p:cNvSpPr txBox="1"/>
          <p:nvPr/>
        </p:nvSpPr>
        <p:spPr>
          <a:xfrm>
            <a:off x="731520" y="2662428"/>
            <a:ext cx="10698480" cy="1021080"/>
          </a:xfrm>
          <a:prstGeom prst="rect">
            <a:avLst/>
          </a:prstGeom>
          <a:noFill/>
        </p:spPr>
        <p:txBody>
          <a:bodyPr wrap="none">
            <a:spAutoFit/>
          </a:bodyPr>
          <a:lstStyle/>
          <a:p>
            <a:pPr algn="ctr"/>
            <a:r>
              <a:rPr sz="6000" b="1">
                <a:solidFill>
                  <a:srgbClr val="000000"/>
                </a:solidFill>
              </a:rPr>
              <a:t>CONTAIN</a:t>
            </a:r>
          </a:p>
        </p:txBody>
      </p:sp>
      <p:sp>
        <p:nvSpPr>
          <p:cNvPr id="6" name="TextBox 5"/>
          <p:cNvSpPr txBox="1"/>
          <p:nvPr/>
        </p:nvSpPr>
        <p:spPr>
          <a:xfrm>
            <a:off x="792480" y="4186428"/>
            <a:ext cx="10607040" cy="1207008"/>
          </a:xfrm>
          <a:prstGeom prst="rect">
            <a:avLst/>
          </a:prstGeom>
          <a:noFill/>
        </p:spPr>
        <p:txBody>
          <a:bodyPr wrap="square">
            <a:spAutoFit/>
          </a:bodyPr>
          <a:lstStyle/>
          <a:p>
            <a:pPr algn="ctr"/>
            <a:r>
              <a:rPr sz="3600" b="0" i="1">
                <a:solidFill>
                  <a:srgbClr val="333333"/>
                </a:solidFill>
              </a:rPr>
              <a:t>You caught it, or you didn't. Either way, here's what happens next.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27</a:t>
            </a:r>
          </a:p>
        </p:txBody>
      </p:sp>
      <p:pic>
        <p:nvPicPr>
          <p:cNvPr id="57" name="narration_slide20.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58" name="Kiosk Previous">
            <a:hlinkClick r:id="rId2"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59" name="Kiosk Next">
            <a:hlinkClick r:id="rId1"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67" fill="hold"/>
                                        <p:tgtEl>
                                          <p:spTgt spid="57"/>
                                        </p:tgtEl>
                                      </p:cBhvr>
                                    </p:cmd>
                                  </p:childTnLst>
                                </p:cTn>
                              </p:par>
                              <p:par>
                                <p:cTn id="20" presetID="26" presetClass="emph" presetSubtype="0" repeatCount="indefinite" fill="hold" grpId="0" nodeType="withEffect">
                                  <p:stCondLst>
                                    <p:cond delay="7967"/>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CONTAIN: WHAT TO DO, IN ORDER</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t>28</a:t>
            </a:r>
          </a:p>
        </p:txBody>
      </p:sp>
      <p:sp>
        <p:nvSpPr>
          <p:cNvPr id="6" name="Rounded Rectangle 10"/>
          <p:cNvSpPr/>
          <p:nvPr/>
        </p:nvSpPr>
        <p:spPr>
          <a:xfrm>
            <a:off x="1280160" y="1481328"/>
            <a:ext cx="3749039" cy="502920"/>
          </a:xfrm>
          <a:prstGeom prst="roundRect">
            <a:avLst/>
          </a:prstGeom>
          <a:solidFill>
            <a:srgbClr val="FFFFFF"/>
          </a:solidFill>
          <a:ln w="19050">
            <a:solidFill>
              <a:srgbClr val="4A6FB5"/>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You suspect an attempt</a:t>
            </a:r>
          </a:p>
        </p:txBody>
      </p:sp>
      <p:sp>
        <p:nvSpPr>
          <p:cNvPr id="7" name="Right Arrow 11"/>
          <p:cNvSpPr/>
          <p:nvPr/>
        </p:nvSpPr>
        <p:spPr>
          <a:xfrm>
            <a:off x="5138928" y="1554480"/>
            <a:ext cx="457200" cy="365760"/>
          </a:xfrm>
          <a:prstGeom prst="rightArrow">
            <a:avLst/>
          </a:prstGeom>
          <a:solidFill>
            <a:srgbClr val="4A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12"/>
          <p:cNvSpPr/>
          <p:nvPr/>
        </p:nvSpPr>
        <p:spPr>
          <a:xfrm>
            <a:off x="5705856" y="1481328"/>
            <a:ext cx="5212080" cy="502920"/>
          </a:xfrm>
          <a:prstGeom prst="roundRect">
            <a:avLst/>
          </a:prstGeom>
          <a:solidFill>
            <a:srgbClr val="FFFFFF"/>
          </a:solidFill>
          <a:ln w="19050">
            <a:solidFill>
              <a:srgbClr val="4A6FB5"/>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Has money moved?</a:t>
            </a:r>
          </a:p>
        </p:txBody>
      </p:sp>
      <p:sp>
        <p:nvSpPr>
          <p:cNvPr id="9" name="Rounded Rectangle 13"/>
          <p:cNvSpPr/>
          <p:nvPr/>
        </p:nvSpPr>
        <p:spPr>
          <a:xfrm>
            <a:off x="548640" y="2148840"/>
            <a:ext cx="5440680" cy="2194560"/>
          </a:xfrm>
          <a:prstGeom prst="roundRect">
            <a:avLst>
              <a:gd name="adj" fmla="val 8000"/>
            </a:avLst>
          </a:prstGeom>
          <a:solidFill>
            <a:srgbClr val="E3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4"/>
          <p:cNvSpPr txBox="1"/>
          <p:nvPr/>
        </p:nvSpPr>
        <p:spPr>
          <a:xfrm>
            <a:off x="731520" y="2194560"/>
            <a:ext cx="5029200" cy="411480"/>
          </a:xfrm>
          <a:prstGeom prst="rect">
            <a:avLst/>
          </a:prstGeom>
          <a:noFill/>
        </p:spPr>
        <p:txBody>
          <a:bodyPr wrap="square">
            <a:spAutoFit/>
          </a:bodyPr>
          <a:lstStyle/>
          <a:p>
            <a:pPr algn="l"/>
            <a:r>
              <a:rPr sz="2200" b="1" i="0">
                <a:solidFill>
                  <a:srgbClr val="2E4A8C"/>
                </a:solidFill>
              </a:rPr>
              <a:t>No: nothing paid yet</a:t>
            </a:r>
          </a:p>
        </p:txBody>
      </p:sp>
      <p:sp>
        <p:nvSpPr>
          <p:cNvPr id="11" name="Oval 15"/>
          <p:cNvSpPr/>
          <p:nvPr/>
        </p:nvSpPr>
        <p:spPr>
          <a:xfrm>
            <a:off x="795528" y="2761488"/>
            <a:ext cx="420624" cy="420624"/>
          </a:xfrm>
          <a:prstGeom prst="ellipse">
            <a:avLst/>
          </a:prstGeom>
          <a:solidFill>
            <a:srgbClr val="4A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12" name="TextBox 4"/>
          <p:cNvSpPr txBox="1"/>
          <p:nvPr/>
        </p:nvSpPr>
        <p:spPr>
          <a:xfrm>
            <a:off x="1371600" y="2743200"/>
            <a:ext cx="4526280" cy="457200"/>
          </a:xfrm>
          <a:prstGeom prst="rect">
            <a:avLst/>
          </a:prstGeom>
          <a:noFill/>
        </p:spPr>
        <p:txBody>
          <a:bodyPr wrap="square">
            <a:spAutoFit/>
          </a:bodyPr>
          <a:lstStyle/>
          <a:p>
            <a:pPr algn="l"/>
            <a:r>
              <a:rPr sz="2000" b="0" i="0">
                <a:solidFill>
                  <a:srgbClr val="2E2A45"/>
                </a:solidFill>
              </a:rPr>
              <a:t>Stop the payment</a:t>
            </a:r>
          </a:p>
        </p:txBody>
      </p:sp>
      <p:sp>
        <p:nvSpPr>
          <p:cNvPr id="13" name="Rectangle 17"/>
          <p:cNvSpPr/>
          <p:nvPr/>
        </p:nvSpPr>
        <p:spPr>
          <a:xfrm>
            <a:off x="992124" y="3182112"/>
            <a:ext cx="27432" cy="146303"/>
          </a:xfrm>
          <a:prstGeom prst="rect">
            <a:avLst/>
          </a:prstGeom>
          <a:solidFill>
            <a:srgbClr val="4A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8"/>
          <p:cNvSpPr/>
          <p:nvPr/>
        </p:nvSpPr>
        <p:spPr>
          <a:xfrm>
            <a:off x="795528" y="3328416"/>
            <a:ext cx="420624" cy="420624"/>
          </a:xfrm>
          <a:prstGeom prst="ellipse">
            <a:avLst/>
          </a:prstGeom>
          <a:solidFill>
            <a:srgbClr val="4A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15" name="TextBox 4"/>
          <p:cNvSpPr txBox="1"/>
          <p:nvPr/>
        </p:nvSpPr>
        <p:spPr>
          <a:xfrm>
            <a:off x="1371600" y="3310128"/>
            <a:ext cx="4526280" cy="457200"/>
          </a:xfrm>
          <a:prstGeom prst="rect">
            <a:avLst/>
          </a:prstGeom>
          <a:noFill/>
        </p:spPr>
        <p:txBody>
          <a:bodyPr wrap="square">
            <a:spAutoFit/>
          </a:bodyPr>
          <a:lstStyle/>
          <a:p>
            <a:pPr algn="l"/>
            <a:r>
              <a:rPr sz="2000" b="0" i="0">
                <a:solidFill>
                  <a:srgbClr val="2E2A45"/>
                </a:solidFill>
              </a:rPr>
              <a:t>Verify through a known contact</a:t>
            </a:r>
          </a:p>
        </p:txBody>
      </p:sp>
      <p:sp>
        <p:nvSpPr>
          <p:cNvPr id="16" name="Rectangle 20"/>
          <p:cNvSpPr/>
          <p:nvPr/>
        </p:nvSpPr>
        <p:spPr>
          <a:xfrm>
            <a:off x="992124" y="3749040"/>
            <a:ext cx="27432" cy="146303"/>
          </a:xfrm>
          <a:prstGeom prst="rect">
            <a:avLst/>
          </a:prstGeom>
          <a:solidFill>
            <a:srgbClr val="4A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21"/>
          <p:cNvSpPr/>
          <p:nvPr/>
        </p:nvSpPr>
        <p:spPr>
          <a:xfrm>
            <a:off x="795528" y="3895344"/>
            <a:ext cx="420624" cy="420624"/>
          </a:xfrm>
          <a:prstGeom prst="ellipse">
            <a:avLst/>
          </a:prstGeom>
          <a:solidFill>
            <a:srgbClr val="4A6F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18" name="TextBox 4"/>
          <p:cNvSpPr txBox="1"/>
          <p:nvPr/>
        </p:nvSpPr>
        <p:spPr>
          <a:xfrm>
            <a:off x="1371600" y="3877056"/>
            <a:ext cx="4526280" cy="457200"/>
          </a:xfrm>
          <a:prstGeom prst="rect">
            <a:avLst/>
          </a:prstGeom>
          <a:noFill/>
        </p:spPr>
        <p:txBody>
          <a:bodyPr wrap="square">
            <a:spAutoFit/>
          </a:bodyPr>
          <a:lstStyle/>
          <a:p>
            <a:pPr algn="l"/>
            <a:r>
              <a:rPr sz="2000" b="0" i="0">
                <a:solidFill>
                  <a:srgbClr val="2E2A45"/>
                </a:solidFill>
              </a:rPr>
              <a:t>Tell IT or Security</a:t>
            </a:r>
          </a:p>
        </p:txBody>
      </p:sp>
      <p:sp>
        <p:nvSpPr>
          <p:cNvPr id="19" name="Rounded Rectangle 23"/>
          <p:cNvSpPr/>
          <p:nvPr/>
        </p:nvSpPr>
        <p:spPr>
          <a:xfrm>
            <a:off x="6199632" y="2148840"/>
            <a:ext cx="5440680" cy="2194560"/>
          </a:xfrm>
          <a:prstGeom prst="roundRect">
            <a:avLst>
              <a:gd name="adj" fmla="val 8000"/>
            </a:avLst>
          </a:prstGeom>
          <a:solidFill>
            <a:srgbClr val="FBE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4"/>
          <p:cNvSpPr txBox="1"/>
          <p:nvPr/>
        </p:nvSpPr>
        <p:spPr>
          <a:xfrm>
            <a:off x="6382512" y="2194560"/>
            <a:ext cx="5029200" cy="411480"/>
          </a:xfrm>
          <a:prstGeom prst="rect">
            <a:avLst/>
          </a:prstGeom>
          <a:noFill/>
        </p:spPr>
        <p:txBody>
          <a:bodyPr wrap="square">
            <a:spAutoFit/>
          </a:bodyPr>
          <a:lstStyle/>
          <a:p>
            <a:pPr algn="l"/>
            <a:r>
              <a:rPr sz="2200" b="1" i="0">
                <a:solidFill>
                  <a:srgbClr val="A3470F"/>
                </a:solidFill>
              </a:rPr>
              <a:t>Yes: money already sent</a:t>
            </a:r>
          </a:p>
        </p:txBody>
      </p:sp>
      <p:sp>
        <p:nvSpPr>
          <p:cNvPr id="21" name="Oval 25"/>
          <p:cNvSpPr/>
          <p:nvPr/>
        </p:nvSpPr>
        <p:spPr>
          <a:xfrm>
            <a:off x="6446520" y="2761488"/>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22" name="TextBox 4"/>
          <p:cNvSpPr txBox="1"/>
          <p:nvPr/>
        </p:nvSpPr>
        <p:spPr>
          <a:xfrm>
            <a:off x="7022592" y="2743200"/>
            <a:ext cx="4526280" cy="457200"/>
          </a:xfrm>
          <a:prstGeom prst="rect">
            <a:avLst/>
          </a:prstGeom>
          <a:noFill/>
        </p:spPr>
        <p:txBody>
          <a:bodyPr wrap="square">
            <a:spAutoFit/>
          </a:bodyPr>
          <a:lstStyle/>
          <a:p>
            <a:pPr algn="l"/>
            <a:r>
              <a:rPr sz="2000" b="0" i="0">
                <a:solidFill>
                  <a:srgbClr val="2E2A45"/>
                </a:solidFill>
              </a:rPr>
              <a:t>Call your bank now: request a recall</a:t>
            </a:r>
          </a:p>
        </p:txBody>
      </p:sp>
      <p:sp>
        <p:nvSpPr>
          <p:cNvPr id="23" name="Rectangle 27"/>
          <p:cNvSpPr/>
          <p:nvPr/>
        </p:nvSpPr>
        <p:spPr>
          <a:xfrm>
            <a:off x="6643116" y="3182112"/>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8"/>
          <p:cNvSpPr/>
          <p:nvPr/>
        </p:nvSpPr>
        <p:spPr>
          <a:xfrm>
            <a:off x="6446520" y="3328416"/>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25" name="TextBox 4"/>
          <p:cNvSpPr txBox="1"/>
          <p:nvPr/>
        </p:nvSpPr>
        <p:spPr>
          <a:xfrm>
            <a:off x="7022592" y="3310128"/>
            <a:ext cx="4526280" cy="457200"/>
          </a:xfrm>
          <a:prstGeom prst="rect">
            <a:avLst/>
          </a:prstGeom>
          <a:noFill/>
        </p:spPr>
        <p:txBody>
          <a:bodyPr wrap="square">
            <a:spAutoFit/>
          </a:bodyPr>
          <a:lstStyle/>
          <a:p>
            <a:pPr algn="l"/>
            <a:r>
              <a:rPr sz="2000" b="0" i="0">
                <a:solidFill>
                  <a:srgbClr val="2E2A45"/>
                </a:solidFill>
              </a:rPr>
              <a:t>Tell your manager and IT</a:t>
            </a:r>
          </a:p>
        </p:txBody>
      </p:sp>
      <p:sp>
        <p:nvSpPr>
          <p:cNvPr id="26" name="Rectangle 30"/>
          <p:cNvSpPr/>
          <p:nvPr/>
        </p:nvSpPr>
        <p:spPr>
          <a:xfrm>
            <a:off x="6643116" y="3749040"/>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31"/>
          <p:cNvSpPr/>
          <p:nvPr/>
        </p:nvSpPr>
        <p:spPr>
          <a:xfrm>
            <a:off x="6446520" y="3895344"/>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28" name="TextBox 4"/>
          <p:cNvSpPr txBox="1"/>
          <p:nvPr/>
        </p:nvSpPr>
        <p:spPr>
          <a:xfrm>
            <a:off x="7022592" y="3877056"/>
            <a:ext cx="4526280" cy="457200"/>
          </a:xfrm>
          <a:prstGeom prst="rect">
            <a:avLst/>
          </a:prstGeom>
          <a:noFill/>
        </p:spPr>
        <p:txBody>
          <a:bodyPr wrap="square">
            <a:spAutoFit/>
          </a:bodyPr>
          <a:lstStyle/>
          <a:p>
            <a:pPr algn="l"/>
            <a:r>
              <a:rPr sz="2000" b="0" i="0">
                <a:solidFill>
                  <a:srgbClr val="2E2A45"/>
                </a:solidFill>
              </a:rPr>
              <a:t>Tell the real vendor</a:t>
            </a:r>
          </a:p>
        </p:txBody>
      </p:sp>
      <p:sp>
        <p:nvSpPr>
          <p:cNvPr id="29" name="Down Arrow 33"/>
          <p:cNvSpPr/>
          <p:nvPr/>
        </p:nvSpPr>
        <p:spPr>
          <a:xfrm>
            <a:off x="3086100"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own Arrow 34"/>
          <p:cNvSpPr/>
          <p:nvPr/>
        </p:nvSpPr>
        <p:spPr>
          <a:xfrm>
            <a:off x="8737092"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4"/>
          <p:cNvSpPr/>
          <p:nvPr/>
        </p:nvSpPr>
        <p:spPr>
          <a:xfrm>
            <a:off x="548640" y="4663440"/>
            <a:ext cx="3611880" cy="1170432"/>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Keep the evidence</a:t>
            </a:r>
          </a:p>
          <a:p>
            <a:pPr algn="ctr"/>
            <a:r>
              <a:rPr sz="1800">
                <a:solidFill>
                  <a:srgbClr val="FFFFFF"/>
                </a:solidFill>
              </a:rPr>
              <a:t>Email, thread, call log</a:t>
            </a:r>
          </a:p>
        </p:txBody>
      </p:sp>
      <p:sp>
        <p:nvSpPr>
          <p:cNvPr id="32" name="Rounded Rectangle 4"/>
          <p:cNvSpPr/>
          <p:nvPr/>
        </p:nvSpPr>
        <p:spPr>
          <a:xfrm>
            <a:off x="4288536" y="4663440"/>
            <a:ext cx="3611880" cy="1170432"/>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Report it</a:t>
            </a:r>
          </a:p>
          <a:p>
            <a:pPr algn="ctr"/>
            <a:r>
              <a:rPr sz="1800">
                <a:solidFill>
                  <a:srgbClr val="FFFFFF"/>
                </a:solidFill>
              </a:rPr>
              <a:t>ReportCyber, IC3, Report Fraud, CAFC</a:t>
            </a:r>
          </a:p>
        </p:txBody>
      </p:sp>
      <p:sp>
        <p:nvSpPr>
          <p:cNvPr id="33" name="Rounded Rectangle 4"/>
          <p:cNvSpPr/>
          <p:nvPr/>
        </p:nvSpPr>
        <p:spPr>
          <a:xfrm>
            <a:off x="8028431" y="4663440"/>
            <a:ext cx="3611880" cy="1170432"/>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rPr>
              <a:t>Get support</a:t>
            </a:r>
          </a:p>
          <a:p>
            <a:pPr algn="ctr"/>
            <a:r>
              <a:rPr sz="1800">
                <a:solidFill>
                  <a:srgbClr val="FFFFFF"/>
                </a:solidFill>
              </a:rPr>
              <a:t>Tell your team. IDCARE helps with identity.</a:t>
            </a:r>
          </a:p>
        </p:txBody>
      </p:sp>
      <p:sp>
        <p:nvSpPr>
          <p:cNvPr id="34"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FBI IC3 2025 Annual Report; ASD’s ACSC; Report Fraud; CAFC; IDCARE</a:t>
            </a:r>
          </a:p>
        </p:txBody>
      </p:sp>
      <p:sp>
        <p:nvSpPr>
          <p:cNvPr id="38" name="Contain note"/>
          <p:cNvSpPr txBox="1"/>
          <p:nvPr/>
        </p:nvSpPr>
        <p:spPr>
          <a:xfrm>
            <a:off x="457200" y="1143000"/>
            <a:ext cx="11247120" cy="274320"/>
          </a:xfrm>
          <a:prstGeom prst="rect">
            <a:avLst/>
          </a:prstGeom>
          <a:noFill/>
        </p:spPr>
        <p:txBody>
          <a:bodyPr wrap="square">
            <a:spAutoFit/>
          </a:bodyPr>
          <a:lstStyle/>
          <a:p>
            <a:pPr algn="ctr"/>
            <a:r>
              <a:rPr lang="en-US" sz="1400" i="1">
                <a:solidFill>
                  <a:srgbClr val="666666"/>
                </a:solidFill>
              </a:rPr>
              <a:t>The order may change depending on the situation. Follow your organisation's incident procedure.</a:t>
            </a:r>
          </a:p>
        </p:txBody>
      </p:sp>
      <p:sp>
        <p:nvSpPr>
          <p:cNvPr id="35" name="Kiosk Previous">
            <a:hlinkClick r:id="rId3"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36" name="Kiosk Next">
            <a:hlinkClick r:id="rId4"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pic>
        <p:nvPicPr>
          <p:cNvPr id="37" name="narration_ap_27.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7548" fill="hold"/>
                                        <p:tgtEl>
                                          <p:spTgt spid="37"/>
                                        </p:tgtEl>
                                      </p:cBhvr>
                                    </p:cmd>
                                  </p:childTnLst>
                                </p:cTn>
                              </p:par>
                              <p:par>
                                <p:cTn id="20" presetID="26" presetClass="emph" presetSubtype="0" repeatCount="indefinite" fill="hold" grpId="0" nodeType="withEffect">
                                  <p:stCondLst>
                                    <p:cond delay="57548"/>
                                  </p:stCondLst>
                                  <p:childTnLst>
                                    <p:animEffect transition="out" filter="fade">
                                      <p:cBhvr>
                                        <p:cTn id="21" dur="1000" tmFilter="0, 0; .2, .5; .8, .5; 1, 0"/>
                                        <p:tgtEl>
                                          <p:spTgt spid="36"/>
                                        </p:tgtEl>
                                      </p:cBhvr>
                                    </p:animEffect>
                                    <p:animScale>
                                      <p:cBhvr>
                                        <p:cTn id="22" dur="500" autoRev="1" fill="hold"/>
                                        <p:tgtEl>
                                          <p:spTgt spid="36"/>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37"/>
                </p:tgtEl>
              </p:cMediaNode>
            </p:audio>
          </p:childTnLst>
        </p:cTn>
      </p:par>
    </p:tnLst>
    <p:bldLst>
      <p:bldP spid="3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480" y="774511"/>
            <a:ext cx="10607040" cy="789939"/>
          </a:xfrm>
          <a:prstGeom prst="rect">
            <a:avLst/>
          </a:prstGeom>
          <a:noFill/>
        </p:spPr>
        <p:txBody>
          <a:bodyPr wrap="square">
            <a:spAutoFit/>
          </a:bodyPr>
          <a:lstStyle/>
          <a:p>
            <a:pPr algn="ctr"/>
            <a:r>
              <a:rPr sz="4400" b="1">
                <a:solidFill>
                  <a:srgbClr val="000000"/>
                </a:solidFill>
              </a:rPr>
              <a:t>KNOWLEDGE CHECK: CONTAIN (Q1)</a:t>
            </a:r>
          </a:p>
        </p:txBody>
      </p:sp>
      <p:sp>
        <p:nvSpPr>
          <p:cNvPr id="5" name="TextBox 4"/>
          <p:cNvSpPr txBox="1"/>
          <p:nvPr/>
        </p:nvSpPr>
        <p:spPr>
          <a:xfrm>
            <a:off x="792480" y="1764210"/>
            <a:ext cx="10607040" cy="1764792"/>
          </a:xfrm>
          <a:prstGeom prst="rect">
            <a:avLst/>
          </a:prstGeom>
          <a:noFill/>
        </p:spPr>
        <p:txBody>
          <a:bodyPr wrap="square">
            <a:spAutoFit/>
          </a:bodyPr>
          <a:lstStyle/>
          <a:p>
            <a:pPr algn="ctr"/>
            <a:r>
              <a:rPr sz="2800" b="1" i="0">
                <a:solidFill>
                  <a:srgbClr val="333333"/>
                </a:solidFill>
              </a:rPr>
              <a:t>You released a payment this morning to new bank details and now suspect they were fake. Who do you call first?</a:t>
            </a:r>
          </a:p>
        </p:txBody>
      </p:sp>
      <p:sp>
        <p:nvSpPr>
          <p:cNvPr id="6" name="Rounded Rectangle 5">
            <a:hlinkClick action="ppaction://hlinksldjump" r:id="rId4"/>
          </p:cNvPr>
          <p:cNvSpPr/>
          <p:nvPr/>
        </p:nvSpPr>
        <p:spPr>
          <a:xfrm>
            <a:off x="932688" y="3520440"/>
            <a:ext cx="10332720" cy="731520"/>
          </a:xfrm>
          <a:prstGeom prst="roundRect">
            <a:avLst>
              <a:gd name="adj" fmla="val 15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A)  The vendor, on their known number, to ask whether the money arrived</a:t>
            </a:r>
          </a:p>
        </p:txBody>
      </p:sp>
      <p:sp>
        <p:nvSpPr>
          <p:cNvPr id="7" name="Rounded Rectangle 6">
            <a:hlinkClick action="ppaction://hlinksldjump" r:id="rId4"/>
          </p:cNvPr>
          <p:cNvSpPr/>
          <p:nvPr/>
        </p:nvSpPr>
        <p:spPr>
          <a:xfrm>
            <a:off x="932688" y="4325112"/>
            <a:ext cx="10332720" cy="731520"/>
          </a:xfrm>
          <a:prstGeom prst="roundRect">
            <a:avLst>
              <a:gd name="adj" fmla="val 15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B)  Your manager and IT, so the response is coordinated from the start</a:t>
            </a:r>
          </a:p>
        </p:txBody>
      </p:sp>
      <p:sp>
        <p:nvSpPr>
          <p:cNvPr id="8" name="Rounded Rectangle 7">
            <a:hlinkClick action="ppaction://hlinksldjump" r:id="rId3"/>
          </p:cNvPr>
          <p:cNvSpPr/>
          <p:nvPr/>
        </p:nvSpPr>
        <p:spPr>
          <a:xfrm>
            <a:off x="932688" y="5129784"/>
            <a:ext cx="10332720" cy="731520"/>
          </a:xfrm>
          <a:prstGeom prst="roundRect">
            <a:avLst>
              <a:gd name="adj" fmla="val 15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C)  Your bank, to ask them to stop or recall the payment</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29</a:t>
            </a:r>
          </a:p>
        </p:txBody>
      </p:sp>
      <p:sp>
        <p:nvSpPr>
          <p:cNvPr id="10" name="Kiosk Previous">
            <a:hlinkClick r:id="rId5" action="ppaction://hlinksldjump"/>
          </p:cNvPr>
          <p:cNvSpPr/>
          <p:nvPr/>
        </p:nvSpPr>
        <p:spPr>
          <a:xfrm>
            <a:off x="536448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480" y="2290318"/>
            <a:ext cx="10607040" cy="2322576"/>
          </a:xfrm>
          <a:prstGeom prst="rect">
            <a:avLst/>
          </a:prstGeom>
          <a:noFill/>
        </p:spPr>
        <p:txBody>
          <a:bodyPr wrap="square">
            <a:spAutoFit/>
          </a:bodyPr>
          <a:lstStyle/>
          <a:p>
            <a:pPr algn="ctr"/>
            <a:r>
              <a:rPr sz="3200" b="0" i="0">
                <a:solidFill>
                  <a:srgbClr val="333333"/>
                </a:solidFill>
              </a:rPr>
              <a:t>The answer is C) Your bank, to ask them to stop or recall the payment. Once money has moved, speed matters most. Call the bank first, then your manager and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30</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387348"/>
            <a:ext cx="9418320" cy="773176"/>
          </a:xfrm>
          <a:prstGeom prst="rect">
            <a:avLst/>
          </a:prstGeom>
          <a:noFill/>
        </p:spPr>
        <p:txBody>
          <a:bodyPr wrap="none">
            <a:spAutoFit/>
          </a:bodyPr>
          <a:lstStyle/>
          <a:p>
            <a:pPr algn="ctr"/>
            <a:r>
              <a:rPr sz="4400" b="1">
                <a:solidFill>
                  <a:srgbClr val="4A7FA8"/>
                </a:solidFill>
              </a:rPr>
              <a:t>CORRECT!</a:t>
            </a:r>
          </a:p>
        </p:txBody>
      </p:sp>
      <p:sp>
        <p:nvSpPr>
          <p:cNvPr id="5" name="TextBox 4"/>
          <p:cNvSpPr txBox="1"/>
          <p:nvPr/>
        </p:nvSpPr>
        <p:spPr>
          <a:xfrm>
            <a:off x="792480" y="2663444"/>
            <a:ext cx="10607040" cy="1207008"/>
          </a:xfrm>
          <a:prstGeom prst="rect">
            <a:avLst/>
          </a:prstGeom>
          <a:noFill/>
        </p:spPr>
        <p:txBody>
          <a:bodyPr wrap="square">
            <a:spAutoFit/>
          </a:bodyPr>
          <a:lstStyle/>
          <a:p>
            <a:pPr algn="ctr"/>
            <a:r>
              <a:rPr sz="3200" b="0" i="0">
                <a:solidFill>
                  <a:srgbClr val="333333"/>
                </a:solidFill>
              </a:rPr>
              <a:t>Right. Once money has moved, speed matters most. Call the bank first, then your manager and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31</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480" y="867475"/>
            <a:ext cx="10607040" cy="789939"/>
          </a:xfrm>
          <a:prstGeom prst="rect">
            <a:avLst/>
          </a:prstGeom>
          <a:noFill/>
        </p:spPr>
        <p:txBody>
          <a:bodyPr wrap="square">
            <a:spAutoFit/>
          </a:bodyPr>
          <a:lstStyle/>
          <a:p>
            <a:pPr algn="ctr"/>
            <a:r>
              <a:rPr sz="4400" b="1">
                <a:solidFill>
                  <a:srgbClr val="000000"/>
                </a:solidFill>
              </a:rPr>
              <a:t>KNOWLEDGE CHECK: CONTAIN (Q2)</a:t>
            </a:r>
          </a:p>
        </p:txBody>
      </p:sp>
      <p:sp>
        <p:nvSpPr>
          <p:cNvPr id="5" name="TextBox 4"/>
          <p:cNvSpPr txBox="1"/>
          <p:nvPr/>
        </p:nvSpPr>
        <p:spPr>
          <a:xfrm>
            <a:off x="792480" y="1852587"/>
            <a:ext cx="10607040" cy="1145032"/>
          </a:xfrm>
          <a:prstGeom prst="rect">
            <a:avLst/>
          </a:prstGeom>
          <a:noFill/>
        </p:spPr>
        <p:txBody>
          <a:bodyPr wrap="square">
            <a:spAutoFit/>
          </a:bodyPr>
          <a:lstStyle/>
          <a:p>
            <a:pPr algn="ctr"/>
            <a:r>
              <a:rPr sz="3200" b="1" i="0">
                <a:solidFill>
                  <a:srgbClr val="333333"/>
                </a:solidFill>
              </a:rPr>
              <a:t>The bank says the recall failed and the money has been withdrawn. What do you do now?</a:t>
            </a:r>
          </a:p>
        </p:txBody>
      </p:sp>
      <p:sp>
        <p:nvSpPr>
          <p:cNvPr id="6" name="Rounded Rectangle 5">
            <a:hlinkClick action="ppaction://hlinksldjump" r:id="rId3"/>
          </p:cNvPr>
          <p:cNvSpPr/>
          <p:nvPr/>
        </p:nvSpPr>
        <p:spPr>
          <a:xfrm>
            <a:off x="932688" y="3520440"/>
            <a:ext cx="10332720" cy="731520"/>
          </a:xfrm>
          <a:prstGeom prst="roundRect">
            <a:avLst>
              <a:gd name="adj" fmla="val 15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A)  Ask the vendor to return the money, and report it only if they refuse</a:t>
            </a:r>
          </a:p>
        </p:txBody>
      </p:sp>
      <p:sp>
        <p:nvSpPr>
          <p:cNvPr id="7" name="Rounded Rectangle 6">
            <a:hlinkClick action="ppaction://hlinksldjump" r:id="rId4"/>
          </p:cNvPr>
          <p:cNvSpPr/>
          <p:nvPr/>
        </p:nvSpPr>
        <p:spPr>
          <a:xfrm>
            <a:off x="932688" y="4325112"/>
            <a:ext cx="10332720" cy="731520"/>
          </a:xfrm>
          <a:prstGeom prst="roundRect">
            <a:avLst>
              <a:gd name="adj" fmla="val 15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B)  Report it to the cybercrime service, tell IT, and keep working with your bank</a:t>
            </a:r>
          </a:p>
        </p:txBody>
      </p:sp>
      <p:sp>
        <p:nvSpPr>
          <p:cNvPr id="8" name="Rounded Rectangle 7">
            <a:hlinkClick action="ppaction://hlinksldjump" r:id="rId3"/>
          </p:cNvPr>
          <p:cNvSpPr/>
          <p:nvPr/>
        </p:nvSpPr>
        <p:spPr>
          <a:xfrm>
            <a:off x="932688" y="5129784"/>
            <a:ext cx="10332720" cy="731520"/>
          </a:xfrm>
          <a:prstGeom prst="roundRect">
            <a:avLst>
              <a:gd name="adj" fmla="val 15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r>
              <a:rPr sz="2000" b="1">
                <a:solidFill>
                  <a:srgbClr val="FFFFFF"/>
                </a:solidFill>
              </a:rPr>
              <a:t>C)  Record the loss for the audit, and let the bank close the case</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32</a:t>
            </a:r>
          </a:p>
        </p:txBody>
      </p:sp>
      <p:sp>
        <p:nvSpPr>
          <p:cNvPr id="10" name="Kiosk Previous">
            <a:hlinkClick r:id="rId5" action="ppaction://hlinksldjump"/>
          </p:cNvPr>
          <p:cNvSpPr/>
          <p:nvPr/>
        </p:nvSpPr>
        <p:spPr>
          <a:xfrm>
            <a:off x="536448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480" y="2476246"/>
            <a:ext cx="10607040" cy="1764792"/>
          </a:xfrm>
          <a:prstGeom prst="rect">
            <a:avLst/>
          </a:prstGeom>
          <a:noFill/>
        </p:spPr>
        <p:txBody>
          <a:bodyPr wrap="square">
            <a:spAutoFit/>
          </a:bodyPr>
          <a:lstStyle/>
          <a:p>
            <a:pPr algn="ctr"/>
            <a:r>
              <a:rPr sz="2400" b="0" i="0">
                <a:solidFill>
                  <a:srgbClr val="333333"/>
                </a:solidFill>
              </a:rPr>
              <a:t>The answer is B) Report it to the cybercrime service, tell IT, and keep working with your bank. A failed recall is not the end. Reporting can still help the bank and the police trace and freeze funds, and IT needs to know how the attacker got in.</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33</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387348"/>
            <a:ext cx="9418320" cy="773176"/>
          </a:xfrm>
          <a:prstGeom prst="rect">
            <a:avLst/>
          </a:prstGeom>
          <a:noFill/>
        </p:spPr>
        <p:txBody>
          <a:bodyPr wrap="none">
            <a:spAutoFit/>
          </a:bodyPr>
          <a:lstStyle/>
          <a:p>
            <a:pPr algn="ctr"/>
            <a:r>
              <a:rPr sz="4400" b="1">
                <a:solidFill>
                  <a:srgbClr val="4A7FA8"/>
                </a:solidFill>
              </a:rPr>
              <a:t>CORRECT!</a:t>
            </a:r>
          </a:p>
        </p:txBody>
      </p:sp>
      <p:sp>
        <p:nvSpPr>
          <p:cNvPr id="5" name="TextBox 4"/>
          <p:cNvSpPr txBox="1"/>
          <p:nvPr/>
        </p:nvSpPr>
        <p:spPr>
          <a:xfrm>
            <a:off x="792480" y="2663444"/>
            <a:ext cx="10607040" cy="1207008"/>
          </a:xfrm>
          <a:prstGeom prst="rect">
            <a:avLst/>
          </a:prstGeom>
          <a:noFill/>
        </p:spPr>
        <p:txBody>
          <a:bodyPr wrap="square">
            <a:spAutoFit/>
          </a:bodyPr>
          <a:lstStyle/>
          <a:p>
            <a:pPr algn="ctr"/>
            <a:r>
              <a:rPr sz="2400" b="0" i="0">
                <a:solidFill>
                  <a:srgbClr val="333333"/>
                </a:solidFill>
              </a:rPr>
              <a:t>Right. A failed recall is not the end. Reporting can still help the bank and the police trace and freeze funds, and IT needs to know how the attacker got in.</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34</a:t>
            </a:r>
          </a:p>
        </p:txBody>
      </p:sp>
      <p:sp>
        <p:nvSpPr>
          <p:cNvPr id="8" name="Kiosk Previous">
            <a:hlinkClick r:id="rId4"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9" name="Kiosk Next">
            <a:hlinkClick r:id="rId3"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SUMMARY</a:t>
            </a:r>
          </a:p>
        </p:txBody>
      </p:sp>
      <p:sp>
        <p:nvSpPr>
          <p:cNvPr id="5" name="Rounded Rectangle 4"/>
          <p:cNvSpPr/>
          <p:nvPr/>
        </p:nvSpPr>
        <p:spPr>
          <a:xfrm>
            <a:off x="548640" y="1929573"/>
            <a:ext cx="3484880" cy="2162685"/>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DETECT</a:t>
            </a:r>
          </a:p>
          <a:p>
            <a:pPr algn="ctr"/>
            <a:r>
              <a:rPr sz="2800">
                <a:solidFill>
                  <a:srgbClr val="FFFFFF"/>
                </a:solidFill>
              </a:rPr>
              <a:t>Urgency and a changed bank detail are the pattern</a:t>
            </a:r>
          </a:p>
        </p:txBody>
      </p:sp>
      <p:sp>
        <p:nvSpPr>
          <p:cNvPr id="6" name="Rounded Rectangle 5"/>
          <p:cNvSpPr/>
          <p:nvPr/>
        </p:nvSpPr>
        <p:spPr>
          <a:xfrm>
            <a:off x="4353560" y="1929573"/>
            <a:ext cx="3484880" cy="2162685"/>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VERIFY</a:t>
            </a:r>
          </a:p>
          <a:p>
            <a:pPr algn="ctr"/>
            <a:r>
              <a:rPr sz="2800">
                <a:solidFill>
                  <a:srgbClr val="FFFFFF"/>
                </a:solidFill>
              </a:rPr>
              <a:t>Check somewhere the request can't reach</a:t>
            </a:r>
          </a:p>
        </p:txBody>
      </p:sp>
      <p:sp>
        <p:nvSpPr>
          <p:cNvPr id="7" name="Rounded Rectangle 6"/>
          <p:cNvSpPr/>
          <p:nvPr/>
        </p:nvSpPr>
        <p:spPr>
          <a:xfrm>
            <a:off x="8158480" y="1929573"/>
            <a:ext cx="3484880" cy="2162685"/>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FFFFFF"/>
                </a:solidFill>
              </a:rPr>
              <a:t>CONTAIN</a:t>
            </a:r>
          </a:p>
          <a:p>
            <a:pPr algn="ctr"/>
            <a:r>
              <a:rPr sz="2800">
                <a:solidFill>
                  <a:srgbClr val="FFFFFF"/>
                </a:solidFill>
              </a:rPr>
              <a:t>Bank first if money has moved, then report</a:t>
            </a:r>
          </a:p>
        </p:txBody>
      </p:sp>
      <p:sp>
        <p:nvSpPr>
          <p:cNvPr id="8" name="TextBox 7"/>
          <p:cNvSpPr txBox="1"/>
          <p:nvPr/>
        </p:nvSpPr>
        <p:spPr>
          <a:xfrm>
            <a:off x="792480" y="4595178"/>
            <a:ext cx="10607040" cy="649224"/>
          </a:xfrm>
          <a:prstGeom prst="rect">
            <a:avLst/>
          </a:prstGeom>
          <a:noFill/>
        </p:spPr>
        <p:txBody>
          <a:bodyPr wrap="square">
            <a:spAutoFit/>
          </a:bodyPr>
          <a:lstStyle/>
          <a:p>
            <a:pPr algn="ctr"/>
            <a:r>
              <a:rPr sz="3600" b="1" i="1">
                <a:solidFill>
                  <a:srgbClr val="333333"/>
                </a:solidFill>
              </a:rPr>
              <a:t>Always verify somewhere the request can't reach.</a:t>
            </a:r>
          </a:p>
        </p:txBody>
      </p:sp>
      <p:sp>
        <p:nvSpPr>
          <p:cNvPr id="13" name="Adapt note"/>
          <p:cNvSpPr txBox="1"/>
          <p:nvPr/>
        </p:nvSpPr>
        <p:spPr>
          <a:xfrm>
            <a:off x="792480" y="5354130"/>
            <a:ext cx="10607040" cy="713232"/>
          </a:xfrm>
          <a:prstGeom prst="rect">
            <a:avLst/>
          </a:prstGeom>
          <a:noFill/>
        </p:spPr>
        <p:txBody>
          <a:bodyPr wrap="square">
            <a:spAutoFit/>
          </a:bodyPr>
          <a:lstStyle/>
          <a:p>
            <a:pPr algn="ctr"/>
            <a:r>
              <a:rPr sz="2000" b="0" i="1">
                <a:solidFill>
                  <a:srgbClr val="333333"/>
                </a:solidFill>
              </a:rPr>
              <a:t>Laws, contacts and reporting services differ by country and industry. Adapt this module before you use it.</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35</a:t>
            </a:r>
          </a:p>
        </p:txBody>
      </p:sp>
      <p:pic>
        <p:nvPicPr>
          <p:cNvPr id="10" name="narration_ap_L15.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11" name="Kiosk Previous">
            <a:hlinkClick r:id="rId2"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12" name="Kiosk Next">
            <a:hlinkClick r:id="rId1" action="ppaction://hlinksldjump"/>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216" fill="hold"/>
                                        <p:tgtEl>
                                          <p:spTgt spid="10"/>
                                        </p:tgtEl>
                                      </p:cBhvr>
                                    </p:cmd>
                                  </p:childTnLst>
                                </p:cTn>
                              </p:par>
                              <p:par>
                                <p:cTn id="20" presetID="26" presetClass="emph" presetSubtype="0" repeatCount="indefinite" fill="hold" grpId="0" nodeType="withEffect">
                                  <p:stCondLst>
                                    <p:cond delay="24216"/>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10.png"/>
          <p:cNvPicPr>
            <a:picLocks noChangeAspect="1"/>
          </p:cNvPicPr>
          <p:nvPr/>
        </p:nvPicPr>
        <p:blipFill>
          <a:blip r:embed="rId4"/>
          <a:stretch>
            <a:fillRect/>
          </a:stretch>
        </p:blipFill>
        <p:spPr>
          <a:xfrm>
            <a:off x="0" y="0"/>
            <a:ext cx="12191695" cy="6858000"/>
          </a:xfrm>
          <a:prstGeom prst="rect">
            <a:avLst/>
          </a:prstGeom>
        </p:spPr>
      </p:pic>
      <p:sp>
        <p:nvSpPr>
          <p:cNvPr id="4" name="TextBox 3"/>
          <p:cNvSpPr txBox="1"/>
          <p:nvPr/>
        </p:nvSpPr>
        <p:spPr>
          <a:xfrm>
            <a:off x="731520" y="1270127"/>
            <a:ext cx="10698480" cy="943609"/>
          </a:xfrm>
          <a:prstGeom prst="rect">
            <a:avLst/>
          </a:prstGeom>
          <a:noFill/>
        </p:spPr>
        <p:txBody>
          <a:bodyPr wrap="none">
            <a:spAutoFit/>
          </a:bodyPr>
          <a:lstStyle/>
          <a:p>
            <a:pPr algn="ctr"/>
            <a:r>
              <a:rPr sz="4800" b="1">
                <a:solidFill>
                  <a:srgbClr val="000000"/>
                </a:solidFill>
              </a:rPr>
              <a:t>THANK YOU</a:t>
            </a:r>
          </a:p>
        </p:txBody>
      </p:sp>
      <p:sp>
        <p:nvSpPr>
          <p:cNvPr id="5" name="TextBox 4"/>
          <p:cNvSpPr txBox="1"/>
          <p:nvPr/>
        </p:nvSpPr>
        <p:spPr>
          <a:xfrm>
            <a:off x="792480" y="2716656"/>
            <a:ext cx="10607040" cy="1207008"/>
          </a:xfrm>
          <a:prstGeom prst="rect">
            <a:avLst/>
          </a:prstGeom>
          <a:noFill/>
        </p:spPr>
        <p:txBody>
          <a:bodyPr wrap="square">
            <a:spAutoFit/>
          </a:bodyPr>
          <a:lstStyle/>
          <a:p>
            <a:pPr algn="ctr"/>
            <a:r>
              <a:rPr sz="3600" b="0" i="0">
                <a:solidFill>
                  <a:srgbClr val="333333"/>
                </a:solidFill>
              </a:rPr>
              <a:t>Questions? Reach out to Jenny: s4927217@uq.edu.au</a:t>
            </a:r>
          </a:p>
        </p:txBody>
      </p:sp>
      <p:sp>
        <p:nvSpPr>
          <p:cNvPr id="6" name="TextBox 5"/>
          <p:cNvSpPr txBox="1"/>
          <p:nvPr/>
        </p:nvSpPr>
        <p:spPr>
          <a:xfrm>
            <a:off x="792480" y="4426584"/>
            <a:ext cx="10607040" cy="1207008"/>
          </a:xfrm>
          <a:prstGeom prst="rect">
            <a:avLst/>
          </a:prstGeom>
          <a:noFill/>
        </p:spPr>
        <p:txBody>
          <a:bodyPr wrap="square">
            <a:spAutoFit/>
          </a:bodyPr>
          <a:lstStyle/>
          <a:p>
            <a:pPr algn="ctr"/>
            <a:r>
              <a:rPr sz="3600" b="0" i="0">
                <a:solidFill>
                  <a:srgbClr val="333333"/>
                </a:solidFill>
              </a:rPr>
              <a:t>Prepared as part of the Role-Based BEC Competency Framework (RBCF)</a:t>
            </a:r>
          </a:p>
        </p:txBody>
      </p:sp>
      <p:pic>
        <p:nvPicPr>
          <p:cNvPr id="56" name="narration_slide29.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
        <p:nvSpPr>
          <p:cNvPr id="58" name="Kiosk Previous">
            <a:hlinkClick r:id="rId2" action="ppaction://hlinksldjump"/>
          </p:cNvPr>
          <p:cNvSpPr/>
          <p:nvPr/>
        </p:nvSpPr>
        <p:spPr>
          <a:xfrm>
            <a:off x="449580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Previous</a:t>
            </a:r>
          </a:p>
        </p:txBody>
      </p:sp>
      <p:sp>
        <p:nvSpPr>
          <p:cNvPr id="59" name="Kiosk Finish">
            <a:hlinkClick r:id="" action="ppaction://hlinkshowjump?jump=endshow"/>
          </p:cNvPr>
          <p:cNvSpPr/>
          <p:nvPr/>
        </p:nvSpPr>
        <p:spPr>
          <a:xfrm>
            <a:off x="6233160" y="6309360"/>
            <a:ext cx="1463040" cy="384048"/>
          </a:xfrm>
          <a:prstGeom prst="roundRect">
            <a:avLst>
              <a:gd name="adj" fmla="val 8000"/>
            </a:avLst>
          </a:prstGeom>
          <a:solidFill>
            <a:srgbClr val="6FA8C8"/>
          </a:solidFill>
          <a:ln>
            <a:solidFill>
              <a:srgbClr val="2E6B8F"/>
            </a:solidFill>
          </a:ln>
        </p:spPr>
        <p:style>
          <a:lnRef idx="1">
            <a:schemeClr val="accent1"/>
          </a:lnRef>
          <a:fillRef idx="3">
            <a:schemeClr val="accent1"/>
          </a:fillRef>
          <a:effectRef idx="2">
            <a:schemeClr val="accent1"/>
          </a:effectRef>
          <a:fontRef idx="minor">
            <a:schemeClr val="lt1"/>
          </a:fontRef>
        </p:style>
        <p:txBody>
          <a:bodyPr wrap="none" rtlCol="0" anchor="ctr" lIns="45720" rIns="45720" tIns="0" bIns="0"/>
          <a:lstStyle/>
          <a:p>
            <a:pPr algn="ctr"/>
            <a:r>
              <a:rPr sz="2000" b="1">
                <a:solidFill>
                  <a:srgbClr val="FFFFFF"/>
                </a:solidFill>
              </a:rPr>
              <a:t>Finish</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528" fill="hold"/>
                                        <p:tgtEl>
                                          <p:spTgt spid="5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1312</Words>
  <Application>Microsoft Office PowerPoint</Application>
  <PresentationFormat>Widescreen</PresentationFormat>
  <Paragraphs>161</Paragraphs>
  <Slides>29</Slides>
  <Notes>0</Notes>
  <HiddenSlides>0</HiddenSlides>
  <MMClips>11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Email Compromise Training: Accounts Payable (kiosk version)</dc:title>
  <dc:subject>Role-Based BEC Competency Framework (RBCF)</dc:subject>
  <dc:creator>Ida Jenifer Jayaprakasam</dc:creator>
  <cp:keywords>business email compromise; BEC; role-based training; RBCF</cp:keywords>
  <dc:description>Capstone project CYBR7901/7902, University of Queensland</dc:description>
  <cp:lastModifiedBy>Ida Jenifer Jayaprakasam</cp:lastModifiedBy>
  <cp:revision>4</cp:revision>
  <dcterms:created xsi:type="dcterms:W3CDTF">2013-01-27T09:14:16Z</dcterms:created>
  <dcterms:modified xsi:type="dcterms:W3CDTF">2026-09-18T11:55:17Z</dcterms:modified>
  <cp:category/>
</cp:coreProperties>
</file>
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4" ContentType="video/unknown"/>
  <Override PartName="/ppt/media/narration_it_02.mp3" ContentType="audio/mpeg"/>
  <Override PartName="/ppt/media/narration_it_09.mp3" ContentType="audio/mpeg"/>
  <Override PartName="/ppt/media/narration_it_11.mp3" ContentType="audio/mpeg"/>
  <Override PartName="/ppt/media/narration_it_13.mp3" ContentType="audio/mpeg"/>
  <Override PartName="/ppt/media/narration_it_L02.mp3" ContentType="audio/mpeg"/>
  <Override PartName="/ppt/media/narration_it_L07.mp3" ContentType="audio/mpeg"/>
  <Override PartName="/ppt/media/narration_it_L08.mp3" ContentType="audio/mpeg"/>
  <Override PartName="/ppt/media/narration_it_L10.mp3" ContentType="audio/mpeg"/>
  <Override PartName="/ppt/media/narration_it_L11.mp3" ContentType="audio/mpeg"/>
  <Override PartName="/ppt/media/narration_it_L12.mp3" ContentType="audio/mpeg"/>
  <Override PartName="/ppt/media/narration_it_L13.mp3" ContentType="audio/mpeg"/>
  <Override PartName="/ppt/media/narration_it_L15.mp3" ContentType="audio/mpeg"/>
  <Override PartName="/ppt/media/narration_it_L17.mp3" ContentType="audio/mpeg"/>
  <Override PartName="/ppt/media/narration_it_L20.mp3" ContentType="audio/mpeg"/>
  <Override PartName="/ppt/media/narration_slide1.mp3" ContentType="audio/mpeg"/>
  <Override PartName="/ppt/media/narration_slide31.mp3" ContentType="audio/mpeg"/>
  <Override PartName="/ppt/media/narration_slide4.mp3" ContentType="audio/mpeg"/>
  <Override PartName="/ppt/media/narration_slide40.mp3" ContentType="audio/mpeg"/>
  <Override PartName="/ppt/media/narration_slide42.mp3" ContentType="audio/mpeg"/>
  <Override PartName="/ppt/media/narration_slide6.mp3" ContentType="audio/mpeg"/>
  <Override PartName="/ppt/media/narration_slide8.mp3" ContentType="audio/mpeg"/>
  <Override PartName="/ppt/media/narration_v15_it_05.mp3" ContentType="audio/mpeg"/>
  <Override PartName="/ppt/media/narration_v16_it_12.mp3" ContentType="audio/mpeg"/>
  <Override PartName="/ppt/media/narration_v16_it_33.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96" r:id="rId47"/>
    <p:sldId id="297" r:id="rId48"/>
    <p:sldId id="258" r:id="rId9"/>
    <p:sldId id="259" r:id="rId10"/>
    <p:sldId id="260" r:id="rId11"/>
    <p:sldId id="261" r:id="rId12"/>
    <p:sldId id="262" r:id="rId13"/>
    <p:sldId id="306" r:id="rId57"/>
    <p:sldId id="307" r:id="rId58"/>
    <p:sldId id="308" r:id="rId59"/>
    <p:sldId id="309" r:id="rId60"/>
    <p:sldId id="300" r:id="rId51"/>
    <p:sldId id="305" r:id="rId56"/>
    <p:sldId id="263" r:id="rId14"/>
    <p:sldId id="264" r:id="rId15"/>
    <p:sldId id="272" r:id="rId23"/>
    <p:sldId id="273" r:id="rId24"/>
    <p:sldId id="274" r:id="rId25"/>
    <p:sldId id="275" r:id="rId26"/>
    <p:sldId id="276" r:id="rId27"/>
    <p:sldId id="277" r:id="rId28"/>
    <p:sldId id="311" r:id="rId49"/>
    <p:sldId id="278" r:id="rId29"/>
    <p:sldId id="279" r:id="rId30"/>
    <p:sldId id="280" r:id="rId31"/>
    <p:sldId id="281" r:id="rId32"/>
    <p:sldId id="282" r:id="rId33"/>
    <p:sldId id="283" r:id="rId34"/>
    <p:sldId id="284" r:id="rId35"/>
    <p:sldId id="312" r:id="rId50"/>
    <p:sldId id="285" r:id="rId36"/>
    <p:sldId id="286" r:id="rId37"/>
    <p:sldId id="310" r:id="rId61"/>
    <p:sldId id="301" r:id="rId52"/>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kiosk restart="3600000"/>
    <p:sldAll/>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6.xml"/><Relationship Id="rId15"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3.xml"/><Relationship Id="rId37" Type="http://schemas.openxmlformats.org/officeDocument/2006/relationships/slide" Target="slides/slide34.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3.xml"/><Relationship Id="rId48" Type="http://schemas.openxmlformats.org/officeDocument/2006/relationships/slide" Target="slides/slide4.xml"/><Relationship Id="rId49" Type="http://schemas.openxmlformats.org/officeDocument/2006/relationships/slide" Target="slides/slide24.xml"/><Relationship Id="rId50" Type="http://schemas.openxmlformats.org/officeDocument/2006/relationships/slide" Target="slides/slide32.xml"/><Relationship Id="rId51" Type="http://schemas.openxmlformats.org/officeDocument/2006/relationships/slide" Target="slides/slide14.xml"/><Relationship Id="rId52" Type="http://schemas.openxmlformats.org/officeDocument/2006/relationships/slide" Target="slides/slide36.xml"/><Relationship Id="rId56" Type="http://schemas.openxmlformats.org/officeDocument/2006/relationships/slide" Target="slides/slide15.xml"/><Relationship Id="rId57" Type="http://schemas.openxmlformats.org/officeDocument/2006/relationships/slide" Target="slides/slide10.xml"/><Relationship Id="rId58" Type="http://schemas.openxmlformats.org/officeDocument/2006/relationships/slide" Target="slides/slide11.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mp3"/><Relationship Id="rId4" Type="http://schemas.microsoft.com/office/2007/relationships/media" Target="../media/narration_slide1.mp3"/><Relationship Id="rId5" Type="http://schemas.openxmlformats.org/officeDocument/2006/relationships/image" Target="../media/audio_icon.png"/><Relationship Id="rId6"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6" Type="http://schemas.openxmlformats.org/officeDocument/2006/relationships/slide" Target="slide1.xml"/><Relationship Id="rId7" Type="http://schemas.openxmlformats.org/officeDocument/2006/relationships/slide" Target="slide3.xml"/><Relationship Id="rId8" Type="http://schemas.openxmlformats.org/officeDocument/2006/relationships/audio" Target="../media/narration_it_02.mp3"/><Relationship Id="rId9" Type="http://schemas.microsoft.com/office/2007/relationships/media" Target="../media/narration_it_02.mp3"/><Relationship Id="rId10"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02.mp3"/><Relationship Id="rId4" Type="http://schemas.microsoft.com/office/2007/relationships/media" Target="../media/narration_it_L02.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42.mp3"/><Relationship Id="rId4" Type="http://schemas.microsoft.com/office/2007/relationships/media" Target="../media/narration_slide42.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4" Type="http://schemas.microsoft.com/office/2007/relationships/media" Target="../media/narration_v15_it_05.mp3"/><Relationship Id="rId5" Type="http://schemas.openxmlformats.org/officeDocument/2006/relationships/audio" Target="../media/narration_v15_it_05.mp3"/><Relationship Id="rId6" Type="http://schemas.openxmlformats.org/officeDocument/2006/relationships/slide" Target="slide4.xml"/><Relationship Id="rId7" Type="http://schemas.openxmlformats.org/officeDocument/2006/relationships/slide" Target="slide6.xml"/><Relationship Id="rId10" Type="http://schemas.openxmlformats.org/officeDocument/2006/relationships/image" Target="../media/audio_icon.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4.mp3"/><Relationship Id="rId4" Type="http://schemas.microsoft.com/office/2007/relationships/media" Target="../media/narration_slide4.mp3"/><Relationship Id="rId5" Type="http://schemas.openxmlformats.org/officeDocument/2006/relationships/image" Target="../media/audio_icon.png"/><Relationship Id="rId6" Type="http://schemas.openxmlformats.org/officeDocument/2006/relationships/slide" Target="slide5.xml"/><Relationship Id="rId7"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jp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6.mp3"/><Relationship Id="rId4" Type="http://schemas.microsoft.com/office/2007/relationships/media" Target="../media/narration_slide6.mp3"/><Relationship Id="rId5" Type="http://schemas.openxmlformats.org/officeDocument/2006/relationships/image" Target="../media/audio_icon.png"/><Relationship Id="rId6" Type="http://schemas.openxmlformats.org/officeDocument/2006/relationships/slide" Target="slide7.xml"/><Relationship Id="rId7"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audio" Target="../media/narration_it_09.mp3"/><Relationship Id="rId6" Type="http://schemas.microsoft.com/office/2007/relationships/media" Target="../media/narration_it_09.mp3"/><Relationship Id="rId7"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9.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audio" Target="../media/narration_it_11.mp3"/><Relationship Id="rId6" Type="http://schemas.microsoft.com/office/2007/relationships/media" Target="../media/narration_it_11.mp3"/><Relationship Id="rId7"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slide" Target="slide11.xml"/><Relationship Id="rId5" Type="http://schemas.openxmlformats.org/officeDocument/2006/relationships/slide" Target="slide13.xml"/><Relationship Id="rId6" Type="http://schemas.microsoft.com/office/2007/relationships/media" Target="../media/narration_v16_it_12.mp3"/><Relationship Id="rId7" Type="http://schemas.openxmlformats.org/officeDocument/2006/relationships/audio" Target="../media/narration_v16_it_12.mp3"/><Relationship Id="rId8" Type="http://schemas.openxmlformats.org/officeDocument/2006/relationships/image" Target="../media/audio_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audio" Target="../media/narration_it_13.mp3"/><Relationship Id="rId6" Type="http://schemas.microsoft.com/office/2007/relationships/media" Target="../media/narration_it_13.mp3"/><Relationship Id="rId7" Type="http://schemas.openxmlformats.org/officeDocument/2006/relationships/image" Target="../media/audio_icon.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07.mp3"/><Relationship Id="rId4" Type="http://schemas.microsoft.com/office/2007/relationships/media" Target="../media/narration_it_L07.mp3"/><Relationship Id="rId5" Type="http://schemas.openxmlformats.org/officeDocument/2006/relationships/image" Target="../media/audio_icon.png"/><Relationship Id="rId6" Type="http://schemas.openxmlformats.org/officeDocument/2006/relationships/slide" Target="slide13.xml"/><Relationship Id="rId7"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20.mp3"/><Relationship Id="rId4" Type="http://schemas.microsoft.com/office/2007/relationships/media" Target="../media/narration_it_L20.mp3"/><Relationship Id="rId5" Type="http://schemas.openxmlformats.org/officeDocument/2006/relationships/image" Target="../media/audio_icon.png"/><Relationship Id="rId6" Type="http://schemas.openxmlformats.org/officeDocument/2006/relationships/slide" Target="slide14.xml"/><Relationship Id="rId7"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8.mp3"/><Relationship Id="rId4" Type="http://schemas.microsoft.com/office/2007/relationships/media" Target="../media/narration_slide8.mp3"/><Relationship Id="rId5" Type="http://schemas.openxmlformats.org/officeDocument/2006/relationships/image" Target="../media/audio_icon.png"/><Relationship Id="rId6" Type="http://schemas.openxmlformats.org/officeDocument/2006/relationships/slide" Target="slide15.xml"/><Relationship Id="rId7"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08.mp3"/><Relationship Id="rId4" Type="http://schemas.microsoft.com/office/2007/relationships/media" Target="../media/narration_it_L08.mp3"/><Relationship Id="rId5" Type="http://schemas.openxmlformats.org/officeDocument/2006/relationships/image" Target="../media/audio_icon.png"/><Relationship Id="rId6" Type="http://schemas.openxmlformats.org/officeDocument/2006/relationships/slide" Target="slide16.xml"/><Relationship Id="rId7"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9.xml"/><Relationship Id="rId4" Type="http://schemas.openxmlformats.org/officeDocument/2006/relationships/audio" Target="../media/narration_it_L10.mp3"/><Relationship Id="rId5" Type="http://schemas.microsoft.com/office/2007/relationships/media" Target="../media/narration_it_L10.mp3"/><Relationship Id="rId6" Type="http://schemas.openxmlformats.org/officeDocument/2006/relationships/image" Target="../media/audio_icon.png"/><Relationship Id="rId7" Type="http://schemas.openxmlformats.org/officeDocument/2006/relationships/slide" Target="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0.xml"/><Relationship Id="rId5" Type="http://schemas.openxmlformats.org/officeDocument/2006/relationships/slide" Target="slide18.xml"/><Relationship Id="rId6" Type="http://schemas.openxmlformats.org/officeDocument/2006/relationships/slide" Target="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3.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9.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11.mp3"/><Relationship Id="rId4" Type="http://schemas.microsoft.com/office/2007/relationships/media" Target="../media/narration_it_L11.mp3"/><Relationship Id="rId5" Type="http://schemas.openxmlformats.org/officeDocument/2006/relationships/image" Target="../media/audio_icon.png"/><Relationship Id="rId6" Type="http://schemas.openxmlformats.org/officeDocument/2006/relationships/slide" Target="slide19.xml"/><Relationship Id="rId7"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7.xml"/><Relationship Id="rId4" Type="http://schemas.openxmlformats.org/officeDocument/2006/relationships/audio" Target="../media/narration_it_L12.mp3"/><Relationship Id="rId5" Type="http://schemas.microsoft.com/office/2007/relationships/media" Target="../media/narration_it_L12.mp3"/><Relationship Id="rId6" Type="http://schemas.openxmlformats.org/officeDocument/2006/relationships/image" Target="../media/audio_icon.png"/><Relationship Id="rId7" Type="http://schemas.openxmlformats.org/officeDocument/2006/relationships/slide" Target="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0.xml"/><Relationship Id="rId4" Type="http://schemas.openxmlformats.org/officeDocument/2006/relationships/slide" Target="slide28.xml"/><Relationship Id="rId5" Type="http://schemas.openxmlformats.org/officeDocument/2006/relationships/slide" Target="slide26.xml"/><Relationship Id="rId6" Type="http://schemas.openxmlformats.org/officeDocument/2006/relationships/slide" Target="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9.xml"/><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7.xml"/><Relationship Id="rId4"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13.mp3"/><Relationship Id="rId4" Type="http://schemas.microsoft.com/office/2007/relationships/media" Target="../media/narration_it_L13.mp3"/><Relationship Id="rId5" Type="http://schemas.openxmlformats.org/officeDocument/2006/relationships/image" Target="../media/audio_icon.png"/><Relationship Id="rId6" Type="http://schemas.openxmlformats.org/officeDocument/2006/relationships/slide" Target="slide27.xml"/><Relationship Id="rId7"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31.mp3"/><Relationship Id="rId4" Type="http://schemas.microsoft.com/office/2007/relationships/media" Target="../media/narration_slide31.mp3"/><Relationship Id="rId5" Type="http://schemas.openxmlformats.org/officeDocument/2006/relationships/image" Target="../media/audio_icon.png"/><Relationship Id="rId6" Type="http://schemas.openxmlformats.org/officeDocument/2006/relationships/slide" Target="slide33.xml"/><Relationship Id="rId7"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6.xml"/><Relationship Id="rId5" Type="http://schemas.microsoft.com/office/2007/relationships/media" Target="../media/narration_v16_it_33.mp3"/><Relationship Id="rId6" Type="http://schemas.openxmlformats.org/officeDocument/2006/relationships/audio" Target="../media/narration_v16_it_33.mp3"/><Relationship Id="rId7" Type="http://schemas.openxmlformats.org/officeDocument/2006/relationships/image" Target="../media/audio_icon.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15.mp3"/><Relationship Id="rId4" Type="http://schemas.microsoft.com/office/2007/relationships/media" Target="../media/narration_it_L15.mp3"/><Relationship Id="rId5" Type="http://schemas.openxmlformats.org/officeDocument/2006/relationships/image" Target="../media/audio_icon.png"/><Relationship Id="rId6" Type="http://schemas.openxmlformats.org/officeDocument/2006/relationships/slide" Target="slide35.xml"/><Relationship Id="rId7"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9.xml"/><Relationship Id="rId4" Type="http://schemas.openxmlformats.org/officeDocument/2006/relationships/slide" Target="slide38.xml"/><Relationship Id="rId5" Type="http://schemas.openxmlformats.org/officeDocument/2006/relationships/slide" Target="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0.xml"/><Relationship Id="rId4" Type="http://schemas.openxmlformats.org/officeDocument/2006/relationships/slide" Target="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0.xml"/><Relationship Id="rId4" Type="http://schemas.openxmlformats.org/officeDocument/2006/relationships/slide" Target="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1.xml"/><Relationship Id="rId4" Type="http://schemas.openxmlformats.org/officeDocument/2006/relationships/slide" Target="slide42.xml"/><Relationship Id="rId5" Type="http://schemas.openxmlformats.org/officeDocument/2006/relationships/slide" Target="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3.xml"/><Relationship Id="rId4" Type="http://schemas.openxmlformats.org/officeDocument/2006/relationships/slide" Target="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3.xml"/><Relationship Id="rId4" Type="http://schemas.openxmlformats.org/officeDocument/2006/relationships/slide" Target="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it_L17.mp3"/><Relationship Id="rId4" Type="http://schemas.microsoft.com/office/2007/relationships/media" Target="../media/narration_it_L17.mp3"/><Relationship Id="rId5" Type="http://schemas.openxmlformats.org/officeDocument/2006/relationships/image" Target="../media/audio_icon.png"/><Relationship Id="rId6" Type="http://schemas.openxmlformats.org/officeDocument/2006/relationships/slide" Target="slide40.xml"/><Relationship Id="rId7"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40.mp3"/><Relationship Id="rId4" Type="http://schemas.microsoft.com/office/2007/relationships/media" Target="../media/narration_slide40.mp3"/><Relationship Id="rId5" Type="http://schemas.openxmlformats.org/officeDocument/2006/relationships/image" Target="../media/audio_icon.png"/><Relationship Id="rId6" Type="http://schemas.openxmlformats.org/officeDocument/2006/relationships/slide" Target="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893064"/>
            <a:ext cx="10698480" cy="1578864"/>
          </a:xfrm>
          <a:prstGeom prst="rect">
            <a:avLst/>
          </a:prstGeom>
          <a:noFill/>
        </p:spPr>
        <p:txBody>
          <a:bodyPr wrap="none">
            <a:spAutoFit/>
          </a:bodyPr>
          <a:lstStyle/>
          <a:p>
            <a:pPr algn="ctr"/>
            <a:r>
              <a:rPr sz="4800" b="1">
                <a:solidFill>
                  <a:srgbClr val="EAF6FF"/>
                </a:solidFill>
              </a:rPr>
              <a:t>BUSINESS EMAIL COMPROMISE TRAINING</a:t>
            </a:r>
          </a:p>
        </p:txBody>
      </p:sp>
      <p:sp>
        <p:nvSpPr>
          <p:cNvPr id="5" name="TextBox 4"/>
          <p:cNvSpPr txBox="1"/>
          <p:nvPr/>
        </p:nvSpPr>
        <p:spPr>
          <a:xfrm>
            <a:off x="792327" y="2816352"/>
            <a:ext cx="10607040" cy="649224"/>
          </a:xfrm>
          <a:prstGeom prst="rect">
            <a:avLst/>
          </a:prstGeom>
          <a:noFill/>
        </p:spPr>
        <p:txBody>
          <a:bodyPr wrap="square">
            <a:spAutoFit/>
          </a:bodyPr>
          <a:lstStyle/>
          <a:p>
            <a:pPr algn="ctr"/>
            <a:r>
              <a:rPr sz="3600" i="0" b="1">
                <a:solidFill>
                  <a:srgbClr val="B8D4DC"/>
                </a:solidFill>
              </a:rPr>
              <a:t>IT Staff Edition</a:t>
            </a:r>
          </a:p>
        </p:txBody>
      </p:sp>
      <p:sp>
        <p:nvSpPr>
          <p:cNvPr id="6" name="TextBox 5"/>
          <p:cNvSpPr txBox="1"/>
          <p:nvPr/>
        </p:nvSpPr>
        <p:spPr>
          <a:xfrm>
            <a:off x="792327" y="3810000"/>
            <a:ext cx="10607040" cy="649224"/>
          </a:xfrm>
          <a:prstGeom prst="rect">
            <a:avLst/>
          </a:prstGeom>
          <a:noFill/>
        </p:spPr>
        <p:txBody>
          <a:bodyPr wrap="square">
            <a:spAutoFit/>
          </a:bodyPr>
          <a:lstStyle/>
          <a:p>
            <a:pPr algn="ctr"/>
            <a:r>
              <a:rPr sz="3600" i="0" b="1">
                <a:solidFill>
                  <a:srgbClr val="FF6EE8"/>
                </a:solidFill>
              </a:rPr>
              <a:t>Detect  →  Verify  →  Contain</a:t>
            </a:r>
          </a:p>
        </p:txBody>
      </p:sp>
      <p:sp>
        <p:nvSpPr>
          <p:cNvPr id="7" name="TextBox 6"/>
          <p:cNvSpPr txBox="1"/>
          <p:nvPr/>
        </p:nvSpPr>
        <p:spPr>
          <a:xfrm>
            <a:off x="792327" y="4803648"/>
            <a:ext cx="10607040" cy="1207008"/>
          </a:xfrm>
          <a:prstGeom prst="rect">
            <a:avLst/>
          </a:prstGeom>
          <a:noFill/>
        </p:spPr>
        <p:txBody>
          <a:bodyPr wrap="square">
            <a:spAutoFit/>
          </a:bodyPr>
          <a:lstStyle/>
          <a:p>
            <a:pPr algn="ctr"/>
            <a:r>
              <a:rPr sz="3600" i="1" b="0">
                <a:solidFill>
                  <a:srgbClr val="B8D4DC"/>
                </a:solidFill>
              </a:rPr>
              <a:t>You hold the keys. That's exactly why attackers come for you.</a:t>
            </a:r>
          </a:p>
        </p:txBody>
      </p:sp>
      <p:pic>
        <p:nvPicPr>
          <p:cNvPr id="57" name="narration_slide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Next">
            <a:hlinkClick r:id="rId6"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413" fill="hold"/>
                                        <p:tgtEl>
                                          <p:spTgt spid="57"/>
                                        </p:tgtEl>
                                      </p:cBhvr>
                                    </p:cmd>
                                  </p:childTnLst>
                                </p:cTn>
                              </p:par>
                              <p:par>
                                <p:cTn id="20" presetID="26" presetClass="emph" presetSubtype="0" repeatCount="indefinite" fill="hold" grpId="0" nodeType="withEffect">
                                  <p:stCondLst>
                                    <p:cond delay="22413"/>
                                  </p:stCondLst>
                                  <p:childTnLst>
                                    <p:animEffect transition="out" filter="fade">
                                      <p:cBhvr>
                                        <p:cTn id="21" dur="1000" tmFilter="0, 0; .2, .5; .8, .5; 1, 0"/>
                                        <p:tgtEl>
                                          <p:spTgt spid="58"/>
                                        </p:tgtEl>
                                      </p:cBhvr>
                                    </p:animEffect>
                                    <p:animScale>
                                      <p:cBhvr>
                                        <p:cTn id="22" dur="500" autoRev="1" fill="hold"/>
                                        <p:tgtEl>
                                          <p:spTgt spid="5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AGENDA</a:t>
            </a:r>
          </a:p>
        </p:txBody>
      </p:sp>
      <p:sp>
        <p:nvSpPr>
          <p:cNvPr id="5" name="TextBox 4"/>
          <p:cNvSpPr txBox="1"/>
          <p:nvPr/>
        </p:nvSpPr>
        <p:spPr>
          <a:xfrm>
            <a:off x="792327" y="1375918"/>
            <a:ext cx="10607040" cy="4422140"/>
          </a:xfrm>
          <a:prstGeom prst="rect">
            <a:avLst/>
          </a:prstGeom>
          <a:noFill/>
        </p:spPr>
        <p:txBody>
          <a:bodyPr wrap="square">
            <a:spAutoFit/>
          </a:bodyPr>
          <a:lstStyle/>
          <a:p>
            <a:pPr marL="363474" indent="-363474">
              <a:spcAft>
                <a:spcPts val="848"/>
              </a:spcAft>
              <a:buFont typeface="Arial"/>
              <a:buChar char="•"/>
              <a:defRPr sz="2100">
                <a:solidFill>
                  <a:srgbClr val="B8D4DC"/>
                </a:solidFill>
              </a:defRPr>
            </a:pPr>
            <a:r>
              <a:rPr sz="2000">
                <a:solidFill>
                  <a:srgbClr val="B8D4DC"/>
                </a:solidFill>
              </a:rPr>
              <a:t>What business email compromise is, and why IT staff are targeted differently</a:t>
            </a:r>
          </a:p>
          <a:p>
            <a:pPr marL="363474" indent="-363474">
              <a:spcAft>
                <a:spcPts val="848"/>
              </a:spcAft>
              <a:buFont typeface="Arial"/>
              <a:buChar char="•"/>
              <a:defRPr sz="2100">
                <a:solidFill>
                  <a:srgbClr val="B8D4DC"/>
                </a:solidFill>
              </a:defRPr>
            </a:pPr>
            <a:r>
              <a:rPr sz="2000" b="1">
                <a:solidFill>
                  <a:srgbClr val="B8D4DC"/>
                </a:solidFill>
              </a:rPr>
              <a:t>Phase 1, Detect</a:t>
            </a:r>
          </a:p>
          <a:p>
            <a:pPr marL="363474" indent="-363474">
              <a:spcAft>
                <a:spcPts val="848"/>
              </a:spcAft>
              <a:buFont typeface="Arial"/>
              <a:buChar char="◦"/>
              <a:defRPr sz="2100">
                <a:solidFill>
                  <a:srgbClr val="B8D4DC"/>
                </a:solidFill>
              </a:defRPr>
            </a:pPr>
            <a:r>
              <a:rPr sz="2000">
                <a:solidFill>
                  <a:srgbClr val="B8D4DC"/>
                </a:solidFill>
              </a:rPr>
              <a:t>Two email red flags, and the psychology behind them</a:t>
            </a:r>
          </a:p>
          <a:p>
            <a:pPr marL="363474" indent="-363474">
              <a:spcAft>
                <a:spcPts val="848"/>
              </a:spcAft>
              <a:buFont typeface="Arial"/>
              <a:buChar char="◦"/>
              <a:defRPr sz="2100">
                <a:solidFill>
                  <a:srgbClr val="B8D4DC"/>
                </a:solidFill>
              </a:defRPr>
            </a:pPr>
            <a:r>
              <a:rPr sz="2000">
                <a:solidFill>
                  <a:srgbClr val="B8D4DC"/>
                </a:solidFill>
              </a:rPr>
              <a:t>Text messages, QR codes and ClickFix</a:t>
            </a:r>
          </a:p>
          <a:p>
            <a:pPr marL="363474" indent="-363474">
              <a:spcAft>
                <a:spcPts val="848"/>
              </a:spcAft>
              <a:buFont typeface="Arial"/>
              <a:buChar char="◦"/>
              <a:defRPr sz="2100">
                <a:solidFill>
                  <a:srgbClr val="B8D4DC"/>
                </a:solidFill>
              </a:defRPr>
            </a:pPr>
            <a:r>
              <a:rPr sz="2000">
                <a:solidFill>
                  <a:srgbClr val="B8D4DC"/>
                </a:solidFill>
              </a:rPr>
              <a:t>What your logs can tell you, and AI-written vendor emails</a:t>
            </a:r>
          </a:p>
          <a:p>
            <a:pPr marL="363474" indent="-363474">
              <a:spcAft>
                <a:spcPts val="848"/>
              </a:spcAft>
              <a:buFont typeface="Arial"/>
              <a:buChar char="•"/>
              <a:defRPr sz="2100">
                <a:solidFill>
                  <a:srgbClr val="B8D4DC"/>
                </a:solidFill>
              </a:defRPr>
            </a:pPr>
            <a:r>
              <a:rPr sz="2000" b="1">
                <a:solidFill>
                  <a:srgbClr val="B8D4DC"/>
                </a:solidFill>
              </a:rPr>
              <a:t>Phase 2, Verify</a:t>
            </a:r>
          </a:p>
          <a:p>
            <a:pPr marL="363474" indent="-363474">
              <a:spcAft>
                <a:spcPts val="848"/>
              </a:spcAft>
              <a:buFont typeface="Arial"/>
              <a:buChar char="◦"/>
              <a:defRPr sz="2100">
                <a:solidFill>
                  <a:srgbClr val="B8D4DC"/>
                </a:solidFill>
              </a:defRPr>
            </a:pPr>
            <a:r>
              <a:rPr sz="2000">
                <a:solidFill>
                  <a:srgbClr val="B8D4DC"/>
                </a:solidFill>
              </a:rPr>
              <a:t>Verify identity first</a:t>
            </a:r>
          </a:p>
          <a:p>
            <a:pPr marL="363474" indent="-363474">
              <a:spcAft>
                <a:spcPts val="848"/>
              </a:spcAft>
              <a:buFont typeface="Arial"/>
              <a:buChar char="◦"/>
              <a:defRPr sz="2100">
                <a:solidFill>
                  <a:srgbClr val="B8D4DC"/>
                </a:solidFill>
              </a:defRPr>
            </a:pPr>
            <a:r>
              <a:rPr sz="2000">
                <a:solidFill>
                  <a:srgbClr val="B8D4DC"/>
                </a:solidFill>
              </a:rPr>
              <a:t>Two scenarios: an AI cloned voice and an AI deepfake video</a:t>
            </a:r>
          </a:p>
          <a:p>
            <a:pPr marL="363474" indent="-363474">
              <a:spcAft>
                <a:spcPts val="848"/>
              </a:spcAft>
              <a:buFont typeface="Arial"/>
              <a:buChar char="•"/>
              <a:defRPr sz="2100">
                <a:solidFill>
                  <a:srgbClr val="B8D4DC"/>
                </a:solidFill>
              </a:defRPr>
            </a:pPr>
            <a:r>
              <a:rPr sz="2000" b="1">
                <a:solidFill>
                  <a:srgbClr val="B8D4DC"/>
                </a:solidFill>
              </a:rPr>
              <a:t>Phase 3, Contain</a:t>
            </a:r>
          </a:p>
          <a:p>
            <a:pPr marL="363474" indent="-363474">
              <a:spcAft>
                <a:spcPts val="848"/>
              </a:spcAft>
              <a:buFont typeface="Arial"/>
              <a:buChar char="◦"/>
              <a:defRPr sz="2100">
                <a:solidFill>
                  <a:srgbClr val="B8D4DC"/>
                </a:solidFill>
              </a:defRPr>
            </a:pPr>
            <a:r>
              <a:rPr sz="2000">
                <a:solidFill>
                  <a:srgbClr val="B8D4DC"/>
                </a:solidFill>
              </a:rPr>
              <a:t>What to do if you suspect an attempt, containing the account, and a knowledge check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2</a:t>
            </a:r>
          </a:p>
        </p:txBody>
      </p:sp>
      <p:sp>
        <p:nvSpPr>
          <p:cNvPr id="9"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1" name="narration_it_02.mp3">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627" fill="hold"/>
                                        <p:tgtEl>
                                          <p:spTgt spid="11"/>
                                        </p:tgtEl>
                                      </p:cBhvr>
                                    </p:cmd>
                                  </p:childTnLst>
                                </p:cTn>
                              </p:par>
                              <p:par>
                                <p:cTn id="20" presetID="26" presetClass="emph" presetSubtype="0" repeatCount="indefinite" fill="hold" grpId="0" nodeType="withEffect">
                                  <p:stCondLst>
                                    <p:cond delay="39627"/>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WHAT IS BUSINESS EMAIL COMPROMISE?</a:t>
            </a:r>
          </a:p>
        </p:txBody>
      </p:sp>
      <p:sp>
        <p:nvSpPr>
          <p:cNvPr id="5" name="TextBox 4"/>
          <p:cNvSpPr txBox="1"/>
          <p:nvPr/>
        </p:nvSpPr>
        <p:spPr>
          <a:xfrm>
            <a:off x="792327" y="1383836"/>
            <a:ext cx="10607040" cy="1578864"/>
          </a:xfrm>
          <a:prstGeom prst="rect">
            <a:avLst/>
          </a:prstGeom>
          <a:noFill/>
        </p:spPr>
        <p:txBody>
          <a:bodyPr wrap="square">
            <a:spAutoFit/>
          </a:bodyPr>
          <a:lstStyle/>
          <a:p>
            <a:pPr algn="l"/>
            <a:r>
              <a:rPr sz="2400" i="0" b="0">
                <a:solidFill>
                  <a:srgbClr val="B8D4DC"/>
                </a:solidFill>
              </a:rPr>
              <a:t>BEC is a scam in which a criminal impersonates someone you trust, or breaks into their real email account, to talk you into handing over access, data or money. Either way, the request looks completely legitimate and asks for something you would normally do.</a:t>
            </a:r>
          </a:p>
        </p:txBody>
      </p:sp>
      <p:sp>
        <p:nvSpPr>
          <p:cNvPr id="6" name="Rounded Rectangle 6"/>
          <p:cNvSpPr/>
          <p:nvPr/>
        </p:nvSpPr>
        <p:spPr>
          <a:xfrm>
            <a:off x="929487" y="3024720"/>
            <a:ext cx="10332720" cy="2655692"/>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l">
              <a:defRPr sz="2400" b="1">
                <a:solidFill>
                  <a:srgbClr val="000000"/>
                </a:solidFill>
              </a:defRPr>
            </a:pPr>
            <a:r>
              <a:rPr sz="2400" b="1">
                <a:solidFill>
                  <a:srgbClr val="000000"/>
                </a:solidFill>
              </a:rPr>
              <a:t>From: James R. &lt;james.r@northbrldge-finance.com&gt;</a:t>
            </a:r>
          </a:p>
          <a:p>
            <a:pPr algn="l">
              <a:defRPr sz="2400" b="1">
                <a:solidFill>
                  <a:srgbClr val="000000"/>
                </a:solidFill>
              </a:defRPr>
            </a:pPr>
            <a:r>
              <a:rPr sz="2400" b="1">
                <a:solidFill>
                  <a:srgbClr val="000000"/>
                </a:solidFill>
              </a:rPr>
              <a:t>Subject: Locked out: urgent MFA reset</a:t>
            </a:r>
          </a:p>
          <a:p>
            <a:pPr algn="l">
              <a:defRPr sz="2400" b="0">
                <a:solidFill>
                  <a:srgbClr val="000000"/>
                </a:solidFill>
              </a:defRPr>
            </a:pPr>
            <a:r>
              <a:rPr sz="2400" b="0">
                <a:solidFill>
                  <a:srgbClr val="000000"/>
                </a:solidFill>
              </a:rPr>
              <a:t>Hi, I'm locked out and I've got a payment run due in ten minutes. Can you reset my MFA now? No time for a ticket, my manager already knows. Thanks, James</a:t>
            </a:r>
          </a:p>
        </p:txBody>
      </p:sp>
      <p:sp>
        <p:nvSpPr>
          <p:cNvPr id="7"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3</a:t>
            </a:r>
          </a:p>
        </p:txBody>
      </p:sp>
      <p:pic>
        <p:nvPicPr>
          <p:cNvPr id="102" name="narration_it_L0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Sources: FBI IC3 PSA I-091124, I-061118; IC3 2025 Annual Report</a:t>
            </a:r>
          </a:p>
        </p:txBody>
      </p:sp>
      <p:sp>
        <p:nvSpPr>
          <p:cNvPr id="10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078" fill="hold"/>
                                        <p:tgtEl>
                                          <p:spTgt spid="102"/>
                                        </p:tgtEl>
                                      </p:cBhvr>
                                    </p:cmd>
                                  </p:childTnLst>
                                </p:cTn>
                              </p:par>
                              <p:par>
                                <p:cTn id="20" presetID="26" presetClass="emph" presetSubtype="0" repeatCount="indefinite" fill="hold" grpId="0" nodeType="withEffect">
                                  <p:stCondLst>
                                    <p:cond delay="32078"/>
                                  </p:stCondLst>
                                  <p:childTnLst>
                                    <p:animEffect transition="out" filter="fade">
                                      <p:cBhvr>
                                        <p:cTn id="21" dur="1000" tmFilter="0, 0; .2, .5; .8, .5; 1, 0"/>
                                        <p:tgtEl>
                                          <p:spTgt spid="105"/>
                                        </p:tgtEl>
                                      </p:cBhvr>
                                    </p:animEffect>
                                    <p:animScale>
                                      <p:cBhvr>
                                        <p:cTn id="22" dur="500" autoRev="1" fill="hold"/>
                                        <p:tgtEl>
                                          <p:spTgt spid="10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0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HOW A BEC ATTACK ACTUALLY FLOWS</a:t>
            </a:r>
          </a:p>
        </p:txBody>
      </p:sp>
      <p:sp>
        <p:nvSpPr>
          <p:cNvPr id="5" name="Rounded Rectangle 4"/>
          <p:cNvSpPr/>
          <p:nvPr/>
        </p:nvSpPr>
        <p:spPr>
          <a:xfrm>
            <a:off x="548641" y="1827267"/>
            <a:ext cx="2464993" cy="351944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1. RESEARCH</a:t>
            </a:r>
          </a:p>
          <a:p>
            <a:pPr algn="ctr"/>
            <a:r>
              <a:rPr sz="2800">
                <a:solidFill>
                  <a:srgbClr val="FFFFFF"/>
                </a:solidFill>
              </a:rPr>
              <a:t>The attacker studies your staff, systems, and who can grant access</a:t>
            </a:r>
          </a:p>
        </p:txBody>
      </p:sp>
      <p:sp>
        <p:nvSpPr>
          <p:cNvPr id="6" name="TextBox 5"/>
          <p:cNvSpPr txBox="1"/>
          <p:nvPr/>
        </p:nvSpPr>
        <p:spPr>
          <a:xfrm>
            <a:off x="3013634" y="3312668"/>
            <a:ext cx="411480" cy="548640"/>
          </a:xfrm>
          <a:prstGeom prst="rect">
            <a:avLst/>
          </a:prstGeom>
          <a:noFill/>
        </p:spPr>
        <p:txBody>
          <a:bodyPr wrap="none" anchor="ctr">
            <a:spAutoFit/>
          </a:bodyPr>
          <a:lstStyle/>
          <a:p>
            <a:pPr algn="ctr"/>
            <a:r>
              <a:rPr sz="2000" b="1">
                <a:solidFill>
                  <a:srgbClr val="FF6EE8"/>
                </a:solidFill>
              </a:rPr>
              <a:t>→</a:t>
            </a:r>
          </a:p>
        </p:txBody>
      </p:sp>
      <p:sp>
        <p:nvSpPr>
          <p:cNvPr id="7" name="Rounded Rectangle 4"/>
          <p:cNvSpPr/>
          <p:nvPr/>
        </p:nvSpPr>
        <p:spPr>
          <a:xfrm>
            <a:off x="3425114" y="1827267"/>
            <a:ext cx="2464993" cy="351944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2. SPOOF</a:t>
            </a:r>
          </a:p>
          <a:p>
            <a:pPr algn="ctr"/>
            <a:r>
              <a:rPr sz="2800">
                <a:solidFill>
                  <a:srgbClr val="FFFFFF"/>
                </a:solidFill>
              </a:rPr>
              <a:t>A lookalike domain, cloned voice, or deepfake, built to look right</a:t>
            </a:r>
          </a:p>
        </p:txBody>
      </p:sp>
      <p:sp>
        <p:nvSpPr>
          <p:cNvPr id="8" name="TextBox 6"/>
          <p:cNvSpPr txBox="1"/>
          <p:nvPr/>
        </p:nvSpPr>
        <p:spPr>
          <a:xfrm>
            <a:off x="5890107" y="3312668"/>
            <a:ext cx="411480" cy="548640"/>
          </a:xfrm>
          <a:prstGeom prst="rect">
            <a:avLst/>
          </a:prstGeom>
          <a:noFill/>
        </p:spPr>
        <p:txBody>
          <a:bodyPr wrap="none" anchor="ctr">
            <a:spAutoFit/>
          </a:bodyPr>
          <a:lstStyle/>
          <a:p>
            <a:pPr algn="ctr"/>
            <a:r>
              <a:rPr sz="2000" b="1">
                <a:solidFill>
                  <a:srgbClr val="FF6EE8"/>
                </a:solidFill>
              </a:rPr>
              <a:t>→</a:t>
            </a:r>
          </a:p>
        </p:txBody>
      </p:sp>
      <p:sp>
        <p:nvSpPr>
          <p:cNvPr id="9" name="Rounded Rectangle 4"/>
          <p:cNvSpPr/>
          <p:nvPr/>
        </p:nvSpPr>
        <p:spPr>
          <a:xfrm>
            <a:off x="6301587" y="1827267"/>
            <a:ext cx="2464993" cy="351944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3. URGENCY</a:t>
            </a:r>
          </a:p>
          <a:p>
            <a:pPr algn="ctr"/>
            <a:r>
              <a:rPr sz="2800">
                <a:solidFill>
                  <a:srgbClr val="FFFFFF"/>
                </a:solidFill>
              </a:rPr>
              <a:t>A deadline or emergency, designed to make you skip the ticket</a:t>
            </a:r>
          </a:p>
        </p:txBody>
      </p:sp>
      <p:sp>
        <p:nvSpPr>
          <p:cNvPr id="10" name="TextBox 7"/>
          <p:cNvSpPr txBox="1"/>
          <p:nvPr/>
        </p:nvSpPr>
        <p:spPr>
          <a:xfrm>
            <a:off x="8766580" y="3312668"/>
            <a:ext cx="411480" cy="548640"/>
          </a:xfrm>
          <a:prstGeom prst="rect">
            <a:avLst/>
          </a:prstGeom>
          <a:noFill/>
        </p:spPr>
        <p:txBody>
          <a:bodyPr wrap="none" anchor="ctr">
            <a:spAutoFit/>
          </a:bodyPr>
          <a:lstStyle/>
          <a:p>
            <a:pPr algn="ctr"/>
            <a:r>
              <a:rPr sz="2000" b="1">
                <a:solidFill>
                  <a:srgbClr val="FF6EE8"/>
                </a:solidFill>
              </a:rPr>
              <a:t>→</a:t>
            </a:r>
          </a:p>
        </p:txBody>
      </p:sp>
      <p:sp>
        <p:nvSpPr>
          <p:cNvPr id="11" name="Rounded Rectangle 4"/>
          <p:cNvSpPr/>
          <p:nvPr/>
        </p:nvSpPr>
        <p:spPr>
          <a:xfrm>
            <a:off x="9178060" y="1827267"/>
            <a:ext cx="2464993" cy="351944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4. REDIRECT</a:t>
            </a:r>
          </a:p>
          <a:p>
            <a:pPr algn="ctr"/>
            <a:r>
              <a:rPr sz="2800">
                <a:solidFill>
                  <a:srgbClr val="FFFFFF"/>
                </a:solidFill>
              </a:rPr>
              <a:t>Access, data, or money goes to the attacker, often unnoticed</a:t>
            </a:r>
          </a:p>
        </p:txBody>
      </p:sp>
      <p:sp>
        <p:nvSpPr>
          <p:cNvPr id="12"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4</a:t>
            </a:r>
          </a:p>
        </p:txBody>
      </p:sp>
      <p:pic>
        <p:nvPicPr>
          <p:cNvPr id="62" name="narration_slide4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6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044" fill="hold"/>
                                        <p:tgtEl>
                                          <p:spTgt spid="62"/>
                                        </p:tgtEl>
                                      </p:cBhvr>
                                    </p:cmd>
                                  </p:childTnLst>
                                </p:cTn>
                              </p:par>
                              <p:par>
                                <p:cTn id="20" presetID="26" presetClass="emph" presetSubtype="0" repeatCount="indefinite" fill="hold" grpId="0" nodeType="withEffect">
                                  <p:stCondLst>
                                    <p:cond delay="33044"/>
                                  </p:stCondLst>
                                  <p:childTnLst>
                                    <p:animEffect transition="out" filter="fade">
                                      <p:cBhvr>
                                        <p:cTn id="21" dur="1000" tmFilter="0, 0; .2, .5; .8, .5; 1, 0"/>
                                        <p:tgtEl>
                                          <p:spTgt spid="64"/>
                                        </p:tgtEl>
                                      </p:cBhvr>
                                    </p:animEffect>
                                    <p:animScale>
                                      <p:cBhvr>
                                        <p:cTn id="22" dur="500" autoRev="1" fill="hold"/>
                                        <p:tgtEl>
                                          <p:spTgt spid="6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2"/>
                </p:tgtEl>
              </p:cMediaNode>
            </p:audio>
          </p:childTnLst>
        </p:cTn>
      </p:par>
    </p:tnLst>
    <p:bldLst>
      <p:bldP spid="6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YOU HOLD THE KEYS</a:t>
            </a:r>
          </a:p>
        </p:txBody>
      </p:sp>
      <p:sp>
        <p:nvSpPr>
          <p:cNvPr id="5" name="TextBox 4"/>
          <p:cNvSpPr txBox="1"/>
          <p:nvPr/>
        </p:nvSpPr>
        <p:spPr>
          <a:xfrm>
            <a:off x="792327" y="1385282"/>
            <a:ext cx="10607040" cy="1578864"/>
          </a:xfrm>
          <a:prstGeom prst="rect">
            <a:avLst/>
          </a:prstGeom>
          <a:noFill/>
        </p:spPr>
        <p:txBody>
          <a:bodyPr wrap="square">
            <a:spAutoFit/>
          </a:bodyPr>
          <a:lstStyle/>
          <a:p>
            <a:pPr algn="ctr"/>
            <a:r>
              <a:rPr sz="3200" i="0" b="0">
                <a:solidFill>
                  <a:srgbClr val="B8D4DC"/>
                </a:solidFill>
              </a:rPr>
              <a:t>Every other role gets impersonated to move money. You get targeted because you can grant the access that makes moving money possible in the first place.</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5</a:t>
            </a:r>
          </a:p>
        </p:txBody>
      </p:sp>
      <p:sp>
        <p:nvSpPr>
          <p:cNvPr id="7" name="Rounded Rectangle 4"/>
          <p:cNvSpPr/>
          <p:nvPr/>
        </p:nvSpPr>
        <p:spPr>
          <a:xfrm>
            <a:off x="548640" y="3027612"/>
            <a:ext cx="3484778" cy="26513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United States</a:t>
            </a:r>
          </a:p>
          <a:p>
            <a:pPr algn="ctr"/>
            <a:r>
              <a:rPr sz="2600">
                <a:solidFill>
                  <a:srgbClr val="FFFFFF"/>
                </a:solidFill>
              </a:rPr>
              <a:t>USD 3.05 billion in BEC losses reported to the FBI in 2025, from 24,768 complaints</a:t>
            </a:r>
          </a:p>
        </p:txBody>
      </p:sp>
      <p:sp>
        <p:nvSpPr>
          <p:cNvPr id="8" name="Rounded Rectangle 5"/>
          <p:cNvSpPr/>
          <p:nvPr/>
        </p:nvSpPr>
        <p:spPr>
          <a:xfrm>
            <a:off x="4353458" y="3027612"/>
            <a:ext cx="3484778" cy="26513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Australia</a:t>
            </a:r>
          </a:p>
          <a:p>
            <a:pPr algn="ctr"/>
            <a:r>
              <a:rPr sz="2600">
                <a:solidFill>
                  <a:srgbClr val="FFFFFF"/>
                </a:solidFill>
              </a:rPr>
              <a:t>15% of business cybercrime reports in 2024–25 were BEC fraud with a financial loss</a:t>
            </a:r>
          </a:p>
        </p:txBody>
      </p:sp>
      <p:sp>
        <p:nvSpPr>
          <p:cNvPr id="9" name="Rounded Rectangle 6"/>
          <p:cNvSpPr/>
          <p:nvPr/>
        </p:nvSpPr>
        <p:spPr>
          <a:xfrm>
            <a:off x="8158276" y="3027612"/>
            <a:ext cx="3484778" cy="26513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Worldwide</a:t>
            </a:r>
          </a:p>
          <a:p>
            <a:pPr algn="ctr"/>
            <a:r>
              <a:rPr sz="2600">
                <a:solidFill>
                  <a:srgbClr val="FFFFFF"/>
                </a:solidFill>
              </a:rPr>
              <a:t>USD 55.5 billion in exposed losses, 2013 to 2023, reported in 186 countries (FBI)</a:t>
            </a:r>
          </a:p>
        </p:txBody>
      </p:sp>
      <p:sp>
        <p:nvSpPr>
          <p:cNvPr id="12" name="Citation"/>
          <p:cNvSpPr txBox="1"/>
          <p:nvPr/>
        </p:nvSpPr>
        <p:spPr>
          <a:xfrm>
            <a:off x="457200" y="5870448"/>
            <a:ext cx="11247120" cy="432308"/>
          </a:xfrm>
          <a:prstGeom prst="rect">
            <a:avLst/>
          </a:prstGeom>
          <a:noFill/>
        </p:spPr>
        <p:txBody>
          <a:bodyPr wrap="square">
            <a:spAutoFit/>
          </a:bodyPr>
          <a:lstStyle/>
          <a:p>
            <a:pPr algn="l"/>
            <a:r>
              <a:rPr lang="en-US" sz="1600" i="1">
                <a:solidFill>
                  <a:srgbClr val="B8D4DC"/>
                </a:solidFill>
              </a:rPr>
              <a:t>Sources: FBI IC3 2025 Annual Report; FBI IC3 PSA I-091124-PSA; Australian Signals Directorate Cyber Threat Report 2024–25</a:t>
            </a:r>
          </a:p>
        </p:txBody>
      </p:sp>
      <p:sp>
        <p:nvSpPr>
          <p:cNvPr id="1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v15_it_0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454" fill="hold"/>
                                        <p:tgtEl>
                                          <p:spTgt spid="15"/>
                                        </p:tgtEl>
                                      </p:cBhvr>
                                    </p:cmd>
                                  </p:childTnLst>
                                </p:cTn>
                              </p:par>
                              <p:par>
                                <p:cTn id="20" presetID="26" presetClass="emph" presetSubtype="0" repeatCount="indefinite" fill="hold" grpId="0" nodeType="withEffect">
                                  <p:stCondLst>
                                    <p:cond delay="52454"/>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FF6EE8"/>
                </a:solidFill>
              </a:rPr>
              <a:t>PHASE 1</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EAF6FF"/>
                </a:solidFill>
              </a:rPr>
              <a:t>DETECT</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B8D4DC"/>
                </a:solidFill>
              </a:rPr>
              <a:t>Can you spot it before it costs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6</a:t>
            </a:r>
          </a:p>
        </p:txBody>
      </p:sp>
      <p:pic>
        <p:nvPicPr>
          <p:cNvPr id="57" name="narration_slide4.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994" fill="hold"/>
                                        <p:tgtEl>
                                          <p:spTgt spid="57"/>
                                        </p:tgtEl>
                                      </p:cBhvr>
                                    </p:cmd>
                                  </p:childTnLst>
                                </p:cTn>
                              </p:par>
                              <p:par>
                                <p:cTn id="20" presetID="26" presetClass="emph" presetSubtype="0" repeatCount="indefinite" fill="hold" grpId="0" nodeType="withEffect">
                                  <p:stCondLst>
                                    <p:cond delay="14994"/>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11247120" cy="789939"/>
          </a:xfrm>
          <a:prstGeom prst="rect">
            <a:avLst/>
          </a:prstGeom>
          <a:noFill/>
        </p:spPr>
        <p:txBody>
          <a:bodyPr wrap="square">
            <a:spAutoFit/>
          </a:bodyPr>
          <a:lstStyle/>
          <a:p>
            <a:pPr algn="ctr"/>
            <a:r>
              <a:rPr sz="4400" b="1">
                <a:solidFill>
                  <a:srgbClr val="EAF6FF"/>
                </a:solidFill>
              </a:rPr>
              <a:t>SCENARIO: CREDENTIAL THEFT</a:t>
            </a:r>
          </a:p>
        </p:txBody>
      </p:sp>
      <p:sp>
        <p:nvSpPr>
          <p:cNvPr id="5" name="TextBox 4"/>
          <p:cNvSpPr txBox="1"/>
          <p:nvPr/>
        </p:nvSpPr>
        <p:spPr>
          <a:xfrm>
            <a:off x="792327" y="1298448"/>
            <a:ext cx="10607040" cy="923544"/>
          </a:xfrm>
          <a:prstGeom prst="rect">
            <a:avLst/>
          </a:prstGeom>
          <a:noFill/>
        </p:spPr>
        <p:txBody>
          <a:bodyPr wrap="square">
            <a:spAutoFit/>
          </a:bodyPr>
          <a:lstStyle/>
          <a:p>
            <a:pPr algn="ctr"/>
            <a:r>
              <a:rPr sz="2600" i="1" b="0">
                <a:solidFill>
                  <a:srgbClr val="B8D4DC"/>
                </a:solidFill>
              </a:rPr>
              <a:t>An urgent call, a request that bypasses the ticketing system entirely.</a:t>
            </a:r>
          </a:p>
        </p:txBody>
      </p:sp>
      <p:sp>
        <p:nvSpPr>
          <p:cNvPr id="11" name="Play prompt"/>
          <p:cNvSpPr txBox="1"/>
          <p:nvPr/>
        </p:nvSpPr>
        <p:spPr>
          <a:xfrm>
            <a:off x="2002536" y="5824728"/>
            <a:ext cx="7315200" cy="466344"/>
          </a:xfrm>
          <a:prstGeom prst="rect">
            <a:avLst/>
          </a:prstGeom>
          <a:noFill/>
        </p:spPr>
        <p:txBody>
          <a:bodyPr wrap="square">
            <a:spAutoFit/>
          </a:bodyPr>
          <a:lstStyle/>
          <a:p>
            <a:pPr algn="ctr"/>
            <a:r>
              <a:rPr sz="2400" i="0" b="0">
                <a:solidFill>
                  <a:srgbClr val="B8D4DC"/>
                </a:solidFill>
              </a:rPr>
              <a:t>Click to play the video</a:t>
            </a:r>
          </a:p>
        </p:txBody>
      </p:sp>
      <p:pic>
        <p:nvPicPr>
          <p:cNvPr id="6" name="Video_Project_11.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940212" y="2286000"/>
            <a:ext cx="6317672" cy="3474720"/>
          </a:xfrm>
          <a:prstGeom prst="rect">
            <a:avLst/>
          </a:prstGeom>
        </p:spPr>
      </p:pic>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7</a:t>
            </a:r>
          </a:p>
        </p:txBody>
      </p:sp>
      <p:sp>
        <p:nvSpPr>
          <p:cNvPr id="9"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SPOT THE RED FLAG</a:t>
            </a:r>
          </a:p>
        </p:txBody>
      </p:sp>
      <p:sp>
        <p:nvSpPr>
          <p:cNvPr id="6" name="TextBox 5"/>
          <p:cNvSpPr txBox="1"/>
          <p:nvPr/>
        </p:nvSpPr>
        <p:spPr>
          <a:xfrm>
            <a:off x="792327" y="1777399"/>
            <a:ext cx="10607040" cy="804164"/>
          </a:xfrm>
          <a:prstGeom prst="rect">
            <a:avLst/>
          </a:prstGeom>
          <a:noFill/>
        </p:spPr>
        <p:txBody>
          <a:bodyPr wrap="square">
            <a:spAutoFit/>
          </a:bodyPr>
          <a:lstStyle/>
          <a:p>
            <a:pPr algn="ctr"/>
            <a:r>
              <a:rPr sz="2200" i="1" b="0">
                <a:solidFill>
                  <a:srgbClr val="B8D4DC"/>
                </a:solidFill>
              </a:rPr>
              <a:t>You have 30 seconds. The caller then emails the same request. Read it and call out every red flag you can find.</a:t>
            </a:r>
          </a:p>
        </p:txBody>
      </p:sp>
      <p:sp>
        <p:nvSpPr>
          <p:cNvPr id="7" name="Rounded Rectangle 6"/>
          <p:cNvSpPr/>
          <p:nvPr/>
        </p:nvSpPr>
        <p:spPr>
          <a:xfrm>
            <a:off x="929487" y="2671386"/>
            <a:ext cx="10332720" cy="2553325"/>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300" b="1">
                <a:solidFill>
                  <a:srgbClr val="000000"/>
                </a:solidFill>
              </a:defRPr>
            </a:pPr>
            <a:r>
              <a:rPr sz="2200" b="1">
                <a:solidFill>
                  <a:srgbClr val="000000"/>
                </a:solidFill>
              </a:rPr>
              <a:t>From: James R. &lt;james.r@northbrldge-finance.com&gt;</a:t>
            </a:r>
          </a:p>
          <a:p>
            <a:pPr algn="ctr">
              <a:defRPr sz="2300" b="1">
                <a:solidFill>
                  <a:srgbClr val="000000"/>
                </a:solidFill>
              </a:defRPr>
            </a:pPr>
            <a:r>
              <a:rPr sz="2200" b="1">
                <a:solidFill>
                  <a:srgbClr val="000000"/>
                </a:solidFill>
              </a:rPr>
              <a:t>Subject: Locked out: urgent MFA reset</a:t>
            </a:r>
          </a:p>
          <a:p>
            <a:pPr>
              <a:defRPr sz="2300" b="0">
                <a:solidFill>
                  <a:srgbClr val="000000"/>
                </a:solidFill>
              </a:defRPr>
            </a:pPr>
            <a:r>
              <a:rPr sz="2200" b="0">
                <a:solidFill>
                  <a:srgbClr val="000000"/>
                </a:solidFill>
              </a:rPr>
              <a:t>Hi, it's James from Finance. I'm locked out and I've got a payment run due in ten minutes. Can you just reset my MFA now? I don't have time to log a ticket, my manager already knows about this. Please, I really need this now.</a:t>
            </a:r>
          </a:p>
        </p:txBody>
      </p:sp>
      <p:sp>
        <p:nvSpPr>
          <p:cNvPr id="8" name="TextBox 7"/>
          <p:cNvSpPr txBox="1"/>
          <p:nvPr/>
        </p:nvSpPr>
        <p:spPr>
          <a:xfrm>
            <a:off x="792327" y="5314534"/>
            <a:ext cx="10607040" cy="447802"/>
          </a:xfrm>
          <a:prstGeom prst="rect">
            <a:avLst/>
          </a:prstGeom>
          <a:noFill/>
        </p:spPr>
        <p:txBody>
          <a:bodyPr wrap="square">
            <a:spAutoFit/>
          </a:bodyPr>
          <a:lstStyle/>
          <a:p>
            <a:pPr algn="ctr"/>
            <a:r>
              <a:rPr sz="2200" i="1" b="0">
                <a:solidFill>
                  <a:srgbClr val="B8D4DC"/>
                </a:solidFill>
              </a:rPr>
              <a:t>(When you're ready, the flagged version is on the next slide.)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8</a:t>
            </a:r>
          </a:p>
        </p:txBody>
      </p:sp>
      <p:pic>
        <p:nvPicPr>
          <p:cNvPr id="59" name="narration_slide6.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61"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551" fill="hold"/>
                                        <p:tgtEl>
                                          <p:spTgt spid="59"/>
                                        </p:tgtEl>
                                      </p:cBhvr>
                                    </p:cmd>
                                  </p:childTnLst>
                                </p:cTn>
                              </p:par>
                              <p:par>
                                <p:cTn id="20" presetID="26" presetClass="emph" presetSubtype="0" repeatCount="indefinite" fill="hold" grpId="0" nodeType="withEffect">
                                  <p:stCondLst>
                                    <p:cond delay="28551"/>
                                  </p:stCondLst>
                                  <p:childTnLst>
                                    <p:animEffect transition="out" filter="fade">
                                      <p:cBhvr>
                                        <p:cTn id="21" dur="1000" tmFilter="0, 0; .2, .5; .8, .5; 1, 0"/>
                                        <p:tgtEl>
                                          <p:spTgt spid="61"/>
                                        </p:tgtEl>
                                      </p:cBhvr>
                                    </p:animEffect>
                                    <p:animScale>
                                      <p:cBhvr>
                                        <p:cTn id="22" dur="500" autoRev="1" fill="hold"/>
                                        <p:tgtEl>
                                          <p:spTgt spid="6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9"/>
                </p:tgtEl>
              </p:cMediaNode>
            </p:audio>
          </p:childTnLst>
        </p:cTn>
      </p:par>
    </p:tnLst>
    <p:bldLst>
      <p:bldP spid="6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928"/>
              </a:spcAft>
              <a:defRPr sz="2300">
                <a:solidFill>
                  <a:srgbClr val="B8D4DC"/>
                </a:solidFill>
              </a:defRPr>
            </a:pPr>
            <a:r>
              <a:rPr sz="2000">
                <a:solidFill>
                  <a:srgbClr val="B8D4DC"/>
                </a:solidFill>
              </a:rPr>
              <a:t>🚩  Process bypass: “I don't have time to log a ticket”, when a ticket exists for exactly this.</a:t>
            </a:r>
          </a:p>
          <a:p>
            <a:pPr>
              <a:spcAft>
                <a:spcPts val="928"/>
              </a:spcAft>
              <a:defRPr sz="2300">
                <a:solidFill>
                  <a:srgbClr val="B8D4DC"/>
                </a:solidFill>
              </a:defRPr>
            </a:pPr>
            <a:r>
              <a:rPr sz="2000">
                <a:solidFill>
                  <a:srgbClr val="B8D4DC"/>
                </a:solidFill>
              </a:rPr>
              <a:t>🚩  A payment run “due in ten minutes”: a deadline used to justify skipping verification.</a:t>
            </a:r>
          </a:p>
          <a:p>
            <a:pPr>
              <a:spcAft>
                <a:spcPts val="928"/>
              </a:spcAft>
              <a:defRPr sz="2300">
                <a:solidFill>
                  <a:srgbClr val="B8D4DC"/>
                </a:solidFill>
              </a:defRPr>
            </a:pPr>
            <a:r>
              <a:rPr sz="2000">
                <a:solidFill>
                  <a:srgbClr val="B8D4DC"/>
                </a:solidFill>
              </a:rPr>
              <a:t>🚩  “My manager already knows”: named but not checkable in the moment.</a:t>
            </a:r>
          </a:p>
          <a:p>
            <a:pPr>
              <a:spcAft>
                <a:spcPts val="928"/>
              </a:spcAft>
              <a:defRPr sz="2300">
                <a:solidFill>
                  <a:srgbClr val="B8D4DC"/>
                </a:solidFill>
              </a:defRPr>
            </a:pPr>
            <a:r>
              <a:rPr sz="2000">
                <a:solidFill>
                  <a:srgbClr val="B8D4DC"/>
                </a:solidFill>
              </a:rPr>
              <a:t>🚩  “I really need this now”: leans on empathy to override procedure.</a:t>
            </a:r>
          </a:p>
          <a:p>
            <a:pPr>
              <a:spcAft>
                <a:spcPts val="928"/>
              </a:spcAft>
              <a:defRPr sz="2300">
                <a:solidFill>
                  <a:srgbClr val="B8D4DC"/>
                </a:solidFill>
              </a:defRPr>
            </a:pPr>
            <a:r>
              <a:rPr sz="2000">
                <a:solidFill>
                  <a:srgbClr val="B8D4DC"/>
                </a:solidFill>
              </a:rPr>
              <a:t>🚩  Lookalike domain: northbrldge-finance.com swaps an i for an l.</a:t>
            </a:r>
          </a:p>
          <a:p>
            <a:pPr>
              <a:spcAft>
                <a:spcPts val="928"/>
              </a:spcAft>
              <a:defRPr sz="2300">
                <a:solidFill>
                  <a:srgbClr val="B8D4DC"/>
                </a:solidFill>
              </a:defRPr>
            </a:pPr>
            <a:r>
              <a:rPr sz="2000">
                <a:solidFill>
                  <a:srgbClr val="B8D4DC"/>
                </a:solidFill>
              </a:rPr>
              <a:t>This is called typosquatting: a lookalike domain that swaps similar-looking characters.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9</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B8D4DC"/>
                </a:solidFill>
              </a:rPr>
              <a:t>Sources: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i="0" b="1">
                <a:solidFill>
                  <a:srgbClr val="B8D4DC"/>
                </a:solidFill>
              </a:rPr>
              <a:t>LEVERS PULLED</a:t>
            </a:r>
          </a:p>
        </p:txBody>
      </p:sp>
      <p:sp>
        <p:nvSpPr>
          <p:cNvPr id="10" name="Rounded Rectangle 4"/>
          <p:cNvSpPr/>
          <p:nvPr/>
        </p:nvSpPr>
        <p:spPr>
          <a:xfrm>
            <a:off x="8412480" y="2240280"/>
            <a:ext cx="3291840" cy="11887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Scarcity</a:t>
            </a:r>
          </a:p>
          <a:p>
            <a:pPr algn="ctr"/>
            <a:r>
              <a:rPr sz="2000">
                <a:solidFill>
                  <a:srgbClr val="FFFFFF"/>
                </a:solidFill>
              </a:rPr>
              <a:t>A ten-minute deadline leaves no time to check.</a:t>
            </a:r>
          </a:p>
        </p:txBody>
      </p:sp>
      <p:sp>
        <p:nvSpPr>
          <p:cNvPr id="11" name="Rounded Rectangle 4"/>
          <p:cNvSpPr/>
          <p:nvPr/>
        </p:nvSpPr>
        <p:spPr>
          <a:xfrm>
            <a:off x="8412480" y="3520440"/>
            <a:ext cx="3291840" cy="11887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Liking</a:t>
            </a:r>
          </a:p>
          <a:p>
            <a:pPr algn="ctr"/>
            <a:r>
              <a:rPr sz="2000">
                <a:solidFill>
                  <a:srgbClr val="FFFFFF"/>
                </a:solidFill>
              </a:rPr>
              <a:t>A friendly plea for help lowers your guard.</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i="1" b="0">
                <a:solidFill>
                  <a:srgbClr val="B8D4DC"/>
                </a:solidFill>
              </a:rPr>
              <a:t>Plus a named manager who cannot be checked.</a:t>
            </a:r>
          </a:p>
        </p:txBody>
      </p:sp>
      <p:sp>
        <p:nvSpPr>
          <p:cNvPr id="13"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it_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842" fill="hold"/>
                                        <p:tgtEl>
                                          <p:spTgt spid="15"/>
                                        </p:tgtEl>
                                      </p:cBhvr>
                                    </p:cmd>
                                  </p:childTnLst>
                                </p:cTn>
                              </p:par>
                              <p:par>
                                <p:cTn id="20" presetID="26" presetClass="emph" presetSubtype="0" repeatCount="indefinite" fill="hold" grpId="0" nodeType="withEffect">
                                  <p:stCondLst>
                                    <p:cond delay="56842"/>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SPOT THE RED FLAG</a:t>
            </a:r>
          </a:p>
        </p:txBody>
      </p:sp>
      <p:sp>
        <p:nvSpPr>
          <p:cNvPr id="6" name="TextBox 5"/>
          <p:cNvSpPr txBox="1"/>
          <p:nvPr/>
        </p:nvSpPr>
        <p:spPr>
          <a:xfrm>
            <a:off x="792327" y="1756713"/>
            <a:ext cx="10607040" cy="742188"/>
          </a:xfrm>
          <a:prstGeom prst="rect">
            <a:avLst/>
          </a:prstGeom>
          <a:noFill/>
        </p:spPr>
        <p:txBody>
          <a:bodyPr wrap="square">
            <a:spAutoFit/>
          </a:bodyPr>
          <a:lstStyle/>
          <a:p>
            <a:pPr algn="ctr"/>
            <a:r>
              <a:rPr sz="2000" i="1" b="0">
                <a:solidFill>
                  <a:srgbClr val="B8D4DC"/>
                </a:solidFill>
              </a:rPr>
              <a:t>You have 30 seconds. The caller then emails the same request. Read it and call out every red flag you can find.</a:t>
            </a:r>
          </a:p>
        </p:txBody>
      </p:sp>
      <p:sp>
        <p:nvSpPr>
          <p:cNvPr id="7" name="Rounded Rectangle 6"/>
          <p:cNvSpPr/>
          <p:nvPr/>
        </p:nvSpPr>
        <p:spPr>
          <a:xfrm>
            <a:off x="929487" y="2568039"/>
            <a:ext cx="10332720" cy="2729031"/>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100" b="1">
                <a:solidFill>
                  <a:srgbClr val="000000"/>
                </a:solidFill>
              </a:defRPr>
            </a:pPr>
            <a:r>
              <a:rPr sz="2000" b="1">
                <a:solidFill>
                  <a:srgbClr val="000000"/>
                </a:solidFill>
              </a:rPr>
              <a:t>From: External Audit Team &lt;compliance@financial-audit-services.com&gt;</a:t>
            </a:r>
          </a:p>
          <a:p>
            <a:pPr algn="ctr">
              <a:defRPr sz="2100" b="1">
                <a:solidFill>
                  <a:srgbClr val="000000"/>
                </a:solidFill>
              </a:defRPr>
            </a:pPr>
            <a:r>
              <a:rPr sz="2000" b="1">
                <a:solidFill>
                  <a:srgbClr val="000000"/>
                </a:solidFill>
              </a:rPr>
              <a:t>Subject: URGENT: System Logs and Access Records Required Today</a:t>
            </a:r>
          </a:p>
          <a:p>
            <a:pPr>
              <a:defRPr sz="2100" b="0">
                <a:solidFill>
                  <a:srgbClr val="000000"/>
                </a:solidFill>
              </a:defRPr>
            </a:pPr>
            <a:r>
              <a:rPr sz="2000" b="0">
                <a:solidFill>
                  <a:srgbClr val="000000"/>
                </a:solidFill>
              </a:rPr>
              <a:t>“To IT Security, as part of our current compliance review we require immediate access to your system logs, configuration data and access records for the past quarter. This is time-sensitive, so please send the requested files directly to this email today to avoid delays in your certification. Regards, External Audit Team”</a:t>
            </a:r>
          </a:p>
        </p:txBody>
      </p:sp>
      <p:sp>
        <p:nvSpPr>
          <p:cNvPr id="8" name="TextBox 7"/>
          <p:cNvSpPr txBox="1"/>
          <p:nvPr/>
        </p:nvSpPr>
        <p:spPr>
          <a:xfrm>
            <a:off x="792327" y="5366208"/>
            <a:ext cx="10607040" cy="416814"/>
          </a:xfrm>
          <a:prstGeom prst="rect">
            <a:avLst/>
          </a:prstGeom>
          <a:noFill/>
        </p:spPr>
        <p:txBody>
          <a:bodyPr wrap="square">
            <a:spAutoFit/>
          </a:bodyPr>
          <a:lstStyle/>
          <a:p>
            <a:pPr algn="ctr"/>
            <a:r>
              <a:rPr sz="2000" i="1" b="0">
                <a:solidFill>
                  <a:srgbClr val="B8D4DC"/>
                </a:solidFill>
              </a:rPr>
              <a:t>(When you're ready, the flagged version is on the next slide.)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10</a:t>
            </a:r>
          </a:p>
        </p:txBody>
      </p:sp>
      <p:sp>
        <p:nvSpPr>
          <p:cNvPr id="1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008"/>
              </a:spcAft>
              <a:defRPr sz="2500">
                <a:solidFill>
                  <a:srgbClr val="B8D4DC"/>
                </a:solidFill>
              </a:defRPr>
            </a:pPr>
            <a:r>
              <a:rPr sz="2000">
                <a:solidFill>
                  <a:srgbClr val="B8D4DC"/>
                </a:solidFill>
              </a:rPr>
              <a:t>🚩  System data by email: logs and access records should never be sent on request.</a:t>
            </a:r>
          </a:p>
          <a:p>
            <a:pPr>
              <a:spcAft>
                <a:spcPts val="1008"/>
              </a:spcAft>
              <a:defRPr sz="2500">
                <a:solidFill>
                  <a:srgbClr val="B8D4DC"/>
                </a:solidFill>
              </a:defRPr>
            </a:pPr>
            <a:r>
              <a:rPr sz="2000">
                <a:solidFill>
                  <a:srgbClr val="B8D4DC"/>
                </a:solidFill>
              </a:rPr>
              <a:t>🚩  “Today”: a deadline that leaves no time to check.</a:t>
            </a:r>
          </a:p>
          <a:p>
            <a:pPr>
              <a:spcAft>
                <a:spcPts val="1008"/>
              </a:spcAft>
              <a:defRPr sz="2500">
                <a:solidFill>
                  <a:srgbClr val="B8D4DC"/>
                </a:solidFill>
              </a:defRPr>
            </a:pPr>
            <a:r>
              <a:rPr sz="2000">
                <a:solidFill>
                  <a:srgbClr val="B8D4DC"/>
                </a:solidFill>
              </a:rPr>
              <a:t>🚩  “To avoid delays in your certification”: a consequence that adds pressure.</a:t>
            </a:r>
          </a:p>
          <a:p>
            <a:pPr>
              <a:spcAft>
                <a:spcPts val="1008"/>
              </a:spcAft>
              <a:defRPr sz="2500">
                <a:solidFill>
                  <a:srgbClr val="B8D4DC"/>
                </a:solidFill>
              </a:defRPr>
            </a:pPr>
            <a:r>
              <a:rPr sz="2000">
                <a:solidFill>
                  <a:srgbClr val="B8D4DC"/>
                </a:solidFill>
              </a:rPr>
              <a:t>🚩  A generic sign-off, “External Audit Team”, with no named contact.</a:t>
            </a:r>
          </a:p>
          <a:p>
            <a:pPr>
              <a:spcAft>
                <a:spcPts val="1008"/>
              </a:spcAft>
              <a:defRPr sz="2500">
                <a:solidFill>
                  <a:srgbClr val="B8D4DC"/>
                </a:solidFill>
              </a:defRPr>
            </a:pPr>
            <a:r>
              <a:rPr sz="2000">
                <a:solidFill>
                  <a:srgbClr val="B8D4DC"/>
                </a:solidFill>
              </a:rPr>
              <a:t>🚩  A domain not checked against your auditor’s real contact details.</a:t>
            </a:r>
          </a:p>
          <a:p>
            <a:pPr>
              <a:spcAft>
                <a:spcPts val="1008"/>
              </a:spcAft>
              <a:defRPr sz="2500">
                <a:solidFill>
                  <a:srgbClr val="B8D4DC"/>
                </a:solidFill>
              </a:defRPr>
            </a:pPr>
            <a:r>
              <a:rPr sz="2000">
                <a:solidFill>
                  <a:srgbClr val="B8D4DC"/>
                </a:solidFill>
              </a:rPr>
              <a:t>Audits are real, but a deadline is not a reason to skip verification. Confirm the auditor through official contact details.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11</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B8D4DC"/>
                </a:solidFill>
              </a:rPr>
              <a:t>Sources: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i="0" b="1">
                <a:solidFill>
                  <a:srgbClr val="B8D4DC"/>
                </a:solidFill>
              </a:rPr>
              <a:t>LEVERS PULLED</a:t>
            </a:r>
          </a:p>
        </p:txBody>
      </p:sp>
      <p:sp>
        <p:nvSpPr>
          <p:cNvPr id="10" name="Rounded Rectangle 4"/>
          <p:cNvSpPr/>
          <p:nvPr/>
        </p:nvSpPr>
        <p:spPr>
          <a:xfrm>
            <a:off x="8412480" y="2240280"/>
            <a:ext cx="3291840" cy="11887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Authority</a:t>
            </a:r>
          </a:p>
          <a:p>
            <a:pPr algn="ctr"/>
            <a:r>
              <a:rPr sz="2000">
                <a:solidFill>
                  <a:srgbClr val="FFFFFF"/>
                </a:solidFill>
              </a:rPr>
              <a:t>An auditor’s name makes people comply.</a:t>
            </a:r>
          </a:p>
        </p:txBody>
      </p:sp>
      <p:sp>
        <p:nvSpPr>
          <p:cNvPr id="11" name="Rounded Rectangle 4"/>
          <p:cNvSpPr/>
          <p:nvPr/>
        </p:nvSpPr>
        <p:spPr>
          <a:xfrm>
            <a:off x="8412480" y="3520440"/>
            <a:ext cx="3291840" cy="11887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Scarcity</a:t>
            </a:r>
          </a:p>
          <a:p>
            <a:pPr algn="ctr"/>
            <a:r>
              <a:rPr sz="2000">
                <a:solidFill>
                  <a:srgbClr val="FFFFFF"/>
                </a:solidFill>
              </a:rPr>
              <a:t>A deadline leaves little time to check.</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i="1" b="0">
                <a:solidFill>
                  <a:srgbClr val="B8D4DC"/>
                </a:solidFill>
              </a:rPr>
              <a:t>Plus a threat to your certification.</a:t>
            </a:r>
          </a:p>
        </p:txBody>
      </p:sp>
      <p:sp>
        <p:nvSpPr>
          <p:cNvPr id="13"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it_1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789" fill="hold"/>
                                        <p:tgtEl>
                                          <p:spTgt spid="15"/>
                                        </p:tgtEl>
                                      </p:cBhvr>
                                    </p:cmd>
                                  </p:childTnLst>
                                </p:cTn>
                              </p:par>
                              <p:par>
                                <p:cTn id="20" presetID="26" presetClass="emph" presetSubtype="0" repeatCount="indefinite" fill="hold" grpId="0" nodeType="withEffect">
                                  <p:stCondLst>
                                    <p:cond delay="49789"/>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SAME LEVERS, OTHER CHANNELS</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12</a:t>
            </a:r>
          </a:p>
        </p:txBody>
      </p:sp>
      <p:sp>
        <p:nvSpPr>
          <p:cNvPr id="6" name="TextBox 4"/>
          <p:cNvSpPr txBox="1"/>
          <p:nvPr/>
        </p:nvSpPr>
        <p:spPr>
          <a:xfrm>
            <a:off x="548640" y="1572768"/>
            <a:ext cx="5394960" cy="457200"/>
          </a:xfrm>
          <a:prstGeom prst="rect">
            <a:avLst/>
          </a:prstGeom>
          <a:noFill/>
        </p:spPr>
        <p:txBody>
          <a:bodyPr wrap="square">
            <a:spAutoFit/>
          </a:bodyPr>
          <a:lstStyle/>
          <a:p>
            <a:pPr algn="ctr"/>
            <a:r>
              <a:rPr sz="2000" i="0" b="1">
                <a:solidFill>
                  <a:srgbClr val="B8D4DC"/>
                </a:solidFill>
              </a:rPr>
              <a:t>Text message: a real Twilio case (2022)</a:t>
            </a:r>
          </a:p>
        </p:txBody>
      </p:sp>
      <p:sp>
        <p:nvSpPr>
          <p:cNvPr id="7" name="Rounded Rectangle 11"/>
          <p:cNvSpPr/>
          <p:nvPr/>
        </p:nvSpPr>
        <p:spPr>
          <a:xfrm>
            <a:off x="548640" y="2103120"/>
            <a:ext cx="5394960" cy="2194560"/>
          </a:xfrm>
          <a:prstGeom prst="roundRect">
            <a:avLst>
              <a:gd name="adj" fmla="val 12000"/>
            </a:avLst>
          </a:prstGeom>
          <a:solidFill>
            <a:srgbClr val="2B2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822959" y="2286000"/>
            <a:ext cx="484632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2E2A45"/>
                </a:solidFill>
              </a:rPr>
              <a:t>IT Department</a:t>
            </a:r>
          </a:p>
          <a:p>
            <a:pPr algn="l"/>
            <a:r>
              <a:rPr sz="2000" b="0">
                <a:solidFill>
                  <a:srgbClr val="2E2A45"/>
                </a:solidFill>
              </a:rPr>
              <a:t>Your password has expired. Sign in now to keep your access.</a:t>
            </a:r>
          </a:p>
          <a:p>
            <a:pPr algn="l"/>
            <a:r>
              <a:rPr sz="2000" b="0" u="sng">
                <a:solidFill>
                  <a:srgbClr val="1F5FBF"/>
                </a:solidFill>
              </a:rPr>
              <a:t>https://yourcompany-sso-okta.com/login</a:t>
            </a:r>
          </a:p>
        </p:txBody>
      </p:sp>
      <p:sp>
        <p:nvSpPr>
          <p:cNvPr id="9" name="Rounded Rectangle 4"/>
          <p:cNvSpPr/>
          <p:nvPr/>
        </p:nvSpPr>
        <p:spPr>
          <a:xfrm>
            <a:off x="548640" y="4434840"/>
            <a:ext cx="2606040" cy="5029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Authority</a:t>
            </a:r>
          </a:p>
        </p:txBody>
      </p:sp>
      <p:sp>
        <p:nvSpPr>
          <p:cNvPr id="10" name="Rounded Rectangle 4"/>
          <p:cNvSpPr/>
          <p:nvPr/>
        </p:nvSpPr>
        <p:spPr>
          <a:xfrm>
            <a:off x="3337560" y="4434840"/>
            <a:ext cx="2606040" cy="5029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Scarcity</a:t>
            </a:r>
          </a:p>
        </p:txBody>
      </p:sp>
      <p:sp>
        <p:nvSpPr>
          <p:cNvPr id="11" name="TextBox 4"/>
          <p:cNvSpPr txBox="1"/>
          <p:nvPr/>
        </p:nvSpPr>
        <p:spPr>
          <a:xfrm>
            <a:off x="548640" y="5029200"/>
            <a:ext cx="5394960" cy="777240"/>
          </a:xfrm>
          <a:prstGeom prst="rect">
            <a:avLst/>
          </a:prstGeom>
          <a:noFill/>
        </p:spPr>
        <p:txBody>
          <a:bodyPr wrap="square">
            <a:spAutoFit/>
          </a:bodyPr>
          <a:lstStyle/>
          <a:p>
            <a:pPr algn="ctr"/>
            <a:r>
              <a:rPr sz="2000" i="0" b="0">
                <a:solidFill>
                  <a:srgbClr val="B8D4DC"/>
                </a:solidFill>
              </a:rPr>
              <a:t>Do not tap. IT does not text password-reset links. Report it.</a:t>
            </a:r>
          </a:p>
        </p:txBody>
      </p:sp>
      <p:sp>
        <p:nvSpPr>
          <p:cNvPr id="12" name="TextBox 4"/>
          <p:cNvSpPr txBox="1"/>
          <p:nvPr/>
        </p:nvSpPr>
        <p:spPr>
          <a:xfrm>
            <a:off x="6263640" y="1572768"/>
            <a:ext cx="5394960" cy="457200"/>
          </a:xfrm>
          <a:prstGeom prst="rect">
            <a:avLst/>
          </a:prstGeom>
          <a:noFill/>
        </p:spPr>
        <p:txBody>
          <a:bodyPr wrap="square">
            <a:spAutoFit/>
          </a:bodyPr>
          <a:lstStyle/>
          <a:p>
            <a:pPr algn="ctr"/>
            <a:r>
              <a:rPr sz="2000" i="0" b="1">
                <a:solidFill>
                  <a:srgbClr val="B8D4DC"/>
                </a:solidFill>
              </a:rPr>
              <a:t>QR code: a real campaign</a:t>
            </a:r>
          </a:p>
        </p:txBody>
      </p:sp>
      <p:sp>
        <p:nvSpPr>
          <p:cNvPr id="13" name="Rounded Rectangle 17"/>
          <p:cNvSpPr/>
          <p:nvPr/>
        </p:nvSpPr>
        <p:spPr>
          <a:xfrm>
            <a:off x="6263640" y="2103120"/>
            <a:ext cx="5394960" cy="2194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4"/>
          <p:cNvSpPr txBox="1"/>
          <p:nvPr/>
        </p:nvSpPr>
        <p:spPr>
          <a:xfrm>
            <a:off x="6355079" y="2148839"/>
            <a:ext cx="5212080" cy="365760"/>
          </a:xfrm>
          <a:prstGeom prst="rect">
            <a:avLst/>
          </a:prstGeom>
          <a:noFill/>
        </p:spPr>
        <p:txBody>
          <a:bodyPr wrap="square">
            <a:spAutoFit/>
          </a:bodyPr>
          <a:lstStyle/>
          <a:p>
            <a:pPr algn="ctr"/>
            <a:r>
              <a:rPr sz="2200" i="0" b="1">
                <a:solidFill>
                  <a:srgbClr val="2E2A45"/>
                </a:solidFill>
              </a:rPr>
              <a:t>MICROSOFT 365</a:t>
            </a:r>
          </a:p>
        </p:txBody>
      </p:sp>
      <p:sp>
        <p:nvSpPr>
          <p:cNvPr id="15" name="TextBox 4"/>
          <p:cNvSpPr txBox="1"/>
          <p:nvPr/>
        </p:nvSpPr>
        <p:spPr>
          <a:xfrm>
            <a:off x="6355079" y="2487168"/>
            <a:ext cx="5212080" cy="320040"/>
          </a:xfrm>
          <a:prstGeom prst="rect">
            <a:avLst/>
          </a:prstGeom>
          <a:noFill/>
        </p:spPr>
        <p:txBody>
          <a:bodyPr wrap="square">
            <a:spAutoFit/>
          </a:bodyPr>
          <a:lstStyle/>
          <a:p>
            <a:pPr algn="ctr"/>
            <a:r>
              <a:rPr sz="2000" i="0" b="0">
                <a:solidFill>
                  <a:srgbClr val="2E2A45"/>
                </a:solidFill>
              </a:rPr>
              <a:t>Your authenticator will expire today</a:t>
            </a:r>
          </a:p>
        </p:txBody>
      </p:sp>
      <p:pic>
        <p:nvPicPr>
          <p:cNvPr id="16" name="Picture 20" descr="image.png"/>
          <p:cNvPicPr>
            <a:picLocks noChangeAspect="1"/>
          </p:cNvPicPr>
          <p:nvPr/>
        </p:nvPicPr>
        <p:blipFill>
          <a:blip r:embed="rId3"/>
          <a:stretch>
            <a:fillRect/>
          </a:stretch>
        </p:blipFill>
        <p:spPr>
          <a:xfrm>
            <a:off x="8412480" y="2852927"/>
            <a:ext cx="1097280" cy="1097280"/>
          </a:xfrm>
          <a:prstGeom prst="rect">
            <a:avLst/>
          </a:prstGeom>
        </p:spPr>
      </p:pic>
      <p:sp>
        <p:nvSpPr>
          <p:cNvPr id="17" name="TextBox 4"/>
          <p:cNvSpPr txBox="1"/>
          <p:nvPr/>
        </p:nvSpPr>
        <p:spPr>
          <a:xfrm>
            <a:off x="6355079" y="3886199"/>
            <a:ext cx="5212080" cy="365760"/>
          </a:xfrm>
          <a:prstGeom prst="rect">
            <a:avLst/>
          </a:prstGeom>
          <a:noFill/>
        </p:spPr>
        <p:txBody>
          <a:bodyPr wrap="square">
            <a:spAutoFit/>
          </a:bodyPr>
          <a:lstStyle/>
          <a:p>
            <a:pPr algn="ctr"/>
            <a:r>
              <a:rPr sz="2000" i="0" b="1">
                <a:solidFill>
                  <a:srgbClr val="2E2A45"/>
                </a:solidFill>
              </a:rPr>
              <a:t>Scan to re-authenticate</a:t>
            </a:r>
          </a:p>
        </p:txBody>
      </p:sp>
      <p:sp>
        <p:nvSpPr>
          <p:cNvPr id="18" name="Rounded Rectangle 4"/>
          <p:cNvSpPr/>
          <p:nvPr/>
        </p:nvSpPr>
        <p:spPr>
          <a:xfrm>
            <a:off x="6263640" y="4434840"/>
            <a:ext cx="2606040" cy="5029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Authority</a:t>
            </a:r>
          </a:p>
        </p:txBody>
      </p:sp>
      <p:sp>
        <p:nvSpPr>
          <p:cNvPr id="19" name="Rounded Rectangle 4"/>
          <p:cNvSpPr/>
          <p:nvPr/>
        </p:nvSpPr>
        <p:spPr>
          <a:xfrm>
            <a:off x="9052560" y="4434840"/>
            <a:ext cx="2606040" cy="50292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Scarcity</a:t>
            </a:r>
          </a:p>
        </p:txBody>
      </p:sp>
      <p:sp>
        <p:nvSpPr>
          <p:cNvPr id="20" name="TextBox 4"/>
          <p:cNvSpPr txBox="1"/>
          <p:nvPr/>
        </p:nvSpPr>
        <p:spPr>
          <a:xfrm>
            <a:off x="6263640" y="5029200"/>
            <a:ext cx="5394960" cy="777240"/>
          </a:xfrm>
          <a:prstGeom prst="rect">
            <a:avLst/>
          </a:prstGeom>
          <a:noFill/>
        </p:spPr>
        <p:txBody>
          <a:bodyPr wrap="square">
            <a:spAutoFit/>
          </a:bodyPr>
          <a:lstStyle/>
          <a:p>
            <a:pPr algn="ctr"/>
            <a:r>
              <a:rPr sz="2000" i="0" b="0">
                <a:solidFill>
                  <a:srgbClr val="B8D4DC"/>
                </a:solidFill>
              </a:rPr>
              <a:t>Do not scan. The web address is hidden inside an image, so link scanners may miss it. Report it.</a:t>
            </a:r>
          </a:p>
        </p:txBody>
      </p:sp>
      <p:sp>
        <p:nvSpPr>
          <p:cNvPr id="21" name="Citation"/>
          <p:cNvSpPr txBox="1"/>
          <p:nvPr/>
        </p:nvSpPr>
        <p:spPr>
          <a:xfrm>
            <a:off x="457200" y="5870448"/>
            <a:ext cx="11247120" cy="429768"/>
          </a:xfrm>
          <a:prstGeom prst="rect">
            <a:avLst/>
          </a:prstGeom>
          <a:noFill/>
        </p:spPr>
        <p:txBody>
          <a:bodyPr wrap="square">
            <a:spAutoFit/>
          </a:bodyPr>
          <a:lstStyle/>
          <a:p>
            <a:pPr algn="l"/>
            <a:r>
              <a:rPr lang="en-US" sz="1800" i="1">
                <a:solidFill>
                  <a:srgbClr val="B8D4DC"/>
                </a:solidFill>
              </a:rPr>
              <a:t>Sources: BleepingComputer (Twilio, 2022); IRONSCALES (Authenticator lure)</a:t>
            </a:r>
          </a:p>
        </p:txBody>
      </p:sp>
      <p:sp>
        <p:nvSpPr>
          <p:cNvPr id="22"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23" name="Kiosk Next">
            <a:hlinkClick r:id="rId5"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24" name="narration_v16_it_12.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240" fill="hold"/>
                                        <p:tgtEl>
                                          <p:spTgt spid="24"/>
                                        </p:tgtEl>
                                      </p:cBhvr>
                                    </p:cmd>
                                  </p:childTnLst>
                                </p:cTn>
                              </p:par>
                              <p:par>
                                <p:cTn id="20" presetID="26" presetClass="emph" presetSubtype="0" repeatCount="indefinite" fill="hold" grpId="0" nodeType="withEffect">
                                  <p:stCondLst>
                                    <p:cond delay="42240"/>
                                  </p:stCondLst>
                                  <p:childTnLst>
                                    <p:animEffect transition="out" filter="fade">
                                      <p:cBhvr>
                                        <p:cTn id="21" dur="1000" tmFilter="0, 0; .2, .5; .8, .5; 1, 0"/>
                                        <p:tgtEl>
                                          <p:spTgt spid="23"/>
                                        </p:tgtEl>
                                      </p:cBhvr>
                                    </p:animEffect>
                                    <p:animScale>
                                      <p:cBhvr>
                                        <p:cTn id="22" dur="500" autoRev="1" fill="hold"/>
                                        <p:tgtEl>
                                          <p:spTgt spid="2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4"/>
                </p:tgtEl>
              </p:cMediaNode>
            </p:audio>
          </p:childTnLst>
        </p:cTn>
      </p:par>
    </p:tnLst>
    <p:bldLst>
      <p:bldP spid="2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CLICKFIX: HOW A REAL MAILBOX GETS TAKEN</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13</a:t>
            </a:r>
          </a:p>
        </p:txBody>
      </p:sp>
      <p:sp>
        <p:nvSpPr>
          <p:cNvPr id="6" name="Rounded Rectangle 4"/>
          <p:cNvSpPr/>
          <p:nvPr/>
        </p:nvSpPr>
        <p:spPr>
          <a:xfrm>
            <a:off x="457200" y="1554480"/>
            <a:ext cx="1920240" cy="182880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1</a:t>
            </a:r>
          </a:p>
          <a:p>
            <a:pPr algn="ctr"/>
            <a:r>
              <a:rPr sz="2000">
                <a:solidFill>
                  <a:srgbClr val="FFFFFF"/>
                </a:solidFill>
              </a:rPr>
              <a:t>A fake security check on a web page</a:t>
            </a:r>
          </a:p>
        </p:txBody>
      </p:sp>
      <p:sp>
        <p:nvSpPr>
          <p:cNvPr id="7" name="Right Arrow 11"/>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4"/>
          <p:cNvSpPr/>
          <p:nvPr/>
        </p:nvSpPr>
        <p:spPr>
          <a:xfrm>
            <a:off x="2788920" y="1554480"/>
            <a:ext cx="1920240" cy="182880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2</a:t>
            </a:r>
          </a:p>
          <a:p>
            <a:pPr algn="ctr"/>
            <a:r>
              <a:rPr sz="2000">
                <a:solidFill>
                  <a:srgbClr val="FFFFFF"/>
                </a:solidFill>
              </a:rPr>
              <a:t>You paste a command to “fix” it</a:t>
            </a:r>
          </a:p>
        </p:txBody>
      </p:sp>
      <p:sp>
        <p:nvSpPr>
          <p:cNvPr id="9" name="Right Arrow 13"/>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4"/>
          <p:cNvSpPr/>
          <p:nvPr/>
        </p:nvSpPr>
        <p:spPr>
          <a:xfrm>
            <a:off x="5120640" y="1554480"/>
            <a:ext cx="1920240" cy="182880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3</a:t>
            </a:r>
          </a:p>
          <a:p>
            <a:pPr algn="ctr"/>
            <a:r>
              <a:rPr sz="2000">
                <a:solidFill>
                  <a:srgbClr val="FFFFFF"/>
                </a:solidFill>
              </a:rPr>
              <a:t>It steals saved passwords and sessions</a:t>
            </a:r>
          </a:p>
        </p:txBody>
      </p:sp>
      <p:sp>
        <p:nvSpPr>
          <p:cNvPr id="11" name="Right Arrow 15"/>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4"/>
          <p:cNvSpPr/>
          <p:nvPr/>
        </p:nvSpPr>
        <p:spPr>
          <a:xfrm>
            <a:off x="7452359" y="1554480"/>
            <a:ext cx="1920240" cy="182880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4</a:t>
            </a:r>
          </a:p>
          <a:p>
            <a:pPr algn="ctr"/>
            <a:r>
              <a:rPr sz="2000">
                <a:solidFill>
                  <a:srgbClr val="FFFFFF"/>
                </a:solidFill>
              </a:rPr>
              <a:t>A real mailbox is taken over</a:t>
            </a:r>
          </a:p>
        </p:txBody>
      </p:sp>
      <p:sp>
        <p:nvSpPr>
          <p:cNvPr id="13" name="Right Arrow 17"/>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4"/>
          <p:cNvSpPr/>
          <p:nvPr/>
        </p:nvSpPr>
        <p:spPr>
          <a:xfrm>
            <a:off x="9784080" y="1554480"/>
            <a:ext cx="1920240" cy="182880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5</a:t>
            </a:r>
          </a:p>
          <a:p>
            <a:pPr algn="ctr"/>
            <a:r>
              <a:rPr sz="2000">
                <a:solidFill>
                  <a:srgbClr val="FFFFFF"/>
                </a:solidFill>
              </a:rPr>
              <a:t>The BEC message comes from a real address</a:t>
            </a:r>
          </a:p>
        </p:txBody>
      </p:sp>
      <p:sp>
        <p:nvSpPr>
          <p:cNvPr id="15" name="TextBox 4"/>
          <p:cNvSpPr txBox="1"/>
          <p:nvPr/>
        </p:nvSpPr>
        <p:spPr>
          <a:xfrm>
            <a:off x="795528" y="3520440"/>
            <a:ext cx="10607040" cy="685800"/>
          </a:xfrm>
          <a:prstGeom prst="rect">
            <a:avLst/>
          </a:prstGeom>
          <a:noFill/>
        </p:spPr>
        <p:txBody>
          <a:bodyPr wrap="square">
            <a:spAutoFit/>
          </a:bodyPr>
          <a:lstStyle/>
          <a:p>
            <a:pPr algn="ctr"/>
            <a:r>
              <a:rPr sz="2000" i="0" b="0">
                <a:solidFill>
                  <a:srgbClr val="B8D4DC"/>
                </a:solidFill>
              </a:rPr>
              <a:t>Growing fast: the top way in during 2025 in Microsoft’s data (47%), and 52% of Push Security’s detections through Q2 2026, reaching 67% in August.</a:t>
            </a:r>
          </a:p>
        </p:txBody>
      </p:sp>
      <p:sp>
        <p:nvSpPr>
          <p:cNvPr id="16" name="TextBox 4"/>
          <p:cNvSpPr txBox="1"/>
          <p:nvPr/>
        </p:nvSpPr>
        <p:spPr>
          <a:xfrm>
            <a:off x="795528" y="4206240"/>
            <a:ext cx="10607040" cy="365760"/>
          </a:xfrm>
          <a:prstGeom prst="rect">
            <a:avLst/>
          </a:prstGeom>
          <a:noFill/>
        </p:spPr>
        <p:txBody>
          <a:bodyPr wrap="square">
            <a:spAutoFit/>
          </a:bodyPr>
          <a:lstStyle/>
          <a:p>
            <a:pPr algn="ctr"/>
            <a:r>
              <a:rPr sz="2000" i="0" b="0">
                <a:solidFill>
                  <a:srgbClr val="B8D4DC"/>
                </a:solidFill>
              </a:rPr>
              <a:t>Most arrive through web search results and compromised sites, not email.</a:t>
            </a:r>
          </a:p>
        </p:txBody>
      </p:sp>
      <p:sp>
        <p:nvSpPr>
          <p:cNvPr id="17" name="TextBox 4"/>
          <p:cNvSpPr txBox="1"/>
          <p:nvPr/>
        </p:nvSpPr>
        <p:spPr>
          <a:xfrm>
            <a:off x="795528" y="4572000"/>
            <a:ext cx="10607040" cy="731520"/>
          </a:xfrm>
          <a:prstGeom prst="rect">
            <a:avLst/>
          </a:prstGeom>
          <a:noFill/>
        </p:spPr>
        <p:txBody>
          <a:bodyPr wrap="square">
            <a:spAutoFit/>
          </a:bodyPr>
          <a:lstStyle/>
          <a:p>
            <a:pPr algn="ctr"/>
            <a:r>
              <a:rPr sz="2000" i="0" b="1">
                <a:solidFill>
                  <a:srgbClr val="B8D4DC"/>
                </a:solidFill>
              </a:rPr>
              <a:t>In IT: you will be asked to investigate. Isolate the device, revoke sessions and tokens, reset credentials, and check for new mail rules.</a:t>
            </a:r>
          </a:p>
        </p:txBody>
      </p:sp>
      <p:sp>
        <p:nvSpPr>
          <p:cNvPr id="18" name="TextBox 4"/>
          <p:cNvSpPr txBox="1"/>
          <p:nvPr/>
        </p:nvSpPr>
        <p:spPr>
          <a:xfrm>
            <a:off x="795528" y="5303520"/>
            <a:ext cx="10607040" cy="411480"/>
          </a:xfrm>
          <a:prstGeom prst="rect">
            <a:avLst/>
          </a:prstGeom>
          <a:noFill/>
        </p:spPr>
        <p:txBody>
          <a:bodyPr wrap="square">
            <a:spAutoFit/>
          </a:bodyPr>
          <a:lstStyle/>
          <a:p>
            <a:pPr algn="ctr"/>
            <a:r>
              <a:rPr sz="2000" i="1" b="0">
                <a:solidFill>
                  <a:srgbClr val="B8D4DC"/>
                </a:solidFill>
              </a:rPr>
              <a:t>Already pasted something? Stop and tell IT at once. Do not try to clean it up.</a:t>
            </a:r>
          </a:p>
        </p:txBody>
      </p:sp>
      <p:sp>
        <p:nvSpPr>
          <p:cNvPr id="1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B8D4DC"/>
                </a:solidFill>
              </a:rPr>
              <a:t>Sources: Push Security, “The state of ClickFix” (Sep 2026), which cites Microsoft’s 2025 report</a:t>
            </a:r>
          </a:p>
        </p:txBody>
      </p:sp>
      <p:sp>
        <p:nvSpPr>
          <p:cNvPr id="2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2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22" name="narration_it_1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457" fill="hold"/>
                                        <p:tgtEl>
                                          <p:spTgt spid="22"/>
                                        </p:tgtEl>
                                      </p:cBhvr>
                                    </p:cmd>
                                  </p:childTnLst>
                                </p:cTn>
                              </p:par>
                              <p:par>
                                <p:cTn id="20" presetID="26" presetClass="emph" presetSubtype="0" repeatCount="indefinite" fill="hold" grpId="0" nodeType="withEffect">
                                  <p:stCondLst>
                                    <p:cond delay="80457"/>
                                  </p:stCondLst>
                                  <p:childTnLst>
                                    <p:animEffect transition="out" filter="fade">
                                      <p:cBhvr>
                                        <p:cTn id="21" dur="1000" tmFilter="0, 0; .2, .5; .8, .5; 1, 0"/>
                                        <p:tgtEl>
                                          <p:spTgt spid="21"/>
                                        </p:tgtEl>
                                      </p:cBhvr>
                                    </p:animEffect>
                                    <p:animScale>
                                      <p:cBhvr>
                                        <p:cTn id="22" dur="500" autoRev="1"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2"/>
                </p:tgtEl>
              </p:cMediaNode>
            </p:audio>
          </p:childTnLst>
        </p:cTn>
      </p:par>
    </p:tnLst>
    <p:bldLst>
      <p:bldP spid="2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WHAT YOUR LOGS CAN TELL YOU</a:t>
            </a:r>
          </a:p>
        </p:txBody>
      </p:sp>
      <p:sp>
        <p:nvSpPr>
          <p:cNvPr id="5" name="Rounded Rectangle 4"/>
          <p:cNvSpPr/>
          <p:nvPr/>
        </p:nvSpPr>
        <p:spPr>
          <a:xfrm>
            <a:off x="548641" y="1439191"/>
            <a:ext cx="2602153" cy="3589699"/>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Mailbox rules</a:t>
            </a:r>
          </a:p>
          <a:p>
            <a:pPr algn="ctr"/>
            <a:r>
              <a:rPr sz="2400">
                <a:solidFill>
                  <a:srgbClr val="FFFFFF"/>
                </a:solidFill>
              </a:rPr>
              <a:t>Hidden rules that forward or move mail, and forwarding added recently.</a:t>
            </a:r>
          </a:p>
        </p:txBody>
      </p:sp>
      <p:sp>
        <p:nvSpPr>
          <p:cNvPr id="6" name="Rounded Rectangle 5"/>
          <p:cNvSpPr/>
          <p:nvPr/>
        </p:nvSpPr>
        <p:spPr>
          <a:xfrm>
            <a:off x="3379394" y="1439191"/>
            <a:ext cx="2602153" cy="3589699"/>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Sign-ins</a:t>
            </a:r>
          </a:p>
          <a:p>
            <a:pPr algn="ctr"/>
            <a:r>
              <a:rPr sz="2400">
                <a:solidFill>
                  <a:srgbClr val="FFFFFF"/>
                </a:solidFill>
              </a:rPr>
              <a:t>A new device or country, or impossible travel between two sign-ins.</a:t>
            </a:r>
          </a:p>
        </p:txBody>
      </p:sp>
      <p:sp>
        <p:nvSpPr>
          <p:cNvPr id="7" name="Rounded Rectangle 6"/>
          <p:cNvSpPr/>
          <p:nvPr/>
        </p:nvSpPr>
        <p:spPr>
          <a:xfrm>
            <a:off x="6210147" y="1439191"/>
            <a:ext cx="2602153" cy="3589699"/>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MFA and app grants</a:t>
            </a:r>
          </a:p>
          <a:p>
            <a:pPr algn="ctr"/>
            <a:r>
              <a:rPr sz="2400">
                <a:solidFill>
                  <a:srgbClr val="FFFFFF"/>
                </a:solidFill>
              </a:rPr>
              <a:t>New MFA devices registered, and new OAuth consent grants to unfamiliar apps.</a:t>
            </a:r>
          </a:p>
        </p:txBody>
      </p:sp>
      <p:sp>
        <p:nvSpPr>
          <p:cNvPr id="8" name="TextBox 7"/>
          <p:cNvSpPr txBox="1"/>
          <p:nvPr/>
        </p:nvSpPr>
        <p:spPr>
          <a:xfrm>
            <a:off x="10698480" y="6309360"/>
            <a:ext cx="1280160" cy="365760"/>
          </a:xfrm>
          <a:prstGeom prst="rect">
            <a:avLst/>
          </a:prstGeom>
          <a:noFill/>
        </p:spPr>
        <p:txBody>
          <a:bodyPr wrap="none">
            <a:spAutoFit/>
          </a:bodyPr>
          <a:lstStyle/>
          <a:p>
            <a:pPr algn="r"/>
            <a:r>
              <a:rPr sz="1100">
                <a:solidFill>
                  <a:srgbClr val="B8D4DC"/>
                </a:solidFill>
              </a:rPr>
              <a:t>14</a:t>
            </a:r>
          </a:p>
        </p:txBody>
      </p:sp>
      <p:sp>
        <p:nvSpPr>
          <p:cNvPr id="9" name="Rounded Rectangle 6"/>
          <p:cNvSpPr/>
          <p:nvPr/>
        </p:nvSpPr>
        <p:spPr>
          <a:xfrm>
            <a:off x="9040900" y="1439191"/>
            <a:ext cx="2602153" cy="3589699"/>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Email authentication</a:t>
            </a:r>
          </a:p>
          <a:p>
            <a:pPr algn="ctr"/>
            <a:r>
              <a:rPr sz="2400">
                <a:solidFill>
                  <a:srgbClr val="FFFFFF"/>
                </a:solidFill>
              </a:rPr>
              <a:t>Mail that fails SPF, DKIM or DMARC checks while claiming to be from your domain.</a:t>
            </a:r>
          </a:p>
        </p:txBody>
      </p:sp>
      <p:sp>
        <p:nvSpPr>
          <p:cNvPr id="10" name="TextBox 8"/>
          <p:cNvSpPr txBox="1"/>
          <p:nvPr/>
        </p:nvSpPr>
        <p:spPr>
          <a:xfrm>
            <a:off x="792327" y="5146266"/>
            <a:ext cx="10607040" cy="478790"/>
          </a:xfrm>
          <a:prstGeom prst="rect">
            <a:avLst/>
          </a:prstGeom>
          <a:noFill/>
        </p:spPr>
        <p:txBody>
          <a:bodyPr wrap="square">
            <a:spAutoFit/>
          </a:bodyPr>
          <a:lstStyle/>
          <a:p>
            <a:pPr algn="ctr"/>
            <a:r>
              <a:rPr sz="2400" i="1" b="0">
                <a:solidFill>
                  <a:srgbClr val="B8D4DC"/>
                </a:solidFill>
              </a:rPr>
              <a:t>You are the one role that can see these signs.</a:t>
            </a:r>
          </a:p>
        </p:txBody>
      </p:sp>
      <p:pic>
        <p:nvPicPr>
          <p:cNvPr id="12" name="narration_it_L07.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Sources: Microsoft Learn; CISA and FBI AA23-320A; ASD's ACSC</a:t>
            </a:r>
          </a:p>
        </p:txBody>
      </p:sp>
      <p:sp>
        <p:nvSpPr>
          <p:cNvPr id="1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660" fill="hold"/>
                                        <p:tgtEl>
                                          <p:spTgt spid="12"/>
                                        </p:tgtEl>
                                      </p:cBhvr>
                                    </p:cmd>
                                  </p:childTnLst>
                                </p:cTn>
                              </p:par>
                              <p:par>
                                <p:cTn id="20" presetID="26" presetClass="emph" presetSubtype="0" repeatCount="indefinite" fill="hold" grpId="0" nodeType="withEffect">
                                  <p:stCondLst>
                                    <p:cond delay="31660"/>
                                  </p:stCondLst>
                                  <p:childTnLst>
                                    <p:animEffect transition="out" filter="fade">
                                      <p:cBhvr>
                                        <p:cTn id="21" dur="1000" tmFilter="0, 0; .2, .5; .8, .5; 1, 0"/>
                                        <p:tgtEl>
                                          <p:spTgt spid="15"/>
                                        </p:tgtEl>
                                      </p:cBhvr>
                                    </p:animEffect>
                                    <p:animScale>
                                      <p:cBhvr>
                                        <p:cTn id="22" dur="500" autoRev="1" fill="hold"/>
                                        <p:tgtEl>
                                          <p:spTgt spid="1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bldLst>
      <p:bldP spid="15"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57682"/>
          </a:xfrm>
          <a:prstGeom prst="rect">
            <a:avLst/>
          </a:prstGeom>
          <a:noFill/>
        </p:spPr>
        <p:txBody>
          <a:bodyPr wrap="square">
            <a:spAutoFit/>
          </a:bodyPr>
          <a:lstStyle/>
          <a:p>
            <a:pPr algn="ctr"/>
            <a:r>
              <a:rPr sz="4000" b="1">
                <a:solidFill>
                  <a:srgbClr val="EAF6FF"/>
                </a:solidFill>
              </a:rPr>
              <a:t>ALSO WATCH FOR: AI-WRITTEN VENDOR EMAILS</a:t>
            </a:r>
          </a:p>
        </p:txBody>
      </p:sp>
      <p:sp>
        <p:nvSpPr>
          <p:cNvPr id="5" name="Rounded Rectangle 4"/>
          <p:cNvSpPr/>
          <p:nvPr/>
        </p:nvSpPr>
        <p:spPr>
          <a:xfrm>
            <a:off x="548640" y="1415682"/>
            <a:ext cx="3454298" cy="362923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What it looks like</a:t>
            </a:r>
          </a:p>
          <a:p>
            <a:pPr algn="ctr"/>
            <a:r>
              <a:rPr sz="2400">
                <a:solidFill>
                  <a:srgbClr val="FFFFFF"/>
                </a:solidFill>
              </a:rPr>
              <a:t>A well-written message from a software or service vendor about an urgent update, renewal or access request, often with a link or attachment.</a:t>
            </a:r>
          </a:p>
        </p:txBody>
      </p:sp>
      <p:sp>
        <p:nvSpPr>
          <p:cNvPr id="6" name="Rounded Rectangle 5"/>
          <p:cNvSpPr/>
          <p:nvPr/>
        </p:nvSpPr>
        <p:spPr>
          <a:xfrm>
            <a:off x="4368698" y="1415682"/>
            <a:ext cx="3454298" cy="362923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Why it works</a:t>
            </a:r>
          </a:p>
          <a:p>
            <a:pPr algn="ctr"/>
            <a:r>
              <a:rPr sz="2400">
                <a:solidFill>
                  <a:srgbClr val="FFFFFF"/>
                </a:solidFill>
              </a:rPr>
              <a:t>AI tools help criminals write fluent, convincing messages, so spelling mistakes are no longer a reliable clue.</a:t>
            </a:r>
          </a:p>
        </p:txBody>
      </p:sp>
      <p:sp>
        <p:nvSpPr>
          <p:cNvPr id="7" name="Rounded Rectangle 6"/>
          <p:cNvSpPr/>
          <p:nvPr/>
        </p:nvSpPr>
        <p:spPr>
          <a:xfrm>
            <a:off x="8188756" y="1415682"/>
            <a:ext cx="3454298" cy="362923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400">
                <a:solidFill>
                  <a:srgbClr val="FFFFFF"/>
                </a:solidFill>
              </a:rPr>
              <a:t>How to verify</a:t>
            </a:r>
          </a:p>
          <a:p>
            <a:pPr algn="ctr"/>
            <a:r>
              <a:rPr sz="2400">
                <a:solidFill>
                  <a:srgbClr val="FFFFFF"/>
                </a:solidFill>
              </a:rPr>
              <a:t>Check the vendor through your contract or its official portal, and confirm access requests with the relationship owner before granting anything.</a:t>
            </a:r>
          </a:p>
        </p:txBody>
      </p:sp>
      <p:sp>
        <p:nvSpPr>
          <p:cNvPr id="8" name="TextBox 7"/>
          <p:cNvSpPr txBox="1"/>
          <p:nvPr/>
        </p:nvSpPr>
        <p:spPr>
          <a:xfrm>
            <a:off x="10698480" y="6309360"/>
            <a:ext cx="1280160" cy="365760"/>
          </a:xfrm>
          <a:prstGeom prst="rect">
            <a:avLst/>
          </a:prstGeom>
          <a:noFill/>
        </p:spPr>
        <p:txBody>
          <a:bodyPr wrap="none">
            <a:spAutoFit/>
          </a:bodyPr>
          <a:lstStyle/>
          <a:p>
            <a:pPr algn="r"/>
            <a:r>
              <a:rPr sz="1100">
                <a:solidFill>
                  <a:srgbClr val="B8D4DC"/>
                </a:solidFill>
              </a:rPr>
              <a:t>15</a:t>
            </a:r>
          </a:p>
        </p:txBody>
      </p:sp>
      <p:sp>
        <p:nvSpPr>
          <p:cNvPr id="9" name="TextBox 8"/>
          <p:cNvSpPr txBox="1"/>
          <p:nvPr/>
        </p:nvSpPr>
        <p:spPr>
          <a:xfrm>
            <a:off x="792327" y="5154281"/>
            <a:ext cx="10607040" cy="478790"/>
          </a:xfrm>
          <a:prstGeom prst="rect">
            <a:avLst/>
          </a:prstGeom>
          <a:noFill/>
        </p:spPr>
        <p:txBody>
          <a:bodyPr wrap="square">
            <a:spAutoFit/>
          </a:bodyPr>
          <a:lstStyle/>
          <a:p>
            <a:pPr algn="ctr"/>
            <a:r>
              <a:rPr sz="2400" i="1" b="0">
                <a:solidFill>
                  <a:srgbClr val="B8D4DC"/>
                </a:solidFill>
              </a:rPr>
              <a:t>Judge the request, not the writing.</a:t>
            </a:r>
          </a:p>
        </p:txBody>
      </p:sp>
      <p:pic>
        <p:nvPicPr>
          <p:cNvPr id="11" name="narration_it_L2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 FBI IC3 PSA I-120324-PSA (generative AI makes scam text convincing)</a:t>
            </a:r>
          </a:p>
        </p:txBody>
      </p:sp>
      <p:sp>
        <p:nvSpPr>
          <p:cNvPr id="1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111" fill="hold"/>
                                        <p:tgtEl>
                                          <p:spTgt spid="11"/>
                                        </p:tgtEl>
                                      </p:cBhvr>
                                    </p:cmd>
                                  </p:childTnLst>
                                </p:cTn>
                              </p:par>
                              <p:par>
                                <p:cTn id="20" presetID="26" presetClass="emph" presetSubtype="0" repeatCount="indefinite" fill="hold" grpId="0" nodeType="withEffect">
                                  <p:stCondLst>
                                    <p:cond delay="31111"/>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4"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FF6EE8"/>
                </a:solidFill>
              </a:rPr>
              <a:t>PHASE 2</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EAF6FF"/>
                </a:solidFill>
              </a:rPr>
              <a:t>VERIFY</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B8D4DC"/>
                </a:solidFill>
              </a:rPr>
              <a:t>The one habit that would have stopped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16</a:t>
            </a:r>
          </a:p>
        </p:txBody>
      </p:sp>
      <p:pic>
        <p:nvPicPr>
          <p:cNvPr id="57" name="narration_slide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08" fill="hold"/>
                                        <p:tgtEl>
                                          <p:spTgt spid="57"/>
                                        </p:tgtEl>
                                      </p:cBhvr>
                                    </p:cmd>
                                  </p:childTnLst>
                                </p:cTn>
                              </p:par>
                              <p:par>
                                <p:cTn id="20" presetID="26" presetClass="emph" presetSubtype="0" repeatCount="indefinite" fill="hold" grpId="0" nodeType="withEffect">
                                  <p:stCondLst>
                                    <p:cond delay="660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662940"/>
          </a:xfrm>
          <a:prstGeom prst="rect">
            <a:avLst/>
          </a:prstGeom>
          <a:noFill/>
        </p:spPr>
        <p:txBody>
          <a:bodyPr wrap="square">
            <a:spAutoFit/>
          </a:bodyPr>
          <a:lstStyle/>
          <a:p>
            <a:pPr algn="ctr"/>
            <a:r>
              <a:rPr sz="3600" b="1">
                <a:solidFill>
                  <a:srgbClr val="EAF6FF"/>
                </a:solidFill>
              </a:rPr>
              <a:t>ALWAYS VERIFY: SOMEWHERE THE REQUEST CAN'T REACH</a:t>
            </a:r>
          </a:p>
        </p:txBody>
      </p:sp>
      <p:sp>
        <p:nvSpPr>
          <p:cNvPr id="5" name="Rounded Rectangle 4"/>
          <p:cNvSpPr/>
          <p:nvPr/>
        </p:nvSpPr>
        <p:spPr>
          <a:xfrm>
            <a:off x="548641" y="1408946"/>
            <a:ext cx="2602153" cy="355775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Verify Identity First</a:t>
            </a:r>
          </a:p>
          <a:p>
            <a:pPr algn="ctr"/>
            <a:r>
              <a:rPr sz="2200">
                <a:solidFill>
                  <a:srgbClr val="FFFFFF"/>
                </a:solidFill>
              </a:rPr>
              <a:t>Log the ticket, but it only records a request. Confirm who is asking by a callback to a directory number, or through their manager</a:t>
            </a:r>
          </a:p>
        </p:txBody>
      </p:sp>
      <p:sp>
        <p:nvSpPr>
          <p:cNvPr id="6" name="Rounded Rectangle 5"/>
          <p:cNvSpPr/>
          <p:nvPr/>
        </p:nvSpPr>
        <p:spPr>
          <a:xfrm>
            <a:off x="3379394" y="1408946"/>
            <a:ext cx="2602153" cy="355775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Official Contact Only</a:t>
            </a:r>
          </a:p>
          <a:p>
            <a:pPr algn="ctr"/>
            <a:r>
              <a:rPr sz="2200">
                <a:solidFill>
                  <a:srgbClr val="FFFFFF"/>
                </a:solidFill>
              </a:rPr>
              <a:t>Verify auditors, vendors and callers through publicly listed details, never the ones they give you</a:t>
            </a:r>
          </a:p>
        </p:txBody>
      </p:sp>
      <p:sp>
        <p:nvSpPr>
          <p:cNvPr id="7" name="Rounded Rectangle 6"/>
          <p:cNvSpPr/>
          <p:nvPr/>
        </p:nvSpPr>
        <p:spPr>
          <a:xfrm>
            <a:off x="6210147" y="1408946"/>
            <a:ext cx="2602153" cy="355775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Written Authorisation</a:t>
            </a:r>
          </a:p>
          <a:p>
            <a:pPr algn="ctr"/>
            <a:r>
              <a:rPr sz="2200">
                <a:solidFill>
                  <a:srgbClr val="FFFFFF"/>
                </a:solidFill>
              </a:rPr>
              <a:t>Manager and legal sign-off before any system data or access leaves your hands</a:t>
            </a:r>
          </a:p>
        </p:txBody>
      </p:sp>
      <p:sp>
        <p:nvSpPr>
          <p:cNvPr id="8" name="Rounded Rectangle 7"/>
          <p:cNvSpPr/>
          <p:nvPr/>
        </p:nvSpPr>
        <p:spPr>
          <a:xfrm>
            <a:off x="9040900" y="1408946"/>
            <a:ext cx="2602153" cy="355775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Time to Verify</a:t>
            </a:r>
          </a:p>
          <a:p>
            <a:pPr algn="ctr"/>
            <a:r>
              <a:rPr sz="2200">
                <a:solidFill>
                  <a:srgbClr val="FFFFFF"/>
                </a:solidFill>
              </a:rPr>
              <a:t>A deadline is not a reason to skip the check. Urgency is the tactic, not the exception</a:t>
            </a:r>
          </a:p>
        </p:txBody>
      </p:sp>
      <p:sp>
        <p:nvSpPr>
          <p:cNvPr id="9" name="TextBox 8"/>
          <p:cNvSpPr txBox="1"/>
          <p:nvPr/>
        </p:nvSpPr>
        <p:spPr>
          <a:xfrm>
            <a:off x="792327" y="5193275"/>
            <a:ext cx="10607040" cy="432308"/>
          </a:xfrm>
          <a:prstGeom prst="rect">
            <a:avLst/>
          </a:prstGeom>
          <a:noFill/>
        </p:spPr>
        <p:txBody>
          <a:bodyPr wrap="square">
            <a:spAutoFit/>
          </a:bodyPr>
          <a:lstStyle/>
          <a:p>
            <a:pPr algn="ctr"/>
            <a:r>
              <a:rPr sz="2200" i="1" b="1">
                <a:solidFill>
                  <a:srgbClr val="B8D4DC"/>
                </a:solidFill>
              </a:rPr>
              <a:t>If you can't verify it somewhere the request can't reach, it isn't a request. It's a test.</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17</a:t>
            </a:r>
          </a:p>
        </p:txBody>
      </p:sp>
      <p:pic>
        <p:nvPicPr>
          <p:cNvPr id="11" name="narration_it_L0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3"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158" fill="hold"/>
                                        <p:tgtEl>
                                          <p:spTgt spid="11"/>
                                        </p:tgtEl>
                                      </p:cBhvr>
                                    </p:cmd>
                                  </p:childTnLst>
                                </p:cTn>
                              </p:par>
                              <p:par>
                                <p:cTn id="20" presetID="26" presetClass="emph" presetSubtype="0" repeatCount="indefinite" fill="hold" grpId="0" nodeType="withEffect">
                                  <p:stCondLst>
                                    <p:cond delay="46158"/>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3"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URGENT RESET</a:t>
            </a:r>
          </a:p>
        </p:txBody>
      </p:sp>
      <p:sp>
        <p:nvSpPr>
          <p:cNvPr id="6" name="TextBox 5"/>
          <p:cNvSpPr txBox="1"/>
          <p:nvPr/>
        </p:nvSpPr>
        <p:spPr>
          <a:xfrm>
            <a:off x="792327" y="1855157"/>
            <a:ext cx="10607040" cy="447802"/>
          </a:xfrm>
          <a:prstGeom prst="rect">
            <a:avLst/>
          </a:prstGeom>
          <a:noFill/>
        </p:spPr>
        <p:txBody>
          <a:bodyPr wrap="square">
            <a:spAutoFit/>
          </a:bodyPr>
          <a:lstStyle/>
          <a:p>
            <a:pPr algn="ctr"/>
            <a:r>
              <a:rPr sz="2200" i="1" b="0">
                <a:solidFill>
                  <a:srgbClr val="B8D4DC"/>
                </a:solidFill>
              </a:rPr>
              <a:t>The voice on the phone sounds exactly like your IT Director.</a:t>
            </a:r>
          </a:p>
        </p:txBody>
      </p:sp>
      <p:sp>
        <p:nvSpPr>
          <p:cNvPr id="7" name="Rounded Rectangle 6"/>
          <p:cNvSpPr/>
          <p:nvPr/>
        </p:nvSpPr>
        <p:spPr>
          <a:xfrm>
            <a:off x="929487" y="2470540"/>
            <a:ext cx="10332720" cy="2909297"/>
          </a:xfrm>
          <a:prstGeom prst="roundRect">
            <a:avLst/>
          </a:prstGeom>
          <a:gradFill rotWithShape="1">
            <a:gsLst>
              <a:gs pos="0">
                <a:srgbClr val="F5F0F8"/>
              </a:gs>
              <a:gs pos="100000">
                <a:srgbClr val="E0D5EA"/>
              </a:gs>
            </a:gsLst>
            <a:lin scaled="0" ang="16200000"/>
          </a:gradFill>
          <a:ln w="15875">
            <a:solidFill>
              <a:srgbClr val="C23DC7"/>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928"/>
              </a:spcAft>
            </a:pPr>
            <a:r>
              <a:rPr b="1" sz="2200">
                <a:solidFill>
                  <a:srgbClr val="6B1E70"/>
                </a:solidFill>
              </a:rPr>
              <a:t>INCOMING CALL: IT Director (mobile)</a:t>
            </a:r>
          </a:p>
          <a:p>
            <a:pPr>
              <a:spcAft>
                <a:spcPts val="538"/>
              </a:spcAft>
            </a:pPr>
            <a:r>
              <a:rPr sz="2200" b="0">
                <a:solidFill>
                  <a:srgbClr val="1A1A1A"/>
                </a:solidFill>
              </a:rPr>
              <a:t>“Hi, it's me. I'm locked out of my account and I've got a board presentation in twenty minutes. Can you reset my MFA right now?</a:t>
            </a:r>
          </a:p>
          <a:p>
            <a:pPr>
              <a:spcAft>
                <a:spcPts val="538"/>
              </a:spcAft>
            </a:pPr>
            <a:r>
              <a:rPr sz="2200" b="0">
                <a:solidFill>
                  <a:srgbClr val="1A1A1A"/>
                </a:solidFill>
              </a:rPr>
              <a:t>I've already opened a ticket from my phone, so you can just approve it,</a:t>
            </a:r>
          </a:p>
          <a:p>
            <a:pPr>
              <a:spcAft>
                <a:spcPts val="538"/>
              </a:spcAft>
            </a:pPr>
            <a:r>
              <a:rPr sz="2200" b="0">
                <a:solidFill>
                  <a:srgbClr val="1A1A1A"/>
                </a:solidFill>
              </a:rPr>
              <a:t>and I'll sort the paperwork after. Please, this can't wait.”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18</a:t>
            </a:r>
          </a:p>
        </p:txBody>
      </p:sp>
      <p:pic>
        <p:nvPicPr>
          <p:cNvPr id="10" name="narration_it_L10.mp3">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73152" y="6355080"/>
            <a:ext cx="365760" cy="365760"/>
          </a:xfrm>
          <a:prstGeom prst="rect">
            <a:avLst/>
          </a:prstGeom>
        </p:spPr>
      </p:pic>
      <p:sp>
        <p:nvSpPr>
          <p:cNvPr id="11" name="Kiosk Previous">
            <a:hlinkClick r:id="rId7"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809" fill="hold"/>
                                        <p:tgtEl>
                                          <p:spTgt spid="10"/>
                                        </p:tgtEl>
                                      </p:cBhvr>
                                    </p:cmd>
                                  </p:childTnLst>
                                </p:cTn>
                              </p:par>
                              <p:par>
                                <p:cTn id="20" presetID="26" presetClass="emph" presetSubtype="0" repeatCount="indefinite" fill="hold" grpId="0" nodeType="withEffect">
                                  <p:stCondLst>
                                    <p:cond delay="25809"/>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63293"/>
            <a:ext cx="3657600" cy="540766"/>
          </a:xfrm>
          <a:prstGeom prst="rect">
            <a:avLst/>
          </a:prstGeom>
          <a:noFill/>
        </p:spPr>
        <p:txBody>
          <a:bodyPr wrap="none">
            <a:spAutoFit/>
          </a:bodyPr>
          <a:lstStyle/>
          <a:p>
            <a:r>
              <a:rPr sz="2800" b="1">
                <a:solidFill>
                  <a:srgbClr val="FF6EE8"/>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URGENT RESET</a:t>
            </a:r>
          </a:p>
        </p:txBody>
      </p:sp>
      <p:sp>
        <p:nvSpPr>
          <p:cNvPr id="6" name="TextBox 5"/>
          <p:cNvSpPr txBox="1"/>
          <p:nvPr/>
        </p:nvSpPr>
        <p:spPr>
          <a:xfrm>
            <a:off x="792327" y="2379776"/>
            <a:ext cx="10607040" cy="1078992"/>
          </a:xfrm>
          <a:prstGeom prst="rect">
            <a:avLst/>
          </a:prstGeom>
          <a:noFill/>
        </p:spPr>
        <p:txBody>
          <a:bodyPr wrap="square">
            <a:spAutoFit/>
          </a:bodyPr>
          <a:lstStyle/>
          <a:p>
            <a:pPr algn="ctr"/>
            <a:r>
              <a:rPr sz="1800" i="0" b="1">
                <a:solidFill>
                  <a:srgbClr val="B8D4DC"/>
                </a:solidFill>
              </a:rPr>
              <a:t>Your process: MFA resets need identity verification and manager approval in the ticket.</a:t>
            </a:r>
          </a:p>
          <a:p>
            <a:pPr algn="ctr"/>
            <a:r>
              <a:rPr sz="2800" i="1" b="1">
                <a:solidFill>
                  <a:srgbClr val="B8D4DC"/>
                </a:solidFill>
              </a:rPr>
              <a:t>What do you actually do?</a:t>
            </a:r>
          </a:p>
        </p:txBody>
      </p:sp>
      <p:sp>
        <p:nvSpPr>
          <p:cNvPr id="7" name="Rounded Rectangle 6">
            <a:hlinkClick action="ppaction://hlinksldjump" r:id="rId3"/>
          </p:cNvPr>
          <p:cNvSpPr/>
          <p:nvPr/>
        </p:nvSpPr>
        <p:spPr>
          <a:xfrm>
            <a:off x="8110727"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Reset it now, and add a note to the ticket that it was an urgent exception.</a:t>
            </a:r>
          </a:p>
        </p:txBody>
      </p:sp>
      <p:sp>
        <p:nvSpPr>
          <p:cNvPr id="12" name="Rounded Rectangle X">
            <a:hlinkClick action="ppaction://hlinksldjump" r:id="rId6"/>
          </p:cNvPr>
          <p:cNvSpPr/>
          <p:nvPr/>
        </p:nvSpPr>
        <p:spPr>
          <a:xfrm>
            <a:off x="4329683"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Tell her you can't reset it by phone, and ask her to visit the service desk.</a:t>
            </a:r>
          </a:p>
        </p:txBody>
      </p:sp>
      <p:sp>
        <p:nvSpPr>
          <p:cNvPr id="8" name="Rounded Rectangle 7">
            <a:hlinkClick action="ppaction://hlinksldjump" r:id="rId4"/>
          </p:cNvPr>
          <p:cNvSpPr/>
          <p:nvPr/>
        </p:nvSpPr>
        <p:spPr>
          <a:xfrm>
            <a:off x="548640"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Send the ticket to her manager for approval, and reset the MFA once they approve.</a:t>
            </a:r>
          </a:p>
        </p:txBody>
      </p:sp>
      <p:sp>
        <p:nvSpPr>
          <p:cNvPr id="9" name="TextBox 8"/>
          <p:cNvSpPr txBox="1"/>
          <p:nvPr/>
        </p:nvSpPr>
        <p:spPr>
          <a:xfrm>
            <a:off x="792327" y="5436844"/>
            <a:ext cx="10607040" cy="540766"/>
          </a:xfrm>
          <a:prstGeom prst="rect">
            <a:avLst/>
          </a:prstGeom>
          <a:noFill/>
        </p:spPr>
        <p:txBody>
          <a:bodyPr wrap="square">
            <a:spAutoFit/>
          </a:bodyPr>
          <a:lstStyle/>
          <a:p>
            <a:pPr algn="ctr"/>
            <a:r>
              <a:rPr sz="2200" i="1" b="0">
                <a:solidFill>
                  <a:srgbClr val="B8D4DC"/>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19</a:t>
            </a:r>
          </a:p>
        </p:txBody>
      </p:sp>
      <p:sp>
        <p:nvSpPr>
          <p:cNvPr id="11"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56511"/>
            <a:ext cx="3657600" cy="1114044"/>
          </a:xfrm>
          <a:prstGeom prst="rect">
            <a:avLst/>
          </a:prstGeom>
          <a:noFill/>
        </p:spPr>
        <p:txBody>
          <a:bodyPr wrap="none">
            <a:spAutoFit/>
          </a:bodyPr>
          <a:lstStyle/>
          <a:p>
            <a:r>
              <a:rPr sz="3200" b="1">
                <a:solidFill>
                  <a:srgbClr val="FF6EE8"/>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URGENT RESET</a:t>
            </a:r>
          </a:p>
        </p:txBody>
      </p:sp>
      <p:sp>
        <p:nvSpPr>
          <p:cNvPr id="6" name="TextBox 5"/>
          <p:cNvSpPr txBox="1"/>
          <p:nvPr/>
        </p:nvSpPr>
        <p:spPr>
          <a:xfrm>
            <a:off x="792327" y="2939491"/>
            <a:ext cx="10607040" cy="603504"/>
          </a:xfrm>
          <a:prstGeom prst="rect">
            <a:avLst/>
          </a:prstGeom>
          <a:noFill/>
        </p:spPr>
        <p:txBody>
          <a:bodyPr wrap="square">
            <a:spAutoFit/>
          </a:bodyPr>
          <a:lstStyle/>
          <a:p>
            <a:pPr algn="ctr"/>
            <a:r>
              <a:rPr sz="2000" i="1" b="0">
                <a:solidFill>
                  <a:srgbClr val="B8D4DC"/>
                </a:solidFill>
              </a:rPr>
              <a:t>You sent the request to her manager. While you wait, check the system.</a:t>
            </a:r>
          </a:p>
        </p:txBody>
      </p:sp>
      <p:sp>
        <p:nvSpPr>
          <p:cNvPr id="7" name="Rectangle 6"/>
          <p:cNvSpPr/>
          <p:nvPr/>
        </p:nvSpPr>
        <p:spPr>
          <a:xfrm>
            <a:off x="1066647" y="3611168"/>
            <a:ext cx="10058400" cy="1463040"/>
          </a:xfrm>
          <a:prstGeom prst="rect">
            <a:avLst/>
          </a:prstGeom>
          <a:gradFill rotWithShape="1">
            <a:gsLst>
              <a:gs pos="0">
                <a:srgbClr val="05060A"/>
              </a:gs>
              <a:gs pos="100000">
                <a:srgbClr val="281238"/>
              </a:gs>
            </a:gsLst>
            <a:lin scaled="0" ang="16200000"/>
          </a:gradFill>
          <a:ln w="19050">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228600" tIns="502920"/>
          <a:lstStyle/>
          <a:p>
            <a:pPr algn="ctr">
              <a:spcAft>
                <a:spcPts val="600"/>
              </a:spcAft>
            </a:pPr>
            <a:r>
              <a:rPr sz="2000">
                <a:solidFill>
                  <a:srgbClr val="6A7682"/>
                </a:solidFill>
                <a:latin typeface="Consolas"/>
              </a:rPr>
              <a:t>&gt; search tickets --requestor="IT Director" --status=open</a:t>
            </a:r>
          </a:p>
          <a:p>
            <a:pPr>
              <a:spcAft>
                <a:spcPts val="600"/>
              </a:spcAft>
            </a:pPr>
            <a:r>
              <a:rPr sz="2000">
                <a:solidFill>
                  <a:srgbClr val="6A7682"/>
                </a:solidFill>
                <a:latin typeface="Consolas"/>
              </a:rPr>
              <a:t>&gt; _</a:t>
            </a:r>
          </a:p>
        </p:txBody>
      </p:sp>
      <p:sp>
        <p:nvSpPr>
          <p:cNvPr id="8" name="Rectangle 7"/>
          <p:cNvSpPr/>
          <p:nvPr/>
        </p:nvSpPr>
        <p:spPr>
          <a:xfrm>
            <a:off x="1066647" y="3611168"/>
            <a:ext cx="10058400" cy="365760"/>
          </a:xfrm>
          <a:prstGeom prst="rect">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2000">
                <a:solidFill>
                  <a:srgbClr val="8A9AA8"/>
                </a:solidFill>
              </a:rPr>
              <a:t>● ● ●   ticket-system.internal</a:t>
            </a:r>
          </a:p>
        </p:txBody>
      </p:sp>
      <p:sp>
        <p:nvSpPr>
          <p:cNvPr id="9" name="Rounded Rectangle 8">
            <a:hlinkClick action="ppaction://hlinksldjump" r:id="rId3"/>
          </p:cNvPr>
          <p:cNvSpPr/>
          <p:nvPr/>
        </p:nvSpPr>
        <p:spPr>
          <a:xfrm>
            <a:off x="4449927" y="5143144"/>
            <a:ext cx="3291840" cy="64008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 Run the search</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20</a:t>
            </a:r>
          </a:p>
        </p:txBody>
      </p:sp>
      <p:sp>
        <p:nvSpPr>
          <p:cNvPr id="11" name="Kiosk Previous">
            <a:hlinkClick r:id="rId4"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98320"/>
            <a:ext cx="3657600" cy="1207008"/>
          </a:xfrm>
          <a:prstGeom prst="rect">
            <a:avLst/>
          </a:prstGeom>
          <a:noFill/>
        </p:spPr>
        <p:txBody>
          <a:bodyPr wrap="none">
            <a:spAutoFit/>
          </a:bodyPr>
          <a:lstStyle/>
          <a:p>
            <a:r>
              <a:rPr sz="3600" b="1">
                <a:solidFill>
                  <a:srgbClr val="FF6EE8"/>
                </a:solidFill>
              </a:rPr>
              <a:t>▶ SCENARIO: PHONE CALL</a:t>
            </a:r>
          </a:p>
        </p:txBody>
      </p:sp>
      <p:sp>
        <p:nvSpPr>
          <p:cNvPr id="5" name="TextBox 4"/>
          <p:cNvSpPr txBox="1"/>
          <p:nvPr/>
        </p:nvSpPr>
        <p:spPr>
          <a:xfrm>
            <a:off x="457200" y="731520"/>
            <a:ext cx="11247120" cy="789939"/>
          </a:xfrm>
          <a:prstGeom prst="rect">
            <a:avLst/>
          </a:prstGeom>
          <a:noFill/>
        </p:spPr>
        <p:txBody>
          <a:bodyPr wrap="square">
            <a:spAutoFit/>
          </a:bodyPr>
          <a:lstStyle/>
          <a:p>
            <a:pPr algn="ctr"/>
            <a:r>
              <a:rPr sz="4400" b="1">
                <a:solidFill>
                  <a:srgbClr val="EAF6FF"/>
                </a:solidFill>
              </a:rPr>
              <a:t>THE URGENT RESET</a:t>
            </a:r>
          </a:p>
        </p:txBody>
      </p:sp>
      <p:sp>
        <p:nvSpPr>
          <p:cNvPr id="6" name="Rectangle 5"/>
          <p:cNvSpPr/>
          <p:nvPr/>
        </p:nvSpPr>
        <p:spPr>
          <a:xfrm>
            <a:off x="1066647" y="3161792"/>
            <a:ext cx="10058400" cy="1737360"/>
          </a:xfrm>
          <a:prstGeom prst="rect">
            <a:avLst/>
          </a:prstGeom>
          <a:gradFill rotWithShape="1">
            <a:gsLst>
              <a:gs pos="0">
                <a:srgbClr val="05060A"/>
              </a:gs>
              <a:gs pos="100000">
                <a:srgbClr val="281238"/>
              </a:gs>
            </a:gsLst>
            <a:lin scaled="0" ang="16200000"/>
          </a:gradFill>
          <a:ln w="19050">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228600" tIns="502920"/>
          <a:lstStyle/>
          <a:p>
            <a:pPr algn="ctr">
              <a:spcAft>
                <a:spcPts val="600"/>
              </a:spcAft>
            </a:pPr>
            <a:r>
              <a:rPr sz="2000">
                <a:solidFill>
                  <a:srgbClr val="6A7682"/>
                </a:solidFill>
                <a:latin typeface="Consolas"/>
              </a:rPr>
              <a:t>&gt; search tickets --requestor="IT Director" --status=open</a:t>
            </a:r>
          </a:p>
          <a:p>
            <a:pPr>
              <a:spcAft>
                <a:spcPts val="600"/>
              </a:spcAft>
            </a:pPr>
            <a:r>
              <a:rPr sz="2000">
                <a:solidFill>
                  <a:srgbClr val="4DF59A"/>
                </a:solidFill>
                <a:latin typeface="Consolas"/>
              </a:rPr>
              <a:t>1 result found.</a:t>
            </a:r>
          </a:p>
          <a:p>
            <a:pPr>
              <a:spcAft>
                <a:spcPts val="600"/>
              </a:spcAft>
            </a:pPr>
            <a:r>
              <a:rPr sz="2000">
                <a:solidFill>
                  <a:srgbClr val="4DF59A"/>
                </a:solidFill>
                <a:latin typeface="Consolas"/>
              </a:rPr>
              <a:t>TICKET #8841 OPENED 4 MIN AGO: NEW DEVICE, IMPOSSIBLE TRAVEL.</a:t>
            </a:r>
          </a:p>
        </p:txBody>
      </p:sp>
      <p:sp>
        <p:nvSpPr>
          <p:cNvPr id="7" name="Rectangle 6"/>
          <p:cNvSpPr/>
          <p:nvPr/>
        </p:nvSpPr>
        <p:spPr>
          <a:xfrm>
            <a:off x="1066647" y="3161792"/>
            <a:ext cx="10058400" cy="365760"/>
          </a:xfrm>
          <a:prstGeom prst="rect">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2000">
                <a:solidFill>
                  <a:srgbClr val="8A9AA8"/>
                </a:solidFill>
              </a:rPr>
              <a:t>● ● ●   ticket-system.internal</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21</a:t>
            </a:r>
          </a:p>
        </p:txBody>
      </p:sp>
      <p:sp>
        <p:nvSpPr>
          <p:cNvPr id="10"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8137"/>
            <a:ext cx="9418320" cy="773176"/>
          </a:xfrm>
          <a:prstGeom prst="rect">
            <a:avLst/>
          </a:prstGeom>
          <a:noFill/>
        </p:spPr>
        <p:txBody>
          <a:bodyPr wrap="none">
            <a:spAutoFit/>
          </a:bodyPr>
          <a:lstStyle/>
          <a:p>
            <a:pPr algn="ctr"/>
            <a:r>
              <a:rPr sz="4400" b="1">
                <a:solidFill>
                  <a:srgbClr val="5A6B8A"/>
                </a:solidFill>
              </a:rPr>
              <a:t>ACCESS GRANTED: FRAUD SUCCEEDED</a:t>
            </a:r>
          </a:p>
        </p:txBody>
      </p:sp>
      <p:sp>
        <p:nvSpPr>
          <p:cNvPr id="5" name="TextBox 4"/>
          <p:cNvSpPr txBox="1"/>
          <p:nvPr/>
        </p:nvSpPr>
        <p:spPr>
          <a:xfrm>
            <a:off x="792327" y="2295483"/>
            <a:ext cx="10607040" cy="2322576"/>
          </a:xfrm>
          <a:prstGeom prst="rect">
            <a:avLst/>
          </a:prstGeom>
          <a:noFill/>
        </p:spPr>
        <p:txBody>
          <a:bodyPr wrap="square">
            <a:spAutoFit/>
          </a:bodyPr>
          <a:lstStyle/>
          <a:p>
            <a:pPr algn="ctr"/>
            <a:r>
              <a:rPr sz="2800" i="0" b="0">
                <a:solidFill>
                  <a:srgbClr val="B8D4DC"/>
                </a:solidFill>
              </a:rPr>
              <a:t>The reset goes through, and the caller registers a new MFA device within minutes. The real IT Director never called; her voice was cloned from a recorded conference talk still online. A note on the ticket records the exception, but it does not make it approved.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22</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5A6B8A"/>
                </a:solidFill>
              </a:rPr>
              <a:t>ATTEMPT STOPPED</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3200" i="0" b="0">
                <a:solidFill>
                  <a:srgbClr val="B8D4DC"/>
                </a:solidFill>
              </a:rPr>
              <a:t>Her manager replies within minutes: she never asked for a reset, and she is in back-to-back meetings. The ticket was raised from a new device in another country. You do not reset the MFA, the ticket is flagged, and you report it to Security.</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23</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5A6B8A"/>
                </a:solidFill>
              </a:rPr>
              <a:t>PARTLY RIGHT</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3200" i="0" b="0">
                <a:solidFill>
                  <a:srgbClr val="B8D4DC"/>
                </a:solidFill>
              </a:rPr>
              <a:t>Nobody is locked out by mistake and the MFA is not reset, so the attack fails here. But the caller is sent away unchecked, the real director may miss her presentation, and Security never hears about the call. The same caller can try another engineer.</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24</a:t>
            </a:r>
          </a:p>
        </p:txBody>
      </p:sp>
      <p:sp>
        <p:nvSpPr>
          <p:cNvPr id="9"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EAF6FF"/>
                </a:solidFill>
              </a:rPr>
              <a:t>DEBRIEF</a:t>
            </a:r>
          </a:p>
        </p:txBody>
      </p:sp>
      <p:sp>
        <p:nvSpPr>
          <p:cNvPr id="5" name="TextBox 4"/>
          <p:cNvSpPr txBox="1"/>
          <p:nvPr/>
        </p:nvSpPr>
        <p:spPr>
          <a:xfrm>
            <a:off x="792327" y="1795018"/>
            <a:ext cx="10607040" cy="3702812"/>
          </a:xfrm>
          <a:prstGeom prst="rect">
            <a:avLst/>
          </a:prstGeom>
          <a:noFill/>
        </p:spPr>
        <p:txBody>
          <a:bodyPr wrap="square">
            <a:spAutoFit/>
          </a:bodyPr>
          <a:lstStyle/>
          <a:p>
            <a:pPr>
              <a:spcAft>
                <a:spcPts val="1408"/>
              </a:spcAft>
              <a:defRPr sz="3500">
                <a:solidFill>
                  <a:srgbClr val="B8D4DC"/>
                </a:solidFill>
              </a:defRPr>
            </a:pPr>
            <a:r>
              <a:rPr sz="2800">
                <a:solidFill>
                  <a:srgbClr val="B8D4DC"/>
                </a:solidFill>
              </a:rPr>
              <a:t>A ticket, a familiar voice and a deadline are three levers at once, and any of them can be faked: the ticket was raised from a compromised account, and the voice was cloned. “Urgent exception” is the note that makes a skipped check look planned.</a:t>
            </a:r>
          </a:p>
          <a:p>
            <a:pPr>
              <a:spcAft>
                <a:spcPts val="1408"/>
              </a:spcAft>
              <a:defRPr sz="3500">
                <a:solidFill>
                  <a:srgbClr val="B8D4DC"/>
                </a:solidFill>
              </a:defRPr>
            </a:pPr>
            <a:r>
              <a:rPr sz="2800">
                <a:solidFill>
                  <a:srgbClr val="B8D4DC"/>
                </a:solidFill>
              </a:rPr>
              <a:t>An MFA reset is a change of identity. Route it through the manager approval in the ticket, because only the real manager can approve it from their own account.</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25</a:t>
            </a:r>
          </a:p>
        </p:txBody>
      </p:sp>
      <p:pic>
        <p:nvPicPr>
          <p:cNvPr id="102" name="narration_it_L1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Sources: CISA and FBI AA23-320A (help-desk MFA resets); FBI IC3 PSA I-120324-PSA</a:t>
            </a:r>
          </a:p>
        </p:txBody>
      </p:sp>
      <p:sp>
        <p:nvSpPr>
          <p:cNvPr id="10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122" fill="hold"/>
                                        <p:tgtEl>
                                          <p:spTgt spid="102"/>
                                        </p:tgtEl>
                                      </p:cBhvr>
                                    </p:cmd>
                                  </p:childTnLst>
                                </p:cTn>
                              </p:par>
                              <p:par>
                                <p:cTn id="20" presetID="26" presetClass="emph" presetSubtype="0" repeatCount="indefinite" fill="hold" grpId="0" nodeType="withEffect">
                                  <p:stCondLst>
                                    <p:cond delay="26122"/>
                                  </p:stCondLst>
                                  <p:childTnLst>
                                    <p:animEffect transition="out" filter="fade">
                                      <p:cBhvr>
                                        <p:cTn id="21" dur="1000" tmFilter="0, 0; .2, .5; .8, .5; 1, 0"/>
                                        <p:tgtEl>
                                          <p:spTgt spid="105"/>
                                        </p:tgtEl>
                                      </p:cBhvr>
                                    </p:animEffect>
                                    <p:animScale>
                                      <p:cBhvr>
                                        <p:cTn id="22" dur="500" autoRev="1" fill="hold"/>
                                        <p:tgtEl>
                                          <p:spTgt spid="10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05"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FF6EE8"/>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EMERGENCY ACCESS</a:t>
            </a:r>
          </a:p>
        </p:txBody>
      </p:sp>
      <p:sp>
        <p:nvSpPr>
          <p:cNvPr id="6" name="TextBox 5"/>
          <p:cNvSpPr txBox="1"/>
          <p:nvPr/>
        </p:nvSpPr>
        <p:spPr>
          <a:xfrm>
            <a:off x="792327" y="1749856"/>
            <a:ext cx="10607040" cy="835152"/>
          </a:xfrm>
          <a:prstGeom prst="rect">
            <a:avLst/>
          </a:prstGeom>
          <a:noFill/>
        </p:spPr>
        <p:txBody>
          <a:bodyPr wrap="square">
            <a:spAutoFit/>
          </a:bodyPr>
          <a:lstStyle/>
          <a:p>
            <a:pPr algn="ctr"/>
            <a:r>
              <a:rPr sz="2400" i="1" b="0">
                <a:solidFill>
                  <a:srgbClr val="B8D4DC"/>
                </a:solidFill>
              </a:rPr>
              <a:t>A video call from your CISO, live on camera, approving an emergency access exception.</a:t>
            </a:r>
          </a:p>
        </p:txBody>
      </p:sp>
      <p:sp>
        <p:nvSpPr>
          <p:cNvPr id="7" name="Rounded Rectangle 6"/>
          <p:cNvSpPr/>
          <p:nvPr/>
        </p:nvSpPr>
        <p:spPr>
          <a:xfrm>
            <a:off x="929487" y="2647289"/>
            <a:ext cx="10332720" cy="2943149"/>
          </a:xfrm>
          <a:prstGeom prst="roundRect">
            <a:avLst/>
          </a:prstGeom>
          <a:gradFill rotWithShape="1">
            <a:gsLst>
              <a:gs pos="0">
                <a:srgbClr val="F5F0F8"/>
              </a:gs>
              <a:gs pos="100000">
                <a:srgbClr val="E0D5EA"/>
              </a:gs>
            </a:gsLst>
            <a:lin scaled="0" ang="16200000"/>
          </a:gradFill>
          <a:ln w="15875">
            <a:solidFill>
              <a:srgbClr val="C23DC7"/>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976"/>
              </a:spcAft>
            </a:pPr>
            <a:r>
              <a:rPr b="1" sz="2400">
                <a:solidFill>
                  <a:srgbClr val="6B1E70"/>
                </a:solidFill>
              </a:rPr>
              <a:t>VIDEO CALL: CISO</a:t>
            </a:r>
          </a:p>
          <a:p>
            <a:pPr>
              <a:spcAft>
                <a:spcPts val="595"/>
              </a:spcAft>
            </a:pPr>
            <a:r>
              <a:rPr sz="2400" b="0">
                <a:solidFill>
                  <a:srgbClr val="1A1A1A"/>
                </a:solidFill>
              </a:rPr>
              <a:t>“Hey, sorry to jump on camera for this. I need you to grant emergency access to the finance server for an external consultant right now.</a:t>
            </a:r>
          </a:p>
          <a:p>
            <a:pPr>
              <a:spcAft>
                <a:spcPts val="595"/>
              </a:spcAft>
            </a:pPr>
            <a:r>
              <a:rPr sz="2400" b="0">
                <a:solidFill>
                  <a:srgbClr val="1A1A1A"/>
                </a:solidFill>
              </a:rPr>
              <a:t>We're mid-incident and can't wait for the emergency process. I'll take responsibility for this, just get it done quickly.”</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26</a:t>
            </a:r>
          </a:p>
        </p:txBody>
      </p:sp>
      <p:pic>
        <p:nvPicPr>
          <p:cNvPr id="10" name="narration_it_L12.mp3">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73152" y="6355080"/>
            <a:ext cx="365760" cy="365760"/>
          </a:xfrm>
          <a:prstGeom prst="rect">
            <a:avLst/>
          </a:prstGeom>
        </p:spPr>
      </p:pic>
      <p:sp>
        <p:nvSpPr>
          <p:cNvPr id="11" name="Kiosk Previous">
            <a:hlinkClick r:id="rId7"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167" fill="hold"/>
                                        <p:tgtEl>
                                          <p:spTgt spid="10"/>
                                        </p:tgtEl>
                                      </p:cBhvr>
                                    </p:cmd>
                                  </p:childTnLst>
                                </p:cTn>
                              </p:par>
                              <p:par>
                                <p:cTn id="20" presetID="26" presetClass="emph" presetSubtype="0" repeatCount="indefinite" fill="hold" grpId="0" nodeType="withEffect">
                                  <p:stCondLst>
                                    <p:cond delay="27167"/>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63293"/>
            <a:ext cx="3657600" cy="540766"/>
          </a:xfrm>
          <a:prstGeom prst="rect">
            <a:avLst/>
          </a:prstGeom>
          <a:noFill/>
        </p:spPr>
        <p:txBody>
          <a:bodyPr wrap="none">
            <a:spAutoFit/>
          </a:bodyPr>
          <a:lstStyle/>
          <a:p>
            <a:r>
              <a:rPr sz="2800" b="1">
                <a:solidFill>
                  <a:srgbClr val="FF6EE8"/>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EMERGENCY ACCESS</a:t>
            </a:r>
          </a:p>
        </p:txBody>
      </p:sp>
      <p:sp>
        <p:nvSpPr>
          <p:cNvPr id="6" name="TextBox 5"/>
          <p:cNvSpPr txBox="1"/>
          <p:nvPr/>
        </p:nvSpPr>
        <p:spPr>
          <a:xfrm>
            <a:off x="792327" y="2379776"/>
            <a:ext cx="10607040" cy="1078992"/>
          </a:xfrm>
          <a:prstGeom prst="rect">
            <a:avLst/>
          </a:prstGeom>
          <a:noFill/>
        </p:spPr>
        <p:txBody>
          <a:bodyPr wrap="square">
            <a:spAutoFit/>
          </a:bodyPr>
          <a:lstStyle/>
          <a:p>
            <a:pPr algn="ctr"/>
            <a:r>
              <a:rPr sz="1800" i="0" b="1">
                <a:solidFill>
                  <a:srgbClr val="B8D4DC"/>
                </a:solidFill>
              </a:rPr>
              <a:t>Your process: emergency access goes through break-glass, approved by the on-call security manager.</a:t>
            </a:r>
          </a:p>
          <a:p>
            <a:pPr algn="ctr"/>
            <a:r>
              <a:rPr sz="2800" i="1" b="1">
                <a:solidFill>
                  <a:srgbClr val="B8D4DC"/>
                </a:solidFill>
              </a:rPr>
              <a:t>What do you actually do?</a:t>
            </a:r>
          </a:p>
        </p:txBody>
      </p:sp>
      <p:sp>
        <p:nvSpPr>
          <p:cNvPr id="7" name="Rounded Rectangle 6">
            <a:hlinkClick action="ppaction://hlinksldjump" r:id="rId6"/>
          </p:cNvPr>
          <p:cNvSpPr/>
          <p:nvPr/>
        </p:nvSpPr>
        <p:spPr>
          <a:xfrm>
            <a:off x="4329683"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Ask him to post the request in the incident channel, then grant the access.</a:t>
            </a:r>
          </a:p>
        </p:txBody>
      </p:sp>
      <p:sp>
        <p:nvSpPr>
          <p:cNvPr id="8" name="Rounded Rectangle 7">
            <a:hlinkClick action="ppaction://hlinksldjump" r:id="rId3"/>
          </p:cNvPr>
          <p:cNvSpPr/>
          <p:nvPr/>
        </p:nvSpPr>
        <p:spPr>
          <a:xfrm>
            <a:off x="548640"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Add the consultant to the finance server group, and raise the change record after the incident.</a:t>
            </a:r>
          </a:p>
        </p:txBody>
      </p:sp>
      <p:sp>
        <p:nvSpPr>
          <p:cNvPr id="12" name="Rounded Rectangle X">
            <a:hlinkClick action="ppaction://hlinksldjump" r:id="rId4"/>
          </p:cNvPr>
          <p:cNvSpPr/>
          <p:nvPr/>
        </p:nvSpPr>
        <p:spPr>
          <a:xfrm>
            <a:off x="8110727" y="3499180"/>
            <a:ext cx="3529584" cy="1843659"/>
          </a:xfrm>
          <a:prstGeom prst="roundRect">
            <a:avLst>
              <a:gd name="adj" fmla="val 8000"/>
            </a:avLst>
          </a:prstGeom>
          <a:gradFill rotWithShape="1">
            <a:gsLst>
              <a:gs pos="0">
                <a:srgbClr val="5A6B8A"/>
              </a:gs>
              <a:gs pos="100000">
                <a:srgbClr val="28303E"/>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Ask the on-call security manager to approve the access through the break-glass procedure.</a:t>
            </a:r>
          </a:p>
        </p:txBody>
      </p:sp>
      <p:sp>
        <p:nvSpPr>
          <p:cNvPr id="9" name="TextBox 8"/>
          <p:cNvSpPr txBox="1"/>
          <p:nvPr/>
        </p:nvSpPr>
        <p:spPr>
          <a:xfrm>
            <a:off x="792327" y="5436844"/>
            <a:ext cx="10607040" cy="540766"/>
          </a:xfrm>
          <a:prstGeom prst="rect">
            <a:avLst/>
          </a:prstGeom>
          <a:noFill/>
        </p:spPr>
        <p:txBody>
          <a:bodyPr wrap="square">
            <a:spAutoFit/>
          </a:bodyPr>
          <a:lstStyle/>
          <a:p>
            <a:pPr algn="ctr"/>
            <a:r>
              <a:rPr sz="2200" i="1" b="0">
                <a:solidFill>
                  <a:srgbClr val="B8D4DC"/>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27</a:t>
            </a:r>
          </a:p>
        </p:txBody>
      </p:sp>
      <p:sp>
        <p:nvSpPr>
          <p:cNvPr id="11"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93697"/>
            <a:ext cx="3657600" cy="540766"/>
          </a:xfrm>
          <a:prstGeom prst="rect">
            <a:avLst/>
          </a:prstGeom>
          <a:noFill/>
        </p:spPr>
        <p:txBody>
          <a:bodyPr wrap="none">
            <a:spAutoFit/>
          </a:bodyPr>
          <a:lstStyle/>
          <a:p>
            <a:r>
              <a:rPr sz="2800" b="1">
                <a:solidFill>
                  <a:srgbClr val="FF6EE8"/>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EAF6FF"/>
                </a:solidFill>
              </a:rPr>
              <a:t>THE EMERGENCY ACCESS</a:t>
            </a:r>
          </a:p>
        </p:txBody>
      </p:sp>
      <p:sp>
        <p:nvSpPr>
          <p:cNvPr id="6" name="TextBox 5"/>
          <p:cNvSpPr txBox="1"/>
          <p:nvPr/>
        </p:nvSpPr>
        <p:spPr>
          <a:xfrm>
            <a:off x="792327" y="2440584"/>
            <a:ext cx="10607040" cy="990092"/>
          </a:xfrm>
          <a:prstGeom prst="rect">
            <a:avLst/>
          </a:prstGeom>
          <a:noFill/>
        </p:spPr>
        <p:txBody>
          <a:bodyPr wrap="square">
            <a:spAutoFit/>
          </a:bodyPr>
          <a:lstStyle/>
          <a:p>
            <a:pPr algn="ctr"/>
            <a:r>
              <a:rPr sz="2800" i="1" b="0">
                <a:solidFill>
                  <a:srgbClr val="B8D4DC"/>
                </a:solidFill>
              </a:rPr>
              <a:t>You chose the break-glass path. Check the emergency approvals before going further.</a:t>
            </a:r>
          </a:p>
        </p:txBody>
      </p:sp>
      <p:sp>
        <p:nvSpPr>
          <p:cNvPr id="7" name="Rectangle 6"/>
          <p:cNvSpPr/>
          <p:nvPr/>
        </p:nvSpPr>
        <p:spPr>
          <a:xfrm>
            <a:off x="1066647" y="3536797"/>
            <a:ext cx="10058400" cy="1463040"/>
          </a:xfrm>
          <a:prstGeom prst="rect">
            <a:avLst/>
          </a:prstGeom>
          <a:gradFill rotWithShape="1">
            <a:gsLst>
              <a:gs pos="0">
                <a:srgbClr val="05060A"/>
              </a:gs>
              <a:gs pos="100000">
                <a:srgbClr val="281238"/>
              </a:gs>
            </a:gsLst>
            <a:lin scaled="0" ang="16200000"/>
          </a:gradFill>
          <a:ln w="19050">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228600" tIns="502920"/>
          <a:lstStyle/>
          <a:p>
            <a:pPr algn="ctr">
              <a:spcAft>
                <a:spcPts val="600"/>
              </a:spcAft>
            </a:pPr>
            <a:r>
              <a:rPr sz="2000">
                <a:solidFill>
                  <a:srgbClr val="6A7682"/>
                </a:solidFill>
                <a:latin typeface="Consolas"/>
              </a:rPr>
              <a:t>&gt; verify emergency-access --approver="CISO" --channel=video</a:t>
            </a:r>
          </a:p>
          <a:p>
            <a:pPr>
              <a:spcAft>
                <a:spcPts val="600"/>
              </a:spcAft>
            </a:pPr>
            <a:r>
              <a:rPr sz="2000">
                <a:solidFill>
                  <a:srgbClr val="6A7682"/>
                </a:solidFill>
                <a:latin typeface="Consolas"/>
              </a:rPr>
              <a:t>&gt; _</a:t>
            </a:r>
          </a:p>
        </p:txBody>
      </p:sp>
      <p:sp>
        <p:nvSpPr>
          <p:cNvPr id="8" name="Rectangle 7"/>
          <p:cNvSpPr/>
          <p:nvPr/>
        </p:nvSpPr>
        <p:spPr>
          <a:xfrm>
            <a:off x="1066647" y="3536797"/>
            <a:ext cx="10058400" cy="365760"/>
          </a:xfrm>
          <a:prstGeom prst="rect">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2000">
                <a:solidFill>
                  <a:srgbClr val="8A9AA8"/>
                </a:solidFill>
              </a:rPr>
              <a:t>● ● ●   break-glass.internal</a:t>
            </a:r>
          </a:p>
        </p:txBody>
      </p:sp>
      <p:sp>
        <p:nvSpPr>
          <p:cNvPr id="9" name="Rounded Rectangle 8">
            <a:hlinkClick action="ppaction://hlinksldjump" r:id="rId3"/>
          </p:cNvPr>
          <p:cNvSpPr/>
          <p:nvPr/>
        </p:nvSpPr>
        <p:spPr>
          <a:xfrm>
            <a:off x="4449927" y="5105958"/>
            <a:ext cx="3291840" cy="64008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 Run the search</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28</a:t>
            </a:r>
          </a:p>
        </p:txBody>
      </p:sp>
      <p:sp>
        <p:nvSpPr>
          <p:cNvPr id="11" name="Kiosk Previous">
            <a:hlinkClick r:id="rId4"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98320"/>
            <a:ext cx="3657600" cy="1207008"/>
          </a:xfrm>
          <a:prstGeom prst="rect">
            <a:avLst/>
          </a:prstGeom>
          <a:noFill/>
        </p:spPr>
        <p:txBody>
          <a:bodyPr wrap="none">
            <a:spAutoFit/>
          </a:bodyPr>
          <a:lstStyle/>
          <a:p>
            <a:r>
              <a:rPr sz="3600" b="1">
                <a:solidFill>
                  <a:srgbClr val="FF6EE8"/>
                </a:solidFill>
              </a:rPr>
              <a:t>▶ SCENARIO: VIDEO CALL</a:t>
            </a:r>
          </a:p>
        </p:txBody>
      </p:sp>
      <p:sp>
        <p:nvSpPr>
          <p:cNvPr id="5" name="TextBox 4"/>
          <p:cNvSpPr txBox="1"/>
          <p:nvPr/>
        </p:nvSpPr>
        <p:spPr>
          <a:xfrm>
            <a:off x="457200" y="731520"/>
            <a:ext cx="11247120" cy="789939"/>
          </a:xfrm>
          <a:prstGeom prst="rect">
            <a:avLst/>
          </a:prstGeom>
          <a:noFill/>
        </p:spPr>
        <p:txBody>
          <a:bodyPr wrap="square">
            <a:spAutoFit/>
          </a:bodyPr>
          <a:lstStyle/>
          <a:p>
            <a:pPr algn="ctr"/>
            <a:r>
              <a:rPr sz="4400" b="1">
                <a:solidFill>
                  <a:srgbClr val="EAF6FF"/>
                </a:solidFill>
              </a:rPr>
              <a:t>THE EMERGENCY ACCESS</a:t>
            </a:r>
          </a:p>
        </p:txBody>
      </p:sp>
      <p:sp>
        <p:nvSpPr>
          <p:cNvPr id="6" name="Rectangle 5"/>
          <p:cNvSpPr/>
          <p:nvPr/>
        </p:nvSpPr>
        <p:spPr>
          <a:xfrm>
            <a:off x="1066647" y="3161792"/>
            <a:ext cx="10058400" cy="1737360"/>
          </a:xfrm>
          <a:prstGeom prst="rect">
            <a:avLst/>
          </a:prstGeom>
          <a:gradFill rotWithShape="1">
            <a:gsLst>
              <a:gs pos="0">
                <a:srgbClr val="05060A"/>
              </a:gs>
              <a:gs pos="100000">
                <a:srgbClr val="281238"/>
              </a:gs>
            </a:gsLst>
            <a:lin scaled="0" ang="16200000"/>
          </a:gradFill>
          <a:ln w="19050">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228600" tIns="502920"/>
          <a:lstStyle/>
          <a:p>
            <a:pPr algn="ctr">
              <a:spcAft>
                <a:spcPts val="600"/>
              </a:spcAft>
            </a:pPr>
            <a:r>
              <a:rPr sz="2000">
                <a:solidFill>
                  <a:srgbClr val="6A7682"/>
                </a:solidFill>
                <a:latin typeface="Consolas"/>
              </a:rPr>
              <a:t>&gt; verify emergency-access --approver="CISO" --channel=video</a:t>
            </a:r>
          </a:p>
          <a:p>
            <a:pPr>
              <a:spcAft>
                <a:spcPts val="600"/>
              </a:spcAft>
            </a:pPr>
            <a:r>
              <a:rPr sz="2000">
                <a:solidFill>
                  <a:srgbClr val="4DF59A"/>
                </a:solidFill>
                <a:latin typeface="Consolas"/>
              </a:rPr>
              <a:t>PASS-PHRASE NOT PROVIDED.</a:t>
            </a:r>
          </a:p>
          <a:p>
            <a:pPr>
              <a:spcAft>
                <a:spcPts val="600"/>
              </a:spcAft>
            </a:pPr>
            <a:r>
              <a:rPr sz="2000">
                <a:solidFill>
                  <a:srgbClr val="4DF59A"/>
                </a:solidFill>
                <a:latin typeface="Consolas"/>
              </a:rPr>
              <a:t>NO BREAK-GLASS REQUEST ON RECORD.</a:t>
            </a:r>
          </a:p>
        </p:txBody>
      </p:sp>
      <p:sp>
        <p:nvSpPr>
          <p:cNvPr id="7" name="Rectangle 6"/>
          <p:cNvSpPr/>
          <p:nvPr/>
        </p:nvSpPr>
        <p:spPr>
          <a:xfrm>
            <a:off x="1066647" y="3161792"/>
            <a:ext cx="10058400" cy="365760"/>
          </a:xfrm>
          <a:prstGeom prst="rect">
            <a:avLst/>
          </a:prstGeom>
          <a:solidFill>
            <a:srgbClr val="1A1E28"/>
          </a:solidFill>
          <a:ln>
            <a:no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2000">
                <a:solidFill>
                  <a:srgbClr val="8A9AA8"/>
                </a:solidFill>
              </a:rPr>
              <a:t>● ● ●   break-glass.internal</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29</a:t>
            </a:r>
          </a:p>
        </p:txBody>
      </p:sp>
      <p:sp>
        <p:nvSpPr>
          <p:cNvPr id="10"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8137"/>
            <a:ext cx="9418320" cy="773176"/>
          </a:xfrm>
          <a:prstGeom prst="rect">
            <a:avLst/>
          </a:prstGeom>
          <a:noFill/>
        </p:spPr>
        <p:txBody>
          <a:bodyPr wrap="none">
            <a:spAutoFit/>
          </a:bodyPr>
          <a:lstStyle/>
          <a:p>
            <a:pPr algn="ctr"/>
            <a:r>
              <a:rPr sz="4400" b="1">
                <a:solidFill>
                  <a:srgbClr val="5A6B8A"/>
                </a:solidFill>
              </a:rPr>
              <a:t>ACCESS GRANTED: FRAUD SUCCEEDED</a:t>
            </a:r>
          </a:p>
        </p:txBody>
      </p:sp>
      <p:sp>
        <p:nvSpPr>
          <p:cNvPr id="5" name="TextBox 4"/>
          <p:cNvSpPr txBox="1"/>
          <p:nvPr/>
        </p:nvSpPr>
        <p:spPr>
          <a:xfrm>
            <a:off x="792327" y="2109555"/>
            <a:ext cx="10607040" cy="2880360"/>
          </a:xfrm>
          <a:prstGeom prst="rect">
            <a:avLst/>
          </a:prstGeom>
          <a:noFill/>
        </p:spPr>
        <p:txBody>
          <a:bodyPr wrap="square">
            <a:spAutoFit/>
          </a:bodyPr>
          <a:lstStyle/>
          <a:p>
            <a:pPr algn="ctr"/>
            <a:r>
              <a:rPr sz="3200" i="0" b="0">
                <a:solidFill>
                  <a:srgbClr val="B8D4DC"/>
                </a:solidFill>
              </a:rPr>
              <a:t>The consultant account has full access within minutes. The real CISO was in a different meeting the entire time, and the video was a real-time deepfake built from his public conference appearances. Raising the change record afterwards documented the breach, but did not prevent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30</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1024"/>
            <a:ext cx="9418320" cy="773176"/>
          </a:xfrm>
          <a:prstGeom prst="rect">
            <a:avLst/>
          </a:prstGeom>
          <a:noFill/>
        </p:spPr>
        <p:txBody>
          <a:bodyPr wrap="none">
            <a:spAutoFit/>
          </a:bodyPr>
          <a:lstStyle/>
          <a:p>
            <a:pPr algn="ctr"/>
            <a:r>
              <a:rPr sz="4400" b="1">
                <a:solidFill>
                  <a:srgbClr val="5A6B8A"/>
                </a:solidFill>
              </a:rPr>
              <a:t>ATTEMPT STOPPED</a:t>
            </a:r>
          </a:p>
        </p:txBody>
      </p:sp>
      <p:sp>
        <p:nvSpPr>
          <p:cNvPr id="5" name="TextBox 4"/>
          <p:cNvSpPr txBox="1"/>
          <p:nvPr/>
        </p:nvSpPr>
        <p:spPr>
          <a:xfrm>
            <a:off x="792327" y="2290741"/>
            <a:ext cx="10607040" cy="2322576"/>
          </a:xfrm>
          <a:prstGeom prst="rect">
            <a:avLst/>
          </a:prstGeom>
          <a:noFill/>
        </p:spPr>
        <p:txBody>
          <a:bodyPr wrap="square">
            <a:spAutoFit/>
          </a:bodyPr>
          <a:lstStyle/>
          <a:p>
            <a:pPr algn="ctr"/>
            <a:r>
              <a:rPr sz="2800" i="0" b="0">
                <a:solidFill>
                  <a:srgbClr val="B8D4DC"/>
                </a:solidFill>
              </a:rPr>
              <a:t>The on-call security manager has no emergency on record, and the real CISO is reached in a different meeting. The break-glass procedure needs a pass-phrase and an approval the caller cannot provide. Access is not granted, and Security Operations is told.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31</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1024"/>
            <a:ext cx="9418320" cy="773176"/>
          </a:xfrm>
          <a:prstGeom prst="rect">
            <a:avLst/>
          </a:prstGeom>
          <a:noFill/>
        </p:spPr>
        <p:txBody>
          <a:bodyPr wrap="none">
            <a:spAutoFit/>
          </a:bodyPr>
          <a:lstStyle/>
          <a:p>
            <a:pPr algn="ctr"/>
            <a:r>
              <a:rPr sz="4400" b="1">
                <a:solidFill>
                  <a:srgbClr val="5A6B8A"/>
                </a:solidFill>
              </a:rPr>
              <a:t>PARTLY RIGHT</a:t>
            </a:r>
          </a:p>
        </p:txBody>
      </p:sp>
      <p:sp>
        <p:nvSpPr>
          <p:cNvPr id="5" name="TextBox 4"/>
          <p:cNvSpPr txBox="1"/>
          <p:nvPr/>
        </p:nvSpPr>
        <p:spPr>
          <a:xfrm>
            <a:off x="792327" y="2290741"/>
            <a:ext cx="10607040" cy="2322576"/>
          </a:xfrm>
          <a:prstGeom prst="rect">
            <a:avLst/>
          </a:prstGeom>
          <a:noFill/>
        </p:spPr>
        <p:txBody>
          <a:bodyPr wrap="square">
            <a:spAutoFit/>
          </a:bodyPr>
          <a:lstStyle/>
          <a:p>
            <a:pPr algn="ctr"/>
            <a:r>
              <a:rPr sz="3200" i="0" b="0">
                <a:solidFill>
                  <a:srgbClr val="B8D4DC"/>
                </a:solidFill>
              </a:rPr>
              <a:t>You asked for a trail, which is the right instinct. But a message in a channel is not approval, and an attacker with a stolen account can post it too. Nobody with authority has approved the access, and nobody has been told.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32</a:t>
            </a:r>
          </a:p>
        </p:txBody>
      </p:sp>
      <p:sp>
        <p:nvSpPr>
          <p:cNvPr id="9"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EAF6FF"/>
                </a:solidFill>
              </a:rPr>
              <a:t>DEBRIEF</a:t>
            </a:r>
          </a:p>
        </p:txBody>
      </p:sp>
      <p:sp>
        <p:nvSpPr>
          <p:cNvPr id="5" name="TextBox 4"/>
          <p:cNvSpPr txBox="1"/>
          <p:nvPr/>
        </p:nvSpPr>
        <p:spPr>
          <a:xfrm>
            <a:off x="792327" y="1729613"/>
            <a:ext cx="10607040" cy="3833622"/>
          </a:xfrm>
          <a:prstGeom prst="rect">
            <a:avLst/>
          </a:prstGeom>
          <a:noFill/>
        </p:spPr>
        <p:txBody>
          <a:bodyPr wrap="square">
            <a:spAutoFit/>
          </a:bodyPr>
          <a:lstStyle/>
          <a:p>
            <a:pPr>
              <a:spcAft>
                <a:spcPts val="1008"/>
              </a:spcAft>
              <a:defRPr sz="2500">
                <a:solidFill>
                  <a:srgbClr val="B8D4DC"/>
                </a:solidFill>
              </a:defRPr>
            </a:pPr>
            <a:r>
              <a:rPr sz="3200">
                <a:solidFill>
                  <a:srgbClr val="B8D4DC"/>
                </a:solidFill>
              </a:rPr>
              <a:t>A real-time deepfake of a senior leader, urgency and “I'll take responsibility” are designed to make an emergency feel like an exception to the rules. Raising the change record later is the workaround that makes a breach look like paperwork.</a:t>
            </a:r>
          </a:p>
          <a:p>
            <a:pPr>
              <a:spcAft>
                <a:spcPts val="1008"/>
              </a:spcAft>
              <a:defRPr sz="2500">
                <a:solidFill>
                  <a:srgbClr val="B8D4DC"/>
                </a:solidFill>
              </a:defRPr>
            </a:pPr>
            <a:r>
              <a:rPr sz="3200">
                <a:solidFill>
                  <a:srgbClr val="B8D4DC"/>
                </a:solidFill>
              </a:rPr>
              <a:t>Emergencies have their own procedure: break-glass, approved by the on-call security manager. It exists so that a fast decision is still a verified one.</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solidFill>
                  <a:srgbClr val="B8D4DC"/>
                </a:solidFill>
              </a:rPr>
              <a:t>33</a:t>
            </a:r>
          </a:p>
        </p:txBody>
      </p:sp>
      <p:pic>
        <p:nvPicPr>
          <p:cNvPr id="103" name="narration_it_L1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4"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 FBI IC3 PSA I-120324-PSA (AI video in live chats with alleged executives)</a:t>
            </a:r>
          </a:p>
        </p:txBody>
      </p:sp>
      <p:sp>
        <p:nvSpPr>
          <p:cNvPr id="105"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6"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141" fill="hold"/>
                                        <p:tgtEl>
                                          <p:spTgt spid="103"/>
                                        </p:tgtEl>
                                      </p:cBhvr>
                                    </p:cmd>
                                  </p:childTnLst>
                                </p:cTn>
                              </p:par>
                              <p:par>
                                <p:cTn id="20" presetID="26" presetClass="emph" presetSubtype="0" repeatCount="indefinite" fill="hold" grpId="0" nodeType="withEffect">
                                  <p:stCondLst>
                                    <p:cond delay="27141"/>
                                  </p:stCondLst>
                                  <p:childTnLst>
                                    <p:animEffect transition="out" filter="fade">
                                      <p:cBhvr>
                                        <p:cTn id="21" dur="1000" tmFilter="0, 0; .2, .5; .8, .5; 1, 0"/>
                                        <p:tgtEl>
                                          <p:spTgt spid="106"/>
                                        </p:tgtEl>
                                      </p:cBhvr>
                                    </p:animEffect>
                                    <p:animScale>
                                      <p:cBhvr>
                                        <p:cTn id="22" dur="500" autoRev="1" fill="hold"/>
                                        <p:tgtEl>
                                          <p:spTgt spid="10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3"/>
                </p:tgtEl>
              </p:cMediaNode>
            </p:audio>
          </p:childTnLst>
        </p:cTn>
      </p:par>
    </p:tnLst>
    <p:bldLst>
      <p:bldP spid="106"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510284"/>
            <a:ext cx="10607040" cy="649224"/>
          </a:xfrm>
          <a:prstGeom prst="rect">
            <a:avLst/>
          </a:prstGeom>
          <a:noFill/>
        </p:spPr>
        <p:txBody>
          <a:bodyPr wrap="square">
            <a:spAutoFit/>
          </a:bodyPr>
          <a:lstStyle/>
          <a:p>
            <a:pPr algn="ctr"/>
            <a:r>
              <a:rPr sz="3600" i="0" b="1">
                <a:solidFill>
                  <a:srgbClr val="FF6EE8"/>
                </a:solidFill>
              </a:rPr>
              <a:t>PHASE 3</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EAF6FF"/>
                </a:solidFill>
              </a:rPr>
              <a:t>CONTAIN</a:t>
            </a:r>
          </a:p>
        </p:txBody>
      </p:sp>
      <p:sp>
        <p:nvSpPr>
          <p:cNvPr id="6" name="TextBox 5"/>
          <p:cNvSpPr txBox="1"/>
          <p:nvPr/>
        </p:nvSpPr>
        <p:spPr>
          <a:xfrm>
            <a:off x="792327" y="4186428"/>
            <a:ext cx="10607040" cy="1207008"/>
          </a:xfrm>
          <a:prstGeom prst="rect">
            <a:avLst/>
          </a:prstGeom>
          <a:noFill/>
        </p:spPr>
        <p:txBody>
          <a:bodyPr wrap="square">
            <a:spAutoFit/>
          </a:bodyPr>
          <a:lstStyle/>
          <a:p>
            <a:pPr algn="ctr"/>
            <a:r>
              <a:rPr sz="3600" i="1" b="0">
                <a:solidFill>
                  <a:srgbClr val="B8D4DC"/>
                </a:solidFill>
              </a:rPr>
              <a:t>You caught it, or you didn't. Either way, here's what happens next.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34</a:t>
            </a:r>
          </a:p>
        </p:txBody>
      </p:sp>
      <p:pic>
        <p:nvPicPr>
          <p:cNvPr id="57" name="narration_slide3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22" fill="hold"/>
                                        <p:tgtEl>
                                          <p:spTgt spid="57"/>
                                        </p:tgtEl>
                                      </p:cBhvr>
                                    </p:cmd>
                                  </p:childTnLst>
                                </p:cTn>
                              </p:par>
                              <p:par>
                                <p:cTn id="20" presetID="26" presetClass="emph" presetSubtype="0" repeatCount="indefinite" fill="hold" grpId="0" nodeType="withEffect">
                                  <p:stCondLst>
                                    <p:cond delay="10422"/>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CONTAIN: WHAT TO DO, IN ORDER</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solidFill>
                  <a:srgbClr val="B8D4DC"/>
                </a:solidFill>
              </a:rPr>
              <a:t>35</a:t>
            </a:r>
          </a:p>
        </p:txBody>
      </p:sp>
      <p:sp>
        <p:nvSpPr>
          <p:cNvPr id="6" name="Rounded Rectangle 10"/>
          <p:cNvSpPr/>
          <p:nvPr/>
        </p:nvSpPr>
        <p:spPr>
          <a:xfrm>
            <a:off x="1280160" y="1481328"/>
            <a:ext cx="3749039" cy="502920"/>
          </a:xfrm>
          <a:prstGeom prst="roundRect">
            <a:avLst/>
          </a:prstGeom>
          <a:solidFill>
            <a:srgbClr val="FFFFFF"/>
          </a:solidFill>
          <a:ln w="19050">
            <a:solidFill>
              <a:srgbClr val="7A5FB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7" name="Right Arrow 11"/>
          <p:cNvSpPr/>
          <p:nvPr/>
        </p:nvSpPr>
        <p:spPr>
          <a:xfrm>
            <a:off x="5138928" y="1554480"/>
            <a:ext cx="457200" cy="365760"/>
          </a:xfrm>
          <a:prstGeom prst="rightArrow">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5705856" y="1481328"/>
            <a:ext cx="5212080" cy="502920"/>
          </a:xfrm>
          <a:prstGeom prst="roundRect">
            <a:avLst/>
          </a:prstGeom>
          <a:solidFill>
            <a:srgbClr val="FFFFFF"/>
          </a:solidFill>
          <a:ln w="19050">
            <a:solidFill>
              <a:srgbClr val="7A5FBF"/>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access already been granted?</a:t>
            </a:r>
          </a:p>
        </p:txBody>
      </p:sp>
      <p:sp>
        <p:nvSpPr>
          <p:cNvPr id="9" name="Rounded Rectangle 13"/>
          <p:cNvSpPr/>
          <p:nvPr/>
        </p:nvSpPr>
        <p:spPr>
          <a:xfrm>
            <a:off x="548640" y="2148840"/>
            <a:ext cx="5440680" cy="2194560"/>
          </a:xfrm>
          <a:prstGeom prst="roundRect">
            <a:avLst>
              <a:gd name="adj" fmla="val 8000"/>
            </a:avLst>
          </a:prstGeom>
          <a:solidFill>
            <a:srgbClr val="E7E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731520" y="2194560"/>
            <a:ext cx="5029200" cy="411480"/>
          </a:xfrm>
          <a:prstGeom prst="rect">
            <a:avLst/>
          </a:prstGeom>
          <a:noFill/>
        </p:spPr>
        <p:txBody>
          <a:bodyPr wrap="square">
            <a:spAutoFit/>
          </a:bodyPr>
          <a:lstStyle/>
          <a:p>
            <a:pPr algn="l"/>
            <a:r>
              <a:rPr sz="2200" i="0" b="1">
                <a:solidFill>
                  <a:srgbClr val="4B3A8C"/>
                </a:solidFill>
              </a:rPr>
              <a:t>No: nothing granted yet</a:t>
            </a:r>
          </a:p>
        </p:txBody>
      </p:sp>
      <p:sp>
        <p:nvSpPr>
          <p:cNvPr id="11" name="Oval 15"/>
          <p:cNvSpPr/>
          <p:nvPr/>
        </p:nvSpPr>
        <p:spPr>
          <a:xfrm>
            <a:off x="795528" y="2761488"/>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2" name="TextBox 4"/>
          <p:cNvSpPr txBox="1"/>
          <p:nvPr/>
        </p:nvSpPr>
        <p:spPr>
          <a:xfrm>
            <a:off x="1371600" y="2743200"/>
            <a:ext cx="4526280" cy="457200"/>
          </a:xfrm>
          <a:prstGeom prst="rect">
            <a:avLst/>
          </a:prstGeom>
          <a:noFill/>
        </p:spPr>
        <p:txBody>
          <a:bodyPr wrap="square">
            <a:spAutoFit/>
          </a:bodyPr>
          <a:lstStyle/>
          <a:p>
            <a:pPr algn="l"/>
            <a:r>
              <a:rPr sz="1800" i="0" b="0">
                <a:solidFill>
                  <a:srgbClr val="2E2A45"/>
                </a:solidFill>
              </a:rPr>
              <a:t>Stop and verify by callback</a:t>
            </a:r>
          </a:p>
        </p:txBody>
      </p:sp>
      <p:sp>
        <p:nvSpPr>
          <p:cNvPr id="13" name="Rectangle 17"/>
          <p:cNvSpPr/>
          <p:nvPr/>
        </p:nvSpPr>
        <p:spPr>
          <a:xfrm>
            <a:off x="992124" y="3182112"/>
            <a:ext cx="27432" cy="146303"/>
          </a:xfrm>
          <a:prstGeom prst="rect">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8"/>
          <p:cNvSpPr/>
          <p:nvPr/>
        </p:nvSpPr>
        <p:spPr>
          <a:xfrm>
            <a:off x="795528" y="3328416"/>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5" name="TextBox 4"/>
          <p:cNvSpPr txBox="1"/>
          <p:nvPr/>
        </p:nvSpPr>
        <p:spPr>
          <a:xfrm>
            <a:off x="1371600" y="3310128"/>
            <a:ext cx="4526280" cy="457200"/>
          </a:xfrm>
          <a:prstGeom prst="rect">
            <a:avLst/>
          </a:prstGeom>
          <a:noFill/>
        </p:spPr>
        <p:txBody>
          <a:bodyPr wrap="square">
            <a:spAutoFit/>
          </a:bodyPr>
          <a:lstStyle/>
          <a:p>
            <a:pPr algn="l"/>
            <a:r>
              <a:rPr sz="1800" i="0" b="0">
                <a:solidFill>
                  <a:srgbClr val="2E2A45"/>
                </a:solidFill>
              </a:rPr>
              <a:t>Do not process the ticket</a:t>
            </a:r>
          </a:p>
        </p:txBody>
      </p:sp>
      <p:sp>
        <p:nvSpPr>
          <p:cNvPr id="16" name="Rectangle 20"/>
          <p:cNvSpPr/>
          <p:nvPr/>
        </p:nvSpPr>
        <p:spPr>
          <a:xfrm>
            <a:off x="992124" y="3749040"/>
            <a:ext cx="27432" cy="146303"/>
          </a:xfrm>
          <a:prstGeom prst="rect">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21"/>
          <p:cNvSpPr/>
          <p:nvPr/>
        </p:nvSpPr>
        <p:spPr>
          <a:xfrm>
            <a:off x="795528" y="3895344"/>
            <a:ext cx="420624" cy="420624"/>
          </a:xfrm>
          <a:prstGeom prst="ellipse">
            <a:avLst/>
          </a:prstGeom>
          <a:solidFill>
            <a:srgbClr val="7A5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8" name="TextBox 4"/>
          <p:cNvSpPr txBox="1"/>
          <p:nvPr/>
        </p:nvSpPr>
        <p:spPr>
          <a:xfrm>
            <a:off x="1371600" y="3877056"/>
            <a:ext cx="4526280" cy="457200"/>
          </a:xfrm>
          <a:prstGeom prst="rect">
            <a:avLst/>
          </a:prstGeom>
          <a:noFill/>
        </p:spPr>
        <p:txBody>
          <a:bodyPr wrap="square">
            <a:spAutoFit/>
          </a:bodyPr>
          <a:lstStyle/>
          <a:p>
            <a:pPr algn="l"/>
            <a:r>
              <a:rPr sz="1800" i="0" b="0">
                <a:solidFill>
                  <a:srgbClr val="2E2A45"/>
                </a:solidFill>
              </a:rPr>
              <a:t>Tell Security Operations</a:t>
            </a:r>
          </a:p>
        </p:txBody>
      </p:sp>
      <p:sp>
        <p:nvSpPr>
          <p:cNvPr id="19" name="Rounded Rectangle 23"/>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4"/>
          <p:cNvSpPr txBox="1"/>
          <p:nvPr/>
        </p:nvSpPr>
        <p:spPr>
          <a:xfrm>
            <a:off x="6382512" y="2194560"/>
            <a:ext cx="5029200" cy="411480"/>
          </a:xfrm>
          <a:prstGeom prst="rect">
            <a:avLst/>
          </a:prstGeom>
          <a:noFill/>
        </p:spPr>
        <p:txBody>
          <a:bodyPr wrap="square">
            <a:spAutoFit/>
          </a:bodyPr>
          <a:lstStyle/>
          <a:p>
            <a:pPr algn="l"/>
            <a:r>
              <a:rPr sz="2200" i="0" b="1">
                <a:solidFill>
                  <a:srgbClr val="A3470F"/>
                </a:solidFill>
              </a:rPr>
              <a:t>Yes: access granted</a:t>
            </a:r>
          </a:p>
        </p:txBody>
      </p:sp>
      <p:sp>
        <p:nvSpPr>
          <p:cNvPr id="21" name="Oval 25"/>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2" name="TextBox 4"/>
          <p:cNvSpPr txBox="1"/>
          <p:nvPr/>
        </p:nvSpPr>
        <p:spPr>
          <a:xfrm>
            <a:off x="7022592" y="2743200"/>
            <a:ext cx="4526280" cy="457200"/>
          </a:xfrm>
          <a:prstGeom prst="rect">
            <a:avLst/>
          </a:prstGeom>
          <a:noFill/>
        </p:spPr>
        <p:txBody>
          <a:bodyPr wrap="square">
            <a:spAutoFit/>
          </a:bodyPr>
          <a:lstStyle/>
          <a:p>
            <a:pPr algn="l"/>
            <a:r>
              <a:rPr sz="1800" i="0" b="0">
                <a:solidFill>
                  <a:srgbClr val="2E2A45"/>
                </a:solidFill>
              </a:rPr>
              <a:t>Revoke sessions and tokens</a:t>
            </a:r>
          </a:p>
        </p:txBody>
      </p:sp>
      <p:sp>
        <p:nvSpPr>
          <p:cNvPr id="23" name="Rectangle 27"/>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8"/>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5" name="TextBox 4"/>
          <p:cNvSpPr txBox="1"/>
          <p:nvPr/>
        </p:nvSpPr>
        <p:spPr>
          <a:xfrm>
            <a:off x="7022592" y="3310128"/>
            <a:ext cx="4526280" cy="457200"/>
          </a:xfrm>
          <a:prstGeom prst="rect">
            <a:avLst/>
          </a:prstGeom>
          <a:noFill/>
        </p:spPr>
        <p:txBody>
          <a:bodyPr wrap="square">
            <a:spAutoFit/>
          </a:bodyPr>
          <a:lstStyle/>
          <a:p>
            <a:pPr algn="l"/>
            <a:r>
              <a:rPr sz="1800" i="0" b="0">
                <a:solidFill>
                  <a:srgbClr val="2E2A45"/>
                </a:solidFill>
              </a:rPr>
              <a:t>Remove mailbox rules and new MFA devices</a:t>
            </a:r>
          </a:p>
        </p:txBody>
      </p:sp>
      <p:sp>
        <p:nvSpPr>
          <p:cNvPr id="26" name="Rectangle 30"/>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31"/>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8" name="TextBox 4"/>
          <p:cNvSpPr txBox="1"/>
          <p:nvPr/>
        </p:nvSpPr>
        <p:spPr>
          <a:xfrm>
            <a:off x="7022592" y="3877056"/>
            <a:ext cx="4526280" cy="457200"/>
          </a:xfrm>
          <a:prstGeom prst="rect">
            <a:avLst/>
          </a:prstGeom>
          <a:noFill/>
        </p:spPr>
        <p:txBody>
          <a:bodyPr wrap="square">
            <a:spAutoFit/>
          </a:bodyPr>
          <a:lstStyle/>
          <a:p>
            <a:pPr algn="l"/>
            <a:r>
              <a:rPr sz="1800" i="0" b="0">
                <a:solidFill>
                  <a:srgbClr val="2E2A45"/>
                </a:solidFill>
              </a:rPr>
              <a:t>Isolate it and tell Security Operations</a:t>
            </a:r>
          </a:p>
        </p:txBody>
      </p:sp>
      <p:sp>
        <p:nvSpPr>
          <p:cNvPr id="29" name="Down Arrow 33"/>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34"/>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4"/>
          <p:cNvSpPr/>
          <p:nvPr/>
        </p:nvSpPr>
        <p:spPr>
          <a:xfrm>
            <a:off x="548640" y="4663440"/>
            <a:ext cx="3611880" cy="117043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Keep the evidence</a:t>
            </a:r>
          </a:p>
          <a:p>
            <a:pPr algn="ctr"/>
            <a:r>
              <a:rPr sz="1800">
                <a:solidFill>
                  <a:srgbClr val="FFFFFF"/>
                </a:solidFill>
              </a:rPr>
              <a:t>Email, call log, tickets, sign-in logs</a:t>
            </a:r>
          </a:p>
        </p:txBody>
      </p:sp>
      <p:sp>
        <p:nvSpPr>
          <p:cNvPr id="32" name="Rounded Rectangle 4"/>
          <p:cNvSpPr/>
          <p:nvPr/>
        </p:nvSpPr>
        <p:spPr>
          <a:xfrm>
            <a:off x="4288536" y="4663440"/>
            <a:ext cx="3611880" cy="117043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Report it</a:t>
            </a:r>
          </a:p>
          <a:p>
            <a:pPr algn="ctr"/>
            <a:r>
              <a:rPr sz="1800">
                <a:solidFill>
                  <a:srgbClr val="FFFFFF"/>
                </a:solidFill>
              </a:rPr>
              <a:t>ReportCyber, IC3, Report Fraud, CAFC</a:t>
            </a:r>
          </a:p>
        </p:txBody>
      </p:sp>
      <p:sp>
        <p:nvSpPr>
          <p:cNvPr id="33" name="Rounded Rectangle 4"/>
          <p:cNvSpPr/>
          <p:nvPr/>
        </p:nvSpPr>
        <p:spPr>
          <a:xfrm>
            <a:off x="8028431" y="4663440"/>
            <a:ext cx="3611880" cy="1170432"/>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Check privacy duties</a:t>
            </a:r>
          </a:p>
          <a:p>
            <a:pPr algn="ctr"/>
            <a:r>
              <a:rPr sz="1800">
                <a:solidFill>
                  <a:srgbClr val="FFFFFF"/>
                </a:solidFill>
              </a:rPr>
              <a:t>Rules differ by country. Ask your privacy lead.</a:t>
            </a:r>
          </a:p>
        </p:txBody>
      </p:sp>
      <p:sp>
        <p:nvSpPr>
          <p:cNvPr id="34" name="Citation"/>
          <p:cNvSpPr txBox="1"/>
          <p:nvPr/>
        </p:nvSpPr>
        <p:spPr>
          <a:xfrm>
            <a:off x="457200" y="5870448"/>
            <a:ext cx="11247120" cy="429768"/>
          </a:xfrm>
          <a:prstGeom prst="rect">
            <a:avLst/>
          </a:prstGeom>
          <a:noFill/>
        </p:spPr>
        <p:txBody>
          <a:bodyPr wrap="square">
            <a:spAutoFit/>
          </a:bodyPr>
          <a:lstStyle/>
          <a:p>
            <a:pPr algn="l"/>
            <a:r>
              <a:rPr lang="en-US" sz="1800" i="1">
                <a:solidFill>
                  <a:srgbClr val="B8D4DC"/>
                </a:solidFill>
              </a:rPr>
              <a:t>Sources: FBI IC3 2025 Annual Report; ASD’s ACSC; Report Fraud; CAFC; GDPR; OAIC; IDCARE</a:t>
            </a:r>
          </a:p>
        </p:txBody>
      </p:sp>
      <p:sp>
        <p:nvSpPr>
          <p:cNvPr id="38" name="Contain note"/>
          <p:cNvSpPr txBox="1"/>
          <p:nvPr/>
        </p:nvSpPr>
        <p:spPr>
          <a:xfrm>
            <a:off x="457200" y="1143000"/>
            <a:ext cx="11247120" cy="274320"/>
          </a:xfrm>
          <a:prstGeom prst="rect">
            <a:avLst/>
          </a:prstGeom>
          <a:noFill/>
        </p:spPr>
        <p:txBody>
          <a:bodyPr wrap="square">
            <a:spAutoFit/>
          </a:bodyPr>
          <a:lstStyle/>
          <a:p>
            <a:pPr algn="ctr"/>
            <a:r>
              <a:rPr lang="en-US" sz="1400" i="1">
                <a:solidFill>
                  <a:srgbClr val="B8D4DC"/>
                </a:solidFill>
              </a:rPr>
              <a:t>The order may change depending on the situation. Follow your organisation's incident procedure.</a:t>
            </a:r>
          </a:p>
        </p:txBody>
      </p:sp>
      <p:sp>
        <p:nvSpPr>
          <p:cNvPr id="35"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36"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37" name="narration_v16_it_33.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6748" fill="hold"/>
                                        <p:tgtEl>
                                          <p:spTgt spid="37"/>
                                        </p:tgtEl>
                                      </p:cBhvr>
                                    </p:cmd>
                                  </p:childTnLst>
                                </p:cTn>
                              </p:par>
                              <p:par>
                                <p:cTn id="20" presetID="26" presetClass="emph" presetSubtype="0" repeatCount="indefinite" fill="hold" grpId="0" nodeType="withEffect">
                                  <p:stCondLst>
                                    <p:cond delay="76748"/>
                                  </p:stCondLst>
                                  <p:childTnLst>
                                    <p:animEffect transition="out" filter="fade">
                                      <p:cBhvr>
                                        <p:cTn id="21" dur="1000" tmFilter="0, 0; .2, .5; .8, .5; 1, 0"/>
                                        <p:tgtEl>
                                          <p:spTgt spid="36"/>
                                        </p:tgtEl>
                                      </p:cBhvr>
                                    </p:animEffect>
                                    <p:animScale>
                                      <p:cBhvr>
                                        <p:cTn id="22" dur="500" autoRev="1" fill="hold"/>
                                        <p:tgtEl>
                                          <p:spTgt spid="3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7"/>
                </p:tgtEl>
              </p:cMediaNode>
            </p:audio>
          </p:childTnLst>
        </p:cTn>
      </p:par>
    </p:tnLst>
    <p:bldLst>
      <p:bldP spid="36"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CONTAIN THE ACCOUNT</a:t>
            </a:r>
          </a:p>
        </p:txBody>
      </p:sp>
      <p:sp>
        <p:nvSpPr>
          <p:cNvPr id="5" name="Rounded Rectangle 4"/>
          <p:cNvSpPr/>
          <p:nvPr/>
        </p:nvSpPr>
        <p:spPr>
          <a:xfrm>
            <a:off x="548641" y="1609489"/>
            <a:ext cx="2602153" cy="384527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FFFFFF"/>
                </a:solidFill>
              </a:rPr>
              <a:t>Revoke sessions and tokens</a:t>
            </a:r>
          </a:p>
          <a:p>
            <a:pPr algn="ctr"/>
            <a:r>
              <a:rPr sz="2600">
                <a:solidFill>
                  <a:srgbClr val="FFFFFF"/>
                </a:solidFill>
              </a:rPr>
              <a:t>Sign the user out everywhere, then reset the password and MFA.</a:t>
            </a:r>
          </a:p>
        </p:txBody>
      </p:sp>
      <p:sp>
        <p:nvSpPr>
          <p:cNvPr id="6" name="Rounded Rectangle 5"/>
          <p:cNvSpPr/>
          <p:nvPr/>
        </p:nvSpPr>
        <p:spPr>
          <a:xfrm>
            <a:off x="3379394" y="1609489"/>
            <a:ext cx="2602153" cy="384527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FFFFFF"/>
                </a:solidFill>
              </a:rPr>
              <a:t>Remove malicious rules</a:t>
            </a:r>
          </a:p>
          <a:p>
            <a:pPr algn="ctr"/>
            <a:r>
              <a:rPr sz="2600">
                <a:solidFill>
                  <a:srgbClr val="FFFFFF"/>
                </a:solidFill>
              </a:rPr>
              <a:t>Delete hidden forwarding and mail rules the user did not create.</a:t>
            </a:r>
          </a:p>
        </p:txBody>
      </p:sp>
      <p:sp>
        <p:nvSpPr>
          <p:cNvPr id="7" name="Rounded Rectangle 6"/>
          <p:cNvSpPr/>
          <p:nvPr/>
        </p:nvSpPr>
        <p:spPr>
          <a:xfrm>
            <a:off x="6210147" y="1609489"/>
            <a:ext cx="2602153" cy="384527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FFFFFF"/>
                </a:solidFill>
              </a:rPr>
              <a:t>Check MFA and app grants</a:t>
            </a:r>
          </a:p>
          <a:p>
            <a:pPr algn="ctr"/>
            <a:r>
              <a:rPr sz="2600">
                <a:solidFill>
                  <a:srgbClr val="FFFFFF"/>
                </a:solidFill>
              </a:rPr>
              <a:t>Remove MFA devices and OAuth grants that you don't recognise.</a:t>
            </a:r>
          </a:p>
        </p:txBody>
      </p:sp>
      <p:sp>
        <p:nvSpPr>
          <p:cNvPr id="8" name="TextBox 7"/>
          <p:cNvSpPr txBox="1"/>
          <p:nvPr/>
        </p:nvSpPr>
        <p:spPr>
          <a:xfrm>
            <a:off x="10698480" y="6309360"/>
            <a:ext cx="1280160" cy="365760"/>
          </a:xfrm>
          <a:prstGeom prst="rect">
            <a:avLst/>
          </a:prstGeom>
          <a:noFill/>
        </p:spPr>
        <p:txBody>
          <a:bodyPr wrap="none">
            <a:spAutoFit/>
          </a:bodyPr>
          <a:lstStyle/>
          <a:p>
            <a:pPr algn="r"/>
            <a:r>
              <a:rPr sz="1100">
                <a:solidFill>
                  <a:srgbClr val="B8D4DC"/>
                </a:solidFill>
              </a:rPr>
              <a:t>36</a:t>
            </a:r>
          </a:p>
        </p:txBody>
      </p:sp>
      <p:sp>
        <p:nvSpPr>
          <p:cNvPr id="9" name="Rounded Rectangle 6"/>
          <p:cNvSpPr/>
          <p:nvPr/>
        </p:nvSpPr>
        <p:spPr>
          <a:xfrm>
            <a:off x="9040900" y="1609489"/>
            <a:ext cx="2602153" cy="3845270"/>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600">
                <a:solidFill>
                  <a:srgbClr val="FFFFFF"/>
                </a:solidFill>
              </a:rPr>
              <a:t>Keep the evidence</a:t>
            </a:r>
          </a:p>
          <a:p>
            <a:pPr algn="ctr"/>
            <a:r>
              <a:rPr sz="2600">
                <a:solidFill>
                  <a:srgbClr val="FFFFFF"/>
                </a:solidFill>
              </a:rPr>
              <a:t>Keep sign-in logs, message headers, the call log and the ticket trail.</a:t>
            </a:r>
          </a:p>
        </p:txBody>
      </p:sp>
      <p:pic>
        <p:nvPicPr>
          <p:cNvPr id="11" name="narration_it_L15.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Citation"/>
          <p:cNvSpPr txBox="1"/>
          <p:nvPr/>
        </p:nvSpPr>
        <p:spPr>
          <a:xfrm>
            <a:off x="457200" y="5870448"/>
            <a:ext cx="11247120" cy="432308"/>
          </a:xfrm>
          <a:prstGeom prst="rect">
            <a:avLst/>
          </a:prstGeom>
          <a:noFill/>
        </p:spPr>
        <p:txBody>
          <a:bodyPr wrap="square">
            <a:spAutoFit/>
          </a:bodyPr>
          <a:lstStyle/>
          <a:p>
            <a:pPr algn="l"/>
            <a:r>
              <a:rPr lang="en-US" sz="1800" i="1">
                <a:solidFill>
                  <a:srgbClr val="B8D4DC"/>
                </a:solidFill>
              </a:rPr>
              <a:t>Source: Microsoft Learn, Responding to a compromised email account</a:t>
            </a:r>
          </a:p>
        </p:txBody>
      </p:sp>
      <p:sp>
        <p:nvSpPr>
          <p:cNvPr id="1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16" fill="hold"/>
                                        <p:tgtEl>
                                          <p:spTgt spid="11"/>
                                        </p:tgtEl>
                                      </p:cBhvr>
                                    </p:cmd>
                                  </p:childTnLst>
                                </p:cTn>
                              </p:par>
                              <p:par>
                                <p:cTn id="20" presetID="26" presetClass="emph" presetSubtype="0" repeatCount="indefinite" fill="hold" grpId="0" nodeType="withEffect">
                                  <p:stCondLst>
                                    <p:cond delay="28316"/>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774511"/>
            <a:ext cx="10607040" cy="789939"/>
          </a:xfrm>
          <a:prstGeom prst="rect">
            <a:avLst/>
          </a:prstGeom>
          <a:noFill/>
        </p:spPr>
        <p:txBody>
          <a:bodyPr wrap="square">
            <a:spAutoFit/>
          </a:bodyPr>
          <a:lstStyle/>
          <a:p>
            <a:pPr algn="ctr"/>
            <a:r>
              <a:rPr sz="4400" b="1">
                <a:solidFill>
                  <a:srgbClr val="EAF6FF"/>
                </a:solidFill>
              </a:rPr>
              <a:t>KNOWLEDGE CHECK: CONTAIN (Q1)</a:t>
            </a:r>
          </a:p>
        </p:txBody>
      </p:sp>
      <p:sp>
        <p:nvSpPr>
          <p:cNvPr id="5" name="TextBox 4"/>
          <p:cNvSpPr txBox="1"/>
          <p:nvPr/>
        </p:nvSpPr>
        <p:spPr>
          <a:xfrm>
            <a:off x="792327" y="1803007"/>
            <a:ext cx="10607040" cy="1021080"/>
          </a:xfrm>
          <a:prstGeom prst="rect">
            <a:avLst/>
          </a:prstGeom>
          <a:noFill/>
        </p:spPr>
        <p:txBody>
          <a:bodyPr wrap="square">
            <a:spAutoFit/>
          </a:bodyPr>
          <a:lstStyle/>
          <a:p>
            <a:pPr algn="ctr"/>
            <a:r>
              <a:rPr sz="2800" i="0" b="1">
                <a:solidFill>
                  <a:srgbClr val="B8D4DC"/>
                </a:solidFill>
              </a:rPr>
              <a:t>A user's mailbox sent phishing emails. She says she reset her password an hour ago. Is that enough?</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No: revoke sessions and tokens, then check mailbox rules and MFA devices</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Yes: a new password locks the attacker out of the mailbox</a:t>
            </a:r>
          </a:p>
        </p:txBody>
      </p:sp>
      <p:sp>
        <p:nvSpPr>
          <p:cNvPr id="8" name="Rounded Rectangle 7">
            <a:hlinkClick action="ppaction://hlinksldjump" r:id="rId4"/>
          </p:cNvPr>
          <p:cNvSpPr/>
          <p:nvPr/>
        </p:nvSpPr>
        <p:spPr>
          <a:xfrm>
            <a:off x="932688" y="5129784"/>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Mostly: also turn on MFA and watch the account for a week</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37</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2800" i="0" b="0">
                <a:solidFill>
                  <a:srgbClr val="B8D4DC"/>
                </a:solidFill>
              </a:rPr>
              <a:t>The answer is A) No: revoke sessions and tokens, then check mailbox rules and MFA devices. Attackers often keep access through sessions, tokens, mailbox rules and new MFA devices that a password reset does not remove. MFA alone does not close those doors.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38</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5A6B8A"/>
                </a:solidFill>
              </a:rPr>
              <a:t>CORRECT!</a:t>
            </a:r>
          </a:p>
        </p:txBody>
      </p:sp>
      <p:sp>
        <p:nvSpPr>
          <p:cNvPr id="5" name="TextBox 4"/>
          <p:cNvSpPr txBox="1"/>
          <p:nvPr/>
        </p:nvSpPr>
        <p:spPr>
          <a:xfrm>
            <a:off x="792327" y="2663444"/>
            <a:ext cx="10607040" cy="1207008"/>
          </a:xfrm>
          <a:prstGeom prst="rect">
            <a:avLst/>
          </a:prstGeom>
          <a:noFill/>
        </p:spPr>
        <p:txBody>
          <a:bodyPr wrap="square">
            <a:spAutoFit/>
          </a:bodyPr>
          <a:lstStyle/>
          <a:p>
            <a:pPr algn="ctr"/>
            <a:r>
              <a:rPr sz="2400" i="0" b="0">
                <a:solidFill>
                  <a:srgbClr val="B8D4DC"/>
                </a:solidFill>
              </a:rPr>
              <a:t>Right. Attackers often keep access through sessions, tokens, mailbox rules and new MFA devices that a password reset does not remove. MFA alone does not close those doors.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39</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867475"/>
            <a:ext cx="10607040" cy="789939"/>
          </a:xfrm>
          <a:prstGeom prst="rect">
            <a:avLst/>
          </a:prstGeom>
          <a:noFill/>
        </p:spPr>
        <p:txBody>
          <a:bodyPr wrap="square">
            <a:spAutoFit/>
          </a:bodyPr>
          <a:lstStyle/>
          <a:p>
            <a:pPr algn="ctr"/>
            <a:r>
              <a:rPr sz="4400" b="1">
                <a:solidFill>
                  <a:srgbClr val="EAF6FF"/>
                </a:solidFill>
              </a:rPr>
              <a:t>KNOWLEDGE CHECK: CONTAIN (Q2)</a:t>
            </a:r>
          </a:p>
        </p:txBody>
      </p:sp>
      <p:sp>
        <p:nvSpPr>
          <p:cNvPr id="5" name="TextBox 4"/>
          <p:cNvSpPr txBox="1"/>
          <p:nvPr/>
        </p:nvSpPr>
        <p:spPr>
          <a:xfrm>
            <a:off x="792327" y="1847307"/>
            <a:ext cx="10607040" cy="1299972"/>
          </a:xfrm>
          <a:prstGeom prst="rect">
            <a:avLst/>
          </a:prstGeom>
          <a:noFill/>
        </p:spPr>
        <p:txBody>
          <a:bodyPr wrap="square">
            <a:spAutoFit/>
          </a:bodyPr>
          <a:lstStyle/>
          <a:p>
            <a:pPr algn="ctr"/>
            <a:r>
              <a:rPr sz="3200" i="0" b="1">
                <a:solidFill>
                  <a:srgbClr val="B8D4DC"/>
                </a:solidFill>
              </a:rPr>
              <a:t>A ticket asks you to reset a director's MFA. The director is on a flight and the CEO says it is urgent. What do you do?</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Process it, because the ticket came through the approved queue</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Confirm by a directory callback or the director's manager, then reset</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C23DC7"/>
          </a:soli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Reply on the ticket and ask for the director's employee number</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40</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2800" i="0" b="0">
                <a:solidFill>
                  <a:srgbClr val="B8D4DC"/>
                </a:solidFill>
              </a:rPr>
              <a:t>The answer is B) Confirm by a directory callback or the director's manager, then reset. A ticket records a request. It does not prove who made it, and an employee number is something an attacker may already know. Confirm identity somewhere the request cannot reach.</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41</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5A6B8A"/>
                </a:solidFill>
              </a:rPr>
              <a:t>CORRECT!</a:t>
            </a:r>
          </a:p>
        </p:txBody>
      </p:sp>
      <p:sp>
        <p:nvSpPr>
          <p:cNvPr id="5" name="TextBox 4"/>
          <p:cNvSpPr txBox="1"/>
          <p:nvPr/>
        </p:nvSpPr>
        <p:spPr>
          <a:xfrm>
            <a:off x="792327" y="2663444"/>
            <a:ext cx="10607040" cy="1207008"/>
          </a:xfrm>
          <a:prstGeom prst="rect">
            <a:avLst/>
          </a:prstGeom>
          <a:noFill/>
        </p:spPr>
        <p:txBody>
          <a:bodyPr wrap="square">
            <a:spAutoFit/>
          </a:bodyPr>
          <a:lstStyle/>
          <a:p>
            <a:pPr algn="ctr"/>
            <a:r>
              <a:rPr sz="2400" i="0" b="0">
                <a:solidFill>
                  <a:srgbClr val="B8D4DC"/>
                </a:solidFill>
              </a:rPr>
              <a:t>Right. A ticket records a request. It does not prove who made it, and an employee number is something an attacker may already know. Confirm identity somewhere the request cannot reach.</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solidFill>
                  <a:srgbClr val="B8D4DC"/>
                </a:solidFill>
              </a:rPr>
              <a:t>42</a:t>
            </a:r>
          </a:p>
        </p:txBody>
      </p:sp>
      <p:sp>
        <p:nvSpPr>
          <p:cNvPr id="9"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EAF6FF"/>
                </a:solidFill>
              </a:rPr>
              <a:t>SUMMARY</a:t>
            </a:r>
          </a:p>
        </p:txBody>
      </p:sp>
      <p:sp>
        <p:nvSpPr>
          <p:cNvPr id="5" name="Rounded Rectangle 4"/>
          <p:cNvSpPr/>
          <p:nvPr/>
        </p:nvSpPr>
        <p:spPr>
          <a:xfrm>
            <a:off x="548640" y="1708377"/>
            <a:ext cx="3484778" cy="21636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DETECT</a:t>
            </a:r>
          </a:p>
          <a:p>
            <a:pPr algn="ctr"/>
            <a:r>
              <a:rPr sz="2800">
                <a:solidFill>
                  <a:srgbClr val="FFFFFF"/>
                </a:solidFill>
              </a:rPr>
              <a:t>Urgency plus a bypassed process is the pattern</a:t>
            </a:r>
          </a:p>
        </p:txBody>
      </p:sp>
      <p:sp>
        <p:nvSpPr>
          <p:cNvPr id="6" name="Rounded Rectangle 5"/>
          <p:cNvSpPr/>
          <p:nvPr/>
        </p:nvSpPr>
        <p:spPr>
          <a:xfrm>
            <a:off x="4353458" y="1708377"/>
            <a:ext cx="3484778" cy="21636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VERIFY</a:t>
            </a:r>
          </a:p>
          <a:p>
            <a:pPr algn="ctr"/>
            <a:r>
              <a:rPr sz="2800">
                <a:solidFill>
                  <a:srgbClr val="FFFFFF"/>
                </a:solidFill>
              </a:rPr>
              <a:t>Confirm identity somewhere the request can't reach</a:t>
            </a:r>
          </a:p>
        </p:txBody>
      </p:sp>
      <p:sp>
        <p:nvSpPr>
          <p:cNvPr id="7" name="Rounded Rectangle 6"/>
          <p:cNvSpPr/>
          <p:nvPr/>
        </p:nvSpPr>
        <p:spPr>
          <a:xfrm>
            <a:off x="8158276" y="1708377"/>
            <a:ext cx="3484778" cy="2163653"/>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CONTAIN</a:t>
            </a:r>
          </a:p>
          <a:p>
            <a:pPr algn="ctr"/>
            <a:r>
              <a:rPr sz="2800">
                <a:solidFill>
                  <a:srgbClr val="FFFFFF"/>
                </a:solidFill>
              </a:rPr>
              <a:t>Revoke, remove, report</a:t>
            </a:r>
          </a:p>
        </p:txBody>
      </p:sp>
      <p:sp>
        <p:nvSpPr>
          <p:cNvPr id="8" name="TextBox 7"/>
          <p:cNvSpPr txBox="1"/>
          <p:nvPr/>
        </p:nvSpPr>
        <p:spPr>
          <a:xfrm>
            <a:off x="792327" y="4258591"/>
            <a:ext cx="10607040" cy="1207008"/>
          </a:xfrm>
          <a:prstGeom prst="rect">
            <a:avLst/>
          </a:prstGeom>
          <a:noFill/>
        </p:spPr>
        <p:txBody>
          <a:bodyPr wrap="square">
            <a:spAutoFit/>
          </a:bodyPr>
          <a:lstStyle/>
          <a:p>
            <a:pPr algn="ctr"/>
            <a:r>
              <a:rPr sz="3600" i="1" b="1">
                <a:solidFill>
                  <a:srgbClr val="B8D4DC"/>
                </a:solidFill>
              </a:rPr>
              <a:t>A ticket records a request. It doesn't prove who made it.</a:t>
            </a:r>
          </a:p>
        </p:txBody>
      </p:sp>
      <p:sp>
        <p:nvSpPr>
          <p:cNvPr id="13" name="Adapt note"/>
          <p:cNvSpPr txBox="1"/>
          <p:nvPr/>
        </p:nvSpPr>
        <p:spPr>
          <a:xfrm>
            <a:off x="792327" y="5575327"/>
            <a:ext cx="10607040" cy="713232"/>
          </a:xfrm>
          <a:prstGeom prst="rect">
            <a:avLst/>
          </a:prstGeom>
          <a:noFill/>
        </p:spPr>
        <p:txBody>
          <a:bodyPr wrap="square">
            <a:spAutoFit/>
          </a:bodyPr>
          <a:lstStyle/>
          <a:p>
            <a:pPr algn="ctr"/>
            <a:r>
              <a:rPr sz="2000" i="1" b="0">
                <a:solidFill>
                  <a:srgbClr val="B8D4DC"/>
                </a:solidFill>
              </a:rPr>
              <a:t>Laws, contacts and reporting services differ by country and industry. Adapt this module before you use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solidFill>
                  <a:srgbClr val="B8D4DC"/>
                </a:solidFill>
              </a:rPr>
              <a:t>43</a:t>
            </a:r>
          </a:p>
        </p:txBody>
      </p:sp>
      <p:pic>
        <p:nvPicPr>
          <p:cNvPr id="10" name="narration_it_L17.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462" fill="hold"/>
                                        <p:tgtEl>
                                          <p:spTgt spid="10"/>
                                        </p:tgtEl>
                                      </p:cBhvr>
                                    </p:cmd>
                                  </p:childTnLst>
                                </p:cTn>
                              </p:par>
                              <p:par>
                                <p:cTn id="20" presetID="26" presetClass="emph" presetSubtype="0" repeatCount="indefinite" fill="hold" grpId="0" nodeType="withEffect">
                                  <p:stCondLst>
                                    <p:cond delay="26462"/>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t_theme_iot.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270127"/>
            <a:ext cx="10698480" cy="943609"/>
          </a:xfrm>
          <a:prstGeom prst="rect">
            <a:avLst/>
          </a:prstGeom>
          <a:noFill/>
        </p:spPr>
        <p:txBody>
          <a:bodyPr wrap="none">
            <a:spAutoFit/>
          </a:bodyPr>
          <a:lstStyle/>
          <a:p>
            <a:pPr algn="ctr"/>
            <a:r>
              <a:rPr sz="4800" b="1">
                <a:solidFill>
                  <a:srgbClr val="EAF6FF"/>
                </a:solidFill>
              </a:rPr>
              <a:t>THANK YOU</a:t>
            </a:r>
          </a:p>
        </p:txBody>
      </p:sp>
      <p:sp>
        <p:nvSpPr>
          <p:cNvPr id="5" name="TextBox 4"/>
          <p:cNvSpPr txBox="1"/>
          <p:nvPr/>
        </p:nvSpPr>
        <p:spPr>
          <a:xfrm>
            <a:off x="792327" y="2716656"/>
            <a:ext cx="10607040" cy="1207008"/>
          </a:xfrm>
          <a:prstGeom prst="rect">
            <a:avLst/>
          </a:prstGeom>
          <a:noFill/>
        </p:spPr>
        <p:txBody>
          <a:bodyPr wrap="square">
            <a:spAutoFit/>
          </a:bodyPr>
          <a:lstStyle/>
          <a:p>
            <a:pPr algn="ctr"/>
            <a:r>
              <a:rPr sz="3600" i="0" b="0">
                <a:solidFill>
                  <a:srgbClr val="B8D4DC"/>
                </a:solidFill>
              </a:rPr>
              <a:t>Questions? Reach out to Jenny: s4927217@uq.edu.au</a:t>
            </a:r>
          </a:p>
        </p:txBody>
      </p:sp>
      <p:sp>
        <p:nvSpPr>
          <p:cNvPr id="6" name="TextBox 5"/>
          <p:cNvSpPr txBox="1"/>
          <p:nvPr/>
        </p:nvSpPr>
        <p:spPr>
          <a:xfrm>
            <a:off x="792327" y="4426584"/>
            <a:ext cx="10607040" cy="1207008"/>
          </a:xfrm>
          <a:prstGeom prst="rect">
            <a:avLst/>
          </a:prstGeom>
          <a:noFill/>
        </p:spPr>
        <p:txBody>
          <a:bodyPr wrap="square">
            <a:spAutoFit/>
          </a:bodyPr>
          <a:lstStyle/>
          <a:p>
            <a:pPr algn="ctr"/>
            <a:r>
              <a:rPr sz="3600" i="0" b="0">
                <a:solidFill>
                  <a:srgbClr val="B8D4DC"/>
                </a:solidFill>
              </a:rPr>
              <a:t>Prepared as part of the Role-Based BEC Competency Framework (RBCF)</a:t>
            </a:r>
          </a:p>
        </p:txBody>
      </p:sp>
      <p:pic>
        <p:nvPicPr>
          <p:cNvPr id="56" name="narration_slide4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Finish">
            <a:hlinkClick r:id="" action="ppaction://hlinkshowjump?jump=endshow"/>
          </p:cNvPr>
          <p:cNvSpPr/>
          <p:nvPr/>
        </p:nvSpPr>
        <p:spPr>
          <a:xfrm>
            <a:off x="6233007" y="6309360"/>
            <a:ext cx="1463040" cy="384048"/>
          </a:xfrm>
          <a:prstGeom prst="roundRect">
            <a:avLst>
              <a:gd name="adj" fmla="val 8000"/>
            </a:avLst>
          </a:prstGeom>
          <a:gradFill rotWithShape="1">
            <a:gsLst>
              <a:gs pos="0">
                <a:srgbClr val="C23DC7"/>
              </a:gs>
              <a:gs pos="100000">
                <a:srgbClr val="571B59"/>
              </a:gs>
            </a:gsLst>
            <a:lin scaled="0" ang="18900000"/>
          </a:gradFill>
          <a:ln>
            <a:solidFill>
              <a:srgbClr val="FF8AF0"/>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729" fill="hold"/>
                                        <p:tgtEl>
                                          <p:spTgt spid="5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IT Staff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1</cp:revision>
  <dcterms:created xsi:type="dcterms:W3CDTF">2013-01-27T09:14:16Z</dcterms:created>
  <dcterms:modified xsi:type="dcterms:W3CDTF">2013-01-27T09:15:58Z</dcterms:modified>
  <cp:category/>
</cp:coreProperties>
</file>
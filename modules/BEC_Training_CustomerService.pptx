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media1.mp4" ContentType="video/unknown"/>
  <Override PartName="/ppt/media/narration_cs_02.mp3" ContentType="audio/mpeg"/>
  <Override PartName="/ppt/media/narration_cs_09.mp3" ContentType="audio/mpeg"/>
  <Override PartName="/ppt/media/narration_cs_11.mp3" ContentType="audio/mpeg"/>
  <Override PartName="/ppt/media/narration_cs_12.mp3" ContentType="audio/mpeg"/>
  <Override PartName="/ppt/media/narration_cs_13.mp3" ContentType="audio/mpeg"/>
  <Override PartName="/ppt/media/narration_cs_20.mp3" ContentType="audio/mpeg"/>
  <Override PartName="/ppt/media/narration_cs_23.mp3" ContentType="audio/mpeg"/>
  <Override PartName="/ppt/media/narration_cs_25.mp3" ContentType="audio/mpeg"/>
  <Override PartName="/ppt/media/narration_cs_L02.mp3" ContentType="audio/mpeg"/>
  <Override PartName="/ppt/media/narration_cs_L06.mp3" ContentType="audio/mpeg"/>
  <Override PartName="/ppt/media/narration_cs_L09.mp3" ContentType="audio/mpeg"/>
  <Override PartName="/ppt/media/narration_cs_L10.mp3" ContentType="audio/mpeg"/>
  <Override PartName="/ppt/media/narration_cs_L13.mp3" ContentType="audio/mpeg"/>
  <Override PartName="/ppt/media/narration_cs_L14.mp3" ContentType="audio/mpeg"/>
  <Override PartName="/ppt/media/narration_cs_L15.mp3" ContentType="audio/mpeg"/>
  <Override PartName="/ppt/media/narration_slide1.mp3" ContentType="audio/mpeg"/>
  <Override PartName="/ppt/media/narration_slide12.mp3" ContentType="audio/mpeg"/>
  <Override PartName="/ppt/media/narration_slide22.mp3" ContentType="audio/mpeg"/>
  <Override PartName="/ppt/media/narration_slide31.mp3" ContentType="audio/mpeg"/>
  <Override PartName="/ppt/media/narration_slide33.mp3" ContentType="audio/mpeg"/>
  <Override PartName="/ppt/media/narration_v15_cs_05.mp3" ContentType="audio/mpeg"/>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87" r:id="rId38"/>
    <p:sldId id="288" r:id="rId39"/>
    <p:sldId id="258" r:id="rId9"/>
    <p:sldId id="259" r:id="rId10"/>
    <p:sldId id="286" r:id="rId37"/>
    <p:sldId id="290" r:id="rId41"/>
    <p:sldId id="291" r:id="rId42"/>
    <p:sldId id="292" r:id="rId43"/>
    <p:sldId id="293" r:id="rId44"/>
    <p:sldId id="294" r:id="rId45"/>
    <p:sldId id="295" r:id="rId46"/>
    <p:sldId id="266" r:id="rId17"/>
    <p:sldId id="267" r:id="rId18"/>
    <p:sldId id="272" r:id="rId23"/>
    <p:sldId id="273" r:id="rId24"/>
    <p:sldId id="274" r:id="rId25"/>
    <p:sldId id="297" r:id="rId40"/>
    <p:sldId id="275" r:id="rId26"/>
    <p:sldId id="260" r:id="rId11"/>
    <p:sldId id="261" r:id="rId12"/>
    <p:sldId id="262" r:id="rId13"/>
    <p:sldId id="298" r:id="rId28"/>
    <p:sldId id="263" r:id="rId14"/>
    <p:sldId id="276" r:id="rId27"/>
    <p:sldId id="296" r:id="rId47"/>
    <p:sldId id="278" r:id="rId29"/>
    <p:sldId id="279" r:id="rId30"/>
    <p:sldId id="280" r:id="rId31"/>
    <p:sldId id="281" r:id="rId32"/>
    <p:sldId id="282" r:id="rId33"/>
    <p:sldId id="283" r:id="rId34"/>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kiosk restart="3600000"/>
    <p:sldAll/>
  </p:showPr>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21.xml"/><Relationship Id="rId12" Type="http://schemas.openxmlformats.org/officeDocument/2006/relationships/slide" Target="slides/slide22.xml"/><Relationship Id="rId13" Type="http://schemas.openxmlformats.org/officeDocument/2006/relationships/slide" Target="slides/slide23.xml"/><Relationship Id="rId14" Type="http://schemas.openxmlformats.org/officeDocument/2006/relationships/slide" Target="slides/slide25.xml"/><Relationship Id="rId17" Type="http://schemas.openxmlformats.org/officeDocument/2006/relationships/slide" Target="slides/slide14.xml"/><Relationship Id="rId18"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20.xml"/><Relationship Id="rId27" Type="http://schemas.openxmlformats.org/officeDocument/2006/relationships/slide" Target="slides/slide26.xml"/><Relationship Id="rId28" Type="http://schemas.openxmlformats.org/officeDocument/2006/relationships/slide" Target="slides/slide24.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7.xml"/><Relationship Id="rId38" Type="http://schemas.openxmlformats.org/officeDocument/2006/relationships/slide" Target="slides/slide3.xml"/><Relationship Id="rId39" Type="http://schemas.openxmlformats.org/officeDocument/2006/relationships/slide" Target="slides/slide4.xml"/><Relationship Id="rId40" Type="http://schemas.openxmlformats.org/officeDocument/2006/relationships/slide" Target="slides/slide19.xml"/><Relationship Id="rId41" Type="http://schemas.openxmlformats.org/officeDocument/2006/relationships/slide" Target="slides/slide8.xml"/><Relationship Id="rId42" Type="http://schemas.openxmlformats.org/officeDocument/2006/relationships/slide" Target="slides/slide9.xml"/><Relationship Id="rId43" Type="http://schemas.openxmlformats.org/officeDocument/2006/relationships/slide" Target="slides/slide10.xml"/><Relationship Id="rId44" Type="http://schemas.openxmlformats.org/officeDocument/2006/relationships/slide" Target="slides/slide11.xml"/><Relationship Id="rId45" Type="http://schemas.openxmlformats.org/officeDocument/2006/relationships/slide" Target="slides/slide12.xml"/><Relationship Id="rId46" Type="http://schemas.openxmlformats.org/officeDocument/2006/relationships/slide" Target="slides/slide13.xml"/><Relationship Id="rId47"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slide1.mp3"/><Relationship Id="rId4" Type="http://schemas.microsoft.com/office/2007/relationships/media" Target="../media/narration_slide1.mp3"/><Relationship Id="rId5" Type="http://schemas.openxmlformats.org/officeDocument/2006/relationships/image" Target="../media/audio_icon.png"/><Relationship Id="rId6" Type="http://schemas.openxmlformats.org/officeDocument/2006/relationships/slide" Target="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6" Type="http://schemas.openxmlformats.org/officeDocument/2006/relationships/slide" Target="slide1.xml"/><Relationship Id="rId7" Type="http://schemas.openxmlformats.org/officeDocument/2006/relationships/slide" Target="slide3.xml"/><Relationship Id="rId8" Type="http://schemas.openxmlformats.org/officeDocument/2006/relationships/audio" Target="../media/narration_cs_02.mp3"/><Relationship Id="rId9" Type="http://schemas.microsoft.com/office/2007/relationships/media" Target="../media/narration_cs_02.mp3"/><Relationship Id="rId10" Type="http://schemas.openxmlformats.org/officeDocument/2006/relationships/image" Target="../media/audio_icon.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cs_L02.mp3"/><Relationship Id="rId4" Type="http://schemas.microsoft.com/office/2007/relationships/media" Target="../media/narration_cs_L02.mp3"/><Relationship Id="rId5" Type="http://schemas.openxmlformats.org/officeDocument/2006/relationships/image" Target="../media/audio_icon.png"/><Relationship Id="rId6" Type="http://schemas.openxmlformats.org/officeDocument/2006/relationships/slide" Target="slide2.xml"/><Relationship Id="rId7"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slide33.mp3"/><Relationship Id="rId4" Type="http://schemas.microsoft.com/office/2007/relationships/media" Target="../media/narration_slide33.mp3"/><Relationship Id="rId5" Type="http://schemas.openxmlformats.org/officeDocument/2006/relationships/image" Target="../media/audio_icon.png"/><Relationship Id="rId6" Type="http://schemas.openxmlformats.org/officeDocument/2006/relationships/slide" Target="slide3.xml"/><Relationship Id="rId7" Type="http://schemas.openxmlformats.org/officeDocument/2006/relationships/slide" Target="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4" Type="http://schemas.microsoft.com/office/2007/relationships/media" Target="../media/narration_v15_cs_05.mp3"/><Relationship Id="rId5" Type="http://schemas.openxmlformats.org/officeDocument/2006/relationships/audio" Target="../media/narration_v15_cs_05.mp3"/><Relationship Id="rId6" Type="http://schemas.openxmlformats.org/officeDocument/2006/relationships/slide" Target="slide4.xml"/><Relationship Id="rId7" Type="http://schemas.openxmlformats.org/officeDocument/2006/relationships/slide" Target="slide6.xml"/><Relationship Id="rId10" Type="http://schemas.openxmlformats.org/officeDocument/2006/relationships/image" Target="../media/audio_icon.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cs_L14.mp3"/><Relationship Id="rId4" Type="http://schemas.microsoft.com/office/2007/relationships/media" Target="../media/narration_cs_L14.mp3"/><Relationship Id="rId5" Type="http://schemas.openxmlformats.org/officeDocument/2006/relationships/image" Target="../media/audio_icon.png"/><Relationship Id="rId6" Type="http://schemas.openxmlformats.org/officeDocument/2006/relationships/slide" Target="slide5.xml"/><Relationship Id="rId7" Type="http://schemas.openxmlformats.org/officeDocument/2006/relationships/slide" Target="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2.jpg"/><Relationship Id="rId6" Type="http://schemas.openxmlformats.org/officeDocument/2006/relationships/slide" Target="slide6.xml"/><Relationship Id="rId7" Type="http://schemas.openxmlformats.org/officeDocument/2006/relationships/slide" Target="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cs_L15.mp3"/><Relationship Id="rId4" Type="http://schemas.microsoft.com/office/2007/relationships/media" Target="../media/narration_cs_L15.mp3"/><Relationship Id="rId5" Type="http://schemas.openxmlformats.org/officeDocument/2006/relationships/image" Target="../media/audio_icon.png"/><Relationship Id="rId6" Type="http://schemas.openxmlformats.org/officeDocument/2006/relationships/slide" Target="slide7.xml"/><Relationship Id="rId7" Type="http://schemas.openxmlformats.org/officeDocument/2006/relationships/slide" Target="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8.xml"/><Relationship Id="rId4" Type="http://schemas.openxmlformats.org/officeDocument/2006/relationships/slide" Target="slide10.xml"/><Relationship Id="rId5" Type="http://schemas.openxmlformats.org/officeDocument/2006/relationships/audio" Target="../media/narration_cs_09.mp3"/><Relationship Id="rId6" Type="http://schemas.microsoft.com/office/2007/relationships/media" Target="../media/narration_cs_09.mp3"/><Relationship Id="rId7" Type="http://schemas.openxmlformats.org/officeDocument/2006/relationships/image" Target="../media/audio_icon.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9.xml"/><Relationship Id="rId4" Type="http://schemas.openxmlformats.org/officeDocument/2006/relationships/slide" Target="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10.xml"/><Relationship Id="rId4" Type="http://schemas.openxmlformats.org/officeDocument/2006/relationships/slide" Target="slide12.xml"/><Relationship Id="rId5" Type="http://schemas.openxmlformats.org/officeDocument/2006/relationships/audio" Target="../media/narration_cs_11.mp3"/><Relationship Id="rId6" Type="http://schemas.microsoft.com/office/2007/relationships/media" Target="../media/narration_cs_11.mp3"/><Relationship Id="rId7" Type="http://schemas.openxmlformats.org/officeDocument/2006/relationships/image" Target="../media/audio_icon.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11.xml"/><Relationship Id="rId4" Type="http://schemas.openxmlformats.org/officeDocument/2006/relationships/slide" Target="slide13.xml"/><Relationship Id="rId5" Type="http://schemas.openxmlformats.org/officeDocument/2006/relationships/audio" Target="../media/narration_cs_12.mp3"/><Relationship Id="rId6" Type="http://schemas.microsoft.com/office/2007/relationships/media" Target="../media/narration_cs_12.mp3"/><Relationship Id="rId7" Type="http://schemas.openxmlformats.org/officeDocument/2006/relationships/image" Target="../media/audio_icon.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12.xml"/><Relationship Id="rId4" Type="http://schemas.openxmlformats.org/officeDocument/2006/relationships/slide" Target="slide14.xml"/><Relationship Id="rId5" Type="http://schemas.openxmlformats.org/officeDocument/2006/relationships/audio" Target="../media/narration_cs_13.mp3"/><Relationship Id="rId6" Type="http://schemas.microsoft.com/office/2007/relationships/media" Target="../media/narration_cs_13.mp3"/><Relationship Id="rId7" Type="http://schemas.openxmlformats.org/officeDocument/2006/relationships/image" Target="../media/audio_icon.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slide12.mp3"/><Relationship Id="rId4" Type="http://schemas.microsoft.com/office/2007/relationships/media" Target="../media/narration_slide12.mp3"/><Relationship Id="rId5" Type="http://schemas.openxmlformats.org/officeDocument/2006/relationships/image" Target="../media/audio_icon.png"/><Relationship Id="rId6" Type="http://schemas.openxmlformats.org/officeDocument/2006/relationships/slide" Target="slide13.xml"/><Relationship Id="rId7" Type="http://schemas.openxmlformats.org/officeDocument/2006/relationships/slide" Target="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cs_L06.mp3"/><Relationship Id="rId4" Type="http://schemas.microsoft.com/office/2007/relationships/media" Target="../media/narration_cs_L06.mp3"/><Relationship Id="rId5" Type="http://schemas.openxmlformats.org/officeDocument/2006/relationships/image" Target="../media/audio_icon.png"/><Relationship Id="rId6" Type="http://schemas.openxmlformats.org/officeDocument/2006/relationships/slide" Target="slide14.xml"/><Relationship Id="rId7" Type="http://schemas.openxmlformats.org/officeDocument/2006/relationships/slide" Target="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17.xml"/><Relationship Id="rId4" Type="http://schemas.openxmlformats.org/officeDocument/2006/relationships/slide" Target="slide18.xml"/><Relationship Id="rId5" Type="http://schemas.openxmlformats.org/officeDocument/2006/relationships/audio" Target="../media/narration_cs_L09.mp3"/><Relationship Id="rId6" Type="http://schemas.microsoft.com/office/2007/relationships/media" Target="../media/narration_cs_L09.mp3"/><Relationship Id="rId7" Type="http://schemas.openxmlformats.org/officeDocument/2006/relationships/image" Target="../media/audio_icon.png"/><Relationship Id="rId8" Type="http://schemas.openxmlformats.org/officeDocument/2006/relationships/slide" Target="slide15.xml"/><Relationship Id="rId9" Type="http://schemas.openxmlformats.org/officeDocument/2006/relationships/slide" Target="slide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0.xml"/><Relationship Id="rId4" Type="http://schemas.openxmlformats.org/officeDocument/2006/relationships/slide" Target="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0.xml"/><Relationship Id="rId4" Type="http://schemas.openxmlformats.org/officeDocument/2006/relationships/slide" Target="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16.xml"/><Relationship Id="rId4" Type="http://schemas.openxmlformats.org/officeDocument/2006/relationships/slide" Target="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cs_L10.mp3"/><Relationship Id="rId4" Type="http://schemas.microsoft.com/office/2007/relationships/media" Target="../media/narration_cs_L10.mp3"/><Relationship Id="rId5" Type="http://schemas.openxmlformats.org/officeDocument/2006/relationships/image" Target="../media/audio_icon.png"/><Relationship Id="rId6" Type="http://schemas.openxmlformats.org/officeDocument/2006/relationships/slide" Target="slide16.xml"/><Relationship Id="rId7" Type="http://schemas.openxmlformats.org/officeDocument/2006/relationships/slide" Target="slide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2.xml"/><Relationship Id="rId4" Type="http://schemas.openxmlformats.org/officeDocument/2006/relationships/slide" Target="slide23.xml"/><Relationship Id="rId5" Type="http://schemas.openxmlformats.org/officeDocument/2006/relationships/slide" Target="slide20.xml"/><Relationship Id="rId6" Type="http://schemas.openxmlformats.org/officeDocument/2006/relationships/audio" Target="../media/narration_cs_20.mp3"/><Relationship Id="rId7" Type="http://schemas.microsoft.com/office/2007/relationships/media" Target="../media/narration_cs_20.mp3"/><Relationship Id="rId8" Type="http://schemas.openxmlformats.org/officeDocument/2006/relationships/image" Target="../media/audio_icon.png"/><Relationship Id="rId9" Type="http://schemas.openxmlformats.org/officeDocument/2006/relationships/slide" Target="slide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5.xml"/><Relationship Id="rId4" Type="http://schemas.openxmlformats.org/officeDocument/2006/relationships/slide" Target="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5.xml"/><Relationship Id="rId4" Type="http://schemas.openxmlformats.org/officeDocument/2006/relationships/slide" Target="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1.xml"/><Relationship Id="rId4" Type="http://schemas.openxmlformats.org/officeDocument/2006/relationships/slide" Target="slide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1.xml"/><Relationship Id="rId4" Type="http://schemas.openxmlformats.org/officeDocument/2006/relationships/slide" Target="slide26.xml"/><Relationship Id="rId5" Type="http://schemas.openxmlformats.org/officeDocument/2006/relationships/audio" Target="../media/narration_cs_23.mp3"/><Relationship Id="rId6" Type="http://schemas.microsoft.com/office/2007/relationships/media" Target="../media/narration_cs_23.mp3"/><Relationship Id="rId7" Type="http://schemas.openxmlformats.org/officeDocument/2006/relationships/image" Target="../media/audio_icon.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slide22.mp3"/><Relationship Id="rId4" Type="http://schemas.microsoft.com/office/2007/relationships/media" Target="../media/narration_slide22.mp3"/><Relationship Id="rId5" Type="http://schemas.openxmlformats.org/officeDocument/2006/relationships/image" Target="../media/audio_icon.png"/><Relationship Id="rId6" Type="http://schemas.openxmlformats.org/officeDocument/2006/relationships/slide" Target="slide25.xml"/><Relationship Id="rId7" Type="http://schemas.openxmlformats.org/officeDocument/2006/relationships/slide" Target="slide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6.xml"/><Relationship Id="rId4" Type="http://schemas.openxmlformats.org/officeDocument/2006/relationships/slide" Target="slide28.xml"/><Relationship Id="rId5" Type="http://schemas.openxmlformats.org/officeDocument/2006/relationships/audio" Target="../media/narration_cs_25.mp3"/><Relationship Id="rId6" Type="http://schemas.microsoft.com/office/2007/relationships/media" Target="../media/narration_cs_25.mp3"/><Relationship Id="rId7" Type="http://schemas.openxmlformats.org/officeDocument/2006/relationships/image" Target="../media/audio_icon.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0.xml"/><Relationship Id="rId4" Type="http://schemas.openxmlformats.org/officeDocument/2006/relationships/slide" Target="slide29.xml"/><Relationship Id="rId5" Type="http://schemas.openxmlformats.org/officeDocument/2006/relationships/slide" Target="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1.xml"/><Relationship Id="rId4" Type="http://schemas.openxmlformats.org/officeDocument/2006/relationships/slide" Target="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1.xml"/><Relationship Id="rId4" Type="http://schemas.openxmlformats.org/officeDocument/2006/relationships/slide" Target="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2.xml"/><Relationship Id="rId4" Type="http://schemas.openxmlformats.org/officeDocument/2006/relationships/slide" Target="slide33.xml"/><Relationship Id="rId5" Type="http://schemas.openxmlformats.org/officeDocument/2006/relationships/slide" Target="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4.xml"/><Relationship Id="rId4" Type="http://schemas.openxmlformats.org/officeDocument/2006/relationships/slide" Target="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4.xml"/><Relationship Id="rId4" Type="http://schemas.openxmlformats.org/officeDocument/2006/relationships/slide" Target="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cs_L13.mp3"/><Relationship Id="rId4" Type="http://schemas.microsoft.com/office/2007/relationships/media" Target="../media/narration_cs_L13.mp3"/><Relationship Id="rId5" Type="http://schemas.openxmlformats.org/officeDocument/2006/relationships/image" Target="../media/audio_icon.png"/><Relationship Id="rId6" Type="http://schemas.openxmlformats.org/officeDocument/2006/relationships/slide" Target="slide31.xml"/><Relationship Id="rId7" Type="http://schemas.openxmlformats.org/officeDocument/2006/relationships/slide" Target="slide3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slide31.mp3"/><Relationship Id="rId4" Type="http://schemas.microsoft.com/office/2007/relationships/media" Target="../media/narration_slide31.mp3"/><Relationship Id="rId5" Type="http://schemas.openxmlformats.org/officeDocument/2006/relationships/image" Target="../media/audio_icon.png"/><Relationship Id="rId6" Type="http://schemas.openxmlformats.org/officeDocument/2006/relationships/slide" Target="slide3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893064"/>
            <a:ext cx="10698480" cy="1578864"/>
          </a:xfrm>
          <a:prstGeom prst="rect">
            <a:avLst/>
          </a:prstGeom>
          <a:noFill/>
        </p:spPr>
        <p:txBody>
          <a:bodyPr wrap="none">
            <a:spAutoFit/>
          </a:bodyPr>
          <a:lstStyle/>
          <a:p>
            <a:pPr algn="ctr"/>
            <a:r>
              <a:rPr sz="4800" b="1">
                <a:solidFill>
                  <a:srgbClr val="000000"/>
                </a:solidFill>
              </a:rPr>
              <a:t>BUSINESS EMAIL COMPROMISE TRAINING</a:t>
            </a:r>
          </a:p>
        </p:txBody>
      </p:sp>
      <p:sp>
        <p:nvSpPr>
          <p:cNvPr id="5" name="TextBox 4"/>
          <p:cNvSpPr txBox="1"/>
          <p:nvPr/>
        </p:nvSpPr>
        <p:spPr>
          <a:xfrm>
            <a:off x="792327" y="2816352"/>
            <a:ext cx="10607040" cy="649224"/>
          </a:xfrm>
          <a:prstGeom prst="rect">
            <a:avLst/>
          </a:prstGeom>
          <a:noFill/>
        </p:spPr>
        <p:txBody>
          <a:bodyPr wrap="square">
            <a:spAutoFit/>
          </a:bodyPr>
          <a:lstStyle/>
          <a:p>
            <a:pPr algn="ctr"/>
            <a:r>
              <a:rPr sz="3600" i="0" b="1">
                <a:solidFill>
                  <a:srgbClr val="333333"/>
                </a:solidFill>
              </a:rPr>
              <a:t>Customer Service Edition</a:t>
            </a:r>
          </a:p>
        </p:txBody>
      </p:sp>
      <p:sp>
        <p:nvSpPr>
          <p:cNvPr id="6" name="TextBox 5"/>
          <p:cNvSpPr txBox="1"/>
          <p:nvPr/>
        </p:nvSpPr>
        <p:spPr>
          <a:xfrm>
            <a:off x="792327" y="3810000"/>
            <a:ext cx="10607040" cy="649224"/>
          </a:xfrm>
          <a:prstGeom prst="rect">
            <a:avLst/>
          </a:prstGeom>
          <a:noFill/>
        </p:spPr>
        <p:txBody>
          <a:bodyPr wrap="square">
            <a:spAutoFit/>
          </a:bodyPr>
          <a:lstStyle/>
          <a:p>
            <a:pPr algn="ctr"/>
            <a:r>
              <a:rPr sz="3600" i="0" b="1">
                <a:solidFill>
                  <a:srgbClr val="B85C38"/>
                </a:solidFill>
              </a:rPr>
              <a:t>Detect  →  Verify  →  Contain</a:t>
            </a:r>
          </a:p>
        </p:txBody>
      </p:sp>
      <p:sp>
        <p:nvSpPr>
          <p:cNvPr id="7" name="TextBox 6"/>
          <p:cNvSpPr txBox="1"/>
          <p:nvPr/>
        </p:nvSpPr>
        <p:spPr>
          <a:xfrm>
            <a:off x="792327" y="4803648"/>
            <a:ext cx="10607040" cy="1207008"/>
          </a:xfrm>
          <a:prstGeom prst="rect">
            <a:avLst/>
          </a:prstGeom>
          <a:noFill/>
        </p:spPr>
        <p:txBody>
          <a:bodyPr wrap="square">
            <a:spAutoFit/>
          </a:bodyPr>
          <a:lstStyle/>
          <a:p>
            <a:pPr algn="ctr"/>
            <a:r>
              <a:rPr sz="3600" i="1" b="0">
                <a:solidFill>
                  <a:srgbClr val="333333"/>
                </a:solidFill>
              </a:rPr>
              <a:t>Being helpful is the job. It's also the exact lever attackers pull.</a:t>
            </a:r>
          </a:p>
        </p:txBody>
      </p:sp>
      <p:pic>
        <p:nvPicPr>
          <p:cNvPr id="57" name="narration_slide1.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58" name="Kiosk Next">
            <a:hlinkClick r:id="rId6" action="ppaction://hlinksldjump"/>
          </p:cNvPr>
          <p:cNvSpPr/>
          <p:nvPr/>
        </p:nvSpPr>
        <p:spPr>
          <a:xfrm>
            <a:off x="536432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587" fill="hold"/>
                                        <p:tgtEl>
                                          <p:spTgt spid="57"/>
                                        </p:tgtEl>
                                      </p:cBhvr>
                                    </p:cmd>
                                  </p:childTnLst>
                                </p:cTn>
                              </p:par>
                              <p:par>
                                <p:cTn id="20" presetID="26" presetClass="emph" presetSubtype="0" repeatCount="indefinite" fill="hold" grpId="0" nodeType="withEffect">
                                  <p:stCondLst>
                                    <p:cond delay="9587"/>
                                  </p:stCondLst>
                                  <p:childTnLst>
                                    <p:animEffect transition="out" filter="fade">
                                      <p:cBhvr>
                                        <p:cTn id="21" dur="1000" tmFilter="0, 0; .2, .5; .8, .5; 1, 0"/>
                                        <p:tgtEl>
                                          <p:spTgt spid="58"/>
                                        </p:tgtEl>
                                      </p:cBhvr>
                                    </p:animEffect>
                                    <p:animScale>
                                      <p:cBhvr>
                                        <p:cTn id="22" dur="500" autoRev="1" fill="hold"/>
                                        <p:tgtEl>
                                          <p:spTgt spid="58"/>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57"/>
                </p:tgtEl>
              </p:cMediaNode>
            </p:audio>
          </p:childTnLst>
        </p:cTn>
      </p:par>
    </p:tnLst>
    <p:bldLst>
      <p:bldP spid="58"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411480"/>
            <a:ext cx="11247120" cy="789939"/>
          </a:xfrm>
          <a:prstGeom prst="rect">
            <a:avLst/>
          </a:prstGeom>
          <a:noFill/>
        </p:spPr>
        <p:txBody>
          <a:bodyPr wrap="square">
            <a:spAutoFit/>
          </a:bodyPr>
          <a:lstStyle/>
          <a:p>
            <a:pPr algn="ctr"/>
            <a:r>
              <a:rPr sz="4400" b="1">
                <a:solidFill>
                  <a:srgbClr val="000000"/>
                </a:solidFill>
              </a:rPr>
              <a:t>AGENDA</a:t>
            </a:r>
          </a:p>
        </p:txBody>
      </p:sp>
      <p:sp>
        <p:nvSpPr>
          <p:cNvPr id="5" name="TextBox 4"/>
          <p:cNvSpPr txBox="1"/>
          <p:nvPr/>
        </p:nvSpPr>
        <p:spPr>
          <a:xfrm>
            <a:off x="792327" y="1407287"/>
            <a:ext cx="10607040" cy="4359401"/>
          </a:xfrm>
          <a:prstGeom prst="rect">
            <a:avLst/>
          </a:prstGeom>
          <a:noFill/>
        </p:spPr>
        <p:txBody>
          <a:bodyPr wrap="square">
            <a:spAutoFit/>
          </a:bodyPr>
          <a:lstStyle/>
          <a:p>
            <a:pPr marL="397764" indent="-397764">
              <a:spcAft>
                <a:spcPts val="928"/>
              </a:spcAft>
              <a:buFont typeface="Arial"/>
              <a:buChar char="•"/>
              <a:defRPr sz="2300">
                <a:solidFill>
                  <a:srgbClr val="333333"/>
                </a:solidFill>
              </a:defRPr>
            </a:pPr>
            <a:r>
              <a:rPr sz="2200">
                <a:solidFill>
                  <a:srgbClr val="333333"/>
                </a:solidFill>
              </a:rPr>
              <a:t>What BEC, vishing and pretexting are, and why Customer Service faces pressure</a:t>
            </a:r>
          </a:p>
          <a:p>
            <a:pPr marL="397764" indent="-397764">
              <a:spcAft>
                <a:spcPts val="928"/>
              </a:spcAft>
              <a:buFont typeface="Arial"/>
              <a:buChar char="•"/>
              <a:defRPr sz="2300">
                <a:solidFill>
                  <a:srgbClr val="333333"/>
                </a:solidFill>
              </a:defRPr>
            </a:pPr>
            <a:r>
              <a:rPr sz="2200" b="1">
                <a:solidFill>
                  <a:srgbClr val="333333"/>
                </a:solidFill>
              </a:rPr>
              <a:t>Phase 1, Detect</a:t>
            </a:r>
          </a:p>
          <a:p>
            <a:pPr marL="397764" indent="-397764">
              <a:spcAft>
                <a:spcPts val="928"/>
              </a:spcAft>
              <a:buFont typeface="Arial"/>
              <a:buChar char="◦"/>
              <a:defRPr sz="2300">
                <a:solidFill>
                  <a:srgbClr val="333333"/>
                </a:solidFill>
              </a:defRPr>
            </a:pPr>
            <a:r>
              <a:rPr sz="2200">
                <a:solidFill>
                  <a:srgbClr val="333333"/>
                </a:solidFill>
              </a:rPr>
              <a:t>Two email red flags, and the psychology behind them</a:t>
            </a:r>
          </a:p>
          <a:p>
            <a:pPr marL="397764" indent="-397764">
              <a:spcAft>
                <a:spcPts val="928"/>
              </a:spcAft>
              <a:buFont typeface="Arial"/>
              <a:buChar char="◦"/>
              <a:defRPr sz="2300">
                <a:solidFill>
                  <a:srgbClr val="333333"/>
                </a:solidFill>
              </a:defRPr>
            </a:pPr>
            <a:r>
              <a:rPr sz="2200">
                <a:solidFill>
                  <a:srgbClr val="333333"/>
                </a:solidFill>
              </a:rPr>
              <a:t>Phone calls and ClickFix</a:t>
            </a:r>
          </a:p>
          <a:p>
            <a:pPr marL="397764" indent="-397764">
              <a:spcAft>
                <a:spcPts val="928"/>
              </a:spcAft>
              <a:buFont typeface="Arial"/>
              <a:buChar char="•"/>
              <a:defRPr sz="2300">
                <a:solidFill>
                  <a:srgbClr val="333333"/>
                </a:solidFill>
              </a:defRPr>
            </a:pPr>
            <a:r>
              <a:rPr sz="2200" b="1">
                <a:solidFill>
                  <a:srgbClr val="333333"/>
                </a:solidFill>
              </a:rPr>
              <a:t>Phase 2, Verify</a:t>
            </a:r>
          </a:p>
          <a:p>
            <a:pPr marL="397764" indent="-397764">
              <a:spcAft>
                <a:spcPts val="928"/>
              </a:spcAft>
              <a:buFont typeface="Arial"/>
              <a:buChar char="◦"/>
              <a:defRPr sz="2300">
                <a:solidFill>
                  <a:srgbClr val="333333"/>
                </a:solidFill>
              </a:defRPr>
            </a:pPr>
            <a:r>
              <a:rPr sz="2200">
                <a:solidFill>
                  <a:srgbClr val="333333"/>
                </a:solidFill>
              </a:rPr>
              <a:t>Strong authentication</a:t>
            </a:r>
          </a:p>
          <a:p>
            <a:pPr marL="397764" indent="-397764">
              <a:spcAft>
                <a:spcPts val="928"/>
              </a:spcAft>
              <a:buFont typeface="Arial"/>
              <a:buChar char="◦"/>
              <a:defRPr sz="2300">
                <a:solidFill>
                  <a:srgbClr val="333333"/>
                </a:solidFill>
              </a:defRPr>
            </a:pPr>
            <a:r>
              <a:rPr sz="2200">
                <a:solidFill>
                  <a:srgbClr val="333333"/>
                </a:solidFill>
              </a:rPr>
              <a:t>Two scenarios: an AI cloned voice and an AI deepfake video</a:t>
            </a:r>
          </a:p>
          <a:p>
            <a:pPr marL="397764" indent="-397764">
              <a:spcAft>
                <a:spcPts val="928"/>
              </a:spcAft>
              <a:buFont typeface="Arial"/>
              <a:buChar char="•"/>
              <a:defRPr sz="2300">
                <a:solidFill>
                  <a:srgbClr val="333333"/>
                </a:solidFill>
              </a:defRPr>
            </a:pPr>
            <a:r>
              <a:rPr sz="2200" b="1">
                <a:solidFill>
                  <a:srgbClr val="333333"/>
                </a:solidFill>
              </a:rPr>
              <a:t>Phase 3, Contain</a:t>
            </a:r>
          </a:p>
          <a:p>
            <a:pPr marL="397764" indent="-397764">
              <a:spcAft>
                <a:spcPts val="928"/>
              </a:spcAft>
              <a:buFont typeface="Arial"/>
              <a:buChar char="◦"/>
              <a:defRPr sz="2300">
                <a:solidFill>
                  <a:srgbClr val="333333"/>
                </a:solidFill>
              </a:defRPr>
            </a:pPr>
            <a:r>
              <a:rPr sz="2200">
                <a:solidFill>
                  <a:srgbClr val="333333"/>
                </a:solidFill>
              </a:rPr>
              <a:t>What to do if you suspect an attempt, and a knowledge check</a:t>
            </a:r>
          </a:p>
        </p:txBody>
      </p:sp>
      <p:sp>
        <p:nvSpPr>
          <p:cNvPr id="6" name="TextBox 5"/>
          <p:cNvSpPr txBox="1"/>
          <p:nvPr/>
        </p:nvSpPr>
        <p:spPr>
          <a:xfrm>
            <a:off x="10698480" y="6309360"/>
            <a:ext cx="1280160" cy="365760"/>
          </a:xfrm>
          <a:prstGeom prst="rect">
            <a:avLst/>
          </a:prstGeom>
          <a:noFill/>
        </p:spPr>
        <p:txBody>
          <a:bodyPr wrap="none">
            <a:spAutoFit/>
          </a:bodyPr>
          <a:lstStyle/>
          <a:p>
            <a:pPr algn="r"/>
            <a:r>
              <a:rPr sz="1100"/>
              <a:t>2</a:t>
            </a:r>
          </a:p>
        </p:txBody>
      </p:sp>
      <p:sp>
        <p:nvSpPr>
          <p:cNvPr id="8"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9"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pic>
        <p:nvPicPr>
          <p:cNvPr id="10" name="narration_cs_02.mp3">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73152" y="6355080"/>
            <a:ext cx="365760" cy="365760"/>
          </a:xfrm>
          <a:prstGeom prst="rect">
            <a:avLst/>
          </a:prstGeom>
        </p:spPr>
      </p:pic>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3149" fill="hold"/>
                                        <p:tgtEl>
                                          <p:spTgt spid="10"/>
                                        </p:tgtEl>
                                      </p:cBhvr>
                                    </p:cmd>
                                  </p:childTnLst>
                                </p:cTn>
                              </p:par>
                              <p:par>
                                <p:cTn id="20" presetID="26" presetClass="emph" presetSubtype="0" repeatCount="indefinite" fill="hold" grpId="0" nodeType="withEffect">
                                  <p:stCondLst>
                                    <p:cond delay="33149"/>
                                  </p:stCondLst>
                                  <p:childTnLst>
                                    <p:animEffect transition="out" filter="fade">
                                      <p:cBhvr>
                                        <p:cTn id="21" dur="1000" tmFilter="0, 0; .2, .5; .8, .5; 1, 0"/>
                                        <p:tgtEl>
                                          <p:spTgt spid="9"/>
                                        </p:tgtEl>
                                      </p:cBhvr>
                                    </p:animEffect>
                                    <p:animScale>
                                      <p:cBhvr>
                                        <p:cTn id="22" dur="500" autoRev="1" fill="hold"/>
                                        <p:tgtEl>
                                          <p:spTgt spid="9"/>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0"/>
                </p:tgtEl>
              </p:cMediaNode>
            </p:audio>
          </p:childTnLst>
        </p:cTn>
      </p:par>
    </p:tnLst>
    <p:bldLst>
      <p:bldP spid="9"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411480"/>
            <a:ext cx="11247120" cy="789939"/>
          </a:xfrm>
          <a:prstGeom prst="rect">
            <a:avLst/>
          </a:prstGeom>
          <a:noFill/>
        </p:spPr>
        <p:txBody>
          <a:bodyPr wrap="square">
            <a:spAutoFit/>
          </a:bodyPr>
          <a:lstStyle/>
          <a:p>
            <a:pPr algn="ctr"/>
            <a:r>
              <a:rPr sz="4400" b="1">
                <a:solidFill>
                  <a:srgbClr val="000000"/>
                </a:solidFill>
              </a:rPr>
              <a:t>WHAT IS BUSINESS EMAIL COMPROMISE?</a:t>
            </a:r>
          </a:p>
        </p:txBody>
      </p:sp>
      <p:sp>
        <p:nvSpPr>
          <p:cNvPr id="5" name="TextBox 4"/>
          <p:cNvSpPr txBox="1"/>
          <p:nvPr/>
        </p:nvSpPr>
        <p:spPr>
          <a:xfrm>
            <a:off x="792327" y="1440933"/>
            <a:ext cx="10607040" cy="1873249"/>
          </a:xfrm>
          <a:prstGeom prst="rect">
            <a:avLst/>
          </a:prstGeom>
          <a:noFill/>
        </p:spPr>
        <p:txBody>
          <a:bodyPr wrap="square">
            <a:spAutoFit/>
          </a:bodyPr>
          <a:lstStyle/>
          <a:p>
            <a:pPr algn="l"/>
            <a:r>
              <a:rPr sz="2200" i="0" b="0">
                <a:solidFill>
                  <a:srgbClr val="333333"/>
                </a:solidFill>
              </a:rPr>
              <a:t>BEC is a scam in which a criminal impersonates someone you trust, or breaks into their real email account, to redirect money or information. On the phone you will meet its close relatives: vishing (voice phishing) and pretexting (a made-up story used to get information or access). The pattern is the same: someone you trust, a believable reason, and pressure to skip a step.</a:t>
            </a:r>
          </a:p>
        </p:txBody>
      </p:sp>
      <p:sp>
        <p:nvSpPr>
          <p:cNvPr id="6" name="Rounded Rectangle 6"/>
          <p:cNvSpPr/>
          <p:nvPr/>
        </p:nvSpPr>
        <p:spPr>
          <a:xfrm>
            <a:off x="929487" y="3433299"/>
            <a:ext cx="10332720" cy="2190016"/>
          </a:xfrm>
          <a:prstGeom prst="round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274320" tIns="228600"/>
          <a:lstStyle/>
          <a:p>
            <a:pPr algn="ctr">
              <a:defRPr sz="2300" b="1">
                <a:solidFill>
                  <a:srgbClr val="000000"/>
                </a:solidFill>
              </a:defRPr>
            </a:pPr>
            <a:r>
              <a:rPr sz="2200" b="1">
                <a:solidFill>
                  <a:srgbClr val="000000"/>
                </a:solidFill>
              </a:rPr>
              <a:t>INCOMING CALL</a:t>
            </a:r>
          </a:p>
          <a:p>
            <a:pPr>
              <a:defRPr sz="2300" b="0">
                <a:solidFill>
                  <a:srgbClr val="000000"/>
                </a:solidFill>
              </a:defRPr>
            </a:pPr>
          </a:p>
          <a:p>
            <a:pPr algn="l">
              <a:defRPr sz="2300" b="0">
                <a:solidFill>
                  <a:srgbClr val="000000"/>
                </a:solidFill>
              </a:defRPr>
            </a:pPr>
            <a:r>
              <a:rPr sz="2200" b="0">
                <a:solidFill>
                  <a:srgbClr val="000000"/>
                </a:solidFill>
              </a:rPr>
              <a:t>“Hi, I'm locked out of my online account and I'm travelling. Can you change the email address on file to this new one? I need it done in the next few minutes.”</a:t>
            </a:r>
          </a:p>
        </p:txBody>
      </p:sp>
      <p:sp>
        <p:nvSpPr>
          <p:cNvPr id="7" name="TextBox 5"/>
          <p:cNvSpPr txBox="1"/>
          <p:nvPr/>
        </p:nvSpPr>
        <p:spPr>
          <a:xfrm>
            <a:off x="10698480" y="6309360"/>
            <a:ext cx="1280160" cy="365760"/>
          </a:xfrm>
          <a:prstGeom prst="rect">
            <a:avLst/>
          </a:prstGeom>
          <a:noFill/>
        </p:spPr>
        <p:txBody>
          <a:bodyPr wrap="none">
            <a:spAutoFit/>
          </a:bodyPr>
          <a:lstStyle/>
          <a:p>
            <a:pPr algn="r"/>
            <a:r>
              <a:rPr sz="1100"/>
              <a:t>3</a:t>
            </a:r>
          </a:p>
        </p:txBody>
      </p:sp>
      <p:pic>
        <p:nvPicPr>
          <p:cNvPr id="102" name="narration_cs_L02.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103" name="Citation"/>
          <p:cNvSpPr txBox="1"/>
          <p:nvPr/>
        </p:nvSpPr>
        <p:spPr>
          <a:xfrm>
            <a:off x="457200" y="5870448"/>
            <a:ext cx="11247120" cy="432308"/>
          </a:xfrm>
          <a:prstGeom prst="rect">
            <a:avLst/>
          </a:prstGeom>
          <a:noFill/>
        </p:spPr>
        <p:txBody>
          <a:bodyPr wrap="square">
            <a:spAutoFit/>
          </a:bodyPr>
          <a:lstStyle/>
          <a:p>
            <a:pPr algn="l"/>
            <a:r>
              <a:rPr lang="en-US" sz="1800" i="1">
                <a:solidFill>
                  <a:srgbClr val="666666"/>
                </a:solidFill>
              </a:rPr>
              <a:t>Sources: FBI IC3 PSA I-091124, I-061118; IC3 2025 Annual Report</a:t>
            </a:r>
          </a:p>
        </p:txBody>
      </p:sp>
      <p:sp>
        <p:nvSpPr>
          <p:cNvPr id="104"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05"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5265" fill="hold"/>
                                        <p:tgtEl>
                                          <p:spTgt spid="102"/>
                                        </p:tgtEl>
                                      </p:cBhvr>
                                    </p:cmd>
                                  </p:childTnLst>
                                </p:cTn>
                              </p:par>
                              <p:par>
                                <p:cTn id="20" presetID="26" presetClass="emph" presetSubtype="0" repeatCount="indefinite" fill="hold" grpId="0" nodeType="withEffect">
                                  <p:stCondLst>
                                    <p:cond delay="35265"/>
                                  </p:stCondLst>
                                  <p:childTnLst>
                                    <p:animEffect transition="out" filter="fade">
                                      <p:cBhvr>
                                        <p:cTn id="21" dur="1000" tmFilter="0, 0; .2, .5; .8, .5; 1, 0"/>
                                        <p:tgtEl>
                                          <p:spTgt spid="105"/>
                                        </p:tgtEl>
                                      </p:cBhvr>
                                    </p:animEffect>
                                    <p:animScale>
                                      <p:cBhvr>
                                        <p:cTn id="22" dur="500" autoRev="1" fill="hold"/>
                                        <p:tgtEl>
                                          <p:spTgt spid="105"/>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02"/>
                </p:tgtEl>
              </p:cMediaNode>
            </p:audio>
          </p:childTnLst>
        </p:cTn>
      </p:par>
    </p:tnLst>
    <p:bldLst>
      <p:bldP spid="105"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411480"/>
            <a:ext cx="11247120" cy="789939"/>
          </a:xfrm>
          <a:prstGeom prst="rect">
            <a:avLst/>
          </a:prstGeom>
          <a:noFill/>
        </p:spPr>
        <p:txBody>
          <a:bodyPr wrap="square">
            <a:spAutoFit/>
          </a:bodyPr>
          <a:lstStyle/>
          <a:p>
            <a:pPr algn="ctr"/>
            <a:r>
              <a:rPr sz="4400" b="1">
                <a:solidFill>
                  <a:srgbClr val="000000"/>
                </a:solidFill>
              </a:rPr>
              <a:t>HOW A BEC ATTACK ACTUALLY FLOWS</a:t>
            </a:r>
          </a:p>
        </p:txBody>
      </p:sp>
      <p:sp>
        <p:nvSpPr>
          <p:cNvPr id="5" name="Rounded Rectangle 4"/>
          <p:cNvSpPr/>
          <p:nvPr/>
        </p:nvSpPr>
        <p:spPr>
          <a:xfrm>
            <a:off x="548641" y="1827267"/>
            <a:ext cx="2464993" cy="3519442"/>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FFFFFF"/>
                </a:solidFill>
              </a:rPr>
              <a:t>1. RESEARCH</a:t>
            </a:r>
          </a:p>
          <a:p>
            <a:pPr algn="ctr"/>
            <a:r>
              <a:rPr sz="2800">
                <a:solidFill>
                  <a:srgbClr val="FFFFFF"/>
                </a:solidFill>
              </a:rPr>
              <a:t>The attacker studies your customers, your scripts, and what to say</a:t>
            </a:r>
          </a:p>
        </p:txBody>
      </p:sp>
      <p:sp>
        <p:nvSpPr>
          <p:cNvPr id="6" name="TextBox 5"/>
          <p:cNvSpPr txBox="1"/>
          <p:nvPr/>
        </p:nvSpPr>
        <p:spPr>
          <a:xfrm>
            <a:off x="3013634" y="3312668"/>
            <a:ext cx="411480" cy="548640"/>
          </a:xfrm>
          <a:prstGeom prst="rect">
            <a:avLst/>
          </a:prstGeom>
          <a:noFill/>
        </p:spPr>
        <p:txBody>
          <a:bodyPr wrap="none" anchor="ctr">
            <a:spAutoFit/>
          </a:bodyPr>
          <a:lstStyle/>
          <a:p>
            <a:pPr algn="ctr"/>
            <a:r>
              <a:rPr sz="2000" b="1">
                <a:solidFill>
                  <a:srgbClr val="B85C38"/>
                </a:solidFill>
              </a:rPr>
              <a:t>→</a:t>
            </a:r>
          </a:p>
        </p:txBody>
      </p:sp>
      <p:sp>
        <p:nvSpPr>
          <p:cNvPr id="7" name="Rounded Rectangle 4"/>
          <p:cNvSpPr/>
          <p:nvPr/>
        </p:nvSpPr>
        <p:spPr>
          <a:xfrm>
            <a:off x="3425114" y="1827267"/>
            <a:ext cx="2464993" cy="3519442"/>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FFFFFF"/>
                </a:solidFill>
              </a:rPr>
              <a:t>2. SPOOF</a:t>
            </a:r>
          </a:p>
          <a:p>
            <a:pPr algn="ctr"/>
            <a:r>
              <a:rPr sz="2800">
                <a:solidFill>
                  <a:srgbClr val="FFFFFF"/>
                </a:solidFill>
              </a:rPr>
              <a:t>A confident caller, a cloned voice, or a made-up regulator</a:t>
            </a:r>
          </a:p>
        </p:txBody>
      </p:sp>
      <p:sp>
        <p:nvSpPr>
          <p:cNvPr id="8" name="TextBox 6"/>
          <p:cNvSpPr txBox="1"/>
          <p:nvPr/>
        </p:nvSpPr>
        <p:spPr>
          <a:xfrm>
            <a:off x="5890107" y="3312668"/>
            <a:ext cx="411480" cy="548640"/>
          </a:xfrm>
          <a:prstGeom prst="rect">
            <a:avLst/>
          </a:prstGeom>
          <a:noFill/>
        </p:spPr>
        <p:txBody>
          <a:bodyPr wrap="none" anchor="ctr">
            <a:spAutoFit/>
          </a:bodyPr>
          <a:lstStyle/>
          <a:p>
            <a:pPr algn="ctr"/>
            <a:r>
              <a:rPr sz="2000" b="1">
                <a:solidFill>
                  <a:srgbClr val="B85C38"/>
                </a:solidFill>
              </a:rPr>
              <a:t>→</a:t>
            </a:r>
          </a:p>
        </p:txBody>
      </p:sp>
      <p:sp>
        <p:nvSpPr>
          <p:cNvPr id="9" name="Rounded Rectangle 4"/>
          <p:cNvSpPr/>
          <p:nvPr/>
        </p:nvSpPr>
        <p:spPr>
          <a:xfrm>
            <a:off x="6301587" y="1827267"/>
            <a:ext cx="2464993" cy="3519442"/>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FFFFFF"/>
                </a:solidFill>
              </a:rPr>
              <a:t>3. URGENCY</a:t>
            </a:r>
          </a:p>
          <a:p>
            <a:pPr algn="ctr"/>
            <a:r>
              <a:rPr sz="2800">
                <a:solidFill>
                  <a:srgbClr val="FFFFFF"/>
                </a:solidFill>
              </a:rPr>
              <a:t>Pressure to skip authentication: “I'm in a hurry”</a:t>
            </a:r>
          </a:p>
        </p:txBody>
      </p:sp>
      <p:sp>
        <p:nvSpPr>
          <p:cNvPr id="10" name="TextBox 7"/>
          <p:cNvSpPr txBox="1"/>
          <p:nvPr/>
        </p:nvSpPr>
        <p:spPr>
          <a:xfrm>
            <a:off x="8766580" y="3312668"/>
            <a:ext cx="411480" cy="548640"/>
          </a:xfrm>
          <a:prstGeom prst="rect">
            <a:avLst/>
          </a:prstGeom>
          <a:noFill/>
        </p:spPr>
        <p:txBody>
          <a:bodyPr wrap="none" anchor="ctr">
            <a:spAutoFit/>
          </a:bodyPr>
          <a:lstStyle/>
          <a:p>
            <a:pPr algn="ctr"/>
            <a:r>
              <a:rPr sz="2000" b="1">
                <a:solidFill>
                  <a:srgbClr val="B85C38"/>
                </a:solidFill>
              </a:rPr>
              <a:t>→</a:t>
            </a:r>
          </a:p>
        </p:txBody>
      </p:sp>
      <p:sp>
        <p:nvSpPr>
          <p:cNvPr id="11" name="Rounded Rectangle 4"/>
          <p:cNvSpPr/>
          <p:nvPr/>
        </p:nvSpPr>
        <p:spPr>
          <a:xfrm>
            <a:off x="9178060" y="1827267"/>
            <a:ext cx="2464993" cy="3519442"/>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FFFFFF"/>
                </a:solidFill>
              </a:rPr>
              <a:t>4. REDIRECT</a:t>
            </a:r>
          </a:p>
          <a:p>
            <a:pPr algn="ctr"/>
            <a:r>
              <a:rPr sz="2800">
                <a:solidFill>
                  <a:srgbClr val="FFFFFF"/>
                </a:solidFill>
              </a:rPr>
              <a:t>The account change or customer data goes to the attacker</a:t>
            </a:r>
          </a:p>
        </p:txBody>
      </p:sp>
      <p:sp>
        <p:nvSpPr>
          <p:cNvPr id="12" name="TextBox 5"/>
          <p:cNvSpPr txBox="1"/>
          <p:nvPr/>
        </p:nvSpPr>
        <p:spPr>
          <a:xfrm>
            <a:off x="10698480" y="6309360"/>
            <a:ext cx="1280160" cy="365760"/>
          </a:xfrm>
          <a:prstGeom prst="rect">
            <a:avLst/>
          </a:prstGeom>
          <a:noFill/>
        </p:spPr>
        <p:txBody>
          <a:bodyPr wrap="none">
            <a:spAutoFit/>
          </a:bodyPr>
          <a:lstStyle/>
          <a:p>
            <a:pPr algn="r"/>
            <a:r>
              <a:rPr sz="1100"/>
              <a:t>4</a:t>
            </a:r>
          </a:p>
        </p:txBody>
      </p:sp>
      <p:pic>
        <p:nvPicPr>
          <p:cNvPr id="62" name="narration_slide33.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63"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64"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1346" fill="hold"/>
                                        <p:tgtEl>
                                          <p:spTgt spid="62"/>
                                        </p:tgtEl>
                                      </p:cBhvr>
                                    </p:cmd>
                                  </p:childTnLst>
                                </p:cTn>
                              </p:par>
                              <p:par>
                                <p:cTn id="20" presetID="26" presetClass="emph" presetSubtype="0" repeatCount="indefinite" fill="hold" grpId="0" nodeType="withEffect">
                                  <p:stCondLst>
                                    <p:cond delay="31346"/>
                                  </p:stCondLst>
                                  <p:childTnLst>
                                    <p:animEffect transition="out" filter="fade">
                                      <p:cBhvr>
                                        <p:cTn id="21" dur="1000" tmFilter="0, 0; .2, .5; .8, .5; 1, 0"/>
                                        <p:tgtEl>
                                          <p:spTgt spid="64"/>
                                        </p:tgtEl>
                                      </p:cBhvr>
                                    </p:animEffect>
                                    <p:animScale>
                                      <p:cBhvr>
                                        <p:cTn id="22" dur="500" autoRev="1" fill="hold"/>
                                        <p:tgtEl>
                                          <p:spTgt spid="64"/>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62"/>
                </p:tgtEl>
              </p:cMediaNode>
            </p:audio>
          </p:childTnLst>
        </p:cTn>
      </p:par>
    </p:tnLst>
    <p:bldLst>
      <p:bldP spid="64"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411480"/>
            <a:ext cx="11247120" cy="789939"/>
          </a:xfrm>
          <a:prstGeom prst="rect">
            <a:avLst/>
          </a:prstGeom>
          <a:noFill/>
        </p:spPr>
        <p:txBody>
          <a:bodyPr wrap="square">
            <a:spAutoFit/>
          </a:bodyPr>
          <a:lstStyle/>
          <a:p>
            <a:pPr algn="ctr"/>
            <a:r>
              <a:rPr sz="4400" b="1">
                <a:solidFill>
                  <a:srgbClr val="000000"/>
                </a:solidFill>
              </a:rPr>
              <a:t>AUTHENTICATION IS YOUR MAIN DEFENCE</a:t>
            </a:r>
          </a:p>
        </p:txBody>
      </p:sp>
      <p:sp>
        <p:nvSpPr>
          <p:cNvPr id="5" name="TextBox 4"/>
          <p:cNvSpPr txBox="1"/>
          <p:nvPr/>
        </p:nvSpPr>
        <p:spPr>
          <a:xfrm>
            <a:off x="792327" y="1385151"/>
            <a:ext cx="10607040" cy="1578864"/>
          </a:xfrm>
          <a:prstGeom prst="rect">
            <a:avLst/>
          </a:prstGeom>
          <a:noFill/>
        </p:spPr>
        <p:txBody>
          <a:bodyPr wrap="square">
            <a:spAutoFit/>
          </a:bodyPr>
          <a:lstStyle/>
          <a:p>
            <a:pPr algn="ctr"/>
            <a:r>
              <a:rPr sz="3200" i="0" b="0">
                <a:solidFill>
                  <a:srgbClr val="333333"/>
                </a:solidFill>
              </a:rPr>
              <a:t>You don't have a face to check or a signature to compare, just a voice on the phone. Authentication isn't a formality here, and it has to be stronger than a few personal questions.</a:t>
            </a:r>
          </a:p>
        </p:txBody>
      </p:sp>
      <p:sp>
        <p:nvSpPr>
          <p:cNvPr id="6" name="TextBox 5"/>
          <p:cNvSpPr txBox="1"/>
          <p:nvPr/>
        </p:nvSpPr>
        <p:spPr>
          <a:xfrm>
            <a:off x="10698480" y="6309360"/>
            <a:ext cx="1280160" cy="365760"/>
          </a:xfrm>
          <a:prstGeom prst="rect">
            <a:avLst/>
          </a:prstGeom>
          <a:noFill/>
        </p:spPr>
        <p:txBody>
          <a:bodyPr wrap="none">
            <a:spAutoFit/>
          </a:bodyPr>
          <a:lstStyle/>
          <a:p>
            <a:pPr algn="r"/>
            <a:r>
              <a:rPr sz="1100"/>
              <a:t>5</a:t>
            </a:r>
          </a:p>
        </p:txBody>
      </p:sp>
      <p:sp>
        <p:nvSpPr>
          <p:cNvPr id="7" name="Rounded Rectangle 4"/>
          <p:cNvSpPr/>
          <p:nvPr/>
        </p:nvSpPr>
        <p:spPr>
          <a:xfrm>
            <a:off x="548640" y="3027350"/>
            <a:ext cx="3484778" cy="2651747"/>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FFFFFF"/>
                </a:solidFill>
              </a:rPr>
              <a:t>United States</a:t>
            </a:r>
          </a:p>
          <a:p>
            <a:pPr algn="ctr"/>
            <a:r>
              <a:rPr sz="2600">
                <a:solidFill>
                  <a:srgbClr val="FFFFFF"/>
                </a:solidFill>
              </a:rPr>
              <a:t>USD 3.05 billion in BEC losses reported to the FBI in 2025, from 24,768 complaints</a:t>
            </a:r>
          </a:p>
        </p:txBody>
      </p:sp>
      <p:sp>
        <p:nvSpPr>
          <p:cNvPr id="8" name="Rounded Rectangle 5"/>
          <p:cNvSpPr/>
          <p:nvPr/>
        </p:nvSpPr>
        <p:spPr>
          <a:xfrm>
            <a:off x="4353458" y="3027350"/>
            <a:ext cx="3484778" cy="2651747"/>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FFFFFF"/>
                </a:solidFill>
              </a:rPr>
              <a:t>Australia</a:t>
            </a:r>
          </a:p>
          <a:p>
            <a:pPr algn="ctr"/>
            <a:r>
              <a:rPr sz="2600">
                <a:solidFill>
                  <a:srgbClr val="FFFFFF"/>
                </a:solidFill>
              </a:rPr>
              <a:t>15% of business cybercrime reports in 2024–25 were BEC fraud with a financial loss</a:t>
            </a:r>
          </a:p>
        </p:txBody>
      </p:sp>
      <p:sp>
        <p:nvSpPr>
          <p:cNvPr id="9" name="Rounded Rectangle 6"/>
          <p:cNvSpPr/>
          <p:nvPr/>
        </p:nvSpPr>
        <p:spPr>
          <a:xfrm>
            <a:off x="8158276" y="3027350"/>
            <a:ext cx="3484778" cy="2651747"/>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FFFFFF"/>
                </a:solidFill>
              </a:rPr>
              <a:t>Worldwide</a:t>
            </a:r>
          </a:p>
          <a:p>
            <a:pPr algn="ctr"/>
            <a:r>
              <a:rPr sz="2600">
                <a:solidFill>
                  <a:srgbClr val="FFFFFF"/>
                </a:solidFill>
              </a:rPr>
              <a:t>USD 55.5 billion in exposed losses, 2013 to 2023, reported in 186 countries (FBI)</a:t>
            </a:r>
          </a:p>
        </p:txBody>
      </p:sp>
      <p:sp>
        <p:nvSpPr>
          <p:cNvPr id="12" name="Citation"/>
          <p:cNvSpPr txBox="1"/>
          <p:nvPr/>
        </p:nvSpPr>
        <p:spPr>
          <a:xfrm>
            <a:off x="457200" y="5870448"/>
            <a:ext cx="11247120" cy="432308"/>
          </a:xfrm>
          <a:prstGeom prst="rect">
            <a:avLst/>
          </a:prstGeom>
          <a:noFill/>
        </p:spPr>
        <p:txBody>
          <a:bodyPr wrap="square">
            <a:spAutoFit/>
          </a:bodyPr>
          <a:lstStyle/>
          <a:p>
            <a:pPr algn="l"/>
            <a:r>
              <a:rPr lang="en-US" sz="1600" i="1">
                <a:solidFill>
                  <a:srgbClr val="666666"/>
                </a:solidFill>
              </a:rPr>
              <a:t>Sources: FBI IC3 2025 Annual Report; FBI IC3 PSA I-091124-PSA; Australian Signals Directorate Cyber Threat Report 2024–25</a:t>
            </a:r>
          </a:p>
        </p:txBody>
      </p:sp>
      <p:sp>
        <p:nvSpPr>
          <p:cNvPr id="13"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4"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pic>
        <p:nvPicPr>
          <p:cNvPr id="15" name="narration_v15_cs_05.mp3">
            <a:hlinkClick r:id="" action="ppaction://media"/>
          </p:cNvPr>
          <p:cNvPicPr>
            <a:picLocks noChangeAspect="1"/>
          </p:cNvPicPr>
          <p:nvPr>
            <a:audioFile r:link="rId5"/>
            <p:extLst>
              <p:ext uri="{DAA4B4D4-6D71-4841-9C94-3DE7FCFB9230}">
                <p14:media xmlns:p14="http://schemas.microsoft.com/office/powerpoint/2010/main" r:embed="rId4"/>
              </p:ext>
            </p:extLst>
          </p:nvPr>
        </p:nvPicPr>
        <p:blipFill>
          <a:blip r:embed="rId10"/>
          <a:stretch>
            <a:fillRect/>
          </a:stretch>
        </p:blipFill>
        <p:spPr>
          <a:xfrm>
            <a:off x="73152" y="6355080"/>
            <a:ext cx="365760" cy="365760"/>
          </a:xfrm>
          <a:prstGeom prst="rect">
            <a:avLst/>
          </a:prstGeom>
        </p:spPr>
      </p:pic>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4047" fill="hold"/>
                                        <p:tgtEl>
                                          <p:spTgt spid="15"/>
                                        </p:tgtEl>
                                      </p:cBhvr>
                                    </p:cmd>
                                  </p:childTnLst>
                                </p:cTn>
                              </p:par>
                              <p:par>
                                <p:cTn id="20" presetID="26" presetClass="emph" presetSubtype="0" repeatCount="indefinite" fill="hold" grpId="0" nodeType="withEffect">
                                  <p:stCondLst>
                                    <p:cond delay="54047"/>
                                  </p:stCondLst>
                                  <p:childTnLst>
                                    <p:animEffect transition="out" filter="fade">
                                      <p:cBhvr>
                                        <p:cTn id="21" dur="1000" tmFilter="0, 0; .2, .5; .8, .5; 1, 0"/>
                                        <p:tgtEl>
                                          <p:spTgt spid="14"/>
                                        </p:tgtEl>
                                      </p:cBhvr>
                                    </p:animEffect>
                                    <p:animScale>
                                      <p:cBhvr>
                                        <p:cTn id="22" dur="500" autoRev="1" fill="hold"/>
                                        <p:tgtEl>
                                          <p:spTgt spid="14"/>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5"/>
                </p:tgtEl>
              </p:cMediaNode>
            </p:audio>
          </p:childTnLst>
        </p:cTn>
      </p:par>
    </p:tnLst>
    <p:bldLst>
      <p:bldP spid="14"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92327" y="1789176"/>
            <a:ext cx="10607040" cy="649224"/>
          </a:xfrm>
          <a:prstGeom prst="rect">
            <a:avLst/>
          </a:prstGeom>
          <a:noFill/>
        </p:spPr>
        <p:txBody>
          <a:bodyPr wrap="square">
            <a:spAutoFit/>
          </a:bodyPr>
          <a:lstStyle/>
          <a:p>
            <a:pPr algn="ctr"/>
            <a:r>
              <a:rPr sz="3600" i="0" b="1">
                <a:solidFill>
                  <a:srgbClr val="B85C38"/>
                </a:solidFill>
              </a:rPr>
              <a:t>PHASE 1</a:t>
            </a:r>
          </a:p>
        </p:txBody>
      </p:sp>
      <p:sp>
        <p:nvSpPr>
          <p:cNvPr id="5" name="TextBox 4"/>
          <p:cNvSpPr txBox="1"/>
          <p:nvPr/>
        </p:nvSpPr>
        <p:spPr>
          <a:xfrm>
            <a:off x="731520" y="2941320"/>
            <a:ext cx="10698480" cy="1021080"/>
          </a:xfrm>
          <a:prstGeom prst="rect">
            <a:avLst/>
          </a:prstGeom>
          <a:noFill/>
        </p:spPr>
        <p:txBody>
          <a:bodyPr wrap="none">
            <a:spAutoFit/>
          </a:bodyPr>
          <a:lstStyle/>
          <a:p>
            <a:pPr algn="ctr"/>
            <a:r>
              <a:rPr sz="6000" b="1">
                <a:solidFill>
                  <a:srgbClr val="000000"/>
                </a:solidFill>
              </a:rPr>
              <a:t>DETECT</a:t>
            </a:r>
          </a:p>
        </p:txBody>
      </p:sp>
      <p:sp>
        <p:nvSpPr>
          <p:cNvPr id="6" name="TextBox 5"/>
          <p:cNvSpPr txBox="1"/>
          <p:nvPr/>
        </p:nvSpPr>
        <p:spPr>
          <a:xfrm>
            <a:off x="792327" y="4465320"/>
            <a:ext cx="10607040" cy="649224"/>
          </a:xfrm>
          <a:prstGeom prst="rect">
            <a:avLst/>
          </a:prstGeom>
          <a:noFill/>
        </p:spPr>
        <p:txBody>
          <a:bodyPr wrap="square">
            <a:spAutoFit/>
          </a:bodyPr>
          <a:lstStyle/>
          <a:p>
            <a:pPr algn="ctr"/>
            <a:r>
              <a:rPr sz="3600" i="1" b="0">
                <a:solidFill>
                  <a:srgbClr val="333333"/>
                </a:solidFill>
              </a:rPr>
              <a:t>Can you spot it before it costs anything?</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6</a:t>
            </a:r>
          </a:p>
        </p:txBody>
      </p:sp>
      <p:pic>
        <p:nvPicPr>
          <p:cNvPr id="8" name="narration_cs_L14.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9"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0"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1028" fill="hold"/>
                                        <p:tgtEl>
                                          <p:spTgt spid="8"/>
                                        </p:tgtEl>
                                      </p:cBhvr>
                                    </p:cmd>
                                  </p:childTnLst>
                                </p:cTn>
                              </p:par>
                              <p:par>
                                <p:cTn id="20" presetID="26" presetClass="emph" presetSubtype="0" repeatCount="indefinite" fill="hold" grpId="0" nodeType="withEffect">
                                  <p:stCondLst>
                                    <p:cond delay="21028"/>
                                  </p:stCondLst>
                                  <p:childTnLst>
                                    <p:animEffect transition="out" filter="fade">
                                      <p:cBhvr>
                                        <p:cTn id="21" dur="1000" tmFilter="0, 0; .2, .5; .8, .5; 1, 0"/>
                                        <p:tgtEl>
                                          <p:spTgt spid="10"/>
                                        </p:tgtEl>
                                      </p:cBhvr>
                                    </p:animEffect>
                                    <p:animScale>
                                      <p:cBhvr>
                                        <p:cTn id="22" dur="500" autoRev="1" fill="hold"/>
                                        <p:tgtEl>
                                          <p:spTgt spid="10"/>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8"/>
                </p:tgtEl>
              </p:cMediaNode>
            </p:audio>
          </p:childTnLst>
        </p:cTn>
      </p:par>
    </p:tnLst>
    <p:bldLst>
      <p:bldP spid="10"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1695" cy="6858000"/>
          </a:xfrm>
          <a:prstGeom prst="rect">
            <a:avLst/>
          </a:prstGeom>
        </p:spPr>
      </p:pic>
      <p:sp>
        <p:nvSpPr>
          <p:cNvPr id="5" name="TextBox 4"/>
          <p:cNvSpPr txBox="1"/>
          <p:nvPr/>
        </p:nvSpPr>
        <p:spPr>
          <a:xfrm>
            <a:off x="457200" y="320040"/>
            <a:ext cx="11247120" cy="777240"/>
          </a:xfrm>
          <a:prstGeom prst="rect">
            <a:avLst/>
          </a:prstGeom>
          <a:noFill/>
        </p:spPr>
        <p:txBody>
          <a:bodyPr wrap="square">
            <a:spAutoFit/>
          </a:bodyPr>
          <a:lstStyle/>
          <a:p>
            <a:pPr algn="ctr"/>
            <a:r>
              <a:rPr sz="4400" b="1">
                <a:solidFill>
                  <a:srgbClr val="000000"/>
                </a:solidFill>
              </a:rPr>
              <a:t>SCENARIO: THE PAYOUT REDIRECT</a:t>
            </a:r>
          </a:p>
        </p:txBody>
      </p:sp>
      <p:sp>
        <p:nvSpPr>
          <p:cNvPr id="6" name="TextBox 5"/>
          <p:cNvSpPr txBox="1"/>
          <p:nvPr/>
        </p:nvSpPr>
        <p:spPr>
          <a:xfrm>
            <a:off x="792327" y="1298448"/>
            <a:ext cx="10607040" cy="923544"/>
          </a:xfrm>
          <a:prstGeom prst="rect">
            <a:avLst/>
          </a:prstGeom>
          <a:noFill/>
        </p:spPr>
        <p:txBody>
          <a:bodyPr wrap="square">
            <a:spAutoFit/>
          </a:bodyPr>
          <a:lstStyle/>
          <a:p>
            <a:pPr algn="ctr"/>
            <a:r>
              <a:rPr sz="2700" i="1" b="0">
                <a:solidFill>
                  <a:srgbClr val="333333"/>
                </a:solidFill>
              </a:rPr>
              <a:t>Email account takeover: a customer's email asks to redirect a withdrawal.</a:t>
            </a:r>
          </a:p>
        </p:txBody>
      </p:sp>
      <p:pic>
        <p:nvPicPr>
          <p:cNvPr id="7" name="Video_Project_18.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2940212" y="2238248"/>
            <a:ext cx="6317672" cy="3474720"/>
          </a:xfrm>
          <a:prstGeom prst="rect">
            <a:avLst/>
          </a:prstGeom>
        </p:spPr>
      </p:pic>
      <p:sp>
        <p:nvSpPr>
          <p:cNvPr id="8" name="TextBox 7"/>
          <p:cNvSpPr txBox="1"/>
          <p:nvPr/>
        </p:nvSpPr>
        <p:spPr>
          <a:xfrm>
            <a:off x="792327" y="5779135"/>
            <a:ext cx="10607040" cy="509778"/>
          </a:xfrm>
          <a:prstGeom prst="rect">
            <a:avLst/>
          </a:prstGeom>
          <a:noFill/>
        </p:spPr>
        <p:txBody>
          <a:bodyPr wrap="square">
            <a:spAutoFit/>
          </a:bodyPr>
          <a:lstStyle/>
          <a:p>
            <a:pPr algn="ctr"/>
            <a:r>
              <a:rPr sz="2400">
                <a:solidFill>
                  <a:srgbClr val="333333"/>
                </a:solidFill>
              </a:rPr>
              <a:t>Click to play the video</a:t>
            </a:r>
          </a:p>
        </p:txBody>
      </p:sp>
      <p:sp>
        <p:nvSpPr>
          <p:cNvPr id="9" name="TextBox 8"/>
          <p:cNvSpPr txBox="1"/>
          <p:nvPr/>
        </p:nvSpPr>
        <p:spPr>
          <a:xfrm>
            <a:off x="10698480" y="6309360"/>
            <a:ext cx="1280160" cy="365760"/>
          </a:xfrm>
          <a:prstGeom prst="rect">
            <a:avLst/>
          </a:prstGeom>
          <a:noFill/>
        </p:spPr>
        <p:txBody>
          <a:bodyPr wrap="none">
            <a:spAutoFit/>
          </a:bodyPr>
          <a:lstStyle/>
          <a:p>
            <a:r>
              <a:t>7</a:t>
            </a:r>
          </a:p>
        </p:txBody>
      </p:sp>
      <p:sp>
        <p:nvSpPr>
          <p:cNvPr id="10"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1"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320040"/>
            <a:ext cx="3657600" cy="411480"/>
          </a:xfrm>
          <a:prstGeom prst="rect">
            <a:avLst/>
          </a:prstGeom>
          <a:noFill/>
        </p:spPr>
        <p:txBody>
          <a:bodyPr wrap="none">
            <a:spAutoFit/>
          </a:bodyPr>
          <a:lstStyle/>
          <a:p>
            <a:r>
              <a:rPr sz="2000" b="1">
                <a:solidFill>
                  <a:srgbClr val="E88A00"/>
                </a:solidFill>
              </a:rPr>
              <a:t>▶ GAME</a:t>
            </a:r>
          </a:p>
        </p:txBody>
      </p:sp>
      <p:sp>
        <p:nvSpPr>
          <p:cNvPr id="5" name="TextBox 4"/>
          <p:cNvSpPr txBox="1"/>
          <p:nvPr/>
        </p:nvSpPr>
        <p:spPr>
          <a:xfrm>
            <a:off x="457200" y="777240"/>
            <a:ext cx="11247120" cy="789939"/>
          </a:xfrm>
          <a:prstGeom prst="rect">
            <a:avLst/>
          </a:prstGeom>
          <a:noFill/>
        </p:spPr>
        <p:txBody>
          <a:bodyPr wrap="square">
            <a:spAutoFit/>
          </a:bodyPr>
          <a:lstStyle/>
          <a:p>
            <a:pPr algn="ctr"/>
            <a:r>
              <a:rPr sz="4400" b="1">
                <a:solidFill>
                  <a:srgbClr val="000000"/>
                </a:solidFill>
              </a:rPr>
              <a:t>SPOT THE RED FLAG</a:t>
            </a:r>
          </a:p>
        </p:txBody>
      </p:sp>
      <p:sp>
        <p:nvSpPr>
          <p:cNvPr id="6" name="TextBox 5"/>
          <p:cNvSpPr txBox="1"/>
          <p:nvPr/>
        </p:nvSpPr>
        <p:spPr>
          <a:xfrm>
            <a:off x="792327" y="1766010"/>
            <a:ext cx="10607040" cy="447802"/>
          </a:xfrm>
          <a:prstGeom prst="rect">
            <a:avLst/>
          </a:prstGeom>
          <a:noFill/>
        </p:spPr>
        <p:txBody>
          <a:bodyPr wrap="square">
            <a:spAutoFit/>
          </a:bodyPr>
          <a:lstStyle/>
          <a:p>
            <a:pPr algn="ctr"/>
            <a:r>
              <a:rPr sz="2200" i="1" b="0">
                <a:solidFill>
                  <a:srgbClr val="333333"/>
                </a:solidFill>
              </a:rPr>
              <a:t>You have 30 seconds. Read this email and call out every red flag you can find.</a:t>
            </a:r>
          </a:p>
        </p:txBody>
      </p:sp>
      <p:sp>
        <p:nvSpPr>
          <p:cNvPr id="7" name="TextBox 7"/>
          <p:cNvSpPr txBox="1"/>
          <p:nvPr/>
        </p:nvSpPr>
        <p:spPr>
          <a:xfrm>
            <a:off x="792327" y="5325923"/>
            <a:ext cx="10607040" cy="447802"/>
          </a:xfrm>
          <a:prstGeom prst="rect">
            <a:avLst/>
          </a:prstGeom>
          <a:noFill/>
        </p:spPr>
        <p:txBody>
          <a:bodyPr wrap="square">
            <a:spAutoFit/>
          </a:bodyPr>
          <a:lstStyle/>
          <a:p>
            <a:pPr algn="ctr"/>
            <a:r>
              <a:rPr sz="2200" i="1" b="0">
                <a:solidFill>
                  <a:srgbClr val="333333"/>
                </a:solidFill>
              </a:rPr>
              <a:t>(When you're ready, the flagged version is on the next slide.)</a:t>
            </a:r>
          </a:p>
        </p:txBody>
      </p:sp>
      <p:sp>
        <p:nvSpPr>
          <p:cNvPr id="8" name="TextBox 8"/>
          <p:cNvSpPr txBox="1"/>
          <p:nvPr/>
        </p:nvSpPr>
        <p:spPr>
          <a:xfrm>
            <a:off x="10698480" y="6309360"/>
            <a:ext cx="1280160" cy="365760"/>
          </a:xfrm>
          <a:prstGeom prst="rect">
            <a:avLst/>
          </a:prstGeom>
          <a:noFill/>
        </p:spPr>
        <p:txBody>
          <a:bodyPr wrap="none">
            <a:spAutoFit/>
          </a:bodyPr>
          <a:lstStyle/>
          <a:p>
            <a:pPr algn="r"/>
            <a:r>
              <a:rPr sz="1100"/>
              <a:t>8</a:t>
            </a:r>
          </a:p>
        </p:txBody>
      </p:sp>
      <p:sp>
        <p:nvSpPr>
          <p:cNvPr id="9" name="Rounded Rectangle 6"/>
          <p:cNvSpPr/>
          <p:nvPr/>
        </p:nvSpPr>
        <p:spPr>
          <a:xfrm>
            <a:off x="929487" y="2292247"/>
            <a:ext cx="10332720" cy="2955242"/>
          </a:xfrm>
          <a:prstGeom prst="round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274320" tIns="228600"/>
          <a:lstStyle/>
          <a:p>
            <a:pPr algn="ctr">
              <a:defRPr sz="2300" b="1">
                <a:solidFill>
                  <a:srgbClr val="000000"/>
                </a:solidFill>
              </a:defRPr>
            </a:pPr>
            <a:r>
              <a:rPr sz="2200" b="1">
                <a:solidFill>
                  <a:srgbClr val="000000"/>
                </a:solidFill>
              </a:rPr>
              <a:t>From: Daniel Whitfield &lt;daniel.whitfield@mailbox-example.com.au&gt;</a:t>
            </a:r>
          </a:p>
          <a:p>
            <a:pPr>
              <a:defRPr sz="2300" b="0">
                <a:solidFill>
                  <a:srgbClr val="000000"/>
                </a:solidFill>
              </a:defRPr>
            </a:pPr>
            <a:r>
              <a:rPr sz="2200" b="0">
                <a:solidFill>
                  <a:srgbClr val="000000"/>
                </a:solidFill>
              </a:rPr>
              <a:t>Subject: Re: Withdrawal WD-204817 (pending)</a:t>
            </a:r>
          </a:p>
          <a:p>
            <a:pPr>
              <a:defRPr sz="2300" b="0">
                <a:solidFill>
                  <a:srgbClr val="000000"/>
                </a:solidFill>
              </a:defRPr>
            </a:pPr>
            <a:r>
              <a:rPr sz="2200" b="0">
                <a:solidFill>
                  <a:srgbClr val="000000"/>
                </a:solidFill>
              </a:rPr>
              <a:t>“Hi Priya, my old bank account was closed after my card was compromised. Please pay my pending withdrawal (AUD 18,400) to my new account: D Whitfield, BSB 000-000, account 00000000. I'm travelling and can't take calls, but I check email. I need it today, as I have a deposit due Friday.”</a:t>
            </a:r>
          </a:p>
        </p:txBody>
      </p:sp>
      <p:pic>
        <p:nvPicPr>
          <p:cNvPr id="10" name="narration_cs_L15.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11"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2"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3165" fill="hold"/>
                                        <p:tgtEl>
                                          <p:spTgt spid="10"/>
                                        </p:tgtEl>
                                      </p:cBhvr>
                                    </p:cmd>
                                  </p:childTnLst>
                                </p:cTn>
                              </p:par>
                              <p:par>
                                <p:cTn id="20" presetID="26" presetClass="emph" presetSubtype="0" repeatCount="indefinite" fill="hold" grpId="0" nodeType="withEffect">
                                  <p:stCondLst>
                                    <p:cond delay="13165"/>
                                  </p:stCondLst>
                                  <p:childTnLst>
                                    <p:animEffect transition="out" filter="fade">
                                      <p:cBhvr>
                                        <p:cTn id="21" dur="1000" tmFilter="0, 0; .2, .5; .8, .5; 1, 0"/>
                                        <p:tgtEl>
                                          <p:spTgt spid="12"/>
                                        </p:tgtEl>
                                      </p:cBhvr>
                                    </p:animEffect>
                                    <p:animScale>
                                      <p:cBhvr>
                                        <p:cTn id="22" dur="500" autoRev="1" fill="hold"/>
                                        <p:tgtEl>
                                          <p:spTgt spid="12"/>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0"/>
                </p:tgtEl>
              </p:cMediaNode>
            </p:audio>
          </p:childTnLst>
        </p:cTn>
      </p:par>
    </p:tnLst>
    <p:bldLst>
      <p:bldP spid="12"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320040"/>
            <a:ext cx="3657600" cy="411480"/>
          </a:xfrm>
          <a:prstGeom prst="rect">
            <a:avLst/>
          </a:prstGeom>
          <a:noFill/>
        </p:spPr>
        <p:txBody>
          <a:bodyPr wrap="none">
            <a:spAutoFit/>
          </a:bodyPr>
          <a:lstStyle/>
          <a:p>
            <a:r>
              <a:rPr sz="2000" b="1">
                <a:solidFill>
                  <a:srgbClr val="E88A00"/>
                </a:solidFill>
              </a:rPr>
              <a:t>▶ GAME</a:t>
            </a:r>
          </a:p>
        </p:txBody>
      </p:sp>
      <p:sp>
        <p:nvSpPr>
          <p:cNvPr id="5" name="TextBox 4"/>
          <p:cNvSpPr txBox="1"/>
          <p:nvPr/>
        </p:nvSpPr>
        <p:spPr>
          <a:xfrm>
            <a:off x="457200" y="777240"/>
            <a:ext cx="11247120" cy="789939"/>
          </a:xfrm>
          <a:prstGeom prst="rect">
            <a:avLst/>
          </a:prstGeom>
          <a:noFill/>
        </p:spPr>
        <p:txBody>
          <a:bodyPr wrap="square">
            <a:spAutoFit/>
          </a:bodyPr>
          <a:lstStyle/>
          <a:p>
            <a:pPr algn="ctr"/>
            <a:r>
              <a:rPr sz="4400" b="1">
                <a:solidFill>
                  <a:srgbClr val="000000"/>
                </a:solidFill>
              </a:rPr>
              <a:t>SPOT THE RED FLAG: REVEALED</a:t>
            </a:r>
          </a:p>
        </p:txBody>
      </p:sp>
      <p:sp>
        <p:nvSpPr>
          <p:cNvPr id="6" name="TextBox 5"/>
          <p:cNvSpPr txBox="1"/>
          <p:nvPr/>
        </p:nvSpPr>
        <p:spPr>
          <a:xfrm>
            <a:off x="548640" y="1737360"/>
            <a:ext cx="7498079" cy="4023360"/>
          </a:xfrm>
          <a:prstGeom prst="rect">
            <a:avLst/>
          </a:prstGeom>
          <a:noFill/>
        </p:spPr>
        <p:txBody>
          <a:bodyPr wrap="square">
            <a:spAutoFit/>
          </a:bodyPr>
          <a:lstStyle/>
          <a:p>
            <a:pPr>
              <a:spcAft>
                <a:spcPts val="1008"/>
              </a:spcAft>
              <a:defRPr sz="2500">
                <a:solidFill>
                  <a:srgbClr val="333333"/>
                </a:solidFill>
              </a:defRPr>
            </a:pPr>
            <a:r>
              <a:rPr sz="2000">
                <a:solidFill>
                  <a:srgbClr val="333333"/>
                </a:solidFill>
              </a:rPr>
              <a:t>🚩  A change of payout account, requested by email only.</a:t>
            </a:r>
          </a:p>
          <a:p>
            <a:pPr>
              <a:spcAft>
                <a:spcPts val="1008"/>
              </a:spcAft>
              <a:defRPr sz="2500">
                <a:solidFill>
                  <a:srgbClr val="333333"/>
                </a:solidFill>
              </a:defRPr>
            </a:pPr>
            <a:r>
              <a:rPr sz="2000">
                <a:solidFill>
                  <a:srgbClr val="333333"/>
                </a:solidFill>
              </a:rPr>
              <a:t>🚩  A reason that blocks the obvious check: “I can't take calls”.</a:t>
            </a:r>
          </a:p>
          <a:p>
            <a:pPr>
              <a:spcAft>
                <a:spcPts val="1008"/>
              </a:spcAft>
              <a:defRPr sz="2500">
                <a:solidFill>
                  <a:srgbClr val="333333"/>
                </a:solidFill>
              </a:defRPr>
            </a:pPr>
            <a:r>
              <a:rPr sz="2000">
                <a:solidFill>
                  <a:srgbClr val="333333"/>
                </a:solidFill>
              </a:rPr>
              <a:t>🚩  A deadline: “today”, because a deposit is due Friday.</a:t>
            </a:r>
          </a:p>
          <a:p>
            <a:pPr>
              <a:spcAft>
                <a:spcPts val="1008"/>
              </a:spcAft>
              <a:defRPr sz="2500">
                <a:solidFill>
                  <a:srgbClr val="333333"/>
                </a:solidFill>
              </a:defRPr>
            </a:pPr>
            <a:r>
              <a:rPr sz="2000">
                <a:solidFill>
                  <a:srgbClr val="333333"/>
                </a:solidFill>
              </a:rPr>
              <a:t>🚩  A believable story: the old account was closed after a card was compromised.</a:t>
            </a:r>
          </a:p>
          <a:p>
            <a:pPr>
              <a:spcAft>
                <a:spcPts val="1008"/>
              </a:spcAft>
              <a:defRPr sz="2500">
                <a:solidFill>
                  <a:srgbClr val="333333"/>
                </a:solidFill>
              </a:defRPr>
            </a:pPr>
            <a:r>
              <a:rPr sz="2000">
                <a:solidFill>
                  <a:srgbClr val="333333"/>
                </a:solidFill>
              </a:rPr>
              <a:t>🚩  It comes from the customer's real address, inside a real thread, so the mailbox may have been taken over.</a:t>
            </a:r>
          </a:p>
          <a:p>
            <a:pPr>
              <a:spcAft>
                <a:spcPts val="1008"/>
              </a:spcAft>
              <a:defRPr sz="2500">
                <a:solidFill>
                  <a:srgbClr val="333333"/>
                </a:solidFill>
              </a:defRPr>
            </a:pPr>
            <a:r>
              <a:rPr sz="2000">
                <a:solidFill>
                  <a:srgbClr val="333333"/>
                </a:solidFill>
              </a:rPr>
              <a:t>Email can be taken over. Use a check the attacker can't reach: the number on file, or a code to the registered mobile.</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9</a:t>
            </a:r>
          </a:p>
        </p:txBody>
      </p:sp>
      <p:sp>
        <p:nvSpPr>
          <p:cNvPr id="8" name="Citation"/>
          <p:cNvSpPr txBox="1"/>
          <p:nvPr/>
        </p:nvSpPr>
        <p:spPr>
          <a:xfrm>
            <a:off x="457200" y="5870448"/>
            <a:ext cx="11247120" cy="429768"/>
          </a:xfrm>
          <a:prstGeom prst="rect">
            <a:avLst/>
          </a:prstGeom>
          <a:noFill/>
        </p:spPr>
        <p:txBody>
          <a:bodyPr wrap="square">
            <a:spAutoFit/>
          </a:bodyPr>
          <a:lstStyle/>
          <a:p>
            <a:pPr algn="l"/>
            <a:r>
              <a:rPr lang="en-US" sz="1800" i="1">
                <a:solidFill>
                  <a:srgbClr val="666666"/>
                </a:solidFill>
              </a:rPr>
              <a:t>Sources: FBI IC3 PSA I-091124-PSA; Cialdini, HBR (2001)</a:t>
            </a:r>
          </a:p>
        </p:txBody>
      </p:sp>
      <p:sp>
        <p:nvSpPr>
          <p:cNvPr id="9" name="TextBox 4"/>
          <p:cNvSpPr txBox="1"/>
          <p:nvPr/>
        </p:nvSpPr>
        <p:spPr>
          <a:xfrm>
            <a:off x="8412480" y="1691640"/>
            <a:ext cx="3291840" cy="457200"/>
          </a:xfrm>
          <a:prstGeom prst="rect">
            <a:avLst/>
          </a:prstGeom>
          <a:noFill/>
        </p:spPr>
        <p:txBody>
          <a:bodyPr wrap="square">
            <a:spAutoFit/>
          </a:bodyPr>
          <a:lstStyle/>
          <a:p>
            <a:pPr algn="ctr"/>
            <a:r>
              <a:rPr sz="2200" i="0" b="1">
                <a:solidFill>
                  <a:srgbClr val="333333"/>
                </a:solidFill>
              </a:rPr>
              <a:t>LEVERS PULLED</a:t>
            </a:r>
          </a:p>
        </p:txBody>
      </p:sp>
      <p:sp>
        <p:nvSpPr>
          <p:cNvPr id="10" name="Rounded Rectangle 4"/>
          <p:cNvSpPr/>
          <p:nvPr/>
        </p:nvSpPr>
        <p:spPr>
          <a:xfrm>
            <a:off x="8412480" y="2240280"/>
            <a:ext cx="3291840" cy="1188720"/>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Scarcity</a:t>
            </a:r>
          </a:p>
          <a:p>
            <a:pPr algn="ctr"/>
            <a:r>
              <a:rPr sz="2000">
                <a:solidFill>
                  <a:srgbClr val="FFFFFF"/>
                </a:solidFill>
              </a:rPr>
              <a:t>A tight deadline makes you skip the check.</a:t>
            </a:r>
          </a:p>
        </p:txBody>
      </p:sp>
      <p:sp>
        <p:nvSpPr>
          <p:cNvPr id="11" name="Rounded Rectangle 4"/>
          <p:cNvSpPr/>
          <p:nvPr/>
        </p:nvSpPr>
        <p:spPr>
          <a:xfrm>
            <a:off x="8412480" y="3520440"/>
            <a:ext cx="3291840" cy="1188720"/>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Liking</a:t>
            </a:r>
          </a:p>
          <a:p>
            <a:pPr algn="ctr"/>
            <a:r>
              <a:rPr sz="2000">
                <a:solidFill>
                  <a:srgbClr val="FFFFFF"/>
                </a:solidFill>
              </a:rPr>
              <a:t>A believable story lowers your guard.</a:t>
            </a:r>
          </a:p>
        </p:txBody>
      </p:sp>
      <p:sp>
        <p:nvSpPr>
          <p:cNvPr id="12" name="Kiosk Previous">
            <a:hlinkClick r:id="rId3" action="ppaction://hlinksldjump"/>
          </p:cNvPr>
          <p:cNvSpPr/>
          <p:nvPr/>
        </p:nvSpPr>
        <p:spPr>
          <a:xfrm>
            <a:off x="449564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3" name="Kiosk Next">
            <a:hlinkClick r:id="rId4" action="ppaction://hlinksldjump"/>
          </p:cNvPr>
          <p:cNvSpPr/>
          <p:nvPr/>
        </p:nvSpPr>
        <p:spPr>
          <a:xfrm>
            <a:off x="623300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pic>
        <p:nvPicPr>
          <p:cNvPr id="14" name="narration_cs_09.mp3">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3655" fill="hold"/>
                                        <p:tgtEl>
                                          <p:spTgt spid="14"/>
                                        </p:tgtEl>
                                      </p:cBhvr>
                                    </p:cmd>
                                  </p:childTnLst>
                                </p:cTn>
                              </p:par>
                              <p:par>
                                <p:cTn id="20" presetID="26" presetClass="emph" presetSubtype="0" repeatCount="indefinite" fill="hold" grpId="0" nodeType="withEffect">
                                  <p:stCondLst>
                                    <p:cond delay="53655"/>
                                  </p:stCondLst>
                                  <p:childTnLst>
                                    <p:animEffect transition="out" filter="fade">
                                      <p:cBhvr>
                                        <p:cTn id="21" dur="1000" tmFilter="0, 0; .2, .5; .8, .5; 1, 0"/>
                                        <p:tgtEl>
                                          <p:spTgt spid="13"/>
                                        </p:tgtEl>
                                      </p:cBhvr>
                                    </p:animEffect>
                                    <p:animScale>
                                      <p:cBhvr>
                                        <p:cTn id="22" dur="500" autoRev="1" fill="hold"/>
                                        <p:tgtEl>
                                          <p:spTgt spid="13"/>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4"/>
                </p:tgtEl>
              </p:cMediaNode>
            </p:audio>
          </p:childTnLst>
        </p:cTn>
      </p:par>
    </p:tnLst>
    <p:bldLst>
      <p:bldP spid="13"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320040"/>
            <a:ext cx="3657600" cy="411480"/>
          </a:xfrm>
          <a:prstGeom prst="rect">
            <a:avLst/>
          </a:prstGeom>
          <a:noFill/>
        </p:spPr>
        <p:txBody>
          <a:bodyPr wrap="none">
            <a:spAutoFit/>
          </a:bodyPr>
          <a:lstStyle/>
          <a:p>
            <a:r>
              <a:rPr sz="2000" b="1">
                <a:solidFill>
                  <a:srgbClr val="E88A00"/>
                </a:solidFill>
              </a:rPr>
              <a:t>▶ GAME</a:t>
            </a:r>
          </a:p>
        </p:txBody>
      </p:sp>
      <p:sp>
        <p:nvSpPr>
          <p:cNvPr id="5" name="TextBox 4"/>
          <p:cNvSpPr txBox="1"/>
          <p:nvPr/>
        </p:nvSpPr>
        <p:spPr>
          <a:xfrm>
            <a:off x="457200" y="777240"/>
            <a:ext cx="11247120" cy="789939"/>
          </a:xfrm>
          <a:prstGeom prst="rect">
            <a:avLst/>
          </a:prstGeom>
          <a:noFill/>
        </p:spPr>
        <p:txBody>
          <a:bodyPr wrap="square">
            <a:spAutoFit/>
          </a:bodyPr>
          <a:lstStyle/>
          <a:p>
            <a:pPr algn="ctr"/>
            <a:r>
              <a:rPr sz="4400" b="1">
                <a:solidFill>
                  <a:srgbClr val="000000"/>
                </a:solidFill>
              </a:rPr>
              <a:t>SPOT THE RED FLAG</a:t>
            </a:r>
          </a:p>
        </p:txBody>
      </p:sp>
      <p:sp>
        <p:nvSpPr>
          <p:cNvPr id="6" name="TextBox 5"/>
          <p:cNvSpPr txBox="1"/>
          <p:nvPr/>
        </p:nvSpPr>
        <p:spPr>
          <a:xfrm>
            <a:off x="792327" y="1766010"/>
            <a:ext cx="10607040" cy="447802"/>
          </a:xfrm>
          <a:prstGeom prst="rect">
            <a:avLst/>
          </a:prstGeom>
          <a:noFill/>
        </p:spPr>
        <p:txBody>
          <a:bodyPr wrap="square">
            <a:spAutoFit/>
          </a:bodyPr>
          <a:lstStyle/>
          <a:p>
            <a:pPr algn="ctr"/>
            <a:r>
              <a:rPr sz="2200" i="1" b="0">
                <a:solidFill>
                  <a:srgbClr val="333333"/>
                </a:solidFill>
              </a:rPr>
              <a:t>You have 30 seconds. Read this email and call out every red flag you can find.</a:t>
            </a:r>
          </a:p>
        </p:txBody>
      </p:sp>
      <p:sp>
        <p:nvSpPr>
          <p:cNvPr id="7" name="TextBox 7"/>
          <p:cNvSpPr txBox="1"/>
          <p:nvPr/>
        </p:nvSpPr>
        <p:spPr>
          <a:xfrm>
            <a:off x="792327" y="5325923"/>
            <a:ext cx="10607040" cy="447802"/>
          </a:xfrm>
          <a:prstGeom prst="rect">
            <a:avLst/>
          </a:prstGeom>
          <a:noFill/>
        </p:spPr>
        <p:txBody>
          <a:bodyPr wrap="square">
            <a:spAutoFit/>
          </a:bodyPr>
          <a:lstStyle/>
          <a:p>
            <a:pPr algn="ctr"/>
            <a:r>
              <a:rPr sz="2200" i="1" b="0">
                <a:solidFill>
                  <a:srgbClr val="333333"/>
                </a:solidFill>
              </a:rPr>
              <a:t>(When you're ready, the flagged version is on the next slide.)</a:t>
            </a:r>
          </a:p>
        </p:txBody>
      </p:sp>
      <p:sp>
        <p:nvSpPr>
          <p:cNvPr id="8" name="TextBox 8"/>
          <p:cNvSpPr txBox="1"/>
          <p:nvPr/>
        </p:nvSpPr>
        <p:spPr>
          <a:xfrm>
            <a:off x="10698480" y="6309360"/>
            <a:ext cx="1280160" cy="365760"/>
          </a:xfrm>
          <a:prstGeom prst="rect">
            <a:avLst/>
          </a:prstGeom>
          <a:noFill/>
        </p:spPr>
        <p:txBody>
          <a:bodyPr wrap="none">
            <a:spAutoFit/>
          </a:bodyPr>
          <a:lstStyle/>
          <a:p>
            <a:pPr algn="r"/>
            <a:r>
              <a:rPr sz="1100"/>
              <a:t>10</a:t>
            </a:r>
          </a:p>
        </p:txBody>
      </p:sp>
      <p:sp>
        <p:nvSpPr>
          <p:cNvPr id="9" name="Rounded Rectangle 6"/>
          <p:cNvSpPr/>
          <p:nvPr/>
        </p:nvSpPr>
        <p:spPr>
          <a:xfrm>
            <a:off x="929487" y="2292247"/>
            <a:ext cx="10332720" cy="2955242"/>
          </a:xfrm>
          <a:prstGeom prst="round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274320" tIns="228600"/>
          <a:lstStyle/>
          <a:p>
            <a:pPr algn="ctr">
              <a:defRPr sz="2300" b="1">
                <a:solidFill>
                  <a:srgbClr val="000000"/>
                </a:solidFill>
              </a:defRPr>
            </a:pPr>
            <a:r>
              <a:rPr sz="2200" b="1">
                <a:solidFill>
                  <a:srgbClr val="000000"/>
                </a:solidFill>
              </a:rPr>
              <a:t>From: Office of Financial Conduct &lt;notices@ofc-compliance-example.com&gt;</a:t>
            </a:r>
          </a:p>
          <a:p>
            <a:pPr>
              <a:defRPr sz="2300" b="0">
                <a:solidFill>
                  <a:srgbClr val="000000"/>
                </a:solidFill>
              </a:defRPr>
            </a:pPr>
            <a:r>
              <a:rPr sz="2200" b="0">
                <a:solidFill>
                  <a:srgbClr val="000000"/>
                </a:solidFill>
              </a:rPr>
              <a:t>Subject: STATUTORY NOTICE: customer records required within 2 hours</a:t>
            </a:r>
          </a:p>
          <a:p>
            <a:pPr>
              <a:defRPr sz="2300" b="0">
                <a:solidFill>
                  <a:srgbClr val="000000"/>
                </a:solidFill>
              </a:defRPr>
            </a:pPr>
            <a:r>
              <a:rPr sz="2200" b="0">
                <a:solidFill>
                  <a:srgbClr val="000000"/>
                </a:solidFill>
              </a:rPr>
              <a:t>“Under section 14 you must release the full account history and identity documents for customer K. Alvarez within two hours. Failure to comply is an offence and will be referred for penalty. Reference OFC-2291. Your manager and Legal do not need to be contacted. Reply to this email with the records.”</a:t>
            </a:r>
          </a:p>
        </p:txBody>
      </p:sp>
      <p:sp>
        <p:nvSpPr>
          <p:cNvPr id="10" name="Kiosk Previous">
            <a:hlinkClick r:id="rId3" action="ppaction://hlinksldjump"/>
          </p:cNvPr>
          <p:cNvSpPr/>
          <p:nvPr/>
        </p:nvSpPr>
        <p:spPr>
          <a:xfrm>
            <a:off x="449564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1" name="Kiosk Next">
            <a:hlinkClick r:id="rId4" action="ppaction://hlinksldjump"/>
          </p:cNvPr>
          <p:cNvSpPr/>
          <p:nvPr/>
        </p:nvSpPr>
        <p:spPr>
          <a:xfrm>
            <a:off x="623300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320040"/>
            <a:ext cx="3657600" cy="411480"/>
          </a:xfrm>
          <a:prstGeom prst="rect">
            <a:avLst/>
          </a:prstGeom>
          <a:noFill/>
        </p:spPr>
        <p:txBody>
          <a:bodyPr wrap="none">
            <a:spAutoFit/>
          </a:bodyPr>
          <a:lstStyle/>
          <a:p>
            <a:r>
              <a:rPr sz="2000" b="1">
                <a:solidFill>
                  <a:srgbClr val="E88A00"/>
                </a:solidFill>
              </a:rPr>
              <a:t>▶ GAME</a:t>
            </a:r>
          </a:p>
        </p:txBody>
      </p:sp>
      <p:sp>
        <p:nvSpPr>
          <p:cNvPr id="5" name="TextBox 4"/>
          <p:cNvSpPr txBox="1"/>
          <p:nvPr/>
        </p:nvSpPr>
        <p:spPr>
          <a:xfrm>
            <a:off x="457200" y="777240"/>
            <a:ext cx="11247120" cy="789939"/>
          </a:xfrm>
          <a:prstGeom prst="rect">
            <a:avLst/>
          </a:prstGeom>
          <a:noFill/>
        </p:spPr>
        <p:txBody>
          <a:bodyPr wrap="square">
            <a:spAutoFit/>
          </a:bodyPr>
          <a:lstStyle/>
          <a:p>
            <a:pPr algn="ctr"/>
            <a:r>
              <a:rPr sz="4400" b="1">
                <a:solidFill>
                  <a:srgbClr val="000000"/>
                </a:solidFill>
              </a:rPr>
              <a:t>SPOT THE RED FLAG: REVEALED</a:t>
            </a:r>
          </a:p>
        </p:txBody>
      </p:sp>
      <p:sp>
        <p:nvSpPr>
          <p:cNvPr id="6" name="TextBox 5"/>
          <p:cNvSpPr txBox="1"/>
          <p:nvPr/>
        </p:nvSpPr>
        <p:spPr>
          <a:xfrm>
            <a:off x="548640" y="1737360"/>
            <a:ext cx="7498079" cy="4023360"/>
          </a:xfrm>
          <a:prstGeom prst="rect">
            <a:avLst/>
          </a:prstGeom>
          <a:noFill/>
        </p:spPr>
        <p:txBody>
          <a:bodyPr wrap="square">
            <a:spAutoFit/>
          </a:bodyPr>
          <a:lstStyle/>
          <a:p>
            <a:pPr>
              <a:spcAft>
                <a:spcPts val="1248"/>
              </a:spcAft>
              <a:defRPr sz="3100">
                <a:solidFill>
                  <a:srgbClr val="333333"/>
                </a:solidFill>
              </a:defRPr>
            </a:pPr>
            <a:r>
              <a:rPr sz="2000">
                <a:solidFill>
                  <a:srgbClr val="333333"/>
                </a:solidFill>
              </a:rPr>
              <a:t>🚩  A request for a customer’s full records, by email.</a:t>
            </a:r>
          </a:p>
          <a:p>
            <a:pPr>
              <a:spcAft>
                <a:spcPts val="1248"/>
              </a:spcAft>
              <a:defRPr sz="3100">
                <a:solidFill>
                  <a:srgbClr val="333333"/>
                </a:solidFill>
              </a:defRPr>
            </a:pPr>
            <a:r>
              <a:rPr sz="2000">
                <a:solidFill>
                  <a:srgbClr val="333333"/>
                </a:solidFill>
              </a:rPr>
              <a:t>🚩  A threat of penalty: “failure to comply is an offence”.</a:t>
            </a:r>
          </a:p>
          <a:p>
            <a:pPr>
              <a:spcAft>
                <a:spcPts val="1248"/>
              </a:spcAft>
              <a:defRPr sz="3100">
                <a:solidFill>
                  <a:srgbClr val="333333"/>
                </a:solidFill>
              </a:defRPr>
            </a:pPr>
            <a:r>
              <a:rPr sz="2000">
                <a:solidFill>
                  <a:srgbClr val="333333"/>
                </a:solidFill>
              </a:rPr>
              <a:t>🚩  A short deadline: “within two hours”.</a:t>
            </a:r>
          </a:p>
          <a:p>
            <a:pPr>
              <a:spcAft>
                <a:spcPts val="1248"/>
              </a:spcAft>
              <a:defRPr sz="3100">
                <a:solidFill>
                  <a:srgbClr val="333333"/>
                </a:solidFill>
              </a:defRPr>
            </a:pPr>
            <a:r>
              <a:rPr sz="2000">
                <a:solidFill>
                  <a:srgbClr val="333333"/>
                </a:solidFill>
              </a:rPr>
              <a:t>🚩  It tells you not to involve your manager or Legal.</a:t>
            </a:r>
          </a:p>
          <a:p>
            <a:pPr>
              <a:spcAft>
                <a:spcPts val="1248"/>
              </a:spcAft>
              <a:defRPr sz="3100">
                <a:solidFill>
                  <a:srgbClr val="333333"/>
                </a:solidFill>
              </a:defRPr>
            </a:pPr>
            <a:r>
              <a:rPr sz="2000">
                <a:solidFill>
                  <a:srgbClr val="333333"/>
                </a:solidFill>
              </a:rPr>
              <a:t>🚩  A reference number the sender supplied proves nothing, and the domain is not the regulator’s official one.</a:t>
            </a:r>
          </a:p>
          <a:p>
            <a:pPr>
              <a:spcAft>
                <a:spcPts val="1248"/>
              </a:spcAft>
              <a:defRPr sz="3100">
                <a:solidFill>
                  <a:srgbClr val="333333"/>
                </a:solidFill>
              </a:defRPr>
            </a:pPr>
            <a:r>
              <a:rPr sz="2000">
                <a:solidFill>
                  <a:srgbClr val="333333"/>
                </a:solidFill>
              </a:rPr>
              <a:t>A legal-sounding request is still just a request. Verify it through official public contact details, and confirm with your manager and Legal before releasing anything.</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11</a:t>
            </a:r>
          </a:p>
        </p:txBody>
      </p:sp>
      <p:sp>
        <p:nvSpPr>
          <p:cNvPr id="8" name="TextBox 4"/>
          <p:cNvSpPr txBox="1"/>
          <p:nvPr/>
        </p:nvSpPr>
        <p:spPr>
          <a:xfrm>
            <a:off x="8412480" y="1691640"/>
            <a:ext cx="3291840" cy="457200"/>
          </a:xfrm>
          <a:prstGeom prst="rect">
            <a:avLst/>
          </a:prstGeom>
          <a:noFill/>
        </p:spPr>
        <p:txBody>
          <a:bodyPr wrap="square">
            <a:spAutoFit/>
          </a:bodyPr>
          <a:lstStyle/>
          <a:p>
            <a:pPr algn="ctr"/>
            <a:r>
              <a:rPr sz="2200" i="0" b="1">
                <a:solidFill>
                  <a:srgbClr val="333333"/>
                </a:solidFill>
              </a:rPr>
              <a:t>LEVERS PULLED</a:t>
            </a:r>
          </a:p>
        </p:txBody>
      </p:sp>
      <p:sp>
        <p:nvSpPr>
          <p:cNvPr id="9" name="Rounded Rectangle 4"/>
          <p:cNvSpPr/>
          <p:nvPr/>
        </p:nvSpPr>
        <p:spPr>
          <a:xfrm>
            <a:off x="8412480" y="2240280"/>
            <a:ext cx="3291840" cy="1188720"/>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Authority</a:t>
            </a:r>
          </a:p>
          <a:p>
            <a:pPr algn="ctr"/>
            <a:r>
              <a:rPr sz="2000">
                <a:solidFill>
                  <a:srgbClr val="FFFFFF"/>
                </a:solidFill>
              </a:rPr>
              <a:t>A regulator’s name makes people comply.</a:t>
            </a:r>
          </a:p>
        </p:txBody>
      </p:sp>
      <p:sp>
        <p:nvSpPr>
          <p:cNvPr id="10" name="Rounded Rectangle 4"/>
          <p:cNvSpPr/>
          <p:nvPr/>
        </p:nvSpPr>
        <p:spPr>
          <a:xfrm>
            <a:off x="8412480" y="3520440"/>
            <a:ext cx="3291840" cy="1188720"/>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Scarcity</a:t>
            </a:r>
          </a:p>
          <a:p>
            <a:pPr algn="ctr"/>
            <a:r>
              <a:rPr sz="2000">
                <a:solidFill>
                  <a:srgbClr val="FFFFFF"/>
                </a:solidFill>
              </a:rPr>
              <a:t>Little time means little checking.</a:t>
            </a:r>
          </a:p>
        </p:txBody>
      </p:sp>
      <p:sp>
        <p:nvSpPr>
          <p:cNvPr id="11" name="TextBox 4"/>
          <p:cNvSpPr txBox="1"/>
          <p:nvPr/>
        </p:nvSpPr>
        <p:spPr>
          <a:xfrm>
            <a:off x="8412480" y="4846320"/>
            <a:ext cx="3291840" cy="1005840"/>
          </a:xfrm>
          <a:prstGeom prst="rect">
            <a:avLst/>
          </a:prstGeom>
          <a:noFill/>
        </p:spPr>
        <p:txBody>
          <a:bodyPr wrap="square">
            <a:spAutoFit/>
          </a:bodyPr>
          <a:lstStyle/>
          <a:p>
            <a:pPr algn="ctr"/>
            <a:r>
              <a:rPr sz="2000" i="1" b="0">
                <a:solidFill>
                  <a:srgbClr val="333333"/>
                </a:solidFill>
              </a:rPr>
              <a:t>Plus fear of a penalty, which is pressure, not proof.</a:t>
            </a:r>
          </a:p>
        </p:txBody>
      </p:sp>
      <p:sp>
        <p:nvSpPr>
          <p:cNvPr id="12" name="Citation"/>
          <p:cNvSpPr txBox="1"/>
          <p:nvPr/>
        </p:nvSpPr>
        <p:spPr>
          <a:xfrm>
            <a:off x="457200" y="5870448"/>
            <a:ext cx="11247120" cy="429768"/>
          </a:xfrm>
          <a:prstGeom prst="rect">
            <a:avLst/>
          </a:prstGeom>
          <a:noFill/>
        </p:spPr>
        <p:txBody>
          <a:bodyPr wrap="square">
            <a:spAutoFit/>
          </a:bodyPr>
          <a:lstStyle/>
          <a:p>
            <a:pPr algn="l"/>
            <a:r>
              <a:rPr lang="en-US" sz="1800" i="1">
                <a:solidFill>
                  <a:srgbClr val="666666"/>
                </a:solidFill>
              </a:rPr>
              <a:t>Sources: Canadian Centre for Cyber Security (pretexting); Cialdini, HBR (2001)</a:t>
            </a:r>
          </a:p>
        </p:txBody>
      </p:sp>
      <p:sp>
        <p:nvSpPr>
          <p:cNvPr id="13" name="Kiosk Previous">
            <a:hlinkClick r:id="rId3" action="ppaction://hlinksldjump"/>
          </p:cNvPr>
          <p:cNvSpPr/>
          <p:nvPr/>
        </p:nvSpPr>
        <p:spPr>
          <a:xfrm>
            <a:off x="449564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4" name="Kiosk Next">
            <a:hlinkClick r:id="rId4" action="ppaction://hlinksldjump"/>
          </p:cNvPr>
          <p:cNvSpPr/>
          <p:nvPr/>
        </p:nvSpPr>
        <p:spPr>
          <a:xfrm>
            <a:off x="623300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pic>
        <p:nvPicPr>
          <p:cNvPr id="15" name="narration_cs_11.mp3">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0128" fill="hold"/>
                                        <p:tgtEl>
                                          <p:spTgt spid="15"/>
                                        </p:tgtEl>
                                      </p:cBhvr>
                                    </p:cmd>
                                  </p:childTnLst>
                                </p:cTn>
                              </p:par>
                              <p:par>
                                <p:cTn id="20" presetID="26" presetClass="emph" presetSubtype="0" repeatCount="indefinite" fill="hold" grpId="0" nodeType="withEffect">
                                  <p:stCondLst>
                                    <p:cond delay="50128"/>
                                  </p:stCondLst>
                                  <p:childTnLst>
                                    <p:animEffect transition="out" filter="fade">
                                      <p:cBhvr>
                                        <p:cTn id="21" dur="1000" tmFilter="0, 0; .2, .5; .8, .5; 1, 0"/>
                                        <p:tgtEl>
                                          <p:spTgt spid="14"/>
                                        </p:tgtEl>
                                      </p:cBhvr>
                                    </p:animEffect>
                                    <p:animScale>
                                      <p:cBhvr>
                                        <p:cTn id="22" dur="500" autoRev="1" fill="hold"/>
                                        <p:tgtEl>
                                          <p:spTgt spid="14"/>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5"/>
                </p:tgtEl>
              </p:cMediaNode>
            </p:audio>
          </p:childTnLst>
        </p:cTn>
      </p:par>
    </p:tnLst>
    <p:bldLst>
      <p:bldP spid="14"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411480"/>
            <a:ext cx="11247120" cy="789939"/>
          </a:xfrm>
          <a:prstGeom prst="rect">
            <a:avLst/>
          </a:prstGeom>
          <a:noFill/>
        </p:spPr>
        <p:txBody>
          <a:bodyPr wrap="square">
            <a:spAutoFit/>
          </a:bodyPr>
          <a:lstStyle/>
          <a:p>
            <a:pPr algn="ctr"/>
            <a:r>
              <a:rPr sz="4400" b="1">
                <a:solidFill>
                  <a:srgbClr val="000000"/>
                </a:solidFill>
              </a:rPr>
              <a:t>SAME LEVERS, ON THE PHONE</a:t>
            </a:r>
          </a:p>
        </p:txBody>
      </p:sp>
      <p:sp>
        <p:nvSpPr>
          <p:cNvPr id="5" name="TextBox 9"/>
          <p:cNvSpPr txBox="1"/>
          <p:nvPr/>
        </p:nvSpPr>
        <p:spPr>
          <a:xfrm>
            <a:off x="10698480" y="6309360"/>
            <a:ext cx="1280160" cy="365760"/>
          </a:xfrm>
          <a:prstGeom prst="rect">
            <a:avLst/>
          </a:prstGeom>
          <a:noFill/>
        </p:spPr>
        <p:txBody>
          <a:bodyPr wrap="none">
            <a:spAutoFit/>
          </a:bodyPr>
          <a:lstStyle/>
          <a:p>
            <a:pPr algn="r"/>
            <a:r>
              <a:rPr sz="1100"/>
              <a:t>12</a:t>
            </a:r>
          </a:p>
        </p:txBody>
      </p:sp>
      <p:sp>
        <p:nvSpPr>
          <p:cNvPr id="6" name="TextBox 4"/>
          <p:cNvSpPr txBox="1"/>
          <p:nvPr/>
        </p:nvSpPr>
        <p:spPr>
          <a:xfrm>
            <a:off x="548640" y="1572768"/>
            <a:ext cx="5394960" cy="457200"/>
          </a:xfrm>
          <a:prstGeom prst="rect">
            <a:avLst/>
          </a:prstGeom>
          <a:noFill/>
        </p:spPr>
        <p:txBody>
          <a:bodyPr wrap="square">
            <a:spAutoFit/>
          </a:bodyPr>
          <a:lstStyle/>
          <a:p>
            <a:pPr algn="ctr"/>
            <a:r>
              <a:rPr sz="2000" i="0" b="1">
                <a:solidFill>
                  <a:srgbClr val="333333"/>
                </a:solidFill>
              </a:rPr>
              <a:t>Phone call: a “regional director”</a:t>
            </a:r>
          </a:p>
        </p:txBody>
      </p:sp>
      <p:sp>
        <p:nvSpPr>
          <p:cNvPr id="7" name="Rounded Rectangle 11"/>
          <p:cNvSpPr/>
          <p:nvPr/>
        </p:nvSpPr>
        <p:spPr>
          <a:xfrm>
            <a:off x="548640" y="2103120"/>
            <a:ext cx="5394960" cy="2194560"/>
          </a:xfrm>
          <a:prstGeom prst="roundRect">
            <a:avLst>
              <a:gd name="adj" fmla="val 12000"/>
            </a:avLst>
          </a:prstGeom>
          <a:solidFill>
            <a:srgbClr val="2B27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12"/>
          <p:cNvSpPr/>
          <p:nvPr/>
        </p:nvSpPr>
        <p:spPr>
          <a:xfrm>
            <a:off x="822959" y="2286000"/>
            <a:ext cx="4846320" cy="1828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2000" b="1">
                <a:solidFill>
                  <a:srgbClr val="2E2A45"/>
                </a:solidFill>
              </a:rPr>
              <a:t>INCOMING CALL</a:t>
            </a:r>
          </a:p>
          <a:p>
            <a:pPr algn="l"/>
            <a:r>
              <a:rPr sz="2000" b="0">
                <a:solidFill>
                  <a:srgbClr val="2E2A45"/>
                </a:solidFill>
              </a:rPr>
              <a:t>“I’m a regional director and I need this account updated right now. I don’t have time for your security questions. I’ll do the paperwork later.”</a:t>
            </a:r>
          </a:p>
        </p:txBody>
      </p:sp>
      <p:sp>
        <p:nvSpPr>
          <p:cNvPr id="9" name="TextBox 4"/>
          <p:cNvSpPr txBox="1"/>
          <p:nvPr/>
        </p:nvSpPr>
        <p:spPr>
          <a:xfrm>
            <a:off x="6263640" y="1572768"/>
            <a:ext cx="5394960" cy="457200"/>
          </a:xfrm>
          <a:prstGeom prst="rect">
            <a:avLst/>
          </a:prstGeom>
          <a:noFill/>
        </p:spPr>
        <p:txBody>
          <a:bodyPr wrap="square">
            <a:spAutoFit/>
          </a:bodyPr>
          <a:lstStyle/>
          <a:p>
            <a:pPr algn="ctr"/>
            <a:r>
              <a:rPr sz="2000" i="0" b="1">
                <a:solidFill>
                  <a:srgbClr val="333333"/>
                </a:solidFill>
              </a:rPr>
              <a:t>What to notice</a:t>
            </a:r>
          </a:p>
        </p:txBody>
      </p:sp>
      <p:sp>
        <p:nvSpPr>
          <p:cNvPr id="10" name="Rounded Rectangle 14"/>
          <p:cNvSpPr/>
          <p:nvPr/>
        </p:nvSpPr>
        <p:spPr>
          <a:xfrm>
            <a:off x="6263640" y="2103120"/>
            <a:ext cx="5394960" cy="2194560"/>
          </a:xfrm>
          <a:prstGeom prst="roundRect">
            <a:avLst>
              <a:gd name="adj" fmla="val 8000"/>
            </a:avLst>
          </a:prstGeom>
          <a:solidFill>
            <a:srgbClr val="EDEF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0">
                <a:solidFill>
                  <a:srgbClr val="2E2A45"/>
                </a:solidFill>
              </a:rPr>
              <a:t>A title used to skip the process.</a:t>
            </a:r>
          </a:p>
          <a:p>
            <a:pPr algn="l"/>
            <a:r>
              <a:rPr sz="2000" b="0">
                <a:solidFill>
                  <a:srgbClr val="2E2A45"/>
                </a:solidFill>
              </a:rPr>
              <a:t>“Right now” and “can’t wait” leave no time to check.</a:t>
            </a:r>
          </a:p>
          <a:p>
            <a:pPr algn="l"/>
            <a:r>
              <a:rPr sz="2000" b="0">
                <a:solidFill>
                  <a:srgbClr val="2E2A45"/>
                </a:solidFill>
              </a:rPr>
              <a:t>“I’ll do the paperwork later” promises to fix it afterwards.</a:t>
            </a:r>
          </a:p>
        </p:txBody>
      </p:sp>
      <p:sp>
        <p:nvSpPr>
          <p:cNvPr id="11" name="Rounded Rectangle 4"/>
          <p:cNvSpPr/>
          <p:nvPr/>
        </p:nvSpPr>
        <p:spPr>
          <a:xfrm>
            <a:off x="548640" y="4434840"/>
            <a:ext cx="2606040" cy="502920"/>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FFFFFF"/>
                </a:solidFill>
              </a:rPr>
              <a:t>Authority</a:t>
            </a:r>
          </a:p>
        </p:txBody>
      </p:sp>
      <p:sp>
        <p:nvSpPr>
          <p:cNvPr id="12" name="Rounded Rectangle 4"/>
          <p:cNvSpPr/>
          <p:nvPr/>
        </p:nvSpPr>
        <p:spPr>
          <a:xfrm>
            <a:off x="3337560" y="4434840"/>
            <a:ext cx="2606040" cy="502920"/>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FFFFFF"/>
                </a:solidFill>
              </a:rPr>
              <a:t>Scarcity</a:t>
            </a:r>
          </a:p>
        </p:txBody>
      </p:sp>
      <p:sp>
        <p:nvSpPr>
          <p:cNvPr id="13" name="TextBox 4"/>
          <p:cNvSpPr txBox="1"/>
          <p:nvPr/>
        </p:nvSpPr>
        <p:spPr>
          <a:xfrm>
            <a:off x="548640" y="5029200"/>
            <a:ext cx="11064240" cy="777240"/>
          </a:xfrm>
          <a:prstGeom prst="rect">
            <a:avLst/>
          </a:prstGeom>
          <a:noFill/>
        </p:spPr>
        <p:txBody>
          <a:bodyPr wrap="square">
            <a:spAutoFit/>
          </a:bodyPr>
          <a:lstStyle/>
          <a:p>
            <a:pPr algn="ctr"/>
            <a:r>
              <a:rPr sz="2000" i="0" b="0">
                <a:solidFill>
                  <a:srgbClr val="333333"/>
                </a:solidFill>
              </a:rPr>
              <a:t>Authentication does not bend for a title or a deadline. Complete it every time, or escalate.</a:t>
            </a:r>
          </a:p>
        </p:txBody>
      </p:sp>
      <p:sp>
        <p:nvSpPr>
          <p:cNvPr id="14" name="Citation"/>
          <p:cNvSpPr txBox="1"/>
          <p:nvPr/>
        </p:nvSpPr>
        <p:spPr>
          <a:xfrm>
            <a:off x="457200" y="5870448"/>
            <a:ext cx="11247120" cy="429768"/>
          </a:xfrm>
          <a:prstGeom prst="rect">
            <a:avLst/>
          </a:prstGeom>
          <a:noFill/>
        </p:spPr>
        <p:txBody>
          <a:bodyPr wrap="square">
            <a:spAutoFit/>
          </a:bodyPr>
          <a:lstStyle/>
          <a:p>
            <a:pPr algn="l"/>
            <a:r>
              <a:rPr lang="en-US" sz="1800" i="1">
                <a:solidFill>
                  <a:srgbClr val="666666"/>
                </a:solidFill>
              </a:rPr>
              <a:t>Sources: Canadian Centre for Cyber Security (vishing); Cialdini, HBR (2001)</a:t>
            </a:r>
          </a:p>
        </p:txBody>
      </p:sp>
      <p:sp>
        <p:nvSpPr>
          <p:cNvPr id="15" name="Kiosk Previous">
            <a:hlinkClick r:id="rId3" action="ppaction://hlinksldjump"/>
          </p:cNvPr>
          <p:cNvSpPr/>
          <p:nvPr/>
        </p:nvSpPr>
        <p:spPr>
          <a:xfrm>
            <a:off x="449564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6" name="Kiosk Next">
            <a:hlinkClick r:id="rId4" action="ppaction://hlinksldjump"/>
          </p:cNvPr>
          <p:cNvSpPr/>
          <p:nvPr/>
        </p:nvSpPr>
        <p:spPr>
          <a:xfrm>
            <a:off x="623300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pic>
        <p:nvPicPr>
          <p:cNvPr id="17" name="narration_cs_12.mp3">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2026" fill="hold"/>
                                        <p:tgtEl>
                                          <p:spTgt spid="17"/>
                                        </p:tgtEl>
                                      </p:cBhvr>
                                    </p:cmd>
                                  </p:childTnLst>
                                </p:cTn>
                              </p:par>
                              <p:par>
                                <p:cTn id="20" presetID="26" presetClass="emph" presetSubtype="0" repeatCount="indefinite" fill="hold" grpId="0" nodeType="withEffect">
                                  <p:stCondLst>
                                    <p:cond delay="32026"/>
                                  </p:stCondLst>
                                  <p:childTnLst>
                                    <p:animEffect transition="out" filter="fade">
                                      <p:cBhvr>
                                        <p:cTn id="21" dur="1000" tmFilter="0, 0; .2, .5; .8, .5; 1, 0"/>
                                        <p:tgtEl>
                                          <p:spTgt spid="16"/>
                                        </p:tgtEl>
                                      </p:cBhvr>
                                    </p:animEffect>
                                    <p:animScale>
                                      <p:cBhvr>
                                        <p:cTn id="22" dur="500" autoRev="1" fill="hold"/>
                                        <p:tgtEl>
                                          <p:spTgt spid="16"/>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7"/>
                </p:tgtEl>
              </p:cMediaNode>
            </p:audio>
          </p:childTnLst>
        </p:cTn>
      </p:par>
    </p:tnLst>
    <p:bldLst>
      <p:bldP spid="16"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411480"/>
            <a:ext cx="11247120" cy="789939"/>
          </a:xfrm>
          <a:prstGeom prst="rect">
            <a:avLst/>
          </a:prstGeom>
          <a:noFill/>
        </p:spPr>
        <p:txBody>
          <a:bodyPr wrap="square">
            <a:spAutoFit/>
          </a:bodyPr>
          <a:lstStyle/>
          <a:p>
            <a:pPr algn="ctr"/>
            <a:r>
              <a:rPr sz="4400" b="1">
                <a:solidFill>
                  <a:srgbClr val="000000"/>
                </a:solidFill>
              </a:rPr>
              <a:t>CLICKFIX: HOW A REAL MAILBOX GETS TAKEN</a:t>
            </a:r>
          </a:p>
        </p:txBody>
      </p:sp>
      <p:sp>
        <p:nvSpPr>
          <p:cNvPr id="5" name="TextBox 9"/>
          <p:cNvSpPr txBox="1"/>
          <p:nvPr/>
        </p:nvSpPr>
        <p:spPr>
          <a:xfrm>
            <a:off x="10698480" y="6309360"/>
            <a:ext cx="1280160" cy="365760"/>
          </a:xfrm>
          <a:prstGeom prst="rect">
            <a:avLst/>
          </a:prstGeom>
          <a:noFill/>
        </p:spPr>
        <p:txBody>
          <a:bodyPr wrap="none">
            <a:spAutoFit/>
          </a:bodyPr>
          <a:lstStyle/>
          <a:p>
            <a:pPr algn="r"/>
            <a:r>
              <a:rPr sz="1100"/>
              <a:t>13</a:t>
            </a:r>
          </a:p>
        </p:txBody>
      </p:sp>
      <p:sp>
        <p:nvSpPr>
          <p:cNvPr id="6" name="Rounded Rectangle 4"/>
          <p:cNvSpPr/>
          <p:nvPr/>
        </p:nvSpPr>
        <p:spPr>
          <a:xfrm>
            <a:off x="457200" y="1554480"/>
            <a:ext cx="1920240" cy="1828800"/>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FFFFFF"/>
                </a:solidFill>
              </a:rPr>
              <a:t>1</a:t>
            </a:r>
          </a:p>
          <a:p>
            <a:pPr algn="ctr"/>
            <a:r>
              <a:rPr sz="2000">
                <a:solidFill>
                  <a:srgbClr val="FFFFFF"/>
                </a:solidFill>
              </a:rPr>
              <a:t>A fake security check on a web page</a:t>
            </a:r>
          </a:p>
        </p:txBody>
      </p:sp>
      <p:sp>
        <p:nvSpPr>
          <p:cNvPr id="7" name="Right Arrow 11"/>
          <p:cNvSpPr/>
          <p:nvPr/>
        </p:nvSpPr>
        <p:spPr>
          <a:xfrm>
            <a:off x="2414016" y="2304288"/>
            <a:ext cx="329184" cy="365760"/>
          </a:xfrm>
          <a:prstGeom prst="rightArrow">
            <a:avLst/>
          </a:prstGeom>
          <a:solidFill>
            <a:srgbClr val="7A5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4"/>
          <p:cNvSpPr/>
          <p:nvPr/>
        </p:nvSpPr>
        <p:spPr>
          <a:xfrm>
            <a:off x="2788920" y="1554480"/>
            <a:ext cx="1920240" cy="1828800"/>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FFFFFF"/>
                </a:solidFill>
              </a:rPr>
              <a:t>2</a:t>
            </a:r>
          </a:p>
          <a:p>
            <a:pPr algn="ctr"/>
            <a:r>
              <a:rPr sz="2000">
                <a:solidFill>
                  <a:srgbClr val="FFFFFF"/>
                </a:solidFill>
              </a:rPr>
              <a:t>You paste a command to “fix” it</a:t>
            </a:r>
          </a:p>
        </p:txBody>
      </p:sp>
      <p:sp>
        <p:nvSpPr>
          <p:cNvPr id="9" name="Right Arrow 13"/>
          <p:cNvSpPr/>
          <p:nvPr/>
        </p:nvSpPr>
        <p:spPr>
          <a:xfrm>
            <a:off x="4745736" y="2304288"/>
            <a:ext cx="329184" cy="365760"/>
          </a:xfrm>
          <a:prstGeom prst="rightArrow">
            <a:avLst/>
          </a:prstGeom>
          <a:solidFill>
            <a:srgbClr val="7A5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4"/>
          <p:cNvSpPr/>
          <p:nvPr/>
        </p:nvSpPr>
        <p:spPr>
          <a:xfrm>
            <a:off x="5120640" y="1554480"/>
            <a:ext cx="1920240" cy="1828800"/>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FFFFFF"/>
                </a:solidFill>
              </a:rPr>
              <a:t>3</a:t>
            </a:r>
          </a:p>
          <a:p>
            <a:pPr algn="ctr"/>
            <a:r>
              <a:rPr sz="2000">
                <a:solidFill>
                  <a:srgbClr val="FFFFFF"/>
                </a:solidFill>
              </a:rPr>
              <a:t>It steals saved passwords and sessions</a:t>
            </a:r>
          </a:p>
        </p:txBody>
      </p:sp>
      <p:sp>
        <p:nvSpPr>
          <p:cNvPr id="11" name="Right Arrow 15"/>
          <p:cNvSpPr/>
          <p:nvPr/>
        </p:nvSpPr>
        <p:spPr>
          <a:xfrm>
            <a:off x="7077456" y="2304288"/>
            <a:ext cx="329184" cy="365760"/>
          </a:xfrm>
          <a:prstGeom prst="rightArrow">
            <a:avLst/>
          </a:prstGeom>
          <a:solidFill>
            <a:srgbClr val="7A5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4"/>
          <p:cNvSpPr/>
          <p:nvPr/>
        </p:nvSpPr>
        <p:spPr>
          <a:xfrm>
            <a:off x="7452359" y="1554480"/>
            <a:ext cx="1920240" cy="1828800"/>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FFFFFF"/>
                </a:solidFill>
              </a:rPr>
              <a:t>4</a:t>
            </a:r>
          </a:p>
          <a:p>
            <a:pPr algn="ctr"/>
            <a:r>
              <a:rPr sz="2000">
                <a:solidFill>
                  <a:srgbClr val="FFFFFF"/>
                </a:solidFill>
              </a:rPr>
              <a:t>A real mailbox is taken over</a:t>
            </a:r>
          </a:p>
        </p:txBody>
      </p:sp>
      <p:sp>
        <p:nvSpPr>
          <p:cNvPr id="13" name="Right Arrow 17"/>
          <p:cNvSpPr/>
          <p:nvPr/>
        </p:nvSpPr>
        <p:spPr>
          <a:xfrm>
            <a:off x="9409176" y="2304288"/>
            <a:ext cx="329184" cy="365760"/>
          </a:xfrm>
          <a:prstGeom prst="rightArrow">
            <a:avLst/>
          </a:prstGeom>
          <a:solidFill>
            <a:srgbClr val="7A5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4"/>
          <p:cNvSpPr/>
          <p:nvPr/>
        </p:nvSpPr>
        <p:spPr>
          <a:xfrm>
            <a:off x="9784080" y="1554480"/>
            <a:ext cx="1920240" cy="1828800"/>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FFFFFF"/>
                </a:solidFill>
              </a:rPr>
              <a:t>5</a:t>
            </a:r>
          </a:p>
          <a:p>
            <a:pPr algn="ctr"/>
            <a:r>
              <a:rPr sz="2000">
                <a:solidFill>
                  <a:srgbClr val="FFFFFF"/>
                </a:solidFill>
              </a:rPr>
              <a:t>The BEC message comes from a real address</a:t>
            </a:r>
          </a:p>
        </p:txBody>
      </p:sp>
      <p:sp>
        <p:nvSpPr>
          <p:cNvPr id="15" name="TextBox 4"/>
          <p:cNvSpPr txBox="1"/>
          <p:nvPr/>
        </p:nvSpPr>
        <p:spPr>
          <a:xfrm>
            <a:off x="795528" y="3520440"/>
            <a:ext cx="10607040" cy="685800"/>
          </a:xfrm>
          <a:prstGeom prst="rect">
            <a:avLst/>
          </a:prstGeom>
          <a:noFill/>
        </p:spPr>
        <p:txBody>
          <a:bodyPr wrap="square">
            <a:spAutoFit/>
          </a:bodyPr>
          <a:lstStyle/>
          <a:p>
            <a:pPr algn="ctr"/>
            <a:r>
              <a:rPr sz="2000" i="0" b="0">
                <a:solidFill>
                  <a:srgbClr val="333333"/>
                </a:solidFill>
              </a:rPr>
              <a:t>Growing fast: the top way in during 2025 in Microsoft’s data (47%), and 52% of Push Security’s detections through Q2 2026, reaching 67% in August.</a:t>
            </a:r>
          </a:p>
        </p:txBody>
      </p:sp>
      <p:sp>
        <p:nvSpPr>
          <p:cNvPr id="16" name="TextBox 4"/>
          <p:cNvSpPr txBox="1"/>
          <p:nvPr/>
        </p:nvSpPr>
        <p:spPr>
          <a:xfrm>
            <a:off x="795528" y="4206240"/>
            <a:ext cx="10607040" cy="365760"/>
          </a:xfrm>
          <a:prstGeom prst="rect">
            <a:avLst/>
          </a:prstGeom>
          <a:noFill/>
        </p:spPr>
        <p:txBody>
          <a:bodyPr wrap="square">
            <a:spAutoFit/>
          </a:bodyPr>
          <a:lstStyle/>
          <a:p>
            <a:pPr algn="ctr"/>
            <a:r>
              <a:rPr sz="2000" i="0" b="0">
                <a:solidFill>
                  <a:srgbClr val="333333"/>
                </a:solidFill>
              </a:rPr>
              <a:t>Most arrive through web search results and compromised sites, not email.</a:t>
            </a:r>
          </a:p>
        </p:txBody>
      </p:sp>
      <p:sp>
        <p:nvSpPr>
          <p:cNvPr id="17" name="TextBox 4"/>
          <p:cNvSpPr txBox="1"/>
          <p:nvPr/>
        </p:nvSpPr>
        <p:spPr>
          <a:xfrm>
            <a:off x="795528" y="4572000"/>
            <a:ext cx="10607040" cy="731520"/>
          </a:xfrm>
          <a:prstGeom prst="rect">
            <a:avLst/>
          </a:prstGeom>
          <a:noFill/>
        </p:spPr>
        <p:txBody>
          <a:bodyPr wrap="square">
            <a:spAutoFit/>
          </a:bodyPr>
          <a:lstStyle/>
          <a:p>
            <a:pPr algn="ctr"/>
            <a:r>
              <a:rPr sz="2000" i="0" b="1">
                <a:solidFill>
                  <a:srgbClr val="333333"/>
                </a:solidFill>
              </a:rPr>
              <a:t>In Customer Service: requests can then arrive from a customer’s genuine address, so a code to the registered device, or a callback, matters.</a:t>
            </a:r>
          </a:p>
        </p:txBody>
      </p:sp>
      <p:sp>
        <p:nvSpPr>
          <p:cNvPr id="18" name="TextBox 4"/>
          <p:cNvSpPr txBox="1"/>
          <p:nvPr/>
        </p:nvSpPr>
        <p:spPr>
          <a:xfrm>
            <a:off x="795528" y="5303520"/>
            <a:ext cx="10607040" cy="411480"/>
          </a:xfrm>
          <a:prstGeom prst="rect">
            <a:avLst/>
          </a:prstGeom>
          <a:noFill/>
        </p:spPr>
        <p:txBody>
          <a:bodyPr wrap="square">
            <a:spAutoFit/>
          </a:bodyPr>
          <a:lstStyle/>
          <a:p>
            <a:pPr algn="ctr"/>
            <a:r>
              <a:rPr sz="2000" i="1" b="0">
                <a:solidFill>
                  <a:srgbClr val="333333"/>
                </a:solidFill>
              </a:rPr>
              <a:t>Already pasted something? Stop and tell IT at once. Do not try to clean it up.</a:t>
            </a:r>
          </a:p>
        </p:txBody>
      </p:sp>
      <p:sp>
        <p:nvSpPr>
          <p:cNvPr id="19" name="Citation"/>
          <p:cNvSpPr txBox="1"/>
          <p:nvPr/>
        </p:nvSpPr>
        <p:spPr>
          <a:xfrm>
            <a:off x="457200" y="5870448"/>
            <a:ext cx="11247120" cy="429768"/>
          </a:xfrm>
          <a:prstGeom prst="rect">
            <a:avLst/>
          </a:prstGeom>
          <a:noFill/>
        </p:spPr>
        <p:txBody>
          <a:bodyPr wrap="square">
            <a:spAutoFit/>
          </a:bodyPr>
          <a:lstStyle/>
          <a:p>
            <a:pPr algn="l"/>
            <a:r>
              <a:rPr lang="en-US" sz="1800" i="1">
                <a:solidFill>
                  <a:srgbClr val="666666"/>
                </a:solidFill>
              </a:rPr>
              <a:t>Sources: Push Security, “The state of ClickFix” (Sep 2026), which cites Microsoft’s 2025 report</a:t>
            </a:r>
          </a:p>
        </p:txBody>
      </p:sp>
      <p:sp>
        <p:nvSpPr>
          <p:cNvPr id="20" name="Kiosk Previous">
            <a:hlinkClick r:id="rId3" action="ppaction://hlinksldjump"/>
          </p:cNvPr>
          <p:cNvSpPr/>
          <p:nvPr/>
        </p:nvSpPr>
        <p:spPr>
          <a:xfrm>
            <a:off x="449564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21" name="Kiosk Next">
            <a:hlinkClick r:id="rId4" action="ppaction://hlinksldjump"/>
          </p:cNvPr>
          <p:cNvSpPr/>
          <p:nvPr/>
        </p:nvSpPr>
        <p:spPr>
          <a:xfrm>
            <a:off x="623300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pic>
        <p:nvPicPr>
          <p:cNvPr id="22" name="narration_cs_13.mp3">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0561" fill="hold"/>
                                        <p:tgtEl>
                                          <p:spTgt spid="22"/>
                                        </p:tgtEl>
                                      </p:cBhvr>
                                    </p:cmd>
                                  </p:childTnLst>
                                </p:cTn>
                              </p:par>
                              <p:par>
                                <p:cTn id="20" presetID="26" presetClass="emph" presetSubtype="0" repeatCount="indefinite" fill="hold" grpId="0" nodeType="withEffect">
                                  <p:stCondLst>
                                    <p:cond delay="80561"/>
                                  </p:stCondLst>
                                  <p:childTnLst>
                                    <p:animEffect transition="out" filter="fade">
                                      <p:cBhvr>
                                        <p:cTn id="21" dur="1000" tmFilter="0, 0; .2, .5; .8, .5; 1, 0"/>
                                        <p:tgtEl>
                                          <p:spTgt spid="21"/>
                                        </p:tgtEl>
                                      </p:cBhvr>
                                    </p:animEffect>
                                    <p:animScale>
                                      <p:cBhvr>
                                        <p:cTn id="22" dur="500" autoRev="1" fill="hold"/>
                                        <p:tgtEl>
                                          <p:spTgt spid="2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22"/>
                </p:tgtEl>
              </p:cMediaNode>
            </p:audio>
          </p:childTnLst>
        </p:cTn>
      </p:par>
    </p:tnLst>
    <p:bldLst>
      <p:bldP spid="21"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92327" y="1789176"/>
            <a:ext cx="10607040" cy="649224"/>
          </a:xfrm>
          <a:prstGeom prst="rect">
            <a:avLst/>
          </a:prstGeom>
          <a:noFill/>
        </p:spPr>
        <p:txBody>
          <a:bodyPr wrap="square">
            <a:spAutoFit/>
          </a:bodyPr>
          <a:lstStyle/>
          <a:p>
            <a:pPr algn="ctr"/>
            <a:r>
              <a:rPr sz="3600" i="0" b="1">
                <a:solidFill>
                  <a:srgbClr val="B85C38"/>
                </a:solidFill>
              </a:rPr>
              <a:t>PHASE 2</a:t>
            </a:r>
          </a:p>
        </p:txBody>
      </p:sp>
      <p:sp>
        <p:nvSpPr>
          <p:cNvPr id="5" name="TextBox 4"/>
          <p:cNvSpPr txBox="1"/>
          <p:nvPr/>
        </p:nvSpPr>
        <p:spPr>
          <a:xfrm>
            <a:off x="731520" y="2941320"/>
            <a:ext cx="10698480" cy="1021080"/>
          </a:xfrm>
          <a:prstGeom prst="rect">
            <a:avLst/>
          </a:prstGeom>
          <a:noFill/>
        </p:spPr>
        <p:txBody>
          <a:bodyPr wrap="none">
            <a:spAutoFit/>
          </a:bodyPr>
          <a:lstStyle/>
          <a:p>
            <a:pPr algn="ctr"/>
            <a:r>
              <a:rPr sz="6000" b="1">
                <a:solidFill>
                  <a:srgbClr val="000000"/>
                </a:solidFill>
              </a:rPr>
              <a:t>VERIFY</a:t>
            </a:r>
          </a:p>
        </p:txBody>
      </p:sp>
      <p:sp>
        <p:nvSpPr>
          <p:cNvPr id="6" name="TextBox 5"/>
          <p:cNvSpPr txBox="1"/>
          <p:nvPr/>
        </p:nvSpPr>
        <p:spPr>
          <a:xfrm>
            <a:off x="792327" y="4465320"/>
            <a:ext cx="10607040" cy="649224"/>
          </a:xfrm>
          <a:prstGeom prst="rect">
            <a:avLst/>
          </a:prstGeom>
          <a:noFill/>
        </p:spPr>
        <p:txBody>
          <a:bodyPr wrap="square">
            <a:spAutoFit/>
          </a:bodyPr>
          <a:lstStyle/>
          <a:p>
            <a:pPr algn="ctr"/>
            <a:r>
              <a:rPr sz="3600" i="1" b="0">
                <a:solidFill>
                  <a:srgbClr val="333333"/>
                </a:solidFill>
              </a:rPr>
              <a:t>The one habit that would have stopped it.</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14</a:t>
            </a:r>
          </a:p>
        </p:txBody>
      </p:sp>
      <p:pic>
        <p:nvPicPr>
          <p:cNvPr id="57" name="narration_slide12.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58"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59"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608" fill="hold"/>
                                        <p:tgtEl>
                                          <p:spTgt spid="57"/>
                                        </p:tgtEl>
                                      </p:cBhvr>
                                    </p:cmd>
                                  </p:childTnLst>
                                </p:cTn>
                              </p:par>
                              <p:par>
                                <p:cTn id="20" presetID="26" presetClass="emph" presetSubtype="0" repeatCount="indefinite" fill="hold" grpId="0" nodeType="withEffect">
                                  <p:stCondLst>
                                    <p:cond delay="6608"/>
                                  </p:stCondLst>
                                  <p:childTnLst>
                                    <p:animEffect transition="out" filter="fade">
                                      <p:cBhvr>
                                        <p:cTn id="21" dur="1000" tmFilter="0, 0; .2, .5; .8, .5; 1, 0"/>
                                        <p:tgtEl>
                                          <p:spTgt spid="59"/>
                                        </p:tgtEl>
                                      </p:cBhvr>
                                    </p:animEffect>
                                    <p:animScale>
                                      <p:cBhvr>
                                        <p:cTn id="22" dur="500" autoRev="1" fill="hold"/>
                                        <p:tgtEl>
                                          <p:spTgt spid="59"/>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57"/>
                </p:tgtEl>
              </p:cMediaNode>
            </p:audio>
          </p:childTnLst>
        </p:cTn>
      </p:par>
    </p:tnLst>
    <p:bldLst>
      <p:bldP spid="59"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411480"/>
            <a:ext cx="11247120" cy="662940"/>
          </a:xfrm>
          <a:prstGeom prst="rect">
            <a:avLst/>
          </a:prstGeom>
          <a:noFill/>
        </p:spPr>
        <p:txBody>
          <a:bodyPr wrap="square">
            <a:spAutoFit/>
          </a:bodyPr>
          <a:lstStyle/>
          <a:p>
            <a:pPr algn="ctr"/>
            <a:r>
              <a:rPr sz="3600" b="1">
                <a:solidFill>
                  <a:srgbClr val="000000"/>
                </a:solidFill>
              </a:rPr>
              <a:t>ALWAYS VERIFY: SOMEWHERE THE REQUEST CAN'T REACH</a:t>
            </a:r>
          </a:p>
        </p:txBody>
      </p:sp>
      <p:sp>
        <p:nvSpPr>
          <p:cNvPr id="5" name="Rounded Rectangle 4"/>
          <p:cNvSpPr/>
          <p:nvPr/>
        </p:nvSpPr>
        <p:spPr>
          <a:xfrm>
            <a:off x="548641" y="1291810"/>
            <a:ext cx="2602153" cy="3909162"/>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Strong Authentication</a:t>
            </a:r>
          </a:p>
          <a:p>
            <a:pPr algn="ctr"/>
            <a:r>
              <a:rPr sz="2200">
                <a:solidFill>
                  <a:srgbClr val="FFFFFF"/>
                </a:solidFill>
              </a:rPr>
              <a:t>Questions alone are not enough. Add a one-time code to the registered device, or a callback to the number on file</a:t>
            </a:r>
          </a:p>
        </p:txBody>
      </p:sp>
      <p:sp>
        <p:nvSpPr>
          <p:cNvPr id="6" name="Rounded Rectangle 5"/>
          <p:cNvSpPr/>
          <p:nvPr/>
        </p:nvSpPr>
        <p:spPr>
          <a:xfrm>
            <a:off x="3379394" y="1291810"/>
            <a:ext cx="2602153" cy="3909162"/>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Official Contact Only</a:t>
            </a:r>
          </a:p>
          <a:p>
            <a:pPr algn="ctr"/>
            <a:r>
              <a:rPr sz="2200">
                <a:solidFill>
                  <a:srgbClr val="FFFFFF"/>
                </a:solidFill>
              </a:rPr>
              <a:t>Verify regulators, auditors and callers through publicly listed details, never the caller's own</a:t>
            </a:r>
          </a:p>
        </p:txBody>
      </p:sp>
      <p:sp>
        <p:nvSpPr>
          <p:cNvPr id="7" name="Rounded Rectangle 6"/>
          <p:cNvSpPr/>
          <p:nvPr/>
        </p:nvSpPr>
        <p:spPr>
          <a:xfrm>
            <a:off x="6210147" y="1291810"/>
            <a:ext cx="2602153" cy="3909162"/>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Third-Party Requests</a:t>
            </a:r>
          </a:p>
          <a:p>
            <a:pPr algn="ctr"/>
            <a:r>
              <a:rPr sz="2200">
                <a:solidFill>
                  <a:srgbClr val="FFFFFF"/>
                </a:solidFill>
              </a:rPr>
              <a:t>Before releasing data to a regulator, police or lawyer, confirm with your manager and legal. Routine requests follow normal authentication</a:t>
            </a:r>
          </a:p>
        </p:txBody>
      </p:sp>
      <p:sp>
        <p:nvSpPr>
          <p:cNvPr id="8" name="Rounded Rectangle 7"/>
          <p:cNvSpPr/>
          <p:nvPr/>
        </p:nvSpPr>
        <p:spPr>
          <a:xfrm>
            <a:off x="9040900" y="1291810"/>
            <a:ext cx="2602153" cy="3909162"/>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Time to Verify</a:t>
            </a:r>
          </a:p>
          <a:p>
            <a:pPr algn="ctr"/>
            <a:r>
              <a:rPr sz="2200">
                <a:solidFill>
                  <a:srgbClr val="FFFFFF"/>
                </a:solidFill>
              </a:rPr>
              <a:t>Urgency is the tactic, so slowing down to authenticate is always allowed</a:t>
            </a:r>
          </a:p>
        </p:txBody>
      </p:sp>
      <p:sp>
        <p:nvSpPr>
          <p:cNvPr id="9" name="TextBox 8"/>
          <p:cNvSpPr txBox="1"/>
          <p:nvPr/>
        </p:nvSpPr>
        <p:spPr>
          <a:xfrm>
            <a:off x="792327" y="5310412"/>
            <a:ext cx="10607040" cy="432308"/>
          </a:xfrm>
          <a:prstGeom prst="rect">
            <a:avLst/>
          </a:prstGeom>
          <a:noFill/>
        </p:spPr>
        <p:txBody>
          <a:bodyPr wrap="square">
            <a:spAutoFit/>
          </a:bodyPr>
          <a:lstStyle/>
          <a:p>
            <a:pPr algn="ctr"/>
            <a:r>
              <a:rPr sz="2200" i="1" b="1">
                <a:solidFill>
                  <a:srgbClr val="333333"/>
                </a:solidFill>
              </a:rPr>
              <a:t>If they won't complete authentication, that tells you everything you need to know.</a:t>
            </a:r>
          </a:p>
        </p:txBody>
      </p:sp>
      <p:sp>
        <p:nvSpPr>
          <p:cNvPr id="10" name="TextBox 9"/>
          <p:cNvSpPr txBox="1"/>
          <p:nvPr/>
        </p:nvSpPr>
        <p:spPr>
          <a:xfrm>
            <a:off x="10698480" y="6309360"/>
            <a:ext cx="1280160" cy="365760"/>
          </a:xfrm>
          <a:prstGeom prst="rect">
            <a:avLst/>
          </a:prstGeom>
          <a:noFill/>
        </p:spPr>
        <p:txBody>
          <a:bodyPr wrap="none">
            <a:spAutoFit/>
          </a:bodyPr>
          <a:lstStyle/>
          <a:p>
            <a:pPr algn="r"/>
            <a:r>
              <a:rPr sz="1100"/>
              <a:t>15</a:t>
            </a:r>
          </a:p>
        </p:txBody>
      </p:sp>
      <p:pic>
        <p:nvPicPr>
          <p:cNvPr id="11" name="narration_cs_L06.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12"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3"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6262" fill="hold"/>
                                        <p:tgtEl>
                                          <p:spTgt spid="11"/>
                                        </p:tgtEl>
                                      </p:cBhvr>
                                    </p:cmd>
                                  </p:childTnLst>
                                </p:cTn>
                              </p:par>
                              <p:par>
                                <p:cTn id="20" presetID="26" presetClass="emph" presetSubtype="0" repeatCount="indefinite" fill="hold" grpId="0" nodeType="withEffect">
                                  <p:stCondLst>
                                    <p:cond delay="46262"/>
                                  </p:stCondLst>
                                  <p:childTnLst>
                                    <p:animEffect transition="out" filter="fade">
                                      <p:cBhvr>
                                        <p:cTn id="21" dur="1000" tmFilter="0, 0; .2, .5; .8, .5; 1, 0"/>
                                        <p:tgtEl>
                                          <p:spTgt spid="13"/>
                                        </p:tgtEl>
                                      </p:cBhvr>
                                    </p:animEffect>
                                    <p:animScale>
                                      <p:cBhvr>
                                        <p:cTn id="22" dur="500" autoRev="1" fill="hold"/>
                                        <p:tgtEl>
                                          <p:spTgt spid="13"/>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1"/>
                </p:tgtEl>
              </p:cMediaNode>
            </p:audio>
          </p:childTnLst>
        </p:cTn>
      </p:par>
    </p:tnLst>
    <p:bldLst>
      <p:bldP spid="13"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1808475"/>
            <a:ext cx="3657600" cy="447802"/>
          </a:xfrm>
          <a:prstGeom prst="rect">
            <a:avLst/>
          </a:prstGeom>
          <a:noFill/>
        </p:spPr>
        <p:txBody>
          <a:bodyPr wrap="none">
            <a:spAutoFit/>
          </a:bodyPr>
          <a:lstStyle/>
          <a:p>
            <a:r>
              <a:rPr sz="2200" b="1">
                <a:solidFill>
                  <a:srgbClr val="E88A00"/>
                </a:solidFill>
              </a:rPr>
              <a:t>▶ SCENARIO: PHONE CALL</a:t>
            </a:r>
          </a:p>
        </p:txBody>
      </p:sp>
      <p:sp>
        <p:nvSpPr>
          <p:cNvPr id="5" name="TextBox 4"/>
          <p:cNvSpPr txBox="1"/>
          <p:nvPr/>
        </p:nvSpPr>
        <p:spPr>
          <a:xfrm>
            <a:off x="457200" y="777240"/>
            <a:ext cx="11247120" cy="789939"/>
          </a:xfrm>
          <a:prstGeom prst="rect">
            <a:avLst/>
          </a:prstGeom>
          <a:noFill/>
        </p:spPr>
        <p:txBody>
          <a:bodyPr wrap="square">
            <a:spAutoFit/>
          </a:bodyPr>
          <a:lstStyle/>
          <a:p>
            <a:pPr algn="ctr"/>
            <a:r>
              <a:rPr sz="4400" b="1">
                <a:solidFill>
                  <a:srgbClr val="000000"/>
                </a:solidFill>
              </a:rPr>
              <a:t>THE REGIONAL MANAGER</a:t>
            </a:r>
          </a:p>
        </p:txBody>
      </p:sp>
      <p:sp>
        <p:nvSpPr>
          <p:cNvPr id="6" name="TextBox 5"/>
          <p:cNvSpPr txBox="1"/>
          <p:nvPr/>
        </p:nvSpPr>
        <p:spPr>
          <a:xfrm>
            <a:off x="792327" y="2377177"/>
            <a:ext cx="10607040" cy="1573031"/>
          </a:xfrm>
          <a:prstGeom prst="rect">
            <a:avLst/>
          </a:prstGeom>
          <a:noFill/>
        </p:spPr>
        <p:txBody>
          <a:bodyPr wrap="square">
            <a:spAutoFit/>
          </a:bodyPr>
          <a:lstStyle/>
          <a:p>
            <a:pPr algn="ctr"/>
            <a:r>
              <a:rPr sz="2200" i="1" b="0">
                <a:solidFill>
                  <a:srgbClr val="333333"/>
                </a:solidFill>
              </a:rPr>
              <a:t>The voice sounds exactly like your regional manager. She says her mobile is flat, a VIP client is waiting, and she needs emergency access to the client's account right now. Your process: staff access to a client account needs an approved request in the CRM, under the requester's own login.</a:t>
            </a:r>
          </a:p>
        </p:txBody>
      </p:sp>
      <p:sp>
        <p:nvSpPr>
          <p:cNvPr id="7" name="Rounded Rectangle 6">
            <a:hlinkClick action="ppaction://hlinksldjump" r:id="rId4"/>
          </p:cNvPr>
          <p:cNvSpPr/>
          <p:nvPr/>
        </p:nvSpPr>
        <p:spPr>
          <a:xfrm>
            <a:off x="548640" y="4023360"/>
            <a:ext cx="3529584" cy="1737360"/>
          </a:xfrm>
          <a:prstGeom prst="roundRect">
            <a:avLst>
              <a:gd name="adj" fmla="val 8000"/>
            </a:avLst>
          </a:prstGeom>
          <a:gradFill rotWithShape="1">
            <a:gsLst>
              <a:gs pos="0">
                <a:srgbClr val="A0654A"/>
              </a:gs>
              <a:gs pos="100000">
                <a:srgbClr val="6E4633"/>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Ask her to raise the access request in the CRM from her own login.</a:t>
            </a:r>
          </a:p>
        </p:txBody>
      </p:sp>
      <p:sp>
        <p:nvSpPr>
          <p:cNvPr id="13" name="Rounded Rectangle X">
            <a:hlinkClick action="ppaction://hlinksldjump" r:id="rId9"/>
          </p:cNvPr>
          <p:cNvSpPr/>
          <p:nvPr/>
        </p:nvSpPr>
        <p:spPr>
          <a:xfrm>
            <a:off x="4329684" y="4023360"/>
            <a:ext cx="3529584" cy="1737360"/>
          </a:xfrm>
          <a:prstGeom prst="roundRect">
            <a:avLst>
              <a:gd name="adj" fmla="val 8000"/>
            </a:avLst>
          </a:prstGeom>
          <a:gradFill rotWithShape="1">
            <a:gsLst>
              <a:gs pos="0">
                <a:srgbClr val="A0654A"/>
              </a:gs>
              <a:gs pos="100000">
                <a:srgbClr val="6E4633"/>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Pass her to the duty supervisor, and let them decide on the access.</a:t>
            </a:r>
          </a:p>
        </p:txBody>
      </p:sp>
      <p:sp>
        <p:nvSpPr>
          <p:cNvPr id="8" name="Rounded Rectangle 7">
            <a:hlinkClick action="ppaction://hlinksldjump" r:id="rId3"/>
          </p:cNvPr>
          <p:cNvSpPr/>
          <p:nvPr/>
        </p:nvSpPr>
        <p:spPr>
          <a:xfrm>
            <a:off x="8110728" y="4023360"/>
            <a:ext cx="3529584" cy="1737360"/>
          </a:xfrm>
          <a:prstGeom prst="roundRect">
            <a:avLst>
              <a:gd name="adj" fmla="val 8000"/>
            </a:avLst>
          </a:prstGeom>
          <a:gradFill rotWithShape="1">
            <a:gsLst>
              <a:gs pos="0">
                <a:srgbClr val="A0654A"/>
              </a:gs>
              <a:gs pos="100000">
                <a:srgbClr val="6E4633"/>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Grant temporary access, and log the reason in the CRM under her name.</a:t>
            </a:r>
          </a:p>
        </p:txBody>
      </p:sp>
      <p:sp>
        <p:nvSpPr>
          <p:cNvPr id="9" name="TextBox 8"/>
          <p:cNvSpPr txBox="1"/>
          <p:nvPr/>
        </p:nvSpPr>
        <p:spPr>
          <a:xfrm>
            <a:off x="792327" y="5897880"/>
            <a:ext cx="10607040" cy="447802"/>
          </a:xfrm>
          <a:prstGeom prst="rect">
            <a:avLst/>
          </a:prstGeom>
          <a:noFill/>
        </p:spPr>
        <p:txBody>
          <a:bodyPr wrap="square">
            <a:spAutoFit/>
          </a:bodyPr>
          <a:lstStyle/>
          <a:p>
            <a:pPr algn="ctr"/>
            <a:r>
              <a:rPr sz="2200" i="1" b="0">
                <a:solidFill>
                  <a:srgbClr val="333333"/>
                </a:solidFill>
              </a:rPr>
              <a:t>Click a card to choose.</a:t>
            </a:r>
          </a:p>
        </p:txBody>
      </p:sp>
      <p:sp>
        <p:nvSpPr>
          <p:cNvPr id="10" name="TextBox 9"/>
          <p:cNvSpPr txBox="1"/>
          <p:nvPr/>
        </p:nvSpPr>
        <p:spPr>
          <a:xfrm>
            <a:off x="10698480" y="6309360"/>
            <a:ext cx="1280160" cy="365760"/>
          </a:xfrm>
          <a:prstGeom prst="rect">
            <a:avLst/>
          </a:prstGeom>
          <a:noFill/>
        </p:spPr>
        <p:txBody>
          <a:bodyPr wrap="none">
            <a:spAutoFit/>
          </a:bodyPr>
          <a:lstStyle/>
          <a:p>
            <a:pPr algn="r"/>
            <a:r>
              <a:rPr sz="1100"/>
              <a:t>16</a:t>
            </a:r>
          </a:p>
        </p:txBody>
      </p:sp>
      <p:pic>
        <p:nvPicPr>
          <p:cNvPr id="11" name="narration_cs_L09.mp3">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3152" y="6355080"/>
            <a:ext cx="365760" cy="365760"/>
          </a:xfrm>
          <a:prstGeom prst="rect">
            <a:avLst/>
          </a:prstGeom>
        </p:spPr>
      </p:pic>
      <p:sp>
        <p:nvSpPr>
          <p:cNvPr id="12" name="Kiosk Previous">
            <a:hlinkClick r:id="rId8" action="ppaction://hlinksldjump"/>
          </p:cNvPr>
          <p:cNvSpPr/>
          <p:nvPr/>
        </p:nvSpPr>
        <p:spPr>
          <a:xfrm>
            <a:off x="536432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2805"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1"/>
                </p:tgtEl>
              </p:cMediaNode>
            </p:audio>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108456"/>
            <a:ext cx="9418320" cy="773176"/>
          </a:xfrm>
          <a:prstGeom prst="rect">
            <a:avLst/>
          </a:prstGeom>
          <a:noFill/>
        </p:spPr>
        <p:txBody>
          <a:bodyPr wrap="none">
            <a:spAutoFit/>
          </a:bodyPr>
          <a:lstStyle/>
          <a:p>
            <a:pPr algn="ctr"/>
            <a:r>
              <a:rPr sz="4400" b="1">
                <a:solidFill>
                  <a:srgbClr val="A0654A"/>
                </a:solidFill>
              </a:rPr>
              <a:t>ACCESS GRANTED: FRAUD SUCCEEDED</a:t>
            </a:r>
          </a:p>
        </p:txBody>
      </p:sp>
      <p:sp>
        <p:nvSpPr>
          <p:cNvPr id="5" name="TextBox 4"/>
          <p:cNvSpPr txBox="1"/>
          <p:nvPr/>
        </p:nvSpPr>
        <p:spPr>
          <a:xfrm>
            <a:off x="792327" y="2384552"/>
            <a:ext cx="10607040" cy="1764792"/>
          </a:xfrm>
          <a:prstGeom prst="rect">
            <a:avLst/>
          </a:prstGeom>
          <a:noFill/>
        </p:spPr>
        <p:txBody>
          <a:bodyPr wrap="square">
            <a:spAutoFit/>
          </a:bodyPr>
          <a:lstStyle/>
          <a:p>
            <a:pPr algn="ctr"/>
            <a:r>
              <a:rPr sz="2400" i="0" b="0">
                <a:solidFill>
                  <a:srgbClr val="333333"/>
                </a:solidFill>
              </a:rPr>
              <a:t>The log looks compliant, and the caller reads the client's data. The real regional manager never called; her voice was cloned from a company town hall recording. A log entry records the access, but it does not prove who asked for it.</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17</a:t>
            </a:r>
          </a:p>
        </p:txBody>
      </p:sp>
      <p:sp>
        <p:nvSpPr>
          <p:cNvPr id="8" name="Kiosk Previous">
            <a:hlinkClick r:id="rId4" action="ppaction://hlinksldjump"/>
          </p:cNvPr>
          <p:cNvSpPr/>
          <p:nvPr/>
        </p:nvSpPr>
        <p:spPr>
          <a:xfrm>
            <a:off x="449564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9" name="Kiosk Next">
            <a:hlinkClick r:id="rId3" action="ppaction://hlinksldjump"/>
          </p:cNvPr>
          <p:cNvSpPr/>
          <p:nvPr/>
        </p:nvSpPr>
        <p:spPr>
          <a:xfrm>
            <a:off x="623300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0"/>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108456"/>
            <a:ext cx="9418320" cy="773176"/>
          </a:xfrm>
          <a:prstGeom prst="rect">
            <a:avLst/>
          </a:prstGeom>
          <a:noFill/>
        </p:spPr>
        <p:txBody>
          <a:bodyPr wrap="none">
            <a:spAutoFit/>
          </a:bodyPr>
          <a:lstStyle/>
          <a:p>
            <a:pPr algn="ctr"/>
            <a:r>
              <a:rPr sz="4400" b="1">
                <a:solidFill>
                  <a:srgbClr val="A0654A"/>
                </a:solidFill>
              </a:rPr>
              <a:t>ATTEMPT STOPPED</a:t>
            </a:r>
          </a:p>
        </p:txBody>
      </p:sp>
      <p:sp>
        <p:nvSpPr>
          <p:cNvPr id="5" name="TextBox 4"/>
          <p:cNvSpPr txBox="1"/>
          <p:nvPr/>
        </p:nvSpPr>
        <p:spPr>
          <a:xfrm>
            <a:off x="792327" y="2384552"/>
            <a:ext cx="10607040" cy="1764792"/>
          </a:xfrm>
          <a:prstGeom prst="rect">
            <a:avLst/>
          </a:prstGeom>
          <a:noFill/>
        </p:spPr>
        <p:txBody>
          <a:bodyPr wrap="square">
            <a:spAutoFit/>
          </a:bodyPr>
          <a:lstStyle/>
          <a:p>
            <a:pPr algn="ctr"/>
            <a:r>
              <a:rPr sz="2400" i="0" b="0">
                <a:solidFill>
                  <a:srgbClr val="333333"/>
                </a:solidFill>
              </a:rPr>
              <a:t>She cannot: the caller has no login or MFA for her account. The real regional manager, who was in a client meeting all afternoon, never made the request. The VIP waits, but nothing was granted and you report the call.</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18</a:t>
            </a:r>
          </a:p>
        </p:txBody>
      </p:sp>
      <p:sp>
        <p:nvSpPr>
          <p:cNvPr id="8" name="Kiosk Previous">
            <a:hlinkClick r:id="rId4" action="ppaction://hlinksldjump"/>
          </p:cNvPr>
          <p:cNvSpPr/>
          <p:nvPr/>
        </p:nvSpPr>
        <p:spPr>
          <a:xfrm>
            <a:off x="449564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9" name="Kiosk Next">
            <a:hlinkClick r:id="rId3" action="ppaction://hlinksldjump"/>
          </p:cNvPr>
          <p:cNvSpPr/>
          <p:nvPr/>
        </p:nvSpPr>
        <p:spPr>
          <a:xfrm>
            <a:off x="623300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0"/>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108456"/>
            <a:ext cx="9418320" cy="773176"/>
          </a:xfrm>
          <a:prstGeom prst="rect">
            <a:avLst/>
          </a:prstGeom>
          <a:noFill/>
        </p:spPr>
        <p:txBody>
          <a:bodyPr wrap="none">
            <a:spAutoFit/>
          </a:bodyPr>
          <a:lstStyle/>
          <a:p>
            <a:pPr algn="ctr"/>
            <a:r>
              <a:rPr sz="4400" b="1">
                <a:solidFill>
                  <a:srgbClr val="A0654A"/>
                </a:solidFill>
              </a:rPr>
              <a:t>PARTLY RIGHT</a:t>
            </a:r>
          </a:p>
        </p:txBody>
      </p:sp>
      <p:sp>
        <p:nvSpPr>
          <p:cNvPr id="5" name="TextBox 4"/>
          <p:cNvSpPr txBox="1"/>
          <p:nvPr/>
        </p:nvSpPr>
        <p:spPr>
          <a:xfrm>
            <a:off x="792327" y="2384552"/>
            <a:ext cx="10607040" cy="1764792"/>
          </a:xfrm>
          <a:prstGeom prst="rect">
            <a:avLst/>
          </a:prstGeom>
          <a:noFill/>
        </p:spPr>
        <p:txBody>
          <a:bodyPr wrap="square">
            <a:spAutoFit/>
          </a:bodyPr>
          <a:lstStyle/>
          <a:p>
            <a:pPr algn="ctr"/>
            <a:r>
              <a:rPr sz="2800" i="0" b="0">
                <a:solidFill>
                  <a:srgbClr val="333333"/>
                </a:solidFill>
              </a:rPr>
              <a:t>You avoid deciding alone, which is good. But the supervisor hears the same urgent story, the caller is still unverified, and the real manager has not been reached. Passing the call on is not the same as checking it.</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19</a:t>
            </a:r>
          </a:p>
        </p:txBody>
      </p:sp>
      <p:sp>
        <p:nvSpPr>
          <p:cNvPr id="8" name="Kiosk Previous">
            <a:hlinkClick action="ppaction://hlinksldjump" r:id="rId3"/>
          </p:cNvPr>
          <p:cNvSpPr/>
          <p:nvPr/>
        </p:nvSpPr>
        <p:spPr>
          <a:xfrm>
            <a:off x="449564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9" name="Kiosk Next">
            <a:hlinkClick action="ppaction://hlinksldjump" r:id="rId4"/>
          </p:cNvPr>
          <p:cNvSpPr/>
          <p:nvPr/>
        </p:nvSpPr>
        <p:spPr>
          <a:xfrm>
            <a:off x="623300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640080"/>
            <a:ext cx="11247120" cy="789939"/>
          </a:xfrm>
          <a:prstGeom prst="rect">
            <a:avLst/>
          </a:prstGeom>
          <a:noFill/>
        </p:spPr>
        <p:txBody>
          <a:bodyPr wrap="square">
            <a:spAutoFit/>
          </a:bodyPr>
          <a:lstStyle/>
          <a:p>
            <a:pPr algn="ctr"/>
            <a:r>
              <a:rPr sz="4400" b="1">
                <a:solidFill>
                  <a:srgbClr val="000000"/>
                </a:solidFill>
              </a:rPr>
              <a:t>DEBRIEF</a:t>
            </a:r>
          </a:p>
        </p:txBody>
      </p:sp>
      <p:sp>
        <p:nvSpPr>
          <p:cNvPr id="5" name="TextBox 4"/>
          <p:cNvSpPr txBox="1"/>
          <p:nvPr/>
        </p:nvSpPr>
        <p:spPr>
          <a:xfrm>
            <a:off x="792327" y="1648968"/>
            <a:ext cx="10607040" cy="3994911"/>
          </a:xfrm>
          <a:prstGeom prst="rect">
            <a:avLst/>
          </a:prstGeom>
          <a:noFill/>
        </p:spPr>
        <p:txBody>
          <a:bodyPr wrap="square">
            <a:spAutoFit/>
          </a:bodyPr>
          <a:lstStyle/>
          <a:p>
            <a:pPr>
              <a:spcAft>
                <a:spcPts val="1136"/>
              </a:spcAft>
              <a:defRPr sz="2800">
                <a:solidFill>
                  <a:srgbClr val="333333"/>
                </a:solidFill>
              </a:defRPr>
            </a:pPr>
            <a:r>
              <a:rPr sz="3200">
                <a:solidFill>
                  <a:srgbClr val="333333"/>
                </a:solidFill>
              </a:rPr>
              <a:t>A cloned voice can reproduce someone you recognise, and seniority plus a waiting VIP is a powerful lever. Granting access and logging it feels responsible, but the log only records the mistake.</a:t>
            </a:r>
          </a:p>
          <a:p>
            <a:pPr>
              <a:spcAft>
                <a:spcPts val="1136"/>
              </a:spcAft>
              <a:defRPr sz="2800">
                <a:solidFill>
                  <a:srgbClr val="333333"/>
                </a:solidFill>
              </a:defRPr>
            </a:pPr>
            <a:r>
              <a:rPr sz="3200">
                <a:solidFill>
                  <a:srgbClr val="333333"/>
                </a:solidFill>
              </a:rPr>
              <a:t>Access to a client account needs an approved request under the requester's own login. If she is who she says, she can raise it; if she is not, she cannot.</a:t>
            </a:r>
          </a:p>
        </p:txBody>
      </p:sp>
      <p:sp>
        <p:nvSpPr>
          <p:cNvPr id="6" name="TextBox 5"/>
          <p:cNvSpPr txBox="1"/>
          <p:nvPr/>
        </p:nvSpPr>
        <p:spPr>
          <a:xfrm>
            <a:off x="10698480" y="6309360"/>
            <a:ext cx="1280160" cy="365760"/>
          </a:xfrm>
          <a:prstGeom prst="rect">
            <a:avLst/>
          </a:prstGeom>
          <a:noFill/>
        </p:spPr>
        <p:txBody>
          <a:bodyPr wrap="none">
            <a:spAutoFit/>
          </a:bodyPr>
          <a:lstStyle/>
          <a:p>
            <a:pPr algn="r"/>
            <a:r>
              <a:rPr sz="1100"/>
              <a:t>20</a:t>
            </a:r>
          </a:p>
        </p:txBody>
      </p:sp>
      <p:pic>
        <p:nvPicPr>
          <p:cNvPr id="103" name="narration_cs_L10.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104" name="Citation"/>
          <p:cNvSpPr txBox="1"/>
          <p:nvPr/>
        </p:nvSpPr>
        <p:spPr>
          <a:xfrm>
            <a:off x="457200" y="5870448"/>
            <a:ext cx="11247120" cy="432308"/>
          </a:xfrm>
          <a:prstGeom prst="rect">
            <a:avLst/>
          </a:prstGeom>
          <a:noFill/>
        </p:spPr>
        <p:txBody>
          <a:bodyPr wrap="square">
            <a:spAutoFit/>
          </a:bodyPr>
          <a:lstStyle/>
          <a:p>
            <a:pPr algn="l"/>
            <a:r>
              <a:rPr lang="en-US" sz="1800" i="1">
                <a:solidFill>
                  <a:srgbClr val="666666"/>
                </a:solidFill>
              </a:rPr>
              <a:t>Sources: Canadian Centre for Cyber Security; Get Cyber Safe; FBI IC3 PSA I-120324</a:t>
            </a:r>
          </a:p>
        </p:txBody>
      </p:sp>
      <p:sp>
        <p:nvSpPr>
          <p:cNvPr id="105"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06"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4033" fill="hold"/>
                                        <p:tgtEl>
                                          <p:spTgt spid="103"/>
                                        </p:tgtEl>
                                      </p:cBhvr>
                                    </p:cmd>
                                  </p:childTnLst>
                                </p:cTn>
                              </p:par>
                              <p:par>
                                <p:cTn id="20" presetID="26" presetClass="emph" presetSubtype="0" repeatCount="indefinite" fill="hold" grpId="0" nodeType="withEffect">
                                  <p:stCondLst>
                                    <p:cond delay="24033"/>
                                  </p:stCondLst>
                                  <p:childTnLst>
                                    <p:animEffect transition="out" filter="fade">
                                      <p:cBhvr>
                                        <p:cTn id="21" dur="1000" tmFilter="0, 0; .2, .5; .8, .5; 1, 0"/>
                                        <p:tgtEl>
                                          <p:spTgt spid="106"/>
                                        </p:tgtEl>
                                      </p:cBhvr>
                                    </p:animEffect>
                                    <p:animScale>
                                      <p:cBhvr>
                                        <p:cTn id="22" dur="500" autoRev="1" fill="hold"/>
                                        <p:tgtEl>
                                          <p:spTgt spid="106"/>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03"/>
                </p:tgtEl>
              </p:cMediaNode>
            </p:audio>
          </p:childTnLst>
        </p:cTn>
      </p:par>
    </p:tnLst>
    <p:bldLst>
      <p:bldP spid="106"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1750442"/>
            <a:ext cx="3657600" cy="416814"/>
          </a:xfrm>
          <a:prstGeom prst="rect">
            <a:avLst/>
          </a:prstGeom>
          <a:noFill/>
        </p:spPr>
        <p:txBody>
          <a:bodyPr wrap="none">
            <a:spAutoFit/>
          </a:bodyPr>
          <a:lstStyle/>
          <a:p>
            <a:r>
              <a:rPr sz="2000" b="1">
                <a:solidFill>
                  <a:srgbClr val="E88A00"/>
                </a:solidFill>
              </a:rPr>
              <a:t>▶ SCENARIO: VIDEO CALL</a:t>
            </a:r>
          </a:p>
        </p:txBody>
      </p:sp>
      <p:sp>
        <p:nvSpPr>
          <p:cNvPr id="5" name="TextBox 4"/>
          <p:cNvSpPr txBox="1"/>
          <p:nvPr/>
        </p:nvSpPr>
        <p:spPr>
          <a:xfrm>
            <a:off x="457200" y="777240"/>
            <a:ext cx="11247120" cy="789939"/>
          </a:xfrm>
          <a:prstGeom prst="rect">
            <a:avLst/>
          </a:prstGeom>
          <a:noFill/>
        </p:spPr>
        <p:txBody>
          <a:bodyPr wrap="square">
            <a:spAutoFit/>
          </a:bodyPr>
          <a:lstStyle/>
          <a:p>
            <a:pPr algn="ctr"/>
            <a:r>
              <a:rPr sz="4400" b="1">
                <a:solidFill>
                  <a:srgbClr val="000000"/>
                </a:solidFill>
              </a:rPr>
              <a:t>THE VIDEO ID CHECK</a:t>
            </a:r>
          </a:p>
        </p:txBody>
      </p:sp>
      <p:sp>
        <p:nvSpPr>
          <p:cNvPr id="6" name="Rounded Rectangle 6">
            <a:hlinkClick action="ppaction://hlinksldjump" r:id="rId3"/>
          </p:cNvPr>
          <p:cNvSpPr/>
          <p:nvPr/>
        </p:nvSpPr>
        <p:spPr>
          <a:xfrm>
            <a:off x="548640" y="4023360"/>
            <a:ext cx="3529584" cy="1737360"/>
          </a:xfrm>
          <a:prstGeom prst="roundRect">
            <a:avLst>
              <a:gd name="adj" fmla="val 8000"/>
            </a:avLst>
          </a:prstGeom>
          <a:gradFill rotWithShape="1">
            <a:gsLst>
              <a:gs pos="0">
                <a:srgbClr val="A0654A"/>
              </a:gs>
              <a:gs pos="100000">
                <a:srgbClr val="6E4633"/>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Match his face to the photo and check the ID, then make the change.</a:t>
            </a:r>
          </a:p>
        </p:txBody>
      </p:sp>
      <p:sp>
        <p:nvSpPr>
          <p:cNvPr id="13" name="Rounded Rectangle X">
            <a:hlinkClick action="ppaction://hlinksldjump" r:id="rId9"/>
          </p:cNvPr>
          <p:cNvSpPr/>
          <p:nvPr/>
        </p:nvSpPr>
        <p:spPr>
          <a:xfrm>
            <a:off x="4329684" y="4023360"/>
            <a:ext cx="3529584" cy="1737360"/>
          </a:xfrm>
          <a:prstGeom prst="roundRect">
            <a:avLst>
              <a:gd name="adj" fmla="val 8000"/>
            </a:avLst>
          </a:prstGeom>
          <a:gradFill rotWithShape="1">
            <a:gsLst>
              <a:gs pos="0">
                <a:srgbClr val="A0654A"/>
              </a:gs>
              <a:gs pos="100000">
                <a:srgbClr val="6E4633"/>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Make the change, and flag the account for review so the old email is notified.</a:t>
            </a:r>
          </a:p>
        </p:txBody>
      </p:sp>
      <p:sp>
        <p:nvSpPr>
          <p:cNvPr id="7" name="Rounded Rectangle 7">
            <a:hlinkClick action="ppaction://hlinksldjump" r:id="rId4"/>
          </p:cNvPr>
          <p:cNvSpPr/>
          <p:nvPr/>
        </p:nvSpPr>
        <p:spPr>
          <a:xfrm>
            <a:off x="8110728" y="4023360"/>
            <a:ext cx="3529584" cy="1737360"/>
          </a:xfrm>
          <a:prstGeom prst="roundRect">
            <a:avLst>
              <a:gd name="adj" fmla="val 8000"/>
            </a:avLst>
          </a:prstGeom>
          <a:gradFill rotWithShape="1">
            <a:gsLst>
              <a:gs pos="0">
                <a:srgbClr val="A0654A"/>
              </a:gs>
              <a:gs pos="100000">
                <a:srgbClr val="6E4633"/>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Decline the change, and send the app identity check to his registered mobile.</a:t>
            </a:r>
          </a:p>
        </p:txBody>
      </p:sp>
      <p:sp>
        <p:nvSpPr>
          <p:cNvPr id="8" name="TextBox 8"/>
          <p:cNvSpPr txBox="1"/>
          <p:nvPr/>
        </p:nvSpPr>
        <p:spPr>
          <a:xfrm>
            <a:off x="792327" y="5897880"/>
            <a:ext cx="10607040" cy="416814"/>
          </a:xfrm>
          <a:prstGeom prst="rect">
            <a:avLst/>
          </a:prstGeom>
          <a:noFill/>
        </p:spPr>
        <p:txBody>
          <a:bodyPr wrap="square">
            <a:spAutoFit/>
          </a:bodyPr>
          <a:lstStyle/>
          <a:p>
            <a:pPr algn="ctr"/>
            <a:r>
              <a:rPr sz="2200" i="1" b="0">
                <a:solidFill>
                  <a:srgbClr val="333333"/>
                </a:solidFill>
              </a:rPr>
              <a:t>Click a card to choose.</a:t>
            </a:r>
          </a:p>
        </p:txBody>
      </p:sp>
      <p:sp>
        <p:nvSpPr>
          <p:cNvPr id="9" name="TextBox 9"/>
          <p:cNvSpPr txBox="1"/>
          <p:nvPr/>
        </p:nvSpPr>
        <p:spPr>
          <a:xfrm>
            <a:off x="10698480" y="6309360"/>
            <a:ext cx="1280160" cy="365760"/>
          </a:xfrm>
          <a:prstGeom prst="rect">
            <a:avLst/>
          </a:prstGeom>
          <a:noFill/>
        </p:spPr>
        <p:txBody>
          <a:bodyPr wrap="none">
            <a:spAutoFit/>
          </a:bodyPr>
          <a:lstStyle/>
          <a:p>
            <a:pPr algn="r"/>
            <a:r>
              <a:rPr sz="1100"/>
              <a:t>21</a:t>
            </a:r>
          </a:p>
        </p:txBody>
      </p:sp>
      <p:sp>
        <p:nvSpPr>
          <p:cNvPr id="10" name="Rounded Rectangle 6"/>
          <p:cNvSpPr/>
          <p:nvPr/>
        </p:nvSpPr>
        <p:spPr>
          <a:xfrm>
            <a:off x="929487" y="2230122"/>
            <a:ext cx="10332720" cy="1720086"/>
          </a:xfrm>
          <a:prstGeom prst="round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274320" tIns="228600"/>
          <a:lstStyle/>
          <a:p>
            <a:pPr>
              <a:defRPr sz="2100" b="0">
                <a:solidFill>
                  <a:srgbClr val="000000"/>
                </a:solidFill>
              </a:defRPr>
            </a:pPr>
            <a:r>
              <a:rPr sz="2000" b="0">
                <a:solidFill>
                  <a:srgbClr val="000000"/>
                </a:solidFill>
              </a:rPr>
              <a:t>A customer says he cannot pass the phone checks and offers a video call to prove who he is. His face matches the photo on file and he holds an ID up to the camera. He wants his email address and mobile number changed today. Your process: contact changes need a passed identity check, and each change sends a notice to the old contact.</a:t>
            </a:r>
          </a:p>
        </p:txBody>
      </p:sp>
      <p:sp>
        <p:nvSpPr>
          <p:cNvPr id="11" name="Kiosk Previous">
            <a:hlinkClick r:id="rId5" action="ppaction://hlinksldjump"/>
          </p:cNvPr>
          <p:cNvSpPr/>
          <p:nvPr/>
        </p:nvSpPr>
        <p:spPr>
          <a:xfrm>
            <a:off x="536432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pic>
        <p:nvPicPr>
          <p:cNvPr id="12" name="narration_cs_20.mp3">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8"/>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443"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2"/>
                </p:tgtEl>
              </p:cMediaNode>
            </p:audio>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096518"/>
            <a:ext cx="9418320" cy="695706"/>
          </a:xfrm>
          <a:prstGeom prst="rect">
            <a:avLst/>
          </a:prstGeom>
          <a:noFill/>
        </p:spPr>
        <p:txBody>
          <a:bodyPr wrap="none">
            <a:spAutoFit/>
          </a:bodyPr>
          <a:lstStyle/>
          <a:p>
            <a:pPr algn="ctr"/>
            <a:r>
              <a:rPr sz="3600" b="1">
                <a:solidFill>
                  <a:srgbClr val="A0654A"/>
                </a:solidFill>
              </a:rPr>
              <a:t>ACCOUNT TAKEN OVER: FRAUD SUCCEEDED</a:t>
            </a:r>
          </a:p>
        </p:txBody>
      </p:sp>
      <p:sp>
        <p:nvSpPr>
          <p:cNvPr id="5" name="TextBox 4"/>
          <p:cNvSpPr txBox="1"/>
          <p:nvPr/>
        </p:nvSpPr>
        <p:spPr>
          <a:xfrm>
            <a:off x="792327" y="2249424"/>
            <a:ext cx="10607040" cy="2322576"/>
          </a:xfrm>
          <a:prstGeom prst="rect">
            <a:avLst/>
          </a:prstGeom>
          <a:noFill/>
        </p:spPr>
        <p:txBody>
          <a:bodyPr wrap="square">
            <a:spAutoFit/>
          </a:bodyPr>
          <a:lstStyle/>
          <a:p>
            <a:pPr algn="ctr"/>
            <a:r>
              <a:rPr sz="2800" i="0" b="0">
                <a:solidFill>
                  <a:srgbClr val="333333"/>
                </a:solidFill>
              </a:rPr>
              <a:t>The face matches the photo because it was built from it. The customer was never on the call: the face was a deepfake made from photos and video posted online, and the ID was AI-generated. Once the email and mobile were changed, every code went to the attacker.</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22</a:t>
            </a:r>
          </a:p>
        </p:txBody>
      </p:sp>
      <p:sp>
        <p:nvSpPr>
          <p:cNvPr id="8" name="Kiosk Previous">
            <a:hlinkClick r:id="rId4" action="ppaction://hlinksldjump"/>
          </p:cNvPr>
          <p:cNvSpPr/>
          <p:nvPr/>
        </p:nvSpPr>
        <p:spPr>
          <a:xfrm>
            <a:off x="449564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9" name="Kiosk Next">
            <a:hlinkClick r:id="rId3" action="ppaction://hlinksldjump"/>
          </p:cNvPr>
          <p:cNvSpPr/>
          <p:nvPr/>
        </p:nvSpPr>
        <p:spPr>
          <a:xfrm>
            <a:off x="623300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0"/>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081024"/>
            <a:ext cx="9418320" cy="773176"/>
          </a:xfrm>
          <a:prstGeom prst="rect">
            <a:avLst/>
          </a:prstGeom>
          <a:noFill/>
        </p:spPr>
        <p:txBody>
          <a:bodyPr wrap="none">
            <a:spAutoFit/>
          </a:bodyPr>
          <a:lstStyle/>
          <a:p>
            <a:pPr algn="ctr"/>
            <a:r>
              <a:rPr sz="4400" b="1">
                <a:solidFill>
                  <a:srgbClr val="A0654A"/>
                </a:solidFill>
              </a:rPr>
              <a:t>ATTEMPT STOPPED</a:t>
            </a:r>
          </a:p>
        </p:txBody>
      </p:sp>
      <p:sp>
        <p:nvSpPr>
          <p:cNvPr id="5" name="TextBox 4"/>
          <p:cNvSpPr txBox="1"/>
          <p:nvPr/>
        </p:nvSpPr>
        <p:spPr>
          <a:xfrm>
            <a:off x="792327" y="2476669"/>
            <a:ext cx="10607040" cy="1764792"/>
          </a:xfrm>
          <a:prstGeom prst="rect">
            <a:avLst/>
          </a:prstGeom>
          <a:noFill/>
        </p:spPr>
        <p:txBody>
          <a:bodyPr wrap="square">
            <a:spAutoFit/>
          </a:bodyPr>
          <a:lstStyle/>
          <a:p>
            <a:pPr algn="ctr"/>
            <a:r>
              <a:rPr sz="3200" i="0" b="0">
                <a:solidFill>
                  <a:srgbClr val="333333"/>
                </a:solidFill>
              </a:rPr>
              <a:t>The check goes to the registered mobile. The real customer receives it, never asked for it, and tells you so. The change is declined and the fraud team is told.</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23</a:t>
            </a:r>
          </a:p>
        </p:txBody>
      </p:sp>
      <p:sp>
        <p:nvSpPr>
          <p:cNvPr id="8" name="Kiosk Previous">
            <a:hlinkClick r:id="rId4" action="ppaction://hlinksldjump"/>
          </p:cNvPr>
          <p:cNvSpPr/>
          <p:nvPr/>
        </p:nvSpPr>
        <p:spPr>
          <a:xfrm>
            <a:off x="449564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9" name="Kiosk Next">
            <a:hlinkClick r:id="rId3" action="ppaction://hlinksldjump"/>
          </p:cNvPr>
          <p:cNvSpPr/>
          <p:nvPr/>
        </p:nvSpPr>
        <p:spPr>
          <a:xfrm>
            <a:off x="623300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0"/>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081024"/>
            <a:ext cx="9418320" cy="773176"/>
          </a:xfrm>
          <a:prstGeom prst="rect">
            <a:avLst/>
          </a:prstGeom>
          <a:noFill/>
        </p:spPr>
        <p:txBody>
          <a:bodyPr wrap="none">
            <a:spAutoFit/>
          </a:bodyPr>
          <a:lstStyle/>
          <a:p>
            <a:pPr algn="ctr"/>
            <a:r>
              <a:rPr sz="4400" b="1">
                <a:solidFill>
                  <a:srgbClr val="A0654A"/>
                </a:solidFill>
              </a:rPr>
              <a:t>PARTLY RIGHT</a:t>
            </a:r>
          </a:p>
        </p:txBody>
      </p:sp>
      <p:sp>
        <p:nvSpPr>
          <p:cNvPr id="5" name="TextBox 4"/>
          <p:cNvSpPr txBox="1"/>
          <p:nvPr/>
        </p:nvSpPr>
        <p:spPr>
          <a:xfrm>
            <a:off x="792327" y="2476669"/>
            <a:ext cx="10607040" cy="1764792"/>
          </a:xfrm>
          <a:prstGeom prst="rect">
            <a:avLst/>
          </a:prstGeom>
          <a:noFill/>
        </p:spPr>
        <p:txBody>
          <a:bodyPr wrap="square">
            <a:spAutoFit/>
          </a:bodyPr>
          <a:lstStyle/>
          <a:p>
            <a:pPr algn="ctr"/>
            <a:r>
              <a:rPr sz="2400" i="0" b="0">
                <a:solidFill>
                  <a:srgbClr val="333333"/>
                </a:solidFill>
              </a:rPr>
              <a:t>The notice goes to the old email, which is the right control, but only after the change. The attacker already has the new email and mobile, and may use them before the real customer reads it. Prevention would have stopped it; the notice only reports it.</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24</a:t>
            </a:r>
          </a:p>
        </p:txBody>
      </p:sp>
      <p:sp>
        <p:nvSpPr>
          <p:cNvPr id="8" name="Kiosk Previous">
            <a:hlinkClick action="ppaction://hlinksldjump" r:id="rId3"/>
          </p:cNvPr>
          <p:cNvSpPr/>
          <p:nvPr/>
        </p:nvSpPr>
        <p:spPr>
          <a:xfrm>
            <a:off x="449564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9" name="Kiosk Next">
            <a:hlinkClick action="ppaction://hlinksldjump" r:id="rId4"/>
          </p:cNvPr>
          <p:cNvSpPr/>
          <p:nvPr/>
        </p:nvSpPr>
        <p:spPr>
          <a:xfrm>
            <a:off x="623300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640080"/>
            <a:ext cx="11247120" cy="789939"/>
          </a:xfrm>
          <a:prstGeom prst="rect">
            <a:avLst/>
          </a:prstGeom>
          <a:noFill/>
        </p:spPr>
        <p:txBody>
          <a:bodyPr wrap="square">
            <a:spAutoFit/>
          </a:bodyPr>
          <a:lstStyle/>
          <a:p>
            <a:pPr algn="ctr"/>
            <a:r>
              <a:rPr sz="4400" b="1">
                <a:solidFill>
                  <a:srgbClr val="000000"/>
                </a:solidFill>
              </a:rPr>
              <a:t>DEBRIEF</a:t>
            </a:r>
          </a:p>
        </p:txBody>
      </p:sp>
      <p:sp>
        <p:nvSpPr>
          <p:cNvPr id="5" name="TextBox 4"/>
          <p:cNvSpPr txBox="1"/>
          <p:nvPr/>
        </p:nvSpPr>
        <p:spPr>
          <a:xfrm>
            <a:off x="792327" y="1879727"/>
            <a:ext cx="10607040" cy="3533394"/>
          </a:xfrm>
          <a:prstGeom prst="rect">
            <a:avLst/>
          </a:prstGeom>
          <a:noFill/>
        </p:spPr>
        <p:txBody>
          <a:bodyPr wrap="square">
            <a:spAutoFit/>
          </a:bodyPr>
          <a:lstStyle/>
          <a:p>
            <a:pPr>
              <a:spcAft>
                <a:spcPts val="1168"/>
              </a:spcAft>
              <a:defRPr sz="2900">
                <a:solidFill>
                  <a:srgbClr val="333333"/>
                </a:solidFill>
              </a:defRPr>
            </a:pPr>
            <a:r>
              <a:rPr sz="3200">
                <a:solidFill>
                  <a:srgbClr val="333333"/>
                </a:solidFill>
              </a:rPr>
              <a:t>A face and an ID held up to a camera are not an identity check: deepfakes and AI-generated IDs can pass both. Making the change and flagging it for review is a common workaround, but the notice arrives after the damage.</a:t>
            </a:r>
          </a:p>
          <a:p>
            <a:pPr>
              <a:spcAft>
                <a:spcPts val="1168"/>
              </a:spcAft>
              <a:defRPr sz="2900">
                <a:solidFill>
                  <a:srgbClr val="333333"/>
                </a:solidFill>
              </a:defRPr>
            </a:pPr>
            <a:r>
              <a:rPr sz="3200">
                <a:solidFill>
                  <a:srgbClr val="333333"/>
                </a:solidFill>
              </a:rPr>
              <a:t>Use the identity check built for this: the app check, sent to the contact details already on the account.</a:t>
            </a:r>
          </a:p>
        </p:txBody>
      </p:sp>
      <p:sp>
        <p:nvSpPr>
          <p:cNvPr id="6" name="TextBox 5"/>
          <p:cNvSpPr txBox="1"/>
          <p:nvPr/>
        </p:nvSpPr>
        <p:spPr>
          <a:xfrm>
            <a:off x="10698480" y="6309360"/>
            <a:ext cx="1280160" cy="365760"/>
          </a:xfrm>
          <a:prstGeom prst="rect">
            <a:avLst/>
          </a:prstGeom>
          <a:noFill/>
        </p:spPr>
        <p:txBody>
          <a:bodyPr wrap="none">
            <a:spAutoFit/>
          </a:bodyPr>
          <a:lstStyle/>
          <a:p>
            <a:pPr algn="r"/>
            <a:r>
              <a:rPr sz="1100"/>
              <a:t>25</a:t>
            </a:r>
          </a:p>
        </p:txBody>
      </p:sp>
      <p:sp>
        <p:nvSpPr>
          <p:cNvPr id="8" name="Citation"/>
          <p:cNvSpPr txBox="1"/>
          <p:nvPr/>
        </p:nvSpPr>
        <p:spPr>
          <a:xfrm>
            <a:off x="457200" y="5870448"/>
            <a:ext cx="11247120" cy="432308"/>
          </a:xfrm>
          <a:prstGeom prst="rect">
            <a:avLst/>
          </a:prstGeom>
          <a:noFill/>
        </p:spPr>
        <p:txBody>
          <a:bodyPr wrap="square">
            <a:spAutoFit/>
          </a:bodyPr>
          <a:lstStyle/>
          <a:p>
            <a:pPr algn="l"/>
            <a:r>
              <a:rPr lang="en-US" sz="1800" i="1">
                <a:solidFill>
                  <a:srgbClr val="666666"/>
                </a:solidFill>
              </a:rPr>
              <a:t>Source: FBI IC3 PSA I-120324-PSA (AI-generated images and video)</a:t>
            </a:r>
          </a:p>
        </p:txBody>
      </p:sp>
      <p:sp>
        <p:nvSpPr>
          <p:cNvPr id="9" name="Kiosk Previous">
            <a:hlinkClick r:id="rId3" action="ppaction://hlinksldjump"/>
          </p:cNvPr>
          <p:cNvSpPr/>
          <p:nvPr/>
        </p:nvSpPr>
        <p:spPr>
          <a:xfrm>
            <a:off x="449564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0" name="Kiosk Next">
            <a:hlinkClick r:id="rId4" action="ppaction://hlinksldjump"/>
          </p:cNvPr>
          <p:cNvSpPr/>
          <p:nvPr/>
        </p:nvSpPr>
        <p:spPr>
          <a:xfrm>
            <a:off x="623300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pic>
        <p:nvPicPr>
          <p:cNvPr id="11" name="narration_cs_23.mp3">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2491" fill="hold"/>
                                        <p:tgtEl>
                                          <p:spTgt spid="11"/>
                                        </p:tgtEl>
                                      </p:cBhvr>
                                    </p:cmd>
                                  </p:childTnLst>
                                </p:cTn>
                              </p:par>
                              <p:par>
                                <p:cTn id="20" presetID="26" presetClass="emph" presetSubtype="0" repeatCount="indefinite" fill="hold" grpId="0" nodeType="withEffect">
                                  <p:stCondLst>
                                    <p:cond delay="22491"/>
                                  </p:stCondLst>
                                  <p:childTnLst>
                                    <p:animEffect transition="out" filter="fade">
                                      <p:cBhvr>
                                        <p:cTn id="21" dur="1000" tmFilter="0, 0; .2, .5; .8, .5; 1, 0"/>
                                        <p:tgtEl>
                                          <p:spTgt spid="10"/>
                                        </p:tgtEl>
                                      </p:cBhvr>
                                    </p:animEffect>
                                    <p:animScale>
                                      <p:cBhvr>
                                        <p:cTn id="22" dur="500" autoRev="1" fill="hold"/>
                                        <p:tgtEl>
                                          <p:spTgt spid="10"/>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1"/>
                </p:tgtEl>
              </p:cMediaNode>
            </p:audio>
          </p:childTnLst>
        </p:cTn>
      </p:par>
    </p:tnLst>
    <p:bldLst>
      <p:bldP spid="10" grpId="0" animBg="1"/>
    </p:bld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92327" y="1510284"/>
            <a:ext cx="10607040" cy="649224"/>
          </a:xfrm>
          <a:prstGeom prst="rect">
            <a:avLst/>
          </a:prstGeom>
          <a:noFill/>
        </p:spPr>
        <p:txBody>
          <a:bodyPr wrap="square">
            <a:spAutoFit/>
          </a:bodyPr>
          <a:lstStyle/>
          <a:p>
            <a:pPr algn="ctr"/>
            <a:r>
              <a:rPr sz="3600" i="0" b="1">
                <a:solidFill>
                  <a:srgbClr val="B85C38"/>
                </a:solidFill>
              </a:rPr>
              <a:t>PHASE 3</a:t>
            </a:r>
          </a:p>
        </p:txBody>
      </p:sp>
      <p:sp>
        <p:nvSpPr>
          <p:cNvPr id="5" name="TextBox 4"/>
          <p:cNvSpPr txBox="1"/>
          <p:nvPr/>
        </p:nvSpPr>
        <p:spPr>
          <a:xfrm>
            <a:off x="731520" y="2662428"/>
            <a:ext cx="10698480" cy="1021080"/>
          </a:xfrm>
          <a:prstGeom prst="rect">
            <a:avLst/>
          </a:prstGeom>
          <a:noFill/>
        </p:spPr>
        <p:txBody>
          <a:bodyPr wrap="none">
            <a:spAutoFit/>
          </a:bodyPr>
          <a:lstStyle/>
          <a:p>
            <a:pPr algn="ctr"/>
            <a:r>
              <a:rPr sz="6000" b="1">
                <a:solidFill>
                  <a:srgbClr val="000000"/>
                </a:solidFill>
              </a:rPr>
              <a:t>CONTAIN</a:t>
            </a:r>
          </a:p>
        </p:txBody>
      </p:sp>
      <p:sp>
        <p:nvSpPr>
          <p:cNvPr id="6" name="TextBox 5"/>
          <p:cNvSpPr txBox="1"/>
          <p:nvPr/>
        </p:nvSpPr>
        <p:spPr>
          <a:xfrm>
            <a:off x="792327" y="4186428"/>
            <a:ext cx="10607040" cy="1207008"/>
          </a:xfrm>
          <a:prstGeom prst="rect">
            <a:avLst/>
          </a:prstGeom>
          <a:noFill/>
        </p:spPr>
        <p:txBody>
          <a:bodyPr wrap="square">
            <a:spAutoFit/>
          </a:bodyPr>
          <a:lstStyle/>
          <a:p>
            <a:pPr algn="ctr"/>
            <a:r>
              <a:rPr sz="3600" i="1" b="0">
                <a:solidFill>
                  <a:srgbClr val="333333"/>
                </a:solidFill>
              </a:rPr>
              <a:t>You caught it, or you didn't. Either way, here's what happens next.</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26</a:t>
            </a:r>
          </a:p>
        </p:txBody>
      </p:sp>
      <p:pic>
        <p:nvPicPr>
          <p:cNvPr id="57" name="narration_slide22.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58"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59"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710" fill="hold"/>
                                        <p:tgtEl>
                                          <p:spTgt spid="57"/>
                                        </p:tgtEl>
                                      </p:cBhvr>
                                    </p:cmd>
                                  </p:childTnLst>
                                </p:cTn>
                              </p:par>
                              <p:par>
                                <p:cTn id="20" presetID="26" presetClass="emph" presetSubtype="0" repeatCount="indefinite" fill="hold" grpId="0" nodeType="withEffect">
                                  <p:stCondLst>
                                    <p:cond delay="10710"/>
                                  </p:stCondLst>
                                  <p:childTnLst>
                                    <p:animEffect transition="out" filter="fade">
                                      <p:cBhvr>
                                        <p:cTn id="21" dur="1000" tmFilter="0, 0; .2, .5; .8, .5; 1, 0"/>
                                        <p:tgtEl>
                                          <p:spTgt spid="59"/>
                                        </p:tgtEl>
                                      </p:cBhvr>
                                    </p:animEffect>
                                    <p:animScale>
                                      <p:cBhvr>
                                        <p:cTn id="22" dur="500" autoRev="1" fill="hold"/>
                                        <p:tgtEl>
                                          <p:spTgt spid="59"/>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57"/>
                </p:tgtEl>
              </p:cMediaNode>
            </p:audio>
          </p:childTnLst>
        </p:cTn>
      </p:par>
    </p:tnLst>
    <p:bldLst>
      <p:bldP spid="59" grpId="0" animBg="1"/>
    </p:bld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411480"/>
            <a:ext cx="11247120" cy="789939"/>
          </a:xfrm>
          <a:prstGeom prst="rect">
            <a:avLst/>
          </a:prstGeom>
          <a:noFill/>
        </p:spPr>
        <p:txBody>
          <a:bodyPr wrap="square">
            <a:spAutoFit/>
          </a:bodyPr>
          <a:lstStyle/>
          <a:p>
            <a:pPr algn="ctr"/>
            <a:r>
              <a:rPr sz="4400" b="1">
                <a:solidFill>
                  <a:srgbClr val="000000"/>
                </a:solidFill>
              </a:rPr>
              <a:t>CONTAIN: WHAT TO DO, IN ORDER</a:t>
            </a:r>
          </a:p>
        </p:txBody>
      </p:sp>
      <p:sp>
        <p:nvSpPr>
          <p:cNvPr id="5" name="TextBox 9"/>
          <p:cNvSpPr txBox="1"/>
          <p:nvPr/>
        </p:nvSpPr>
        <p:spPr>
          <a:xfrm>
            <a:off x="10698480" y="6309360"/>
            <a:ext cx="1280160" cy="365760"/>
          </a:xfrm>
          <a:prstGeom prst="rect">
            <a:avLst/>
          </a:prstGeom>
          <a:noFill/>
        </p:spPr>
        <p:txBody>
          <a:bodyPr wrap="none">
            <a:spAutoFit/>
          </a:bodyPr>
          <a:lstStyle/>
          <a:p>
            <a:pPr algn="r"/>
            <a:r>
              <a:rPr sz="1100"/>
              <a:t>27</a:t>
            </a:r>
          </a:p>
        </p:txBody>
      </p:sp>
      <p:sp>
        <p:nvSpPr>
          <p:cNvPr id="6" name="Rounded Rectangle 10"/>
          <p:cNvSpPr/>
          <p:nvPr/>
        </p:nvSpPr>
        <p:spPr>
          <a:xfrm>
            <a:off x="1280160" y="1481328"/>
            <a:ext cx="3749039" cy="502920"/>
          </a:xfrm>
          <a:prstGeom prst="roundRect">
            <a:avLst/>
          </a:prstGeom>
          <a:solidFill>
            <a:srgbClr val="FFFFFF"/>
          </a:solidFill>
          <a:ln w="19050">
            <a:solidFill>
              <a:srgbClr val="4F8A5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200" b="1">
                <a:solidFill>
                  <a:srgbClr val="2E2A45"/>
                </a:solidFill>
              </a:rPr>
              <a:t>You suspect an attempt</a:t>
            </a:r>
          </a:p>
        </p:txBody>
      </p:sp>
      <p:sp>
        <p:nvSpPr>
          <p:cNvPr id="7" name="Right Arrow 11"/>
          <p:cNvSpPr/>
          <p:nvPr/>
        </p:nvSpPr>
        <p:spPr>
          <a:xfrm>
            <a:off x="5138928" y="1554480"/>
            <a:ext cx="457200" cy="365760"/>
          </a:xfrm>
          <a:prstGeom prst="rightArrow">
            <a:avLst/>
          </a:prstGeom>
          <a:solidFill>
            <a:srgbClr val="4F8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12"/>
          <p:cNvSpPr/>
          <p:nvPr/>
        </p:nvSpPr>
        <p:spPr>
          <a:xfrm>
            <a:off x="5705856" y="1481328"/>
            <a:ext cx="5212080" cy="502920"/>
          </a:xfrm>
          <a:prstGeom prst="roundRect">
            <a:avLst/>
          </a:prstGeom>
          <a:solidFill>
            <a:srgbClr val="FFFFFF"/>
          </a:solidFill>
          <a:ln w="19050">
            <a:solidFill>
              <a:srgbClr val="4F8A5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200" b="1">
                <a:solidFill>
                  <a:srgbClr val="2E2A45"/>
                </a:solidFill>
              </a:rPr>
              <a:t>Has the account or data changed?</a:t>
            </a:r>
          </a:p>
        </p:txBody>
      </p:sp>
      <p:sp>
        <p:nvSpPr>
          <p:cNvPr id="9" name="Rounded Rectangle 13"/>
          <p:cNvSpPr/>
          <p:nvPr/>
        </p:nvSpPr>
        <p:spPr>
          <a:xfrm>
            <a:off x="548640" y="2148840"/>
            <a:ext cx="5440680" cy="2194560"/>
          </a:xfrm>
          <a:prstGeom prst="roundRect">
            <a:avLst>
              <a:gd name="adj" fmla="val 8000"/>
            </a:avLst>
          </a:prstGeom>
          <a:solidFill>
            <a:srgbClr val="E4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4"/>
          <p:cNvSpPr txBox="1"/>
          <p:nvPr/>
        </p:nvSpPr>
        <p:spPr>
          <a:xfrm>
            <a:off x="731520" y="2194560"/>
            <a:ext cx="5029200" cy="411480"/>
          </a:xfrm>
          <a:prstGeom prst="rect">
            <a:avLst/>
          </a:prstGeom>
          <a:noFill/>
        </p:spPr>
        <p:txBody>
          <a:bodyPr wrap="square">
            <a:spAutoFit/>
          </a:bodyPr>
          <a:lstStyle/>
          <a:p>
            <a:pPr algn="l"/>
            <a:r>
              <a:rPr sz="2200" i="0" b="1">
                <a:solidFill>
                  <a:srgbClr val="2F6B3C"/>
                </a:solidFill>
              </a:rPr>
              <a:t>No: nothing changed yet</a:t>
            </a:r>
          </a:p>
        </p:txBody>
      </p:sp>
      <p:sp>
        <p:nvSpPr>
          <p:cNvPr id="11" name="Oval 15"/>
          <p:cNvSpPr/>
          <p:nvPr/>
        </p:nvSpPr>
        <p:spPr>
          <a:xfrm>
            <a:off x="795528" y="2761488"/>
            <a:ext cx="420624" cy="420624"/>
          </a:xfrm>
          <a:prstGeom prst="ellipse">
            <a:avLst/>
          </a:prstGeom>
          <a:solidFill>
            <a:srgbClr val="4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000" b="1">
                <a:solidFill>
                  <a:srgbClr val="FFFFFF"/>
                </a:solidFill>
              </a:rPr>
              <a:t>1</a:t>
            </a:r>
          </a:p>
        </p:txBody>
      </p:sp>
      <p:sp>
        <p:nvSpPr>
          <p:cNvPr id="12" name="TextBox 4"/>
          <p:cNvSpPr txBox="1"/>
          <p:nvPr/>
        </p:nvSpPr>
        <p:spPr>
          <a:xfrm>
            <a:off x="1371600" y="2743200"/>
            <a:ext cx="4526280" cy="457200"/>
          </a:xfrm>
          <a:prstGeom prst="rect">
            <a:avLst/>
          </a:prstGeom>
          <a:noFill/>
        </p:spPr>
        <p:txBody>
          <a:bodyPr wrap="square">
            <a:spAutoFit/>
          </a:bodyPr>
          <a:lstStyle/>
          <a:p>
            <a:pPr algn="l"/>
            <a:r>
              <a:rPr sz="2000" i="0" b="0">
                <a:solidFill>
                  <a:srgbClr val="2E2A45"/>
                </a:solidFill>
              </a:rPr>
              <a:t>Decline the request</a:t>
            </a:r>
          </a:p>
        </p:txBody>
      </p:sp>
      <p:sp>
        <p:nvSpPr>
          <p:cNvPr id="13" name="Rectangle 17"/>
          <p:cNvSpPr/>
          <p:nvPr/>
        </p:nvSpPr>
        <p:spPr>
          <a:xfrm>
            <a:off x="992124" y="3182112"/>
            <a:ext cx="27432" cy="146303"/>
          </a:xfrm>
          <a:prstGeom prst="rect">
            <a:avLst/>
          </a:prstGeom>
          <a:solidFill>
            <a:srgbClr val="4F8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8"/>
          <p:cNvSpPr/>
          <p:nvPr/>
        </p:nvSpPr>
        <p:spPr>
          <a:xfrm>
            <a:off x="795528" y="3328416"/>
            <a:ext cx="420624" cy="420624"/>
          </a:xfrm>
          <a:prstGeom prst="ellipse">
            <a:avLst/>
          </a:prstGeom>
          <a:solidFill>
            <a:srgbClr val="4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000" b="1">
                <a:solidFill>
                  <a:srgbClr val="FFFFFF"/>
                </a:solidFill>
              </a:rPr>
              <a:t>2</a:t>
            </a:r>
          </a:p>
        </p:txBody>
      </p:sp>
      <p:sp>
        <p:nvSpPr>
          <p:cNvPr id="15" name="TextBox 4"/>
          <p:cNvSpPr txBox="1"/>
          <p:nvPr/>
        </p:nvSpPr>
        <p:spPr>
          <a:xfrm>
            <a:off x="1371600" y="3310128"/>
            <a:ext cx="4526280" cy="457200"/>
          </a:xfrm>
          <a:prstGeom prst="rect">
            <a:avLst/>
          </a:prstGeom>
          <a:noFill/>
        </p:spPr>
        <p:txBody>
          <a:bodyPr wrap="square">
            <a:spAutoFit/>
          </a:bodyPr>
          <a:lstStyle/>
          <a:p>
            <a:pPr algn="l"/>
            <a:r>
              <a:rPr sz="2000" i="0" b="0">
                <a:solidFill>
                  <a:srgbClr val="2E2A45"/>
                </a:solidFill>
              </a:rPr>
              <a:t>Require strong authentication</a:t>
            </a:r>
          </a:p>
        </p:txBody>
      </p:sp>
      <p:sp>
        <p:nvSpPr>
          <p:cNvPr id="16" name="Rectangle 20"/>
          <p:cNvSpPr/>
          <p:nvPr/>
        </p:nvSpPr>
        <p:spPr>
          <a:xfrm>
            <a:off x="992124" y="3749040"/>
            <a:ext cx="27432" cy="146303"/>
          </a:xfrm>
          <a:prstGeom prst="rect">
            <a:avLst/>
          </a:prstGeom>
          <a:solidFill>
            <a:srgbClr val="4F8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21"/>
          <p:cNvSpPr/>
          <p:nvPr/>
        </p:nvSpPr>
        <p:spPr>
          <a:xfrm>
            <a:off x="795528" y="3895344"/>
            <a:ext cx="420624" cy="420624"/>
          </a:xfrm>
          <a:prstGeom prst="ellipse">
            <a:avLst/>
          </a:prstGeom>
          <a:solidFill>
            <a:srgbClr val="4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000" b="1">
                <a:solidFill>
                  <a:srgbClr val="FFFFFF"/>
                </a:solidFill>
              </a:rPr>
              <a:t>3</a:t>
            </a:r>
          </a:p>
        </p:txBody>
      </p:sp>
      <p:sp>
        <p:nvSpPr>
          <p:cNvPr id="18" name="TextBox 4"/>
          <p:cNvSpPr txBox="1"/>
          <p:nvPr/>
        </p:nvSpPr>
        <p:spPr>
          <a:xfrm>
            <a:off x="1371600" y="3877056"/>
            <a:ext cx="4526280" cy="457200"/>
          </a:xfrm>
          <a:prstGeom prst="rect">
            <a:avLst/>
          </a:prstGeom>
          <a:noFill/>
        </p:spPr>
        <p:txBody>
          <a:bodyPr wrap="square">
            <a:spAutoFit/>
          </a:bodyPr>
          <a:lstStyle/>
          <a:p>
            <a:pPr algn="l"/>
            <a:r>
              <a:rPr sz="2000" i="0" b="0">
                <a:solidFill>
                  <a:srgbClr val="2E2A45"/>
                </a:solidFill>
              </a:rPr>
              <a:t>Flag it to the fraud team</a:t>
            </a:r>
          </a:p>
        </p:txBody>
      </p:sp>
      <p:sp>
        <p:nvSpPr>
          <p:cNvPr id="19" name="Rounded Rectangle 23"/>
          <p:cNvSpPr/>
          <p:nvPr/>
        </p:nvSpPr>
        <p:spPr>
          <a:xfrm>
            <a:off x="6199632" y="2148840"/>
            <a:ext cx="5440680" cy="2194560"/>
          </a:xfrm>
          <a:prstGeom prst="roundRect">
            <a:avLst>
              <a:gd name="adj" fmla="val 8000"/>
            </a:avLst>
          </a:prstGeom>
          <a:solidFill>
            <a:srgbClr val="FBE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4"/>
          <p:cNvSpPr txBox="1"/>
          <p:nvPr/>
        </p:nvSpPr>
        <p:spPr>
          <a:xfrm>
            <a:off x="6382512" y="2194560"/>
            <a:ext cx="5029200" cy="411480"/>
          </a:xfrm>
          <a:prstGeom prst="rect">
            <a:avLst/>
          </a:prstGeom>
          <a:noFill/>
        </p:spPr>
        <p:txBody>
          <a:bodyPr wrap="square">
            <a:spAutoFit/>
          </a:bodyPr>
          <a:lstStyle/>
          <a:p>
            <a:pPr algn="l"/>
            <a:r>
              <a:rPr sz="2200" i="0" b="1">
                <a:solidFill>
                  <a:srgbClr val="A3470F"/>
                </a:solidFill>
              </a:rPr>
              <a:t>Yes: already changed</a:t>
            </a:r>
          </a:p>
        </p:txBody>
      </p:sp>
      <p:sp>
        <p:nvSpPr>
          <p:cNvPr id="21" name="Oval 25"/>
          <p:cNvSpPr/>
          <p:nvPr/>
        </p:nvSpPr>
        <p:spPr>
          <a:xfrm>
            <a:off x="6446520" y="2761488"/>
            <a:ext cx="420624" cy="420624"/>
          </a:xfrm>
          <a:prstGeom prst="ellipse">
            <a:avLst/>
          </a:prstGeom>
          <a:solidFill>
            <a:srgbClr val="E078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000" b="1">
                <a:solidFill>
                  <a:srgbClr val="FFFFFF"/>
                </a:solidFill>
              </a:rPr>
              <a:t>1</a:t>
            </a:r>
          </a:p>
        </p:txBody>
      </p:sp>
      <p:sp>
        <p:nvSpPr>
          <p:cNvPr id="22" name="TextBox 4"/>
          <p:cNvSpPr txBox="1"/>
          <p:nvPr/>
        </p:nvSpPr>
        <p:spPr>
          <a:xfrm>
            <a:off x="7022592" y="2743200"/>
            <a:ext cx="4526280" cy="457200"/>
          </a:xfrm>
          <a:prstGeom prst="rect">
            <a:avLst/>
          </a:prstGeom>
          <a:noFill/>
        </p:spPr>
        <p:txBody>
          <a:bodyPr wrap="square">
            <a:spAutoFit/>
          </a:bodyPr>
          <a:lstStyle/>
          <a:p>
            <a:pPr algn="l"/>
            <a:r>
              <a:rPr sz="2000" i="0" b="0">
                <a:solidFill>
                  <a:srgbClr val="2E2A45"/>
                </a:solidFill>
              </a:rPr>
              <a:t>Lock the account, reverse the change</a:t>
            </a:r>
          </a:p>
        </p:txBody>
      </p:sp>
      <p:sp>
        <p:nvSpPr>
          <p:cNvPr id="23" name="Rectangle 27"/>
          <p:cNvSpPr/>
          <p:nvPr/>
        </p:nvSpPr>
        <p:spPr>
          <a:xfrm>
            <a:off x="6643116" y="3182112"/>
            <a:ext cx="27432" cy="146303"/>
          </a:xfrm>
          <a:prstGeom prst="rect">
            <a:avLst/>
          </a:prstGeom>
          <a:solidFill>
            <a:srgbClr val="E07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8"/>
          <p:cNvSpPr/>
          <p:nvPr/>
        </p:nvSpPr>
        <p:spPr>
          <a:xfrm>
            <a:off x="6446520" y="3328416"/>
            <a:ext cx="420624" cy="420624"/>
          </a:xfrm>
          <a:prstGeom prst="ellipse">
            <a:avLst/>
          </a:prstGeom>
          <a:solidFill>
            <a:srgbClr val="E078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000" b="1">
                <a:solidFill>
                  <a:srgbClr val="FFFFFF"/>
                </a:solidFill>
              </a:rPr>
              <a:t>2</a:t>
            </a:r>
          </a:p>
        </p:txBody>
      </p:sp>
      <p:sp>
        <p:nvSpPr>
          <p:cNvPr id="25" name="TextBox 4"/>
          <p:cNvSpPr txBox="1"/>
          <p:nvPr/>
        </p:nvSpPr>
        <p:spPr>
          <a:xfrm>
            <a:off x="7022592" y="3310128"/>
            <a:ext cx="4526280" cy="457200"/>
          </a:xfrm>
          <a:prstGeom prst="rect">
            <a:avLst/>
          </a:prstGeom>
          <a:noFill/>
        </p:spPr>
        <p:txBody>
          <a:bodyPr wrap="square">
            <a:spAutoFit/>
          </a:bodyPr>
          <a:lstStyle/>
          <a:p>
            <a:pPr algn="l"/>
            <a:r>
              <a:rPr sz="2000" i="0" b="0">
                <a:solidFill>
                  <a:srgbClr val="2E2A45"/>
                </a:solidFill>
              </a:rPr>
              <a:t>If money moved, call your bank</a:t>
            </a:r>
          </a:p>
        </p:txBody>
      </p:sp>
      <p:sp>
        <p:nvSpPr>
          <p:cNvPr id="26" name="Rectangle 30"/>
          <p:cNvSpPr/>
          <p:nvPr/>
        </p:nvSpPr>
        <p:spPr>
          <a:xfrm>
            <a:off x="6643116" y="3749040"/>
            <a:ext cx="27432" cy="146303"/>
          </a:xfrm>
          <a:prstGeom prst="rect">
            <a:avLst/>
          </a:prstGeom>
          <a:solidFill>
            <a:srgbClr val="E07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31"/>
          <p:cNvSpPr/>
          <p:nvPr/>
        </p:nvSpPr>
        <p:spPr>
          <a:xfrm>
            <a:off x="6446520" y="3895344"/>
            <a:ext cx="420624" cy="420624"/>
          </a:xfrm>
          <a:prstGeom prst="ellipse">
            <a:avLst/>
          </a:prstGeom>
          <a:solidFill>
            <a:srgbClr val="E078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000" b="1">
                <a:solidFill>
                  <a:srgbClr val="FFFFFF"/>
                </a:solidFill>
              </a:rPr>
              <a:t>3</a:t>
            </a:r>
          </a:p>
        </p:txBody>
      </p:sp>
      <p:sp>
        <p:nvSpPr>
          <p:cNvPr id="28" name="TextBox 4"/>
          <p:cNvSpPr txBox="1"/>
          <p:nvPr/>
        </p:nvSpPr>
        <p:spPr>
          <a:xfrm>
            <a:off x="7022592" y="3877056"/>
            <a:ext cx="4526280" cy="457200"/>
          </a:xfrm>
          <a:prstGeom prst="rect">
            <a:avLst/>
          </a:prstGeom>
          <a:noFill/>
        </p:spPr>
        <p:txBody>
          <a:bodyPr wrap="square">
            <a:spAutoFit/>
          </a:bodyPr>
          <a:lstStyle/>
          <a:p>
            <a:pPr algn="l"/>
            <a:r>
              <a:rPr sz="2000" i="0" b="0">
                <a:solidFill>
                  <a:srgbClr val="2E2A45"/>
                </a:solidFill>
              </a:rPr>
              <a:t>Tell the fraud team and privacy lead</a:t>
            </a:r>
          </a:p>
        </p:txBody>
      </p:sp>
      <p:sp>
        <p:nvSpPr>
          <p:cNvPr id="29" name="Down Arrow 33"/>
          <p:cNvSpPr/>
          <p:nvPr/>
        </p:nvSpPr>
        <p:spPr>
          <a:xfrm>
            <a:off x="3086100" y="4389120"/>
            <a:ext cx="365760" cy="237744"/>
          </a:xfrm>
          <a:prstGeom prst="downArrow">
            <a:avLst/>
          </a:prstGeom>
          <a:solidFill>
            <a:srgbClr val="9A8C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own Arrow 34"/>
          <p:cNvSpPr/>
          <p:nvPr/>
        </p:nvSpPr>
        <p:spPr>
          <a:xfrm>
            <a:off x="8737092" y="4389120"/>
            <a:ext cx="365760" cy="237744"/>
          </a:xfrm>
          <a:prstGeom prst="downArrow">
            <a:avLst/>
          </a:prstGeom>
          <a:solidFill>
            <a:srgbClr val="9A8C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4"/>
          <p:cNvSpPr/>
          <p:nvPr/>
        </p:nvSpPr>
        <p:spPr>
          <a:xfrm>
            <a:off x="548640" y="4663440"/>
            <a:ext cx="3611880" cy="1170432"/>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FFFFFF"/>
                </a:solidFill>
              </a:rPr>
              <a:t>Protect the customer</a:t>
            </a:r>
          </a:p>
          <a:p>
            <a:pPr algn="ctr"/>
            <a:r>
              <a:rPr sz="1800">
                <a:solidFill>
                  <a:srgbClr val="FFFFFF"/>
                </a:solidFill>
              </a:rPr>
              <a:t>Use details on file. IDCARE helps.</a:t>
            </a:r>
          </a:p>
        </p:txBody>
      </p:sp>
      <p:sp>
        <p:nvSpPr>
          <p:cNvPr id="32" name="Rounded Rectangle 4"/>
          <p:cNvSpPr/>
          <p:nvPr/>
        </p:nvSpPr>
        <p:spPr>
          <a:xfrm>
            <a:off x="4288536" y="4663440"/>
            <a:ext cx="3611880" cy="1170432"/>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FFFFFF"/>
                </a:solidFill>
              </a:rPr>
              <a:t>Report it</a:t>
            </a:r>
          </a:p>
          <a:p>
            <a:pPr algn="ctr"/>
            <a:r>
              <a:rPr sz="1800">
                <a:solidFill>
                  <a:srgbClr val="FFFFFF"/>
                </a:solidFill>
              </a:rPr>
              <a:t>ReportCyber, IC3, Report Fraud, CAFC</a:t>
            </a:r>
          </a:p>
        </p:txBody>
      </p:sp>
      <p:sp>
        <p:nvSpPr>
          <p:cNvPr id="33" name="Rounded Rectangle 4"/>
          <p:cNvSpPr/>
          <p:nvPr/>
        </p:nvSpPr>
        <p:spPr>
          <a:xfrm>
            <a:off x="8028431" y="4663440"/>
            <a:ext cx="3611880" cy="1170432"/>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FFFFFF"/>
                </a:solidFill>
              </a:rPr>
              <a:t>Check privacy duties</a:t>
            </a:r>
          </a:p>
          <a:p>
            <a:pPr algn="ctr"/>
            <a:r>
              <a:rPr sz="1400">
                <a:solidFill>
                  <a:srgbClr val="FFFFFF"/>
                </a:solidFill>
              </a:rPr>
              <a:t>Rules differ by country. In Australia, the Notifiable Data Breaches scheme may apply.</a:t>
            </a:r>
          </a:p>
        </p:txBody>
      </p:sp>
      <p:sp>
        <p:nvSpPr>
          <p:cNvPr id="34" name="Citation"/>
          <p:cNvSpPr txBox="1"/>
          <p:nvPr/>
        </p:nvSpPr>
        <p:spPr>
          <a:xfrm>
            <a:off x="457200" y="5870448"/>
            <a:ext cx="11247120" cy="429768"/>
          </a:xfrm>
          <a:prstGeom prst="rect">
            <a:avLst/>
          </a:prstGeom>
          <a:noFill/>
        </p:spPr>
        <p:txBody>
          <a:bodyPr wrap="square">
            <a:spAutoFit/>
          </a:bodyPr>
          <a:lstStyle/>
          <a:p>
            <a:pPr algn="l"/>
            <a:r>
              <a:rPr lang="en-US" sz="1800" i="1">
                <a:solidFill>
                  <a:srgbClr val="666666"/>
                </a:solidFill>
              </a:rPr>
              <a:t>Sources: FBI IC3 2025 Annual Report; ASD’s ACSC; Report Fraud; CAFC; GDPR; OAIC; IDCARE</a:t>
            </a:r>
          </a:p>
        </p:txBody>
      </p:sp>
      <p:sp>
        <p:nvSpPr>
          <p:cNvPr id="38" name="Contain note"/>
          <p:cNvSpPr txBox="1"/>
          <p:nvPr/>
        </p:nvSpPr>
        <p:spPr>
          <a:xfrm>
            <a:off x="457200" y="1143000"/>
            <a:ext cx="11247120" cy="274320"/>
          </a:xfrm>
          <a:prstGeom prst="rect">
            <a:avLst/>
          </a:prstGeom>
          <a:noFill/>
        </p:spPr>
        <p:txBody>
          <a:bodyPr wrap="square">
            <a:spAutoFit/>
          </a:bodyPr>
          <a:lstStyle/>
          <a:p>
            <a:pPr algn="ctr"/>
            <a:r>
              <a:rPr lang="en-US" sz="1400" i="1">
                <a:solidFill>
                  <a:srgbClr val="666666"/>
                </a:solidFill>
              </a:rPr>
              <a:t>The order may change depending on the situation. Follow your organisation's incident procedure.</a:t>
            </a:r>
          </a:p>
        </p:txBody>
      </p:sp>
      <p:sp>
        <p:nvSpPr>
          <p:cNvPr id="35" name="Kiosk Previous">
            <a:hlinkClick r:id="rId3" action="ppaction://hlinksldjump"/>
          </p:cNvPr>
          <p:cNvSpPr/>
          <p:nvPr/>
        </p:nvSpPr>
        <p:spPr>
          <a:xfrm>
            <a:off x="449564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36" name="Kiosk Next">
            <a:hlinkClick r:id="rId4" action="ppaction://hlinksldjump"/>
          </p:cNvPr>
          <p:cNvSpPr/>
          <p:nvPr/>
        </p:nvSpPr>
        <p:spPr>
          <a:xfrm>
            <a:off x="623300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pic>
        <p:nvPicPr>
          <p:cNvPr id="37" name="narration_cs_25.mp3">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9020" fill="hold"/>
                                        <p:tgtEl>
                                          <p:spTgt spid="37"/>
                                        </p:tgtEl>
                                      </p:cBhvr>
                                    </p:cmd>
                                  </p:childTnLst>
                                </p:cTn>
                              </p:par>
                              <p:par>
                                <p:cTn id="20" presetID="26" presetClass="emph" presetSubtype="0" repeatCount="indefinite" fill="hold" grpId="0" nodeType="withEffect">
                                  <p:stCondLst>
                                    <p:cond delay="79020"/>
                                  </p:stCondLst>
                                  <p:childTnLst>
                                    <p:animEffect transition="out" filter="fade">
                                      <p:cBhvr>
                                        <p:cTn id="21" dur="1000" tmFilter="0, 0; .2, .5; .8, .5; 1, 0"/>
                                        <p:tgtEl>
                                          <p:spTgt spid="36"/>
                                        </p:tgtEl>
                                      </p:cBhvr>
                                    </p:animEffect>
                                    <p:animScale>
                                      <p:cBhvr>
                                        <p:cTn id="22" dur="500" autoRev="1" fill="hold"/>
                                        <p:tgtEl>
                                          <p:spTgt spid="36"/>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37"/>
                </p:tgtEl>
              </p:cMediaNode>
            </p:audio>
          </p:childTnLst>
        </p:cTn>
      </p:par>
    </p:tnLst>
    <p:bldLst>
      <p:bldP spid="36" grpId="0" animBg="1"/>
    </p:bld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92327" y="867475"/>
            <a:ext cx="10607040" cy="789939"/>
          </a:xfrm>
          <a:prstGeom prst="rect">
            <a:avLst/>
          </a:prstGeom>
          <a:noFill/>
        </p:spPr>
        <p:txBody>
          <a:bodyPr wrap="square">
            <a:spAutoFit/>
          </a:bodyPr>
          <a:lstStyle/>
          <a:p>
            <a:pPr algn="ctr"/>
            <a:r>
              <a:rPr sz="4400" b="1">
                <a:solidFill>
                  <a:srgbClr val="000000"/>
                </a:solidFill>
              </a:rPr>
              <a:t>KNOWLEDGE CHECK: CONTAIN (Q1)</a:t>
            </a:r>
          </a:p>
        </p:txBody>
      </p:sp>
      <p:sp>
        <p:nvSpPr>
          <p:cNvPr id="5" name="TextBox 4"/>
          <p:cNvSpPr txBox="1"/>
          <p:nvPr/>
        </p:nvSpPr>
        <p:spPr>
          <a:xfrm>
            <a:off x="792327" y="1847307"/>
            <a:ext cx="10607040" cy="1299972"/>
          </a:xfrm>
          <a:prstGeom prst="rect">
            <a:avLst/>
          </a:prstGeom>
          <a:noFill/>
        </p:spPr>
        <p:txBody>
          <a:bodyPr wrap="square">
            <a:spAutoFit/>
          </a:bodyPr>
          <a:lstStyle/>
          <a:p>
            <a:pPr algn="ctr"/>
            <a:r>
              <a:rPr sz="2800" i="0" b="1">
                <a:solidFill>
                  <a:srgbClr val="333333"/>
                </a:solidFill>
              </a:rPr>
              <a:t>A caller fails authentication twice, then says he will complain unless you update his email address now. What do you do?</a:t>
            </a:r>
          </a:p>
        </p:txBody>
      </p:sp>
      <p:sp>
        <p:nvSpPr>
          <p:cNvPr id="6" name="Rounded Rectangle 5">
            <a:hlinkClick action="ppaction://hlinksldjump" r:id="rId4"/>
          </p:cNvPr>
          <p:cNvSpPr/>
          <p:nvPr/>
        </p:nvSpPr>
        <p:spPr>
          <a:xfrm>
            <a:off x="932688" y="3520440"/>
            <a:ext cx="10332720" cy="731520"/>
          </a:xfrm>
          <a:prstGeom prst="roundRect">
            <a:avLst>
              <a:gd name="adj" fmla="val 15000"/>
            </a:avLst>
          </a:prstGeom>
          <a:solidFill>
            <a:srgbClr val="D68A5C"/>
          </a:soli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2000" b="1">
                <a:solidFill>
                  <a:srgbClr val="FFFFFF"/>
                </a:solidFill>
              </a:rPr>
              <a:t>A)  Ask the security questions a third time, then update it if he answers correctly</a:t>
            </a:r>
          </a:p>
        </p:txBody>
      </p:sp>
      <p:sp>
        <p:nvSpPr>
          <p:cNvPr id="7" name="Rounded Rectangle 6">
            <a:hlinkClick action="ppaction://hlinksldjump" r:id="rId4"/>
          </p:cNvPr>
          <p:cNvSpPr/>
          <p:nvPr/>
        </p:nvSpPr>
        <p:spPr>
          <a:xfrm>
            <a:off x="932688" y="4325112"/>
            <a:ext cx="10332720" cy="731520"/>
          </a:xfrm>
          <a:prstGeom prst="roundRect">
            <a:avLst>
              <a:gd name="adj" fmla="val 15000"/>
            </a:avLst>
          </a:prstGeom>
          <a:solidFill>
            <a:srgbClr val="D68A5C"/>
          </a:soli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2000" b="1">
                <a:solidFill>
                  <a:srgbClr val="FFFFFF"/>
                </a:solidFill>
              </a:rPr>
              <a:t>B)  Update it now, but flag the account and notify the old email address</a:t>
            </a:r>
          </a:p>
        </p:txBody>
      </p:sp>
      <p:sp>
        <p:nvSpPr>
          <p:cNvPr id="8" name="Rounded Rectangle 7">
            <a:hlinkClick action="ppaction://hlinksldjump" r:id="rId3"/>
          </p:cNvPr>
          <p:cNvSpPr/>
          <p:nvPr/>
        </p:nvSpPr>
        <p:spPr>
          <a:xfrm>
            <a:off x="932688" y="5129784"/>
            <a:ext cx="10332720" cy="731520"/>
          </a:xfrm>
          <a:prstGeom prst="roundRect">
            <a:avLst>
              <a:gd name="adj" fmla="val 15000"/>
            </a:avLst>
          </a:prstGeom>
          <a:solidFill>
            <a:srgbClr val="D68A5C"/>
          </a:soli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2000" b="1">
                <a:solidFill>
                  <a:srgbClr val="FFFFFF"/>
                </a:solidFill>
              </a:rPr>
              <a:t>C)  Hold the change and offer a code to the registered device or a callback</a:t>
            </a:r>
          </a:p>
        </p:txBody>
      </p:sp>
      <p:sp>
        <p:nvSpPr>
          <p:cNvPr id="9" name="TextBox 8"/>
          <p:cNvSpPr txBox="1"/>
          <p:nvPr/>
        </p:nvSpPr>
        <p:spPr>
          <a:xfrm>
            <a:off x="10698480" y="6309360"/>
            <a:ext cx="1280160" cy="365760"/>
          </a:xfrm>
          <a:prstGeom prst="rect">
            <a:avLst/>
          </a:prstGeom>
          <a:noFill/>
        </p:spPr>
        <p:txBody>
          <a:bodyPr wrap="none">
            <a:spAutoFit/>
          </a:bodyPr>
          <a:lstStyle/>
          <a:p>
            <a:pPr algn="r"/>
            <a:r>
              <a:rPr sz="1100"/>
              <a:t>28</a:t>
            </a:r>
          </a:p>
        </p:txBody>
      </p:sp>
      <p:sp>
        <p:nvSpPr>
          <p:cNvPr id="10" name="Kiosk Previous">
            <a:hlinkClick r:id="rId5" action="ppaction://hlinksldjump"/>
          </p:cNvPr>
          <p:cNvSpPr/>
          <p:nvPr/>
        </p:nvSpPr>
        <p:spPr>
          <a:xfrm>
            <a:off x="536432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Tree>
  </p:cSld>
  <p:clrMapOvr>
    <a:masterClrMapping/>
  </p:clrMapOvr>
  <p:transition advClick="0"/>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080390"/>
            <a:ext cx="9418320" cy="773176"/>
          </a:xfrm>
          <a:prstGeom prst="rect">
            <a:avLst/>
          </a:prstGeom>
          <a:noFill/>
        </p:spPr>
        <p:txBody>
          <a:bodyPr wrap="none">
            <a:spAutoFit/>
          </a:bodyPr>
          <a:lstStyle/>
          <a:p>
            <a:pPr algn="ctr"/>
            <a:r>
              <a:rPr sz="4400" b="1">
                <a:solidFill>
                  <a:srgbClr val="E88A00"/>
                </a:solidFill>
              </a:rPr>
              <a:t>NOT QUITE</a:t>
            </a:r>
          </a:p>
        </p:txBody>
      </p:sp>
      <p:sp>
        <p:nvSpPr>
          <p:cNvPr id="5" name="TextBox 4"/>
          <p:cNvSpPr txBox="1"/>
          <p:nvPr/>
        </p:nvSpPr>
        <p:spPr>
          <a:xfrm>
            <a:off x="792327" y="2290318"/>
            <a:ext cx="10607040" cy="2322576"/>
          </a:xfrm>
          <a:prstGeom prst="rect">
            <a:avLst/>
          </a:prstGeom>
          <a:noFill/>
        </p:spPr>
        <p:txBody>
          <a:bodyPr wrap="square">
            <a:spAutoFit/>
          </a:bodyPr>
          <a:lstStyle/>
          <a:p>
            <a:pPr algn="ctr"/>
            <a:r>
              <a:rPr sz="3200" i="0" b="0">
                <a:solidFill>
                  <a:srgbClr val="333333"/>
                </a:solidFill>
              </a:rPr>
              <a:t>The answer is C) Hold the change and offer a code to the registered device or a callback. Pressure is not proof. Offer a check an attacker cannot pass, because a flag or a notice after the change is too late if the account has already been taken.</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29</a:t>
            </a:r>
          </a:p>
        </p:txBody>
      </p:sp>
      <p:sp>
        <p:nvSpPr>
          <p:cNvPr id="8" name="Kiosk Previous">
            <a:hlinkClick r:id="rId4" action="ppaction://hlinksldjump"/>
          </p:cNvPr>
          <p:cNvSpPr/>
          <p:nvPr/>
        </p:nvSpPr>
        <p:spPr>
          <a:xfrm>
            <a:off x="449564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9" name="Kiosk Next">
            <a:hlinkClick r:id="rId3" action="ppaction://hlinksldjump"/>
          </p:cNvPr>
          <p:cNvSpPr/>
          <p:nvPr/>
        </p:nvSpPr>
        <p:spPr>
          <a:xfrm>
            <a:off x="623300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0"/>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108456"/>
            <a:ext cx="9418320" cy="773176"/>
          </a:xfrm>
          <a:prstGeom prst="rect">
            <a:avLst/>
          </a:prstGeom>
          <a:noFill/>
        </p:spPr>
        <p:txBody>
          <a:bodyPr wrap="none">
            <a:spAutoFit/>
          </a:bodyPr>
          <a:lstStyle/>
          <a:p>
            <a:pPr algn="ctr"/>
            <a:r>
              <a:rPr sz="4400" b="1">
                <a:solidFill>
                  <a:srgbClr val="A0654A"/>
                </a:solidFill>
              </a:rPr>
              <a:t>CORRECT!</a:t>
            </a:r>
          </a:p>
        </p:txBody>
      </p:sp>
      <p:sp>
        <p:nvSpPr>
          <p:cNvPr id="5" name="TextBox 4"/>
          <p:cNvSpPr txBox="1"/>
          <p:nvPr/>
        </p:nvSpPr>
        <p:spPr>
          <a:xfrm>
            <a:off x="792327" y="2384552"/>
            <a:ext cx="10607040" cy="1764792"/>
          </a:xfrm>
          <a:prstGeom prst="rect">
            <a:avLst/>
          </a:prstGeom>
          <a:noFill/>
        </p:spPr>
        <p:txBody>
          <a:bodyPr wrap="square">
            <a:spAutoFit/>
          </a:bodyPr>
          <a:lstStyle/>
          <a:p>
            <a:pPr algn="ctr"/>
            <a:r>
              <a:rPr sz="3200" i="0" b="0">
                <a:solidFill>
                  <a:srgbClr val="333333"/>
                </a:solidFill>
              </a:rPr>
              <a:t>Right. Pressure is not proof. Offer a check an attacker cannot pass, because a flag or a notice after the change is too late if the account has already been taken.</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30</a:t>
            </a:r>
          </a:p>
        </p:txBody>
      </p:sp>
      <p:sp>
        <p:nvSpPr>
          <p:cNvPr id="8" name="Kiosk Previous">
            <a:hlinkClick r:id="rId4" action="ppaction://hlinksldjump"/>
          </p:cNvPr>
          <p:cNvSpPr/>
          <p:nvPr/>
        </p:nvSpPr>
        <p:spPr>
          <a:xfrm>
            <a:off x="449564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9" name="Kiosk Next">
            <a:hlinkClick r:id="rId3" action="ppaction://hlinksldjump"/>
          </p:cNvPr>
          <p:cNvSpPr/>
          <p:nvPr/>
        </p:nvSpPr>
        <p:spPr>
          <a:xfrm>
            <a:off x="623300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0"/>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92327" y="774511"/>
            <a:ext cx="10607040" cy="789939"/>
          </a:xfrm>
          <a:prstGeom prst="rect">
            <a:avLst/>
          </a:prstGeom>
          <a:noFill/>
        </p:spPr>
        <p:txBody>
          <a:bodyPr wrap="square">
            <a:spAutoFit/>
          </a:bodyPr>
          <a:lstStyle/>
          <a:p>
            <a:pPr algn="ctr"/>
            <a:r>
              <a:rPr sz="4400" b="1">
                <a:solidFill>
                  <a:srgbClr val="000000"/>
                </a:solidFill>
              </a:rPr>
              <a:t>KNOWLEDGE CHECK: CONTAIN (Q2)</a:t>
            </a:r>
          </a:p>
        </p:txBody>
      </p:sp>
      <p:sp>
        <p:nvSpPr>
          <p:cNvPr id="5" name="TextBox 4"/>
          <p:cNvSpPr txBox="1"/>
          <p:nvPr/>
        </p:nvSpPr>
        <p:spPr>
          <a:xfrm>
            <a:off x="792327" y="1803007"/>
            <a:ext cx="10607040" cy="1021080"/>
          </a:xfrm>
          <a:prstGeom prst="rect">
            <a:avLst/>
          </a:prstGeom>
          <a:noFill/>
        </p:spPr>
        <p:txBody>
          <a:bodyPr wrap="square">
            <a:spAutoFit/>
          </a:bodyPr>
          <a:lstStyle/>
          <a:p>
            <a:pPr algn="ctr"/>
            <a:r>
              <a:rPr sz="2800" i="0" b="1">
                <a:solidFill>
                  <a:srgbClr val="333333"/>
                </a:solidFill>
              </a:rPr>
              <a:t>Two hours ago you sent customer records to a regulator that now looks fake. What do you do first?</a:t>
            </a:r>
          </a:p>
        </p:txBody>
      </p:sp>
      <p:sp>
        <p:nvSpPr>
          <p:cNvPr id="6" name="Rounded Rectangle 5">
            <a:hlinkClick action="ppaction://hlinksldjump" r:id="rId3"/>
          </p:cNvPr>
          <p:cNvSpPr/>
          <p:nvPr/>
        </p:nvSpPr>
        <p:spPr>
          <a:xfrm>
            <a:off x="932688" y="3520440"/>
            <a:ext cx="10332720" cy="731520"/>
          </a:xfrm>
          <a:prstGeom prst="roundRect">
            <a:avLst>
              <a:gd name="adj" fmla="val 15000"/>
            </a:avLst>
          </a:prstGeom>
          <a:solidFill>
            <a:srgbClr val="D68A5C"/>
          </a:soli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2000" b="1">
                <a:solidFill>
                  <a:srgbClr val="FFFFFF"/>
                </a:solidFill>
              </a:rPr>
              <a:t>A)  Recall the email and delete it from your sent items, to limit exposure</a:t>
            </a:r>
          </a:p>
        </p:txBody>
      </p:sp>
      <p:sp>
        <p:nvSpPr>
          <p:cNvPr id="7" name="Rounded Rectangle 6">
            <a:hlinkClick action="ppaction://hlinksldjump" r:id="rId4"/>
          </p:cNvPr>
          <p:cNvSpPr/>
          <p:nvPr/>
        </p:nvSpPr>
        <p:spPr>
          <a:xfrm>
            <a:off x="932688" y="4325112"/>
            <a:ext cx="10332720" cy="731520"/>
          </a:xfrm>
          <a:prstGeom prst="roundRect">
            <a:avLst>
              <a:gd name="adj" fmla="val 15000"/>
            </a:avLst>
          </a:prstGeom>
          <a:solidFill>
            <a:srgbClr val="D68A5C"/>
          </a:soli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2000" b="1">
                <a:solidFill>
                  <a:srgbClr val="FFFFFF"/>
                </a:solidFill>
              </a:rPr>
              <a:t>B)  Tell your privacy lead now and record exactly what was sent</a:t>
            </a:r>
          </a:p>
        </p:txBody>
      </p:sp>
      <p:sp>
        <p:nvSpPr>
          <p:cNvPr id="8" name="Rounded Rectangle 7">
            <a:hlinkClick action="ppaction://hlinksldjump" r:id="rId3"/>
          </p:cNvPr>
          <p:cNvSpPr/>
          <p:nvPr/>
        </p:nvSpPr>
        <p:spPr>
          <a:xfrm>
            <a:off x="932688" y="5129784"/>
            <a:ext cx="10332720" cy="731520"/>
          </a:xfrm>
          <a:prstGeom prst="roundRect">
            <a:avLst>
              <a:gd name="adj" fmla="val 15000"/>
            </a:avLst>
          </a:prstGeom>
          <a:solidFill>
            <a:srgbClr val="D68A5C"/>
          </a:soli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2000" b="1">
                <a:solidFill>
                  <a:srgbClr val="FFFFFF"/>
                </a:solidFill>
              </a:rPr>
              <a:t>C)  Call the number in the regulator's email to check it was genuine</a:t>
            </a:r>
          </a:p>
        </p:txBody>
      </p:sp>
      <p:sp>
        <p:nvSpPr>
          <p:cNvPr id="9" name="TextBox 8"/>
          <p:cNvSpPr txBox="1"/>
          <p:nvPr/>
        </p:nvSpPr>
        <p:spPr>
          <a:xfrm>
            <a:off x="10698480" y="6309360"/>
            <a:ext cx="1280160" cy="365760"/>
          </a:xfrm>
          <a:prstGeom prst="rect">
            <a:avLst/>
          </a:prstGeom>
          <a:noFill/>
        </p:spPr>
        <p:txBody>
          <a:bodyPr wrap="none">
            <a:spAutoFit/>
          </a:bodyPr>
          <a:lstStyle/>
          <a:p>
            <a:pPr algn="r"/>
            <a:r>
              <a:rPr sz="1100"/>
              <a:t>31</a:t>
            </a:r>
          </a:p>
        </p:txBody>
      </p:sp>
      <p:sp>
        <p:nvSpPr>
          <p:cNvPr id="10" name="Kiosk Previous">
            <a:hlinkClick r:id="rId5" action="ppaction://hlinksldjump"/>
          </p:cNvPr>
          <p:cNvSpPr/>
          <p:nvPr/>
        </p:nvSpPr>
        <p:spPr>
          <a:xfrm>
            <a:off x="536432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Tree>
  </p:cSld>
  <p:clrMapOvr>
    <a:masterClrMapping/>
  </p:clrMapOvr>
  <p:transition advClick="0"/>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080390"/>
            <a:ext cx="9418320" cy="773176"/>
          </a:xfrm>
          <a:prstGeom prst="rect">
            <a:avLst/>
          </a:prstGeom>
          <a:noFill/>
        </p:spPr>
        <p:txBody>
          <a:bodyPr wrap="none">
            <a:spAutoFit/>
          </a:bodyPr>
          <a:lstStyle/>
          <a:p>
            <a:pPr algn="ctr"/>
            <a:r>
              <a:rPr sz="4400" b="1">
                <a:solidFill>
                  <a:srgbClr val="E88A00"/>
                </a:solidFill>
              </a:rPr>
              <a:t>NOT QUITE</a:t>
            </a:r>
          </a:p>
        </p:txBody>
      </p:sp>
      <p:sp>
        <p:nvSpPr>
          <p:cNvPr id="5" name="TextBox 4"/>
          <p:cNvSpPr txBox="1"/>
          <p:nvPr/>
        </p:nvSpPr>
        <p:spPr>
          <a:xfrm>
            <a:off x="792327" y="2290318"/>
            <a:ext cx="10607040" cy="2322576"/>
          </a:xfrm>
          <a:prstGeom prst="rect">
            <a:avLst/>
          </a:prstGeom>
          <a:noFill/>
        </p:spPr>
        <p:txBody>
          <a:bodyPr wrap="square">
            <a:spAutoFit/>
          </a:bodyPr>
          <a:lstStyle/>
          <a:p>
            <a:pPr algn="ctr"/>
            <a:r>
              <a:rPr sz="3200" i="0" b="0">
                <a:solidFill>
                  <a:srgbClr val="333333"/>
                </a:solidFill>
              </a:rPr>
              <a:t>The answer is B) Tell your privacy lead now and record exactly what was sent. Notification deadlines may already be running, and the sent email is evidence. Tell your privacy lead now, and never verify through contact details the sender supplied.</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32</a:t>
            </a:r>
          </a:p>
        </p:txBody>
      </p:sp>
      <p:sp>
        <p:nvSpPr>
          <p:cNvPr id="8" name="Kiosk Previous">
            <a:hlinkClick r:id="rId4" action="ppaction://hlinksldjump"/>
          </p:cNvPr>
          <p:cNvSpPr/>
          <p:nvPr/>
        </p:nvSpPr>
        <p:spPr>
          <a:xfrm>
            <a:off x="449564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9" name="Kiosk Next">
            <a:hlinkClick r:id="rId3" action="ppaction://hlinksldjump"/>
          </p:cNvPr>
          <p:cNvSpPr/>
          <p:nvPr/>
        </p:nvSpPr>
        <p:spPr>
          <a:xfrm>
            <a:off x="623300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0"/>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387348"/>
            <a:ext cx="9418320" cy="773176"/>
          </a:xfrm>
          <a:prstGeom prst="rect">
            <a:avLst/>
          </a:prstGeom>
          <a:noFill/>
        </p:spPr>
        <p:txBody>
          <a:bodyPr wrap="none">
            <a:spAutoFit/>
          </a:bodyPr>
          <a:lstStyle/>
          <a:p>
            <a:pPr algn="ctr"/>
            <a:r>
              <a:rPr sz="4400" b="1">
                <a:solidFill>
                  <a:srgbClr val="A0654A"/>
                </a:solidFill>
              </a:rPr>
              <a:t>CORRECT!</a:t>
            </a:r>
          </a:p>
        </p:txBody>
      </p:sp>
      <p:sp>
        <p:nvSpPr>
          <p:cNvPr id="5" name="TextBox 4"/>
          <p:cNvSpPr txBox="1"/>
          <p:nvPr/>
        </p:nvSpPr>
        <p:spPr>
          <a:xfrm>
            <a:off x="792327" y="2663444"/>
            <a:ext cx="10607040" cy="1207008"/>
          </a:xfrm>
          <a:prstGeom prst="rect">
            <a:avLst/>
          </a:prstGeom>
          <a:noFill/>
        </p:spPr>
        <p:txBody>
          <a:bodyPr wrap="square">
            <a:spAutoFit/>
          </a:bodyPr>
          <a:lstStyle/>
          <a:p>
            <a:pPr algn="ctr"/>
            <a:r>
              <a:rPr sz="2400" i="0" b="0">
                <a:solidFill>
                  <a:srgbClr val="333333"/>
                </a:solidFill>
              </a:rPr>
              <a:t>Right. Notification deadlines may already be running, and the sent email is evidence. Tell your privacy lead now, and never verify through contact details the sender supplied.</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33</a:t>
            </a:r>
          </a:p>
        </p:txBody>
      </p:sp>
      <p:sp>
        <p:nvSpPr>
          <p:cNvPr id="8" name="Kiosk Previous">
            <a:hlinkClick r:id="rId4" action="ppaction://hlinksldjump"/>
          </p:cNvPr>
          <p:cNvSpPr/>
          <p:nvPr/>
        </p:nvSpPr>
        <p:spPr>
          <a:xfrm>
            <a:off x="449564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9" name="Kiosk Next">
            <a:hlinkClick r:id="rId3" action="ppaction://hlinksldjump"/>
          </p:cNvPr>
          <p:cNvSpPr/>
          <p:nvPr/>
        </p:nvSpPr>
        <p:spPr>
          <a:xfrm>
            <a:off x="623300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0"/>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411480"/>
            <a:ext cx="11247120" cy="789939"/>
          </a:xfrm>
          <a:prstGeom prst="rect">
            <a:avLst/>
          </a:prstGeom>
          <a:noFill/>
        </p:spPr>
        <p:txBody>
          <a:bodyPr wrap="square">
            <a:spAutoFit/>
          </a:bodyPr>
          <a:lstStyle/>
          <a:p>
            <a:pPr algn="ctr"/>
            <a:r>
              <a:rPr sz="4400" b="1">
                <a:solidFill>
                  <a:srgbClr val="000000"/>
                </a:solidFill>
              </a:rPr>
              <a:t>SUMMARY</a:t>
            </a:r>
          </a:p>
        </p:txBody>
      </p:sp>
      <p:sp>
        <p:nvSpPr>
          <p:cNvPr id="5" name="Rounded Rectangle 4"/>
          <p:cNvSpPr/>
          <p:nvPr/>
        </p:nvSpPr>
        <p:spPr>
          <a:xfrm>
            <a:off x="548640" y="1552376"/>
            <a:ext cx="3484778" cy="2631655"/>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FFFFFF"/>
                </a:solidFill>
              </a:rPr>
              <a:t>DETECT</a:t>
            </a:r>
          </a:p>
          <a:p>
            <a:pPr algn="ctr"/>
            <a:r>
              <a:rPr sz="2800">
                <a:solidFill>
                  <a:srgbClr val="FFFFFF"/>
                </a:solidFill>
              </a:rPr>
              <a:t>Authority plus urgency plus a skipped step</a:t>
            </a:r>
          </a:p>
        </p:txBody>
      </p:sp>
      <p:sp>
        <p:nvSpPr>
          <p:cNvPr id="6" name="Rounded Rectangle 5"/>
          <p:cNvSpPr/>
          <p:nvPr/>
        </p:nvSpPr>
        <p:spPr>
          <a:xfrm>
            <a:off x="4353458" y="1552376"/>
            <a:ext cx="3484778" cy="2631655"/>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FFFFFF"/>
                </a:solidFill>
              </a:rPr>
              <a:t>VERIFY</a:t>
            </a:r>
          </a:p>
          <a:p>
            <a:pPr algn="ctr"/>
            <a:r>
              <a:rPr sz="2800">
                <a:solidFill>
                  <a:srgbClr val="FFFFFF"/>
                </a:solidFill>
              </a:rPr>
              <a:t>Strong authentication: a code or callback, not just questions</a:t>
            </a:r>
          </a:p>
        </p:txBody>
      </p:sp>
      <p:sp>
        <p:nvSpPr>
          <p:cNvPr id="7" name="Rounded Rectangle 6"/>
          <p:cNvSpPr/>
          <p:nvPr/>
        </p:nvSpPr>
        <p:spPr>
          <a:xfrm>
            <a:off x="8158276" y="1552376"/>
            <a:ext cx="3484778" cy="2631655"/>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FFFFFF"/>
                </a:solidFill>
              </a:rPr>
              <a:t>CONTAIN</a:t>
            </a:r>
          </a:p>
          <a:p>
            <a:pPr algn="ctr"/>
            <a:r>
              <a:rPr sz="2800">
                <a:solidFill>
                  <a:srgbClr val="FFFFFF"/>
                </a:solidFill>
              </a:rPr>
              <a:t>Decline, protect the customer, escalate</a:t>
            </a:r>
          </a:p>
        </p:txBody>
      </p:sp>
      <p:sp>
        <p:nvSpPr>
          <p:cNvPr id="8" name="TextBox 7"/>
          <p:cNvSpPr txBox="1"/>
          <p:nvPr/>
        </p:nvSpPr>
        <p:spPr>
          <a:xfrm>
            <a:off x="792327" y="4414591"/>
            <a:ext cx="10607040" cy="1207008"/>
          </a:xfrm>
          <a:prstGeom prst="rect">
            <a:avLst/>
          </a:prstGeom>
          <a:noFill/>
        </p:spPr>
        <p:txBody>
          <a:bodyPr wrap="square">
            <a:spAutoFit/>
          </a:bodyPr>
          <a:lstStyle/>
          <a:p>
            <a:pPr algn="ctr"/>
            <a:r>
              <a:rPr sz="3600" i="1" b="1">
                <a:solidFill>
                  <a:srgbClr val="333333"/>
                </a:solidFill>
              </a:rPr>
              <a:t>If they won't complete authentication, that tells you everything you need to know.</a:t>
            </a:r>
          </a:p>
        </p:txBody>
      </p:sp>
      <p:sp>
        <p:nvSpPr>
          <p:cNvPr id="13" name="Adapt note"/>
          <p:cNvSpPr txBox="1"/>
          <p:nvPr/>
        </p:nvSpPr>
        <p:spPr>
          <a:xfrm>
            <a:off x="792327" y="5731327"/>
            <a:ext cx="10607040" cy="713232"/>
          </a:xfrm>
          <a:prstGeom prst="rect">
            <a:avLst/>
          </a:prstGeom>
          <a:noFill/>
        </p:spPr>
        <p:txBody>
          <a:bodyPr wrap="square">
            <a:spAutoFit/>
          </a:bodyPr>
          <a:lstStyle/>
          <a:p>
            <a:pPr algn="ctr"/>
            <a:r>
              <a:rPr sz="2000" i="1" b="0">
                <a:solidFill>
                  <a:srgbClr val="333333"/>
                </a:solidFill>
              </a:rPr>
              <a:t>Laws, contacts and reporting services differ by country and industry. Adapt this module before you use it.</a:t>
            </a:r>
          </a:p>
        </p:txBody>
      </p:sp>
      <p:sp>
        <p:nvSpPr>
          <p:cNvPr id="9" name="TextBox 8"/>
          <p:cNvSpPr txBox="1"/>
          <p:nvPr/>
        </p:nvSpPr>
        <p:spPr>
          <a:xfrm>
            <a:off x="10698480" y="6309360"/>
            <a:ext cx="1280160" cy="365760"/>
          </a:xfrm>
          <a:prstGeom prst="rect">
            <a:avLst/>
          </a:prstGeom>
          <a:noFill/>
        </p:spPr>
        <p:txBody>
          <a:bodyPr wrap="none">
            <a:spAutoFit/>
          </a:bodyPr>
          <a:lstStyle/>
          <a:p>
            <a:pPr algn="r"/>
            <a:r>
              <a:rPr sz="1100"/>
              <a:t>34</a:t>
            </a:r>
          </a:p>
        </p:txBody>
      </p:sp>
      <p:pic>
        <p:nvPicPr>
          <p:cNvPr id="10" name="narration_cs_L13.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11"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2"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9518" fill="hold"/>
                                        <p:tgtEl>
                                          <p:spTgt spid="10"/>
                                        </p:tgtEl>
                                      </p:cBhvr>
                                    </p:cmd>
                                  </p:childTnLst>
                                </p:cTn>
                              </p:par>
                              <p:par>
                                <p:cTn id="20" presetID="26" presetClass="emph" presetSubtype="0" repeatCount="indefinite" fill="hold" grpId="0" nodeType="withEffect">
                                  <p:stCondLst>
                                    <p:cond delay="29518"/>
                                  </p:stCondLst>
                                  <p:childTnLst>
                                    <p:animEffect transition="out" filter="fade">
                                      <p:cBhvr>
                                        <p:cTn id="21" dur="1000" tmFilter="0, 0; .2, .5; .8, .5; 1, 0"/>
                                        <p:tgtEl>
                                          <p:spTgt spid="12"/>
                                        </p:tgtEl>
                                      </p:cBhvr>
                                    </p:animEffect>
                                    <p:animScale>
                                      <p:cBhvr>
                                        <p:cTn id="22" dur="500" autoRev="1" fill="hold"/>
                                        <p:tgtEl>
                                          <p:spTgt spid="12"/>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0"/>
                </p:tgtEl>
              </p:cMediaNode>
            </p:audio>
          </p:childTnLst>
        </p:cTn>
      </p:par>
    </p:tnLst>
    <p:bldLst>
      <p:bldP spid="12" grpId="0" animBg="1"/>
    </p:bld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1270127"/>
            <a:ext cx="10698480" cy="943609"/>
          </a:xfrm>
          <a:prstGeom prst="rect">
            <a:avLst/>
          </a:prstGeom>
          <a:noFill/>
        </p:spPr>
        <p:txBody>
          <a:bodyPr wrap="none">
            <a:spAutoFit/>
          </a:bodyPr>
          <a:lstStyle/>
          <a:p>
            <a:pPr algn="ctr"/>
            <a:r>
              <a:rPr sz="4800" b="1">
                <a:solidFill>
                  <a:srgbClr val="000000"/>
                </a:solidFill>
              </a:rPr>
              <a:t>THANK YOU</a:t>
            </a:r>
          </a:p>
        </p:txBody>
      </p:sp>
      <p:sp>
        <p:nvSpPr>
          <p:cNvPr id="5" name="TextBox 4"/>
          <p:cNvSpPr txBox="1"/>
          <p:nvPr/>
        </p:nvSpPr>
        <p:spPr>
          <a:xfrm>
            <a:off x="792327" y="2716656"/>
            <a:ext cx="10607040" cy="1207008"/>
          </a:xfrm>
          <a:prstGeom prst="rect">
            <a:avLst/>
          </a:prstGeom>
          <a:noFill/>
        </p:spPr>
        <p:txBody>
          <a:bodyPr wrap="square">
            <a:spAutoFit/>
          </a:bodyPr>
          <a:lstStyle/>
          <a:p>
            <a:pPr algn="ctr"/>
            <a:r>
              <a:rPr sz="3600" i="0" b="0">
                <a:solidFill>
                  <a:srgbClr val="333333"/>
                </a:solidFill>
              </a:rPr>
              <a:t>Questions? Reach out to Jenny: s4927217@uq.edu.au</a:t>
            </a:r>
          </a:p>
        </p:txBody>
      </p:sp>
      <p:sp>
        <p:nvSpPr>
          <p:cNvPr id="6" name="TextBox 5"/>
          <p:cNvSpPr txBox="1"/>
          <p:nvPr/>
        </p:nvSpPr>
        <p:spPr>
          <a:xfrm>
            <a:off x="792327" y="4426584"/>
            <a:ext cx="10607040" cy="1207008"/>
          </a:xfrm>
          <a:prstGeom prst="rect">
            <a:avLst/>
          </a:prstGeom>
          <a:noFill/>
        </p:spPr>
        <p:txBody>
          <a:bodyPr wrap="square">
            <a:spAutoFit/>
          </a:bodyPr>
          <a:lstStyle/>
          <a:p>
            <a:pPr algn="ctr"/>
            <a:r>
              <a:rPr sz="3600" i="0" b="0">
                <a:solidFill>
                  <a:srgbClr val="333333"/>
                </a:solidFill>
              </a:rPr>
              <a:t>Prepared as part of the Role-Based BEC Competency Framework (RBCF)</a:t>
            </a:r>
          </a:p>
        </p:txBody>
      </p:sp>
      <p:pic>
        <p:nvPicPr>
          <p:cNvPr id="56" name="narration_slide31.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58"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59" name="Kiosk Finish">
            <a:hlinkClick r:id="" action="ppaction://hlinkshowjump?jump=endshow"/>
          </p:cNvPr>
          <p:cNvSpPr/>
          <p:nvPr/>
        </p:nvSpPr>
        <p:spPr>
          <a:xfrm>
            <a:off x="6233007" y="6309360"/>
            <a:ext cx="1463040" cy="384048"/>
          </a:xfrm>
          <a:prstGeom prst="roundRect">
            <a:avLst>
              <a:gd name="adj" fmla="val 8000"/>
            </a:avLst>
          </a:prstGeom>
          <a:gradFill rotWithShape="1">
            <a:gsLst>
              <a:gs pos="0">
                <a:srgbClr val="D68A5C"/>
              </a:gs>
              <a:gs pos="100000">
                <a:srgbClr val="966040"/>
              </a:gs>
            </a:gsLst>
            <a:lin scaled="0" ang="18900000"/>
          </a:gradFill>
          <a:ln>
            <a:solidFill>
              <a:srgbClr val="B85C38"/>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Finish</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7606" fill="hold"/>
                                        <p:tgtEl>
                                          <p:spTgt spid="5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56"/>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Email Compromise Training: Customer Service (kiosk version)</dc:title>
  <dc:subject>Role-Based BEC Competency Framework (RBCF)</dc:subject>
  <dc:creator>Ida Jenifer Jayaprakasam</dc:creator>
  <cp:keywords>business email compromise; BEC; role-based training; RBCF</cp:keywords>
  <dc:description>Capstone project CYBR7901/7902, University of Queensland</dc:description>
  <cp:lastModifiedBy>Ida Jenifer Jayaprakasam</cp:lastModifiedBy>
  <cp:revision>1</cp:revision>
  <dcterms:created xsi:type="dcterms:W3CDTF">2013-01-27T09:14:16Z</dcterms:created>
  <dcterms:modified xsi:type="dcterms:W3CDTF">2013-01-27T09:15:58Z</dcterms:modified>
  <cp:category/>
</cp:coreProperties>
</file>
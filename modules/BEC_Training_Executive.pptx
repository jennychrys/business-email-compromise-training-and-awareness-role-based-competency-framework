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4" ContentType="video/unknown"/>
  <Override PartName="/ppt/media/media2.mp4" ContentType="video/unknown"/>
  <Override PartName="/ppt/media/media3.mp4" ContentType="video/unknown"/>
  <Override PartName="/ppt/media/narration_ex_17.mp3" ContentType="audio/mpeg"/>
  <Override PartName="/ppt/media/narration_ex_20.mp3" ContentType="audio/mpeg"/>
  <Override PartName="/ppt/media/narration_ex_25.mp3" ContentType="audio/mpeg"/>
  <Override PartName="/ppt/media/narration_ex_27.mp3" ContentType="audio/mpeg"/>
  <Override PartName="/ppt/media/narration_ex_28.mp3" ContentType="audio/mpeg"/>
  <Override PartName="/ppt/media/narration_ex_29.mp3" ContentType="audio/mpeg"/>
  <Override PartName="/ppt/media/narration_ex_33.mp3" ContentType="audio/mpeg"/>
  <Override PartName="/ppt/media/narration_ex_L01.mp3" ContentType="audio/mpeg"/>
  <Override PartName="/ppt/media/narration_ex_L03.mp3" ContentType="audio/mpeg"/>
  <Override PartName="/ppt/media/narration_ex_L04.mp3" ContentType="audio/mpeg"/>
  <Override PartName="/ppt/media/narration_ex_L06.mp3" ContentType="audio/mpeg"/>
  <Override PartName="/ppt/media/narration_ex_L07.mp3" ContentType="audio/mpeg"/>
  <Override PartName="/ppt/media/narration_ex_L11.mp3" ContentType="audio/mpeg"/>
  <Override PartName="/ppt/media/narration_ex_L15.mp3" ContentType="audio/mpeg"/>
  <Override PartName="/ppt/media/narration_ex_L16.mp3" ContentType="audio/mpeg"/>
  <Override PartName="/ppt/media/narration_slide12.mp3" ContentType="audio/mpeg"/>
  <Override PartName="/ppt/media/narration_slide18.mp3" ContentType="audio/mpeg"/>
  <Override PartName="/ppt/media/narration_slide29.mp3" ContentType="audio/mpeg"/>
  <Override PartName="/ppt/media/narration_slide5.mp3" ContentType="audio/mpeg"/>
  <Override PartName="/ppt/media/narration_slide7.mp3" ContentType="audio/mpeg"/>
  <Override PartName="/ppt/media/narration_v14_ex_02.mp3" ContentType="audio/mpeg"/>
  <Override PartName="/ppt/media/narration_v14_ex_08.mp3" ContentType="audio/mpeg"/>
  <Override PartName="/ppt/media/narration_v14_ex_12.mp3" ContentType="audio/mpeg"/>
  <Override PartName="/ppt/media/narration_v14_ex_22.mp3" ContentType="audio/mpeg"/>
  <Override PartName="/ppt/media/narration_v14_ex_23.mp3" ContentType="audio/mpeg"/>
  <Override PartName="/ppt/media/narration_v14_ex_25.mp3" ContentType="audio/mpeg"/>
  <Override PartName="/ppt/media/narration_v14_ex_27.mp3" ContentType="audio/mpeg"/>
  <Override PartName="/ppt/media/narration_v14_ex_36.mp3" ContentType="audio/mpeg"/>
  <Override PartName="/ppt/media/narration_v14_ex_44.mp3" ContentType="audio/mpeg"/>
  <Override PartName="/ppt/media/narration_v15_ex_06.mp3" ContentType="audio/mpe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9"/>
    <p:sldId id="257" r:id="rId8"/>
    <p:sldId id="259" r:id="rId10"/>
    <p:sldId id="260" r:id="rId11"/>
    <p:sldId id="261" r:id="rId12"/>
    <p:sldId id="262" r:id="rId13"/>
    <p:sldId id="305" r:id="rId42"/>
    <p:sldId id="263" r:id="rId14"/>
    <p:sldId id="264" r:id="rId15"/>
    <p:sldId id="265" r:id="rId16"/>
    <p:sldId id="270" r:id="rId21"/>
    <p:sldId id="298" r:id="rId49"/>
    <p:sldId id="299" r:id="rId50"/>
    <p:sldId id="300" r:id="rId51"/>
    <p:sldId id="301" r:id="rId52"/>
    <p:sldId id="302" r:id="rId53"/>
    <p:sldId id="303" r:id="rId54"/>
    <p:sldId id="293" r:id="rId44"/>
    <p:sldId id="273" r:id="rId24"/>
    <p:sldId id="274" r:id="rId25"/>
    <p:sldId id="306" r:id="rId41"/>
    <p:sldId id="266" r:id="rId17"/>
    <p:sldId id="267" r:id="rId18"/>
    <p:sldId id="282" r:id="rId33"/>
    <p:sldId id="292" r:id="rId43"/>
    <p:sldId id="308" r:id="rId26"/>
    <p:sldId id="285" r:id="rId36"/>
    <p:sldId id="286" r:id="rId37"/>
    <p:sldId id="287" r:id="rId38"/>
    <p:sldId id="309" r:id="rId23"/>
    <p:sldId id="288" r:id="rId39"/>
    <p:sldId id="294" r:id="rId45"/>
    <p:sldId id="295" r:id="rId46"/>
    <p:sldId id="296" r:id="rId47"/>
    <p:sldId id="310" r:id="rId22"/>
    <p:sldId id="297" r:id="rId48"/>
    <p:sldId id="307" r:id="rId40"/>
    <p:sldId id="304" r:id="rId55"/>
    <p:sldId id="276" r:id="rId27"/>
    <p:sldId id="277" r:id="rId28"/>
    <p:sldId id="278" r:id="rId29"/>
    <p:sldId id="279" r:id="rId30"/>
    <p:sldId id="280" r:id="rId31"/>
    <p:sldId id="281" r:id="rId32"/>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kiosk restart="3600000"/>
    <p:sldAll/>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23.xml"/><Relationship Id="rId18" Type="http://schemas.openxmlformats.org/officeDocument/2006/relationships/slide" Target="slides/slide24.xml"/><Relationship Id="rId21" Type="http://schemas.openxmlformats.org/officeDocument/2006/relationships/slide" Target="slides/slide12.xml"/><Relationship Id="rId22" Type="http://schemas.openxmlformats.org/officeDocument/2006/relationships/slide" Target="slides/slide36.xml"/><Relationship Id="rId23" Type="http://schemas.openxmlformats.org/officeDocument/2006/relationships/slide" Target="slides/slide31.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7.xml"/><Relationship Id="rId27" Type="http://schemas.openxmlformats.org/officeDocument/2006/relationships/slide" Target="slides/slide40.xml"/><Relationship Id="rId28" Type="http://schemas.openxmlformats.org/officeDocument/2006/relationships/slide" Target="slides/slide41.xml"/><Relationship Id="rId29" Type="http://schemas.openxmlformats.org/officeDocument/2006/relationships/slide" Target="slides/slide42.xml"/><Relationship Id="rId30" Type="http://schemas.openxmlformats.org/officeDocument/2006/relationships/slide" Target="slides/slide43.xml"/><Relationship Id="rId31" Type="http://schemas.openxmlformats.org/officeDocument/2006/relationships/slide" Target="slides/slide44.xml"/><Relationship Id="rId32" Type="http://schemas.openxmlformats.org/officeDocument/2006/relationships/slide" Target="slides/slide45.xml"/><Relationship Id="rId33" Type="http://schemas.openxmlformats.org/officeDocument/2006/relationships/slide" Target="slides/slide25.xml"/><Relationship Id="rId34" Type="http://schemas.openxmlformats.org/officeDocument/2006/relationships/slide" Target="slides/slide46.xml"/><Relationship Id="rId35" Type="http://schemas.openxmlformats.org/officeDocument/2006/relationships/slide" Target="slides/slide4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2.xml"/><Relationship Id="rId40" Type="http://schemas.openxmlformats.org/officeDocument/2006/relationships/slide" Target="slides/slide38.xml"/><Relationship Id="rId41" Type="http://schemas.openxmlformats.org/officeDocument/2006/relationships/slide" Target="slides/slide22.xml"/><Relationship Id="rId42" Type="http://schemas.openxmlformats.org/officeDocument/2006/relationships/slide" Target="slides/slide8.xml"/><Relationship Id="rId43" Type="http://schemas.openxmlformats.org/officeDocument/2006/relationships/slide" Target="slides/slide26.xml"/><Relationship Id="rId44" Type="http://schemas.openxmlformats.org/officeDocument/2006/relationships/slide" Target="slides/slide19.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7.xml"/><Relationship Id="rId49" Type="http://schemas.openxmlformats.org/officeDocument/2006/relationships/slide" Target="slides/slide13.xml"/><Relationship Id="rId50" Type="http://schemas.openxmlformats.org/officeDocument/2006/relationships/slide" Target="slides/slide14.xml"/><Relationship Id="rId51" Type="http://schemas.openxmlformats.org/officeDocument/2006/relationships/slide" Target="slides/slide15.xml"/><Relationship Id="rId52" Type="http://schemas.openxmlformats.org/officeDocument/2006/relationships/slide" Target="slides/slide16.xml"/><Relationship Id="rId53" Type="http://schemas.openxmlformats.org/officeDocument/2006/relationships/slide" Target="slides/slide17.xml"/><Relationship Id="rId54" Type="http://schemas.openxmlformats.org/officeDocument/2006/relationships/slide" Target="slides/slide18.xml"/><Relationship Id="rId5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ex_L01.mp3"/><Relationship Id="rId4" Type="http://schemas.microsoft.com/office/2007/relationships/media" Target="../media/narration_ex_L01.mp3"/><Relationship Id="rId5" Type="http://schemas.openxmlformats.org/officeDocument/2006/relationships/image" Target="../media/audio_icon.png"/><Relationship Id="rId6"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xml"/><Relationship Id="rId4" Type="http://schemas.openxmlformats.org/officeDocument/2006/relationships/slide" Target="slide3.xml"/><Relationship Id="rId5" Type="http://schemas.microsoft.com/office/2007/relationships/media" Target="../media/narration_v14_ex_02.mp3"/><Relationship Id="rId6" Type="http://schemas.openxmlformats.org/officeDocument/2006/relationships/audio" Target="../media/narration_v14_ex_02.mp3"/><Relationship Id="rId7" Type="http://schemas.openxmlformats.org/officeDocument/2006/relationships/image" Target="../media/audio_icon.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ex_L03.mp3"/><Relationship Id="rId4" Type="http://schemas.microsoft.com/office/2007/relationships/media" Target="../media/narration_ex_L03.mp3"/><Relationship Id="rId5" Type="http://schemas.openxmlformats.org/officeDocument/2006/relationships/image" Target="../media/audio_icon.png"/><Relationship Id="rId6" Type="http://schemas.openxmlformats.org/officeDocument/2006/relationships/slide" Target="slide2.xml"/><Relationship Id="rId7"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ex_L04.mp3"/><Relationship Id="rId4" Type="http://schemas.microsoft.com/office/2007/relationships/media" Target="../media/narration_ex_L04.mp3"/><Relationship Id="rId5" Type="http://schemas.openxmlformats.org/officeDocument/2006/relationships/image" Target="../media/audio_icon.png"/><Relationship Id="rId6" Type="http://schemas.openxmlformats.org/officeDocument/2006/relationships/slide" Target="slide3.xml"/><Relationship Id="rId7"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5.mp3"/><Relationship Id="rId4" Type="http://schemas.microsoft.com/office/2007/relationships/media" Target="../media/narration_slide5.mp3"/><Relationship Id="rId5" Type="http://schemas.openxmlformats.org/officeDocument/2006/relationships/image" Target="../media/audio_icon.png"/><Relationship Id="rId6" Type="http://schemas.openxmlformats.org/officeDocument/2006/relationships/slide" Target="slide4.xml"/><Relationship Id="rId7"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5.xml"/><Relationship Id="rId4" Type="http://schemas.openxmlformats.org/officeDocument/2006/relationships/slide" Target="slide7.xml"/><Relationship Id="rId5" Type="http://schemas.microsoft.com/office/2007/relationships/media" Target="../media/narration_v15_ex_06.mp3"/><Relationship Id="rId6" Type="http://schemas.openxmlformats.org/officeDocument/2006/relationships/audio" Target="../media/narration_v15_ex_06.mp3"/><Relationship Id="rId7" Type="http://schemas.openxmlformats.org/officeDocument/2006/relationships/image" Target="../media/audio_icon.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7.mp3"/><Relationship Id="rId4" Type="http://schemas.microsoft.com/office/2007/relationships/media" Target="../media/narration_slide7.mp3"/><Relationship Id="rId5" Type="http://schemas.openxmlformats.org/officeDocument/2006/relationships/image" Target="../media/audio_icon.png"/><Relationship Id="rId6" Type="http://schemas.openxmlformats.org/officeDocument/2006/relationships/slide" Target="slide6.xml"/><Relationship Id="rId7"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audio" Target="../media/narration_v14_ex_08.mp3"/><Relationship Id="rId6" Type="http://schemas.microsoft.com/office/2007/relationships/media" Target="../media/narration_v14_ex_08.mp3"/><Relationship Id="rId7" Type="http://schemas.openxmlformats.org/officeDocument/2006/relationships/image" Target="../media/audio_icon.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jpg"/><Relationship Id="rId6" Type="http://schemas.openxmlformats.org/officeDocument/2006/relationships/slide" Target="slide10.xml"/><Relationship Id="rId7" Type="http://schemas.openxmlformats.org/officeDocument/2006/relationships/slide" Target="slide8.xml"/><Relationship Id="rId8" Type="http://schemas.openxmlformats.org/officeDocument/2006/relationships/image" Target="../media/audio_icon.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3.jpg"/><Relationship Id="rId6" Type="http://schemas.openxmlformats.org/officeDocument/2006/relationships/slide" Target="slide11.xml"/><Relationship Id="rId7" Type="http://schemas.openxmlformats.org/officeDocument/2006/relationships/slide" Target="slide9.xml"/><Relationship Id="rId8" Type="http://schemas.openxmlformats.org/officeDocument/2006/relationships/image" Target="../media/audio_icon.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4.jpg"/><Relationship Id="rId6" Type="http://schemas.openxmlformats.org/officeDocument/2006/relationships/slide" Target="slide12.xml"/><Relationship Id="rId7" Type="http://schemas.openxmlformats.org/officeDocument/2006/relationships/slide" Target="slide10.xml"/><Relationship Id="rId8" Type="http://schemas.openxmlformats.org/officeDocument/2006/relationships/image" Target="../media/audio_icon.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narration_v14_ex_12.mp3"/><Relationship Id="rId4" Type="http://schemas.openxmlformats.org/officeDocument/2006/relationships/slide" Target="slide11.xml"/><Relationship Id="rId5" Type="http://schemas.openxmlformats.org/officeDocument/2006/relationships/image" Target="../media/audio_icon.png"/><Relationship Id="rId6" Type="http://schemas.openxmlformats.org/officeDocument/2006/relationships/audio" Target="../media/narration_v14_ex_12.mp3"/><Relationship Id="rId7" Type="http://schemas.openxmlformats.org/officeDocument/2006/relationships/slide" Target="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2.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3.xml"/><Relationship Id="rId4" Type="http://schemas.openxmlformats.org/officeDocument/2006/relationships/slide" Target="slide15.xml"/><Relationship Id="rId5" Type="http://schemas.openxmlformats.org/officeDocument/2006/relationships/audio" Target="../media/narration_ex_25.mp3"/><Relationship Id="rId6" Type="http://schemas.microsoft.com/office/2007/relationships/media" Target="../media/narration_ex_25.mp3"/><Relationship Id="rId7" Type="http://schemas.openxmlformats.org/officeDocument/2006/relationships/image" Target="../media/audio_icon.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4.xml"/><Relationship Id="rId4"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5.xml"/><Relationship Id="rId4" Type="http://schemas.openxmlformats.org/officeDocument/2006/relationships/slide" Target="slide17.xml"/><Relationship Id="rId5" Type="http://schemas.openxmlformats.org/officeDocument/2006/relationships/audio" Target="../media/narration_ex_27.mp3"/><Relationship Id="rId6" Type="http://schemas.microsoft.com/office/2007/relationships/media" Target="../media/narration_ex_27.mp3"/><Relationship Id="rId7" Type="http://schemas.openxmlformats.org/officeDocument/2006/relationships/image" Target="../media/audio_icon.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slide" Target="slide16.xml"/><Relationship Id="rId5" Type="http://schemas.openxmlformats.org/officeDocument/2006/relationships/slide" Target="slide18.xml"/><Relationship Id="rId6" Type="http://schemas.openxmlformats.org/officeDocument/2006/relationships/audio" Target="../media/narration_ex_28.mp3"/><Relationship Id="rId7" Type="http://schemas.microsoft.com/office/2007/relationships/media" Target="../media/narration_ex_28.mp3"/><Relationship Id="rId8" Type="http://schemas.openxmlformats.org/officeDocument/2006/relationships/image" Target="../media/audio_icon.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7.xml"/><Relationship Id="rId4" Type="http://schemas.openxmlformats.org/officeDocument/2006/relationships/slide" Target="slide19.xml"/><Relationship Id="rId5" Type="http://schemas.openxmlformats.org/officeDocument/2006/relationships/audio" Target="../media/narration_ex_29.mp3"/><Relationship Id="rId6" Type="http://schemas.microsoft.com/office/2007/relationships/media" Target="../media/narration_ex_29.mp3"/><Relationship Id="rId7" Type="http://schemas.openxmlformats.org/officeDocument/2006/relationships/image" Target="../media/audio_icon.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ex_L16.mp3"/><Relationship Id="rId4" Type="http://schemas.microsoft.com/office/2007/relationships/media" Target="../media/narration_ex_L16.mp3"/><Relationship Id="rId5" Type="http://schemas.openxmlformats.org/officeDocument/2006/relationships/image" Target="../media/audio_icon.png"/><Relationship Id="rId6" Type="http://schemas.openxmlformats.org/officeDocument/2006/relationships/slide" Target="slide18.xml"/><Relationship Id="rId7"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8.mp3"/><Relationship Id="rId4" Type="http://schemas.microsoft.com/office/2007/relationships/media" Target="../media/narration_slide18.mp3"/><Relationship Id="rId5" Type="http://schemas.openxmlformats.org/officeDocument/2006/relationships/image" Target="../media/audio_icon.png"/><Relationship Id="rId6" Type="http://schemas.openxmlformats.org/officeDocument/2006/relationships/slide" Target="slide19.xml"/><Relationship Id="rId7"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ex_L11.mp3"/><Relationship Id="rId4" Type="http://schemas.microsoft.com/office/2007/relationships/media" Target="../media/narration_ex_L11.mp3"/><Relationship Id="rId5" Type="http://schemas.openxmlformats.org/officeDocument/2006/relationships/image" Target="../media/audio_icon.png"/><Relationship Id="rId6" Type="http://schemas.openxmlformats.org/officeDocument/2006/relationships/slide" Target="slide20.xml"/><Relationship Id="rId7" Type="http://schemas.openxmlformats.org/officeDocument/2006/relationships/slide" Target="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23.xml"/><Relationship Id="rId5" Type="http://schemas.openxmlformats.org/officeDocument/2006/relationships/audio" Target="../media/narration_v14_ex_22.mp3"/><Relationship Id="rId6" Type="http://schemas.microsoft.com/office/2007/relationships/media" Target="../media/narration_v14_ex_22.mp3"/><Relationship Id="rId7" Type="http://schemas.openxmlformats.org/officeDocument/2006/relationships/image" Target="../media/audio_icon.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narration_v14_ex_23.mp3"/><Relationship Id="rId4" Type="http://schemas.openxmlformats.org/officeDocument/2006/relationships/slide" Target="slide22.xml"/><Relationship Id="rId5" Type="http://schemas.openxmlformats.org/officeDocument/2006/relationships/image" Target="../media/audio_icon.png"/><Relationship Id="rId6" Type="http://schemas.openxmlformats.org/officeDocument/2006/relationships/audio" Target="../media/narration_v14_ex_23.mp3"/><Relationship Id="rId7"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2.mp3"/><Relationship Id="rId4" Type="http://schemas.microsoft.com/office/2007/relationships/media" Target="../media/narration_slide12.mp3"/><Relationship Id="rId5" Type="http://schemas.openxmlformats.org/officeDocument/2006/relationships/image" Target="../media/audio_icon.png"/><Relationship Id="rId6" Type="http://schemas.openxmlformats.org/officeDocument/2006/relationships/slide" Target="slide23.xml"/><Relationship Id="rId7"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v14_ex_25.mp3"/><Relationship Id="rId4" Type="http://schemas.openxmlformats.org/officeDocument/2006/relationships/slide" Target="slide26.xml"/><Relationship Id="rId5" Type="http://schemas.openxmlformats.org/officeDocument/2006/relationships/image" Target="../media/audio_icon.png"/><Relationship Id="rId6" Type="http://schemas.openxmlformats.org/officeDocument/2006/relationships/slide" Target="slide24.xml"/><Relationship Id="rId7" Type="http://schemas.microsoft.com/office/2007/relationships/media" Target="../media/narration_v14_ex_25.mp3"/></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ex_L15.mp3"/><Relationship Id="rId4" Type="http://schemas.microsoft.com/office/2007/relationships/media" Target="../media/narration_ex_L15.mp3"/><Relationship Id="rId5" Type="http://schemas.openxmlformats.org/officeDocument/2006/relationships/image" Target="../media/audio_icon.png"/><Relationship Id="rId6" Type="http://schemas.openxmlformats.org/officeDocument/2006/relationships/slide" Target="slide25.xml"/><Relationship Id="rId7"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6.xml"/><Relationship Id="rId4" Type="http://schemas.openxmlformats.org/officeDocument/2006/relationships/slide" Target="slide28.xml"/><Relationship Id="rId5" Type="http://schemas.openxmlformats.org/officeDocument/2006/relationships/audio" Target="../media/narration_v14_ex_27.mp3"/><Relationship Id="rId6" Type="http://schemas.microsoft.com/office/2007/relationships/media" Target="../media/narration_v14_ex_27.mp3"/><Relationship Id="rId7" Type="http://schemas.openxmlformats.org/officeDocument/2006/relationships/image" Target="../media/audio_icon.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0.xml"/><Relationship Id="rId4" Type="http://schemas.openxmlformats.org/officeDocument/2006/relationships/slide" Target="slide29.xml"/><Relationship Id="rId5" Type="http://schemas.openxmlformats.org/officeDocument/2006/relationships/audio" Target="../media/narration_ex_L06.mp3"/><Relationship Id="rId6" Type="http://schemas.microsoft.com/office/2007/relationships/media" Target="../media/narration_ex_L06.mp3"/><Relationship Id="rId7" Type="http://schemas.openxmlformats.org/officeDocument/2006/relationships/image" Target="../media/audio_icon.png"/><Relationship Id="rId8" Type="http://schemas.openxmlformats.org/officeDocument/2006/relationships/slide" Target="slide27.xml"/><Relationship Id="rId9" Type="http://schemas.openxmlformats.org/officeDocument/2006/relationships/slide" Target="slide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2.xml"/><Relationship Id="rId4" Type="http://schemas.openxmlformats.org/officeDocument/2006/relationships/slide" Target="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2.xml"/><Relationship Id="rId4" Type="http://schemas.openxmlformats.org/officeDocument/2006/relationships/slide" Target="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8.xml"/><Relationship Id="rId4" Type="http://schemas.openxmlformats.org/officeDocument/2006/relationships/slide" Target="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ex_L07.mp3"/><Relationship Id="rId4" Type="http://schemas.microsoft.com/office/2007/relationships/media" Target="../media/narration_ex_L07.mp3"/><Relationship Id="rId5" Type="http://schemas.openxmlformats.org/officeDocument/2006/relationships/image" Target="../media/audio_icon.png"/><Relationship Id="rId6" Type="http://schemas.openxmlformats.org/officeDocument/2006/relationships/slide" Target="slide28.xml"/><Relationship Id="rId7" Type="http://schemas.openxmlformats.org/officeDocument/2006/relationships/slide" Target="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4.xml"/><Relationship Id="rId4" Type="http://schemas.openxmlformats.org/officeDocument/2006/relationships/slide" Target="slide36.xml"/><Relationship Id="rId5" Type="http://schemas.openxmlformats.org/officeDocument/2006/relationships/slide" Target="slide32.xml"/><Relationship Id="rId6" Type="http://schemas.openxmlformats.org/officeDocument/2006/relationships/audio" Target="../media/narration_ex_17.mp3"/><Relationship Id="rId7" Type="http://schemas.microsoft.com/office/2007/relationships/media" Target="../media/narration_ex_17.mp3"/><Relationship Id="rId8" Type="http://schemas.openxmlformats.org/officeDocument/2006/relationships/image" Target="../media/audio_icon.png"/><Relationship Id="rId9" Type="http://schemas.openxmlformats.org/officeDocument/2006/relationships/slide" Target="slide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7.xml"/><Relationship Id="rId4" Type="http://schemas.openxmlformats.org/officeDocument/2006/relationships/slide" Target="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7.xml"/><Relationship Id="rId4" Type="http://schemas.openxmlformats.org/officeDocument/2006/relationships/slide" Target="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3.xml"/><Relationship Id="rId4" Type="http://schemas.openxmlformats.org/officeDocument/2006/relationships/slide" Target="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3.xml"/><Relationship Id="rId4" Type="http://schemas.openxmlformats.org/officeDocument/2006/relationships/slide" Target="slide38.xml"/><Relationship Id="rId5" Type="http://schemas.openxmlformats.org/officeDocument/2006/relationships/audio" Target="../media/narration_ex_20.mp3"/><Relationship Id="rId6" Type="http://schemas.microsoft.com/office/2007/relationships/media" Target="../media/narration_ex_20.mp3"/><Relationship Id="rId7" Type="http://schemas.openxmlformats.org/officeDocument/2006/relationships/image" Target="../media/audio_icon.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7.xml"/><Relationship Id="rId4" Type="http://schemas.openxmlformats.org/officeDocument/2006/relationships/slide" Target="slide39.xml"/><Relationship Id="rId5" Type="http://schemas.openxmlformats.org/officeDocument/2006/relationships/audio" Target="../media/narration_v14_ex_36.mp3"/><Relationship Id="rId6" Type="http://schemas.microsoft.com/office/2007/relationships/media" Target="../media/narration_v14_ex_36.mp3"/><Relationship Id="rId7" Type="http://schemas.openxmlformats.org/officeDocument/2006/relationships/image" Target="../media/audio_icon.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8.xml"/><Relationship Id="rId4" Type="http://schemas.openxmlformats.org/officeDocument/2006/relationships/slide" Target="slide40.xml"/><Relationship Id="rId5" Type="http://schemas.openxmlformats.org/officeDocument/2006/relationships/audio" Target="../media/narration_ex_33.mp3"/><Relationship Id="rId6" Type="http://schemas.microsoft.com/office/2007/relationships/media" Target="../media/narration_ex_33.mp3"/><Relationship Id="rId7" Type="http://schemas.openxmlformats.org/officeDocument/2006/relationships/image" Target="../media/audio_icon.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1.xml"/><Relationship Id="rId4" Type="http://schemas.openxmlformats.org/officeDocument/2006/relationships/slide" Target="slide42.xml"/><Relationship Id="rId5" Type="http://schemas.openxmlformats.org/officeDocument/2006/relationships/slide" Target="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3.xml"/><Relationship Id="rId4" Type="http://schemas.openxmlformats.org/officeDocument/2006/relationships/slide" Target="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3.xml"/><Relationship Id="rId4" Type="http://schemas.openxmlformats.org/officeDocument/2006/relationships/slide" Target="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6.xml"/><Relationship Id="rId4" Type="http://schemas.openxmlformats.org/officeDocument/2006/relationships/slide" Target="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6.xml"/><Relationship Id="rId4" Type="http://schemas.openxmlformats.org/officeDocument/2006/relationships/slide" Target="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narration_v14_ex_44.mp3"/><Relationship Id="rId4" Type="http://schemas.openxmlformats.org/officeDocument/2006/relationships/audio" Target="../media/narration_v14_ex_44.mp3"/><Relationship Id="rId5" Type="http://schemas.openxmlformats.org/officeDocument/2006/relationships/image" Target="../media/audio_icon.png"/><Relationship Id="rId6" Type="http://schemas.openxmlformats.org/officeDocument/2006/relationships/slide" Target="slide43.xml"/><Relationship Id="rId7" Type="http://schemas.openxmlformats.org/officeDocument/2006/relationships/slide" Target="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29.mp3"/><Relationship Id="rId4" Type="http://schemas.microsoft.com/office/2007/relationships/media" Target="../media/narration_slide29.mp3"/><Relationship Id="rId5" Type="http://schemas.openxmlformats.org/officeDocument/2006/relationships/image" Target="../media/audio_icon.png"/><Relationship Id="rId6" Type="http://schemas.openxmlformats.org/officeDocument/2006/relationships/slide" Target="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896112"/>
            <a:ext cx="10698480" cy="1581912"/>
          </a:xfrm>
          <a:prstGeom prst="rect">
            <a:avLst/>
          </a:prstGeom>
          <a:noFill/>
        </p:spPr>
        <p:txBody>
          <a:bodyPr wrap="none">
            <a:spAutoFit/>
          </a:bodyPr>
          <a:lstStyle/>
          <a:p>
            <a:pPr algn="ctr"/>
            <a:r>
              <a:rPr sz="4800" b="1">
                <a:solidFill>
                  <a:srgbClr val="F2EFE8"/>
                </a:solidFill>
              </a:rPr>
              <a:t>BUSINESS EMAIL COMPROMISE TRAINING</a:t>
            </a:r>
          </a:p>
        </p:txBody>
      </p:sp>
      <p:sp>
        <p:nvSpPr>
          <p:cNvPr id="4" name="TextBox 3"/>
          <p:cNvSpPr txBox="1"/>
          <p:nvPr/>
        </p:nvSpPr>
        <p:spPr>
          <a:xfrm>
            <a:off x="795528" y="2816352"/>
            <a:ext cx="10607040" cy="649224"/>
          </a:xfrm>
          <a:prstGeom prst="rect">
            <a:avLst/>
          </a:prstGeom>
          <a:noFill/>
        </p:spPr>
        <p:txBody>
          <a:bodyPr wrap="square">
            <a:spAutoFit/>
          </a:bodyPr>
          <a:lstStyle/>
          <a:p>
            <a:pPr algn="ctr"/>
            <a:r>
              <a:rPr sz="3600" i="0" b="1">
                <a:solidFill>
                  <a:srgbClr val="D8B098"/>
                </a:solidFill>
              </a:rPr>
              <a:t>Executive Edition</a:t>
            </a:r>
          </a:p>
        </p:txBody>
      </p:sp>
      <p:sp>
        <p:nvSpPr>
          <p:cNvPr id="5" name="TextBox 4"/>
          <p:cNvSpPr txBox="1"/>
          <p:nvPr/>
        </p:nvSpPr>
        <p:spPr>
          <a:xfrm>
            <a:off x="795528" y="3813048"/>
            <a:ext cx="10607040" cy="649224"/>
          </a:xfrm>
          <a:prstGeom prst="rect">
            <a:avLst/>
          </a:prstGeom>
          <a:noFill/>
        </p:spPr>
        <p:txBody>
          <a:bodyPr wrap="square">
            <a:spAutoFit/>
          </a:bodyPr>
          <a:lstStyle/>
          <a:p>
            <a:pPr algn="ctr"/>
            <a:r>
              <a:rPr sz="3600" i="0" b="1">
                <a:solidFill>
                  <a:srgbClr val="F2EFE8"/>
                </a:solidFill>
              </a:rPr>
              <a:t>Detect  →  Verify  →  Contain</a:t>
            </a:r>
          </a:p>
        </p:txBody>
      </p:sp>
      <p:sp>
        <p:nvSpPr>
          <p:cNvPr id="8" name="Tagline"/>
          <p:cNvSpPr txBox="1"/>
          <p:nvPr/>
        </p:nvSpPr>
        <p:spPr>
          <a:xfrm>
            <a:off x="795528" y="4800600"/>
            <a:ext cx="10607040" cy="1207008"/>
          </a:xfrm>
          <a:prstGeom prst="rect">
            <a:avLst/>
          </a:prstGeom>
          <a:noFill/>
        </p:spPr>
        <p:txBody>
          <a:bodyPr wrap="square">
            <a:spAutoFit/>
          </a:bodyPr>
          <a:lstStyle/>
          <a:p>
            <a:pPr algn="ctr"/>
            <a:r>
              <a:rPr sz="3600" i="1" b="0">
                <a:solidFill>
                  <a:srgbClr val="D8B098"/>
                </a:solidFill>
              </a:rPr>
              <a:t>Your name carries weight. That's exactly why attackers borrow it.</a:t>
            </a:r>
          </a:p>
        </p:txBody>
      </p:sp>
      <p:pic>
        <p:nvPicPr>
          <p:cNvPr id="6" name="narration_ex_L0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7" name="Kiosk Next">
            <a:hlinkClick r:id="rId6" action="ppaction://hlinksldjump"/>
          </p:cNvPr>
          <p:cNvSpPr/>
          <p:nvPr/>
        </p:nvSpPr>
        <p:spPr>
          <a:xfrm>
            <a:off x="536432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000" fill="hold"/>
                                        <p:tgtEl>
                                          <p:spTgt spid="6"/>
                                        </p:tgtEl>
                                      </p:cBhvr>
                                    </p:cmd>
                                  </p:childTnLst>
                                </p:cTn>
                              </p:par>
                              <p:par>
                                <p:cTn id="20" presetID="26" presetClass="emph" presetSubtype="0" repeatCount="indefinite" fill="hold" grpId="0" nodeType="withEffect">
                                  <p:stCondLst>
                                    <p:cond delay="32000"/>
                                  </p:stCondLst>
                                  <p:childTnLst>
                                    <p:animEffect transition="out" filter="fade">
                                      <p:cBhvr>
                                        <p:cTn id="21" dur="1000" tmFilter="0, 0; .2, .5; .8, .5; 1, 0"/>
                                        <p:tgtEl>
                                          <p:spTgt spid="7"/>
                                        </p:tgtEl>
                                      </p:cBhvr>
                                    </p:animEffect>
                                    <p:animScale>
                                      <p:cBhvr>
                                        <p:cTn id="22" dur="500" autoRev="1" fill="hold"/>
                                        <p:tgtEl>
                                          <p:spTgt spid="7"/>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
                </p:tgtEl>
              </p:cMediaNode>
            </p:audio>
          </p:childTnLst>
        </p:cTn>
      </p:par>
    </p:tnLst>
    <p:bldLst>
      <p:bldP spid="7"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AGENDA</a:t>
            </a:r>
          </a:p>
        </p:txBody>
      </p:sp>
      <p:sp>
        <p:nvSpPr>
          <p:cNvPr id="4" name="TextBox 3"/>
          <p:cNvSpPr txBox="1"/>
          <p:nvPr/>
        </p:nvSpPr>
        <p:spPr>
          <a:xfrm>
            <a:off x="792327" y="1430147"/>
            <a:ext cx="10607040" cy="4359401"/>
          </a:xfrm>
          <a:prstGeom prst="rect">
            <a:avLst/>
          </a:prstGeom>
          <a:noFill/>
        </p:spPr>
        <p:txBody>
          <a:bodyPr wrap="square">
            <a:spAutoFit/>
          </a:bodyPr>
          <a:lstStyle/>
          <a:p>
            <a:pPr marL="397764" indent="-397764">
              <a:spcAft>
                <a:spcPts val="600"/>
              </a:spcAft>
              <a:buFont typeface="Arial"/>
              <a:buChar char="•"/>
              <a:defRPr sz="2200">
                <a:solidFill>
                  <a:srgbClr val="F2EFE8"/>
                </a:solidFill>
              </a:defRPr>
            </a:pPr>
            <a:r>
              <a:rPr sz="2200">
                <a:solidFill>
                  <a:srgbClr val="F2EFE8"/>
                </a:solidFill>
              </a:rPr>
              <a:t>What business email compromise is, and the problem it creates</a:t>
            </a:r>
          </a:p>
          <a:p>
            <a:pPr marL="397764" indent="-397764">
              <a:spcAft>
                <a:spcPts val="600"/>
              </a:spcAft>
              <a:buFont typeface="Arial"/>
              <a:buChar char="•"/>
              <a:defRPr sz="2200">
                <a:solidFill>
                  <a:srgbClr val="F2EFE8"/>
                </a:solidFill>
              </a:defRPr>
            </a:pPr>
            <a:r>
              <a:rPr sz="2200" b="1">
                <a:solidFill>
                  <a:srgbClr val="F2EFE8"/>
                </a:solidFill>
              </a:rPr>
              <a:t>Phase 1, Detect</a:t>
            </a:r>
          </a:p>
          <a:p>
            <a:pPr marL="397764" indent="-397764">
              <a:spcAft>
                <a:spcPts val="600"/>
              </a:spcAft>
              <a:buFont typeface="Arial"/>
              <a:buChar char="◦"/>
              <a:defRPr sz="2200">
                <a:solidFill>
                  <a:srgbClr val="F2EFE8"/>
                </a:solidFill>
              </a:defRPr>
            </a:pPr>
            <a:r>
              <a:rPr sz="2200">
                <a:solidFill>
                  <a:srgbClr val="F2EFE8"/>
                </a:solidFill>
              </a:rPr>
              <a:t>Three attack vectors: email, voice and video</a:t>
            </a:r>
          </a:p>
          <a:p>
            <a:pPr marL="397764" indent="-397764">
              <a:spcAft>
                <a:spcPts val="600"/>
              </a:spcAft>
              <a:buFont typeface="Arial"/>
              <a:buChar char="◦"/>
              <a:defRPr sz="2200">
                <a:solidFill>
                  <a:srgbClr val="F2EFE8"/>
                </a:solidFill>
              </a:defRPr>
            </a:pPr>
            <a:r>
              <a:rPr sz="2200">
                <a:solidFill>
                  <a:srgbClr val="F2EFE8"/>
                </a:solidFill>
              </a:rPr>
              <a:t>Two email red flags, and the psychology behind them</a:t>
            </a:r>
          </a:p>
          <a:p>
            <a:pPr marL="397764" indent="-397764">
              <a:spcAft>
                <a:spcPts val="600"/>
              </a:spcAft>
              <a:buFont typeface="Arial"/>
              <a:buChar char="◦"/>
              <a:defRPr sz="2200">
                <a:solidFill>
                  <a:srgbClr val="F2EFE8"/>
                </a:solidFill>
              </a:defRPr>
            </a:pPr>
            <a:r>
              <a:rPr sz="2200">
                <a:solidFill>
                  <a:srgbClr val="F2EFE8"/>
                </a:solidFill>
              </a:rPr>
              <a:t>Text messages, QR codes and ClickFix</a:t>
            </a:r>
          </a:p>
          <a:p>
            <a:pPr marL="397764" indent="-397764">
              <a:spcAft>
                <a:spcPts val="600"/>
              </a:spcAft>
              <a:buFont typeface="Arial"/>
              <a:buChar char="•"/>
              <a:defRPr sz="2200">
                <a:solidFill>
                  <a:srgbClr val="F2EFE8"/>
                </a:solidFill>
              </a:defRPr>
            </a:pPr>
            <a:r>
              <a:rPr sz="2200" b="1">
                <a:solidFill>
                  <a:srgbClr val="F2EFE8"/>
                </a:solidFill>
              </a:rPr>
              <a:t>Phase 2, Verify</a:t>
            </a:r>
          </a:p>
          <a:p>
            <a:pPr marL="397764" indent="-397764">
              <a:spcAft>
                <a:spcPts val="600"/>
              </a:spcAft>
              <a:buFont typeface="Arial"/>
              <a:buChar char="◦"/>
              <a:defRPr sz="2200">
                <a:solidFill>
                  <a:srgbClr val="F2EFE8"/>
                </a:solidFill>
              </a:defRPr>
            </a:pPr>
            <a:r>
              <a:rPr sz="2200">
                <a:solidFill>
                  <a:srgbClr val="F2EFE8"/>
                </a:solidFill>
              </a:rPr>
              <a:t>Why verification fails, and a protocol built to hold</a:t>
            </a:r>
          </a:p>
          <a:p>
            <a:pPr marL="397764" indent="-397764">
              <a:spcAft>
                <a:spcPts val="600"/>
              </a:spcAft>
              <a:buFont typeface="Arial"/>
              <a:buChar char="◦"/>
              <a:defRPr sz="2200">
                <a:solidFill>
                  <a:srgbClr val="F2EFE8"/>
                </a:solidFill>
              </a:defRPr>
            </a:pPr>
            <a:r>
              <a:rPr sz="2200">
                <a:solidFill>
                  <a:srgbClr val="F2EFE8"/>
                </a:solidFill>
              </a:rPr>
              <a:t>What only executives can do, and what they should not share</a:t>
            </a:r>
          </a:p>
          <a:p>
            <a:pPr marL="397764" indent="-397764">
              <a:spcAft>
                <a:spcPts val="600"/>
              </a:spcAft>
              <a:buFont typeface="Arial"/>
              <a:buChar char="◦"/>
              <a:defRPr sz="2200">
                <a:solidFill>
                  <a:srgbClr val="F2EFE8"/>
                </a:solidFill>
              </a:defRPr>
            </a:pPr>
            <a:r>
              <a:rPr sz="2200">
                <a:solidFill>
                  <a:srgbClr val="F2EFE8"/>
                </a:solidFill>
              </a:rPr>
              <a:t>Two scenarios: an AI cloned voice and an AI deepfake video</a:t>
            </a:r>
          </a:p>
          <a:p>
            <a:pPr marL="397764" indent="-397764">
              <a:spcAft>
                <a:spcPts val="600"/>
              </a:spcAft>
              <a:buFont typeface="Arial"/>
              <a:buChar char="•"/>
              <a:defRPr sz="2200">
                <a:solidFill>
                  <a:srgbClr val="F2EFE8"/>
                </a:solidFill>
              </a:defRPr>
            </a:pPr>
            <a:r>
              <a:rPr sz="2200" b="1">
                <a:solidFill>
                  <a:srgbClr val="F2EFE8"/>
                </a:solidFill>
              </a:rPr>
              <a:t>Phase 3, Contain</a:t>
            </a:r>
          </a:p>
          <a:p>
            <a:pPr marL="397764" indent="-397764">
              <a:spcAft>
                <a:spcPts val="600"/>
              </a:spcAft>
              <a:buFont typeface="Arial"/>
              <a:buChar char="◦"/>
              <a:defRPr sz="2200">
                <a:solidFill>
                  <a:srgbClr val="F2EFE8"/>
                </a:solidFill>
              </a:defRPr>
            </a:pPr>
            <a:r>
              <a:rPr sz="2200">
                <a:solidFill>
                  <a:srgbClr val="F2EFE8"/>
                </a:solidFill>
              </a:rPr>
              <a:t>What to do if you suspect an attempt, and a knowledge check</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2</a:t>
            </a:r>
          </a:p>
        </p:txBody>
      </p:sp>
      <p:sp>
        <p:nvSpPr>
          <p:cNvPr id="6"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7"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8" name="narration_v14_ex_02.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247" fill="hold"/>
                                        <p:tgtEl>
                                          <p:spTgt spid="8"/>
                                        </p:tgtEl>
                                      </p:cBhvr>
                                    </p:cmd>
                                  </p:childTnLst>
                                </p:cTn>
                              </p:par>
                              <p:par>
                                <p:cTn id="20" presetID="26" presetClass="emph" presetSubtype="0" repeatCount="indefinite" fill="hold" grpId="0" nodeType="withEffect">
                                  <p:stCondLst>
                                    <p:cond delay="41247"/>
                                  </p:stCondLst>
                                  <p:childTnLst>
                                    <p:animEffect transition="out" filter="fade">
                                      <p:cBhvr>
                                        <p:cTn id="21" dur="1000" tmFilter="0, 0; .2, .5; .8, .5; 1, 0"/>
                                        <p:tgtEl>
                                          <p:spTgt spid="7"/>
                                        </p:tgtEl>
                                      </p:cBhvr>
                                    </p:animEffect>
                                    <p:animScale>
                                      <p:cBhvr>
                                        <p:cTn id="22" dur="500" autoRev="1" fill="hold"/>
                                        <p:tgtEl>
                                          <p:spTgt spid="7"/>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8"/>
                </p:tgtEl>
              </p:cMediaNode>
            </p:audio>
          </p:childTnLst>
        </p:cTn>
      </p:par>
    </p:tnLst>
    <p:bldLst>
      <p:bldP spid="7"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WHAT IS BUSINESS EMAIL COMPROMISE?</a:t>
            </a:r>
          </a:p>
        </p:txBody>
      </p:sp>
      <p:sp>
        <p:nvSpPr>
          <p:cNvPr id="4" name="TextBox 3"/>
          <p:cNvSpPr txBox="1"/>
          <p:nvPr/>
        </p:nvSpPr>
        <p:spPr>
          <a:xfrm>
            <a:off x="792327" y="1835912"/>
            <a:ext cx="10607040" cy="3438144"/>
          </a:xfrm>
          <a:prstGeom prst="rect">
            <a:avLst/>
          </a:prstGeom>
          <a:noFill/>
        </p:spPr>
        <p:txBody>
          <a:bodyPr wrap="square">
            <a:spAutoFit/>
          </a:bodyPr>
          <a:lstStyle/>
          <a:p>
            <a:pPr algn="l"/>
            <a:r>
              <a:rPr sz="3600" i="0" b="0">
                <a:solidFill>
                  <a:srgbClr val="F2EFE8"/>
                </a:solidFill>
              </a:rPr>
              <a:t>BEC, also called email account compromise, is a scam in which a criminal impersonates someone you trust, or breaks into their real email account, to trick you into sending money or sensitive information. Either way, the message looks legitimate and asks for something you would normally do anyway.</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3</a:t>
            </a:r>
          </a:p>
        </p:txBody>
      </p:sp>
      <p:pic>
        <p:nvPicPr>
          <p:cNvPr id="58" name="narration_ex_L03.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9"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Sources: FBI IC3 PSA I-091124, I-061118; IC3 2025 Annual Report</a:t>
            </a:r>
          </a:p>
        </p:txBody>
      </p:sp>
      <p:sp>
        <p:nvSpPr>
          <p:cNvPr id="60"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61"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253" fill="hold"/>
                                        <p:tgtEl>
                                          <p:spTgt spid="58"/>
                                        </p:tgtEl>
                                      </p:cBhvr>
                                    </p:cmd>
                                  </p:childTnLst>
                                </p:cTn>
                              </p:par>
                              <p:par>
                                <p:cTn id="20" presetID="26" presetClass="emph" presetSubtype="0" repeatCount="indefinite" fill="hold" grpId="0" nodeType="withEffect">
                                  <p:stCondLst>
                                    <p:cond delay="26253"/>
                                  </p:stCondLst>
                                  <p:childTnLst>
                                    <p:animEffect transition="out" filter="fade">
                                      <p:cBhvr>
                                        <p:cTn id="21" dur="1000" tmFilter="0, 0; .2, .5; .8, .5; 1, 0"/>
                                        <p:tgtEl>
                                          <p:spTgt spid="61"/>
                                        </p:tgtEl>
                                      </p:cBhvr>
                                    </p:animEffect>
                                    <p:animScale>
                                      <p:cBhvr>
                                        <p:cTn id="22" dur="500" autoRev="1" fill="hold"/>
                                        <p:tgtEl>
                                          <p:spTgt spid="6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8"/>
                </p:tgtEl>
              </p:cMediaNode>
            </p:audio>
          </p:childTnLst>
        </p:cTn>
      </p:par>
    </p:tnLst>
    <p:bldLst>
      <p:bldP spid="6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THE PROBLEM</a:t>
            </a:r>
          </a:p>
        </p:txBody>
      </p:sp>
      <p:sp>
        <p:nvSpPr>
          <p:cNvPr id="4" name="TextBox 3"/>
          <p:cNvSpPr txBox="1"/>
          <p:nvPr/>
        </p:nvSpPr>
        <p:spPr>
          <a:xfrm>
            <a:off x="548640" y="1600200"/>
            <a:ext cx="5760720" cy="3291840"/>
          </a:xfrm>
          <a:prstGeom prst="rect">
            <a:avLst/>
          </a:prstGeom>
          <a:noFill/>
        </p:spPr>
        <p:txBody>
          <a:bodyPr wrap="square">
            <a:spAutoFit/>
          </a:bodyPr>
          <a:lstStyle/>
          <a:p>
            <a:pPr algn="l"/>
            <a:r>
              <a:rPr sz="2600" i="0" b="0">
                <a:solidFill>
                  <a:srgbClr val="F2EFE8"/>
                </a:solidFill>
              </a:rPr>
              <a:t>While you're busy running the business, someone impersonates you and convinces your employees to send them millions of dollars. This isn't hypothetical. It has already happened to major companies, and the cost can be enormous.</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4</a:t>
            </a:r>
          </a:p>
        </p:txBody>
      </p:sp>
      <p:pic>
        <p:nvPicPr>
          <p:cNvPr id="59" name="narration_ex_L04.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0"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 CNN Business, Arup deepfake fraud report (May 2024)</a:t>
            </a:r>
          </a:p>
        </p:txBody>
      </p:sp>
      <p:sp>
        <p:nvSpPr>
          <p:cNvPr id="61"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62"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
        <p:nvSpPr>
          <p:cNvPr id="63" name="Call tile 1"/>
          <p:cNvSpPr/>
          <p:nvPr/>
        </p:nvSpPr>
        <p:spPr>
          <a:xfrm>
            <a:off x="6675120" y="1600200"/>
            <a:ext cx="2377440" cy="14173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CFO</a:t>
            </a:r>
          </a:p>
          <a:p>
            <a:pPr algn="ctr"/>
            <a:r>
              <a:rPr sz="1800">
                <a:solidFill>
                  <a:srgbClr val="2A1216"/>
                </a:solidFill>
              </a:rPr>
              <a:t>Deepfake</a:t>
            </a:r>
          </a:p>
        </p:txBody>
      </p:sp>
      <p:sp>
        <p:nvSpPr>
          <p:cNvPr id="64" name="Call tile 2"/>
          <p:cNvSpPr/>
          <p:nvPr/>
        </p:nvSpPr>
        <p:spPr>
          <a:xfrm>
            <a:off x="9281160" y="1600200"/>
            <a:ext cx="2377440" cy="14173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Colleague</a:t>
            </a:r>
          </a:p>
          <a:p>
            <a:pPr algn="ctr"/>
            <a:r>
              <a:rPr sz="1800">
                <a:solidFill>
                  <a:srgbClr val="2A1216"/>
                </a:solidFill>
              </a:rPr>
              <a:t>Deepfake</a:t>
            </a:r>
          </a:p>
        </p:txBody>
      </p:sp>
      <p:sp>
        <p:nvSpPr>
          <p:cNvPr id="65" name="Call tile 3"/>
          <p:cNvSpPr/>
          <p:nvPr/>
        </p:nvSpPr>
        <p:spPr>
          <a:xfrm>
            <a:off x="6675120" y="3200400"/>
            <a:ext cx="2377440" cy="14173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Colleague</a:t>
            </a:r>
          </a:p>
          <a:p>
            <a:pPr algn="ctr"/>
            <a:r>
              <a:rPr sz="1800">
                <a:solidFill>
                  <a:srgbClr val="2A1216"/>
                </a:solidFill>
              </a:rPr>
              <a:t>Deepfake</a:t>
            </a:r>
          </a:p>
        </p:txBody>
      </p:sp>
      <p:sp>
        <p:nvSpPr>
          <p:cNvPr id="66" name="Call tile 4"/>
          <p:cNvSpPr/>
          <p:nvPr/>
        </p:nvSpPr>
        <p:spPr>
          <a:xfrm>
            <a:off x="9281160" y="3200400"/>
            <a:ext cx="2377440" cy="1417320"/>
          </a:xfrm>
          <a:prstGeom prst="roundRect">
            <a:avLst>
              <a:gd name="adj" fmla="val 8000"/>
            </a:avLst>
          </a:prstGeom>
          <a:solidFill>
            <a:srgbClr val="3A1A20"/>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D8B098"/>
                </a:solidFill>
              </a:rPr>
              <a:t>The employee</a:t>
            </a:r>
          </a:p>
          <a:p>
            <a:pPr algn="ctr"/>
            <a:r>
              <a:rPr sz="1800">
                <a:solidFill>
                  <a:srgbClr val="D8B098"/>
                </a:solidFill>
              </a:rPr>
              <a:t>The only real person</a:t>
            </a:r>
          </a:p>
        </p:txBody>
      </p:sp>
      <p:sp>
        <p:nvSpPr>
          <p:cNvPr id="67" name="Call caption"/>
          <p:cNvSpPr txBox="1"/>
          <p:nvPr/>
        </p:nvSpPr>
        <p:spPr>
          <a:xfrm>
            <a:off x="6675120" y="4754880"/>
            <a:ext cx="4983480" cy="914400"/>
          </a:xfrm>
          <a:prstGeom prst="rect">
            <a:avLst/>
          </a:prstGeom>
          <a:noFill/>
        </p:spPr>
        <p:txBody>
          <a:bodyPr wrap="square">
            <a:spAutoFit/>
          </a:bodyPr>
          <a:lstStyle/>
          <a:p>
            <a:pPr algn="ctr"/>
            <a:r>
              <a:rPr sz="1800" i="1" b="1">
                <a:solidFill>
                  <a:srgbClr val="D8B098"/>
                </a:solidFill>
              </a:rPr>
              <a:t>Arup, 2024: HK$200 million (about US$25.6 million) sent in 15 transfers after a deepfake video call</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222" fill="hold"/>
                                        <p:tgtEl>
                                          <p:spTgt spid="59"/>
                                        </p:tgtEl>
                                      </p:cBhvr>
                                    </p:cmd>
                                  </p:childTnLst>
                                </p:cTn>
                              </p:par>
                              <p:par>
                                <p:cTn id="20" presetID="26" presetClass="emph" presetSubtype="0" repeatCount="indefinite" fill="hold" grpId="0" nodeType="withEffect">
                                  <p:stCondLst>
                                    <p:cond delay="16222"/>
                                  </p:stCondLst>
                                  <p:childTnLst>
                                    <p:animEffect transition="out" filter="fade">
                                      <p:cBhvr>
                                        <p:cTn id="21" dur="1000" tmFilter="0, 0; .2, .5; .8, .5; 1, 0"/>
                                        <p:tgtEl>
                                          <p:spTgt spid="62"/>
                                        </p:tgtEl>
                                      </p:cBhvr>
                                    </p:animEffect>
                                    <p:animScale>
                                      <p:cBhvr>
                                        <p:cTn id="22" dur="500" autoRev="1"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9"/>
                </p:tgtEl>
              </p:cMediaNode>
            </p:audio>
          </p:childTnLst>
        </p:cTn>
      </p:par>
    </p:tnLst>
    <p:bldLst>
      <p:bldP spid="6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HOW IS THIS EVEN POSSIBLE?</a:t>
            </a:r>
          </a:p>
        </p:txBody>
      </p:sp>
      <p:sp>
        <p:nvSpPr>
          <p:cNvPr id="4" name="TextBox 3"/>
          <p:cNvSpPr txBox="1"/>
          <p:nvPr/>
        </p:nvSpPr>
        <p:spPr>
          <a:xfrm>
            <a:off x="795528" y="1371600"/>
            <a:ext cx="10607040" cy="1554480"/>
          </a:xfrm>
          <a:prstGeom prst="rect">
            <a:avLst/>
          </a:prstGeom>
          <a:noFill/>
        </p:spPr>
        <p:txBody>
          <a:bodyPr wrap="square">
            <a:spAutoFit/>
          </a:bodyPr>
          <a:lstStyle/>
          <a:p>
            <a:pPr algn="l"/>
            <a:r>
              <a:rPr sz="2800" i="0" b="0">
                <a:solidFill>
                  <a:srgbClr val="F2EFE8"/>
                </a:solidFill>
              </a:rPr>
              <a:t>How does someone convince a trained employee, on a normal working day, to move that much money to a stranger? It's easier than you'd think, and the scale of it might surprise you.</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5</a:t>
            </a:r>
          </a:p>
        </p:txBody>
      </p:sp>
      <p:pic>
        <p:nvPicPr>
          <p:cNvPr id="55" name="narration_slide5.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6"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57"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
        <p:nvSpPr>
          <p:cNvPr id="58" name="Chain card 1"/>
          <p:cNvSpPr/>
          <p:nvPr/>
        </p:nvSpPr>
        <p:spPr>
          <a:xfrm>
            <a:off x="548640" y="3246120"/>
            <a:ext cx="2286000" cy="13716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2A1216"/>
                </a:solidFill>
              </a:rPr>
              <a:t>A request from someone senior</a:t>
            </a:r>
          </a:p>
        </p:txBody>
      </p:sp>
      <p:sp>
        <p:nvSpPr>
          <p:cNvPr id="59" name="Chain arrow 1"/>
          <p:cNvSpPr/>
          <p:nvPr/>
        </p:nvSpPr>
        <p:spPr>
          <a:xfrm>
            <a:off x="2880360" y="3749039"/>
            <a:ext cx="548640" cy="365760"/>
          </a:xfrm>
          <a:prstGeom prst="rightArrow">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hain card 2"/>
          <p:cNvSpPr/>
          <p:nvPr/>
        </p:nvSpPr>
        <p:spPr>
          <a:xfrm>
            <a:off x="3483864" y="3246120"/>
            <a:ext cx="2286000" cy="13716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2A1216"/>
                </a:solidFill>
              </a:rPr>
              <a:t>Staff hesitate to question or slow it down</a:t>
            </a:r>
          </a:p>
        </p:txBody>
      </p:sp>
      <p:sp>
        <p:nvSpPr>
          <p:cNvPr id="61" name="Chain arrow 2"/>
          <p:cNvSpPr/>
          <p:nvPr/>
        </p:nvSpPr>
        <p:spPr>
          <a:xfrm>
            <a:off x="5815583" y="3749039"/>
            <a:ext cx="548640" cy="365760"/>
          </a:xfrm>
          <a:prstGeom prst="rightArrow">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hain card 3"/>
          <p:cNvSpPr/>
          <p:nvPr/>
        </p:nvSpPr>
        <p:spPr>
          <a:xfrm>
            <a:off x="6419088" y="3246120"/>
            <a:ext cx="2286000" cy="13716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2A1216"/>
                </a:solidFill>
              </a:rPr>
              <a:t>The usual check gets skipped</a:t>
            </a:r>
          </a:p>
        </p:txBody>
      </p:sp>
      <p:sp>
        <p:nvSpPr>
          <p:cNvPr id="63" name="Chain arrow 3"/>
          <p:cNvSpPr/>
          <p:nvPr/>
        </p:nvSpPr>
        <p:spPr>
          <a:xfrm>
            <a:off x="8750808" y="3749039"/>
            <a:ext cx="548640" cy="365760"/>
          </a:xfrm>
          <a:prstGeom prst="rightArrow">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hain card 4"/>
          <p:cNvSpPr/>
          <p:nvPr/>
        </p:nvSpPr>
        <p:spPr>
          <a:xfrm>
            <a:off x="9354312" y="3246120"/>
            <a:ext cx="2286000" cy="13716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2A1216"/>
                </a:solidFill>
              </a:rPr>
              <a:t>The money moves</a:t>
            </a:r>
          </a:p>
        </p:txBody>
      </p:sp>
      <p:sp>
        <p:nvSpPr>
          <p:cNvPr id="65" name="Authority callout"/>
          <p:cNvSpPr txBox="1"/>
          <p:nvPr/>
        </p:nvSpPr>
        <p:spPr>
          <a:xfrm>
            <a:off x="795528" y="4892040"/>
            <a:ext cx="10607040" cy="731520"/>
          </a:xfrm>
          <a:prstGeom prst="rect">
            <a:avLst/>
          </a:prstGeom>
          <a:noFill/>
        </p:spPr>
        <p:txBody>
          <a:bodyPr wrap="square">
            <a:spAutoFit/>
          </a:bodyPr>
          <a:lstStyle/>
          <a:p>
            <a:pPr algn="ctr"/>
            <a:r>
              <a:rPr sz="2000" i="1" b="1">
                <a:solidFill>
                  <a:srgbClr val="D8B098"/>
                </a:solidFill>
              </a:rPr>
              <a:t>BEC leans on authority: people hesitate to question someone senior.</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151" fill="hold"/>
                                        <p:tgtEl>
                                          <p:spTgt spid="55"/>
                                        </p:tgtEl>
                                      </p:cBhvr>
                                    </p:cmd>
                                  </p:childTnLst>
                                </p:cTn>
                              </p:par>
                              <p:par>
                                <p:cTn id="20" presetID="26" presetClass="emph" presetSubtype="0" repeatCount="indefinite" fill="hold" grpId="0" nodeType="withEffect">
                                  <p:stCondLst>
                                    <p:cond delay="15151"/>
                                  </p:stCondLst>
                                  <p:childTnLst>
                                    <p:animEffect transition="out" filter="fade">
                                      <p:cBhvr>
                                        <p:cTn id="21" dur="1000" tmFilter="0, 0; .2, .5; .8, .5; 1, 0"/>
                                        <p:tgtEl>
                                          <p:spTgt spid="57"/>
                                        </p:tgtEl>
                                      </p:cBhvr>
                                    </p:animEffect>
                                    <p:animScale>
                                      <p:cBhvr>
                                        <p:cTn id="22" dur="500" autoRev="1" fill="hold"/>
                                        <p:tgtEl>
                                          <p:spTgt spid="57"/>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5"/>
                </p:tgtEl>
              </p:cMediaNode>
            </p:audio>
          </p:childTnLst>
        </p:cTn>
      </p:par>
    </p:tnLst>
    <p:bldLst>
      <p:bldP spid="5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BY THE NUMBERS</a:t>
            </a:r>
          </a:p>
        </p:txBody>
      </p:sp>
      <p:sp>
        <p:nvSpPr>
          <p:cNvPr id="4" name="Rounded Rectangle 3"/>
          <p:cNvSpPr/>
          <p:nvPr/>
        </p:nvSpPr>
        <p:spPr>
          <a:xfrm>
            <a:off x="548640" y="2229483"/>
            <a:ext cx="3454298" cy="265100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United States</a:t>
            </a:r>
          </a:p>
          <a:p>
            <a:pPr algn="ctr"/>
            <a:r>
              <a:rPr sz="2400">
                <a:solidFill>
                  <a:srgbClr val="2A1216"/>
                </a:solidFill>
              </a:rPr>
              <a:t>USD 3.05 billion in BEC losses reported to the FBI in 2025, from 24,768 complaints</a:t>
            </a:r>
          </a:p>
        </p:txBody>
      </p:sp>
      <p:sp>
        <p:nvSpPr>
          <p:cNvPr id="5" name="Rounded Rectangle 4"/>
          <p:cNvSpPr/>
          <p:nvPr/>
        </p:nvSpPr>
        <p:spPr>
          <a:xfrm>
            <a:off x="4368698" y="2229483"/>
            <a:ext cx="3454298" cy="265100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Australia</a:t>
            </a:r>
          </a:p>
          <a:p>
            <a:pPr algn="ctr"/>
            <a:r>
              <a:rPr sz="2400">
                <a:solidFill>
                  <a:srgbClr val="2A1216"/>
                </a:solidFill>
              </a:rPr>
              <a:t>15% of business cybercrime reports in 2024–25 were BEC fraud with a financial loss</a:t>
            </a:r>
          </a:p>
        </p:txBody>
      </p:sp>
      <p:sp>
        <p:nvSpPr>
          <p:cNvPr id="6" name="Rounded Rectangle 5"/>
          <p:cNvSpPr/>
          <p:nvPr/>
        </p:nvSpPr>
        <p:spPr>
          <a:xfrm>
            <a:off x="8188756" y="2229483"/>
            <a:ext cx="3454298" cy="265100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Worldwide</a:t>
            </a:r>
          </a:p>
          <a:p>
            <a:pPr algn="ctr"/>
            <a:r>
              <a:rPr sz="2400">
                <a:solidFill>
                  <a:srgbClr val="2A1216"/>
                </a:solidFill>
              </a:rPr>
              <a:t>USD 55.5 billion in exposed losses, 2013 to 2023, reported in 186 countries (FBI)</a:t>
            </a:r>
          </a:p>
        </p:txBody>
      </p:sp>
      <p:sp>
        <p:nvSpPr>
          <p:cNvPr id="7" name="TextBox 7"/>
          <p:cNvSpPr txBox="1"/>
          <p:nvPr/>
        </p:nvSpPr>
        <p:spPr>
          <a:xfrm>
            <a:off x="10698480" y="6355080"/>
            <a:ext cx="1280160" cy="365760"/>
          </a:xfrm>
          <a:prstGeom prst="rect">
            <a:avLst/>
          </a:prstGeom>
          <a:noFill/>
        </p:spPr>
        <p:txBody>
          <a:bodyPr wrap="none">
            <a:spAutoFit/>
          </a:bodyPr>
          <a:lstStyle/>
          <a:p>
            <a:pPr algn="r"/>
            <a:r>
              <a:rPr sz="1200">
                <a:solidFill>
                  <a:srgbClr val="C8A89C"/>
                </a:solidFill>
              </a:rPr>
              <a:t>6</a:t>
            </a:r>
          </a:p>
        </p:txBody>
      </p:sp>
      <p:sp>
        <p:nvSpPr>
          <p:cNvPr id="9" name="TextBox 6"/>
          <p:cNvSpPr txBox="1"/>
          <p:nvPr/>
        </p:nvSpPr>
        <p:spPr>
          <a:xfrm>
            <a:off x="457200" y="5870448"/>
            <a:ext cx="11247120" cy="432308"/>
          </a:xfrm>
          <a:prstGeom prst="rect">
            <a:avLst/>
          </a:prstGeom>
          <a:noFill/>
        </p:spPr>
        <p:txBody>
          <a:bodyPr wrap="square">
            <a:spAutoFit/>
          </a:bodyPr>
          <a:lstStyle/>
          <a:p>
            <a:pPr algn="l"/>
            <a:r>
              <a:rPr sz="1600" i="1" b="0">
                <a:solidFill>
                  <a:srgbClr val="C8A89C"/>
                </a:solidFill>
              </a:rPr>
              <a:t>Sources: FBI IC3 2025 Annual Report; FBI IC3 PSA I-091124-PSA; Australian Signals Directorate Cyber Threat Report 2024–25</a:t>
            </a:r>
          </a:p>
        </p:txBody>
      </p:sp>
      <p:sp>
        <p:nvSpPr>
          <p:cNvPr id="10"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11"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12" name="narration_v15_ex_06.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3546" fill="hold"/>
                                        <p:tgtEl>
                                          <p:spTgt spid="12"/>
                                        </p:tgtEl>
                                      </p:cBhvr>
                                    </p:cmd>
                                  </p:childTnLst>
                                </p:cTn>
                              </p:par>
                              <p:par>
                                <p:cTn id="20" presetID="26" presetClass="emph" presetSubtype="0" repeatCount="indefinite" fill="hold" grpId="0" nodeType="withEffect">
                                  <p:stCondLst>
                                    <p:cond delay="43546"/>
                                  </p:stCondLst>
                                  <p:childTnLst>
                                    <p:animEffect transition="out" filter="fade">
                                      <p:cBhvr>
                                        <p:cTn id="21" dur="1000" tmFilter="0, 0; .2, .5; .8, .5; 1, 0"/>
                                        <p:tgtEl>
                                          <p:spTgt spid="11"/>
                                        </p:tgtEl>
                                      </p:cBhvr>
                                    </p:animEffect>
                                    <p:animScale>
                                      <p:cBhvr>
                                        <p:cTn id="22" dur="500" autoRev="1" fill="hold"/>
                                        <p:tgtEl>
                                          <p:spTgt spid="1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2"/>
                </p:tgtEl>
              </p:cMediaNode>
            </p:audio>
          </p:childTnLst>
        </p:cTn>
      </p:par>
    </p:tnLst>
    <p:bldLst>
      <p:bldP spid="1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HOW A BEC ATTACK ACTUALLY FLOWS</a:t>
            </a:r>
          </a:p>
        </p:txBody>
      </p:sp>
      <p:sp>
        <p:nvSpPr>
          <p:cNvPr id="4" name="Rounded Rectangle 3"/>
          <p:cNvSpPr/>
          <p:nvPr/>
        </p:nvSpPr>
        <p:spPr>
          <a:xfrm>
            <a:off x="548641" y="1846987"/>
            <a:ext cx="2622727" cy="3525721"/>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1. RESEARCH</a:t>
            </a:r>
          </a:p>
          <a:p>
            <a:pPr algn="ctr"/>
            <a:r>
              <a:rPr sz="2800">
                <a:solidFill>
                  <a:srgbClr val="2A1216"/>
                </a:solidFill>
              </a:rPr>
              <a:t>The attacker studies names, roles, and relationships in your organisation</a:t>
            </a:r>
          </a:p>
        </p:txBody>
      </p:sp>
      <p:sp>
        <p:nvSpPr>
          <p:cNvPr id="5" name="TextBox 4"/>
          <p:cNvSpPr txBox="1"/>
          <p:nvPr/>
        </p:nvSpPr>
        <p:spPr>
          <a:xfrm>
            <a:off x="3125648" y="3335528"/>
            <a:ext cx="292608" cy="548640"/>
          </a:xfrm>
          <a:prstGeom prst="rect">
            <a:avLst/>
          </a:prstGeom>
          <a:noFill/>
        </p:spPr>
        <p:txBody>
          <a:bodyPr wrap="none">
            <a:spAutoFit/>
          </a:bodyPr>
          <a:lstStyle/>
          <a:p>
            <a:pPr algn="ctr"/>
            <a:r>
              <a:rPr sz="2000" b="1">
                <a:solidFill>
                  <a:srgbClr val="D8B098"/>
                </a:solidFill>
              </a:rPr>
              <a:t>→</a:t>
            </a:r>
          </a:p>
        </p:txBody>
      </p:sp>
      <p:sp>
        <p:nvSpPr>
          <p:cNvPr id="6" name="Rounded Rectangle 5"/>
          <p:cNvSpPr/>
          <p:nvPr/>
        </p:nvSpPr>
        <p:spPr>
          <a:xfrm>
            <a:off x="3372536" y="1846987"/>
            <a:ext cx="2622727" cy="3525721"/>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2. SPOOF</a:t>
            </a:r>
          </a:p>
          <a:p>
            <a:pPr algn="ctr"/>
            <a:r>
              <a:rPr sz="2800">
                <a:solidFill>
                  <a:srgbClr val="2A1216"/>
                </a:solidFill>
              </a:rPr>
              <a:t>A lookalike domain, cloned voice, or deepfake face, built to mimic what you trust</a:t>
            </a:r>
          </a:p>
        </p:txBody>
      </p:sp>
      <p:sp>
        <p:nvSpPr>
          <p:cNvPr id="7" name="TextBox 6"/>
          <p:cNvSpPr txBox="1"/>
          <p:nvPr/>
        </p:nvSpPr>
        <p:spPr>
          <a:xfrm>
            <a:off x="5949543" y="3335528"/>
            <a:ext cx="292608" cy="548640"/>
          </a:xfrm>
          <a:prstGeom prst="rect">
            <a:avLst/>
          </a:prstGeom>
          <a:noFill/>
        </p:spPr>
        <p:txBody>
          <a:bodyPr wrap="none">
            <a:spAutoFit/>
          </a:bodyPr>
          <a:lstStyle/>
          <a:p>
            <a:pPr algn="ctr"/>
            <a:r>
              <a:rPr sz="2000" b="1">
                <a:solidFill>
                  <a:srgbClr val="D8B098"/>
                </a:solidFill>
              </a:rPr>
              <a:t>→</a:t>
            </a:r>
          </a:p>
        </p:txBody>
      </p:sp>
      <p:sp>
        <p:nvSpPr>
          <p:cNvPr id="8" name="Rounded Rectangle 7"/>
          <p:cNvSpPr/>
          <p:nvPr/>
        </p:nvSpPr>
        <p:spPr>
          <a:xfrm>
            <a:off x="6196431" y="1846987"/>
            <a:ext cx="2622727" cy="3525721"/>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3. URGENCY</a:t>
            </a:r>
          </a:p>
          <a:p>
            <a:pPr algn="ctr"/>
            <a:r>
              <a:rPr sz="2800">
                <a:solidFill>
                  <a:srgbClr val="2A1216"/>
                </a:solidFill>
              </a:rPr>
              <a:t>Time pressure and authority, designed to make you act before you verify</a:t>
            </a:r>
          </a:p>
        </p:txBody>
      </p:sp>
      <p:sp>
        <p:nvSpPr>
          <p:cNvPr id="9" name="TextBox 8"/>
          <p:cNvSpPr txBox="1"/>
          <p:nvPr/>
        </p:nvSpPr>
        <p:spPr>
          <a:xfrm>
            <a:off x="8773438" y="3335528"/>
            <a:ext cx="292608" cy="548640"/>
          </a:xfrm>
          <a:prstGeom prst="rect">
            <a:avLst/>
          </a:prstGeom>
          <a:noFill/>
        </p:spPr>
        <p:txBody>
          <a:bodyPr wrap="none">
            <a:spAutoFit/>
          </a:bodyPr>
          <a:lstStyle/>
          <a:p>
            <a:pPr algn="ctr"/>
            <a:r>
              <a:rPr sz="2000" b="1">
                <a:solidFill>
                  <a:srgbClr val="D8B098"/>
                </a:solidFill>
              </a:rPr>
              <a:t>→</a:t>
            </a:r>
          </a:p>
        </p:txBody>
      </p:sp>
      <p:sp>
        <p:nvSpPr>
          <p:cNvPr id="10" name="Rounded Rectangle 9"/>
          <p:cNvSpPr/>
          <p:nvPr/>
        </p:nvSpPr>
        <p:spPr>
          <a:xfrm>
            <a:off x="9020326" y="1846987"/>
            <a:ext cx="2622727" cy="3525721"/>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4. REDIRECT</a:t>
            </a:r>
          </a:p>
          <a:p>
            <a:pPr algn="ctr"/>
            <a:r>
              <a:rPr sz="2800">
                <a:solidFill>
                  <a:srgbClr val="2A1216"/>
                </a:solidFill>
              </a:rPr>
              <a:t>Money or data moves to the attacker, often before anyone notices</a:t>
            </a:r>
          </a:p>
        </p:txBody>
      </p:sp>
      <p:sp>
        <p:nvSpPr>
          <p:cNvPr id="11" name="TextBox 10"/>
          <p:cNvSpPr txBox="1"/>
          <p:nvPr/>
        </p:nvSpPr>
        <p:spPr>
          <a:xfrm>
            <a:off x="10698480" y="6355080"/>
            <a:ext cx="1280160" cy="365760"/>
          </a:xfrm>
          <a:prstGeom prst="rect">
            <a:avLst/>
          </a:prstGeom>
          <a:noFill/>
        </p:spPr>
        <p:txBody>
          <a:bodyPr wrap="none">
            <a:spAutoFit/>
          </a:bodyPr>
          <a:lstStyle/>
          <a:p>
            <a:pPr algn="r"/>
            <a:r>
              <a:rPr sz="1200">
                <a:solidFill>
                  <a:srgbClr val="C8A89C"/>
                </a:solidFill>
              </a:rPr>
              <a:t>7</a:t>
            </a:r>
          </a:p>
        </p:txBody>
      </p:sp>
      <p:pic>
        <p:nvPicPr>
          <p:cNvPr id="61" name="narration_slide7.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2"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63" name="Kiosk Next">
            <a:hlinkClick action="ppaction://hlinksldjump" r:id="rId7"/>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2919" fill="hold"/>
                                        <p:tgtEl>
                                          <p:spTgt spid="61"/>
                                        </p:tgtEl>
                                      </p:cBhvr>
                                    </p:cmd>
                                  </p:childTnLst>
                                </p:cTn>
                              </p:par>
                              <p:par>
                                <p:cTn id="20" presetID="26" presetClass="emph" presetSubtype="0" repeatCount="indefinite" fill="hold" grpId="0" nodeType="withEffect">
                                  <p:stCondLst>
                                    <p:cond delay="42919"/>
                                  </p:stCondLst>
                                  <p:childTnLst>
                                    <p:animEffect transition="out" filter="fade">
                                      <p:cBhvr>
                                        <p:cTn id="21" dur="1000" tmFilter="0, 0; .2, .5; .8, .5; 1, 0"/>
                                        <p:tgtEl>
                                          <p:spTgt spid="63"/>
                                        </p:tgtEl>
                                      </p:cBhvr>
                                    </p:animEffect>
                                    <p:animScale>
                                      <p:cBhvr>
                                        <p:cTn id="22" dur="500" autoRev="1" fill="hold"/>
                                        <p:tgtEl>
                                          <p:spTgt spid="6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1"/>
                </p:tgtEl>
              </p:cMediaNode>
            </p:audio>
          </p:childTnLst>
        </p:cTn>
      </p:par>
    </p:tnLst>
    <p:bldLst>
      <p:bldP spid="63"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958848"/>
            <a:ext cx="10698480" cy="773176"/>
          </a:xfrm>
          <a:prstGeom prst="rect">
            <a:avLst/>
          </a:prstGeom>
          <a:noFill/>
        </p:spPr>
        <p:txBody>
          <a:bodyPr wrap="none">
            <a:spAutoFit/>
          </a:bodyPr>
          <a:lstStyle/>
          <a:p>
            <a:pPr algn="ctr"/>
            <a:r>
              <a:rPr sz="4400" b="1">
                <a:solidFill>
                  <a:srgbClr val="D8B098"/>
                </a:solidFill>
              </a:rPr>
              <a:t>DETECT</a:t>
            </a:r>
          </a:p>
        </p:txBody>
      </p:sp>
      <p:sp>
        <p:nvSpPr>
          <p:cNvPr id="4" name="TextBox 3"/>
          <p:cNvSpPr txBox="1"/>
          <p:nvPr/>
        </p:nvSpPr>
        <p:spPr>
          <a:xfrm>
            <a:off x="792327" y="3234944"/>
            <a:ext cx="10607040" cy="1207008"/>
          </a:xfrm>
          <a:prstGeom prst="rect">
            <a:avLst/>
          </a:prstGeom>
          <a:noFill/>
        </p:spPr>
        <p:txBody>
          <a:bodyPr wrap="square">
            <a:spAutoFit/>
          </a:bodyPr>
          <a:lstStyle/>
          <a:p>
            <a:pPr algn="ctr"/>
            <a:r>
              <a:rPr sz="3600" i="1" b="0">
                <a:solidFill>
                  <a:srgbClr val="C8A89C"/>
                </a:solidFill>
              </a:rPr>
              <a:t>Can you spot it before it costs anything?</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8</a:t>
            </a:r>
          </a:p>
        </p:txBody>
      </p:sp>
      <p:sp>
        <p:nvSpPr>
          <p:cNvPr id="6"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7"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
        <p:nvSpPr>
          <p:cNvPr id="8" name="Phase label"/>
          <p:cNvSpPr txBox="1"/>
          <p:nvPr/>
        </p:nvSpPr>
        <p:spPr>
          <a:xfrm>
            <a:off x="731520" y="1325880"/>
            <a:ext cx="10698480" cy="548640"/>
          </a:xfrm>
          <a:prstGeom prst="rect">
            <a:avLst/>
          </a:prstGeom>
          <a:noFill/>
        </p:spPr>
        <p:txBody>
          <a:bodyPr wrap="none">
            <a:spAutoFit/>
          </a:bodyPr>
          <a:lstStyle/>
          <a:p>
            <a:pPr algn="ctr"/>
            <a:r>
              <a:rPr sz="2400" b="0">
                <a:solidFill>
                  <a:srgbClr val="C8A89C"/>
                </a:solidFill>
              </a:rPr>
              <a:t>PHASE 1</a:t>
            </a:r>
          </a:p>
        </p:txBody>
      </p:sp>
      <p:pic>
        <p:nvPicPr>
          <p:cNvPr id="9" name="narration_v14_ex_08.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512" fill="hold"/>
                                        <p:tgtEl>
                                          <p:spTgt spid="9"/>
                                        </p:tgtEl>
                                      </p:cBhvr>
                                    </p:cmd>
                                  </p:childTnLst>
                                </p:cTn>
                              </p:par>
                              <p:par>
                                <p:cTn id="20" presetID="26" presetClass="emph" presetSubtype="0" repeatCount="indefinite" fill="hold" grpId="0" nodeType="withEffect">
                                  <p:stCondLst>
                                    <p:cond delay="5512"/>
                                  </p:stCondLst>
                                  <p:childTnLst>
                                    <p:animEffect transition="out" filter="fade">
                                      <p:cBhvr>
                                        <p:cTn id="21" dur="1000" tmFilter="0, 0; .2, .5; .8, .5; 1, 0"/>
                                        <p:tgtEl>
                                          <p:spTgt spid="7"/>
                                        </p:tgtEl>
                                      </p:cBhvr>
                                    </p:animEffect>
                                    <p:animScale>
                                      <p:cBhvr>
                                        <p:cTn id="22" dur="500" autoRev="1" fill="hold"/>
                                        <p:tgtEl>
                                          <p:spTgt spid="7"/>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9"/>
                </p:tgtEl>
              </p:cMediaNode>
            </p:audio>
          </p:childTnLst>
        </p:cTn>
      </p:par>
    </p:tnLst>
    <p:bldLst>
      <p:bldP spid="7"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274320"/>
            <a:ext cx="11247120" cy="789939"/>
          </a:xfrm>
          <a:prstGeom prst="rect">
            <a:avLst/>
          </a:prstGeom>
          <a:noFill/>
        </p:spPr>
        <p:txBody>
          <a:bodyPr wrap="square">
            <a:spAutoFit/>
          </a:bodyPr>
          <a:lstStyle/>
          <a:p>
            <a:pPr algn="ctr"/>
            <a:r>
              <a:rPr sz="4400" b="1">
                <a:solidFill>
                  <a:srgbClr val="D8B098"/>
                </a:solidFill>
              </a:rPr>
              <a:t>ATTACK VECTOR 1: EMAIL</a:t>
            </a:r>
          </a:p>
        </p:txBody>
      </p:sp>
      <p:sp>
        <p:nvSpPr>
          <p:cNvPr id="4" name="TextBox 3"/>
          <p:cNvSpPr txBox="1"/>
          <p:nvPr/>
        </p:nvSpPr>
        <p:spPr>
          <a:xfrm>
            <a:off x="792327" y="1245235"/>
            <a:ext cx="10607040" cy="1021080"/>
          </a:xfrm>
          <a:prstGeom prst="rect">
            <a:avLst/>
          </a:prstGeom>
          <a:noFill/>
        </p:spPr>
        <p:txBody>
          <a:bodyPr wrap="square">
            <a:spAutoFit/>
          </a:bodyPr>
          <a:lstStyle/>
          <a:p>
            <a:pPr algn="ctr"/>
            <a:r>
              <a:rPr sz="2800" i="0" b="0">
                <a:solidFill>
                  <a:srgbClr val="C8A89C"/>
                </a:solidFill>
              </a:rPr>
              <a:t>Attackers get employees to transfer money in three ways. Here's the first.</a:t>
            </a:r>
          </a:p>
        </p:txBody>
      </p:sp>
      <p:pic>
        <p:nvPicPr>
          <p:cNvPr id="5" name="video_display6.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3010408" y="2326894"/>
            <a:ext cx="6177280" cy="3474720"/>
          </a:xfrm>
          <a:prstGeom prst="rect">
            <a:avLst/>
          </a:prstGeom>
        </p:spPr>
      </p:pic>
      <p:sp>
        <p:nvSpPr>
          <p:cNvPr id="6" name="TextBox 5"/>
          <p:cNvSpPr txBox="1"/>
          <p:nvPr/>
        </p:nvSpPr>
        <p:spPr>
          <a:xfrm>
            <a:off x="914400" y="5862193"/>
            <a:ext cx="10332720" cy="432308"/>
          </a:xfrm>
          <a:prstGeom prst="rect">
            <a:avLst/>
          </a:prstGeom>
          <a:noFill/>
        </p:spPr>
        <p:txBody>
          <a:bodyPr wrap="square">
            <a:spAutoFit/>
          </a:bodyPr>
          <a:lstStyle/>
          <a:p>
            <a:pPr algn="ctr"/>
            <a:r>
              <a:rPr sz="2400" i="1" b="0">
                <a:solidFill>
                  <a:srgbClr val="C8A89C"/>
                </a:solidFill>
              </a:rPr>
              <a:t>Click to play the video</a:t>
            </a:r>
          </a:p>
        </p:txBody>
      </p:sp>
      <p:sp>
        <p:nvSpPr>
          <p:cNvPr id="7" name="TextBox 6"/>
          <p:cNvSpPr txBox="1"/>
          <p:nvPr/>
        </p:nvSpPr>
        <p:spPr>
          <a:xfrm>
            <a:off x="10698480" y="6355080"/>
            <a:ext cx="1280160" cy="365760"/>
          </a:xfrm>
          <a:prstGeom prst="rect">
            <a:avLst/>
          </a:prstGeom>
          <a:noFill/>
        </p:spPr>
        <p:txBody>
          <a:bodyPr wrap="none">
            <a:spAutoFit/>
          </a:bodyPr>
          <a:lstStyle/>
          <a:p>
            <a:pPr algn="r"/>
            <a:r>
              <a:rPr sz="1200">
                <a:solidFill>
                  <a:srgbClr val="C8A89C"/>
                </a:solidFill>
              </a:rPr>
              <a:t>9</a:t>
            </a:r>
          </a:p>
        </p:txBody>
      </p:sp>
      <p:sp>
        <p:nvSpPr>
          <p:cNvPr id="8" name="Kiosk Previous">
            <a:hlinkClick action="ppaction://hlinksldjump" r:id="rId7"/>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9" name="Kiosk Next">
            <a:hlinkClick r:id="rId6"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274320"/>
            <a:ext cx="11247120" cy="789939"/>
          </a:xfrm>
          <a:prstGeom prst="rect">
            <a:avLst/>
          </a:prstGeom>
          <a:noFill/>
        </p:spPr>
        <p:txBody>
          <a:bodyPr wrap="square">
            <a:spAutoFit/>
          </a:bodyPr>
          <a:lstStyle/>
          <a:p>
            <a:pPr algn="ctr"/>
            <a:r>
              <a:rPr sz="4400" b="1">
                <a:solidFill>
                  <a:srgbClr val="D8B098"/>
                </a:solidFill>
              </a:rPr>
              <a:t>ATTACK VECTOR 2: VOICE</a:t>
            </a:r>
          </a:p>
        </p:txBody>
      </p:sp>
      <p:sp>
        <p:nvSpPr>
          <p:cNvPr id="4" name="TextBox 3"/>
          <p:cNvSpPr txBox="1"/>
          <p:nvPr/>
        </p:nvSpPr>
        <p:spPr>
          <a:xfrm>
            <a:off x="792327" y="1245235"/>
            <a:ext cx="10607040" cy="1021080"/>
          </a:xfrm>
          <a:prstGeom prst="rect">
            <a:avLst/>
          </a:prstGeom>
          <a:noFill/>
        </p:spPr>
        <p:txBody>
          <a:bodyPr wrap="square">
            <a:spAutoFit/>
          </a:bodyPr>
          <a:lstStyle/>
          <a:p>
            <a:pPr algn="ctr"/>
            <a:r>
              <a:rPr sz="2800" i="0" b="0">
                <a:solidFill>
                  <a:srgbClr val="C8A89C"/>
                </a:solidFill>
              </a:rPr>
              <a:t>Calling to double-check doesn't help if you're calling the number the attacker gave you.</a:t>
            </a:r>
          </a:p>
        </p:txBody>
      </p:sp>
      <p:pic>
        <p:nvPicPr>
          <p:cNvPr id="5" name="video_display7.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3010408" y="2326894"/>
            <a:ext cx="6177280" cy="3474720"/>
          </a:xfrm>
          <a:prstGeom prst="rect">
            <a:avLst/>
          </a:prstGeom>
        </p:spPr>
      </p:pic>
      <p:sp>
        <p:nvSpPr>
          <p:cNvPr id="6" name="TextBox 5"/>
          <p:cNvSpPr txBox="1"/>
          <p:nvPr/>
        </p:nvSpPr>
        <p:spPr>
          <a:xfrm>
            <a:off x="914400" y="5862193"/>
            <a:ext cx="10332720" cy="432308"/>
          </a:xfrm>
          <a:prstGeom prst="rect">
            <a:avLst/>
          </a:prstGeom>
          <a:noFill/>
        </p:spPr>
        <p:txBody>
          <a:bodyPr wrap="square">
            <a:spAutoFit/>
          </a:bodyPr>
          <a:lstStyle/>
          <a:p>
            <a:pPr algn="ctr"/>
            <a:r>
              <a:rPr sz="2400" i="1" b="0">
                <a:solidFill>
                  <a:srgbClr val="C8A89C"/>
                </a:solidFill>
              </a:rPr>
              <a:t>Click to play the video</a:t>
            </a:r>
          </a:p>
        </p:txBody>
      </p:sp>
      <p:sp>
        <p:nvSpPr>
          <p:cNvPr id="7" name="TextBox 6"/>
          <p:cNvSpPr txBox="1"/>
          <p:nvPr/>
        </p:nvSpPr>
        <p:spPr>
          <a:xfrm>
            <a:off x="10698480" y="6355080"/>
            <a:ext cx="1280160" cy="365760"/>
          </a:xfrm>
          <a:prstGeom prst="rect">
            <a:avLst/>
          </a:prstGeom>
          <a:noFill/>
        </p:spPr>
        <p:txBody>
          <a:bodyPr wrap="none">
            <a:spAutoFit/>
          </a:bodyPr>
          <a:lstStyle/>
          <a:p>
            <a:pPr algn="r"/>
            <a:r>
              <a:rPr sz="1200">
                <a:solidFill>
                  <a:srgbClr val="C8A89C"/>
                </a:solidFill>
              </a:rPr>
              <a:t>10</a:t>
            </a:r>
          </a:p>
        </p:txBody>
      </p:sp>
      <p:sp>
        <p:nvSpPr>
          <p:cNvPr id="8" name="Kiosk Previous">
            <a:hlinkClick r:id="rId7"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9" name="Kiosk Next">
            <a:hlinkClick r:id="rId6"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274320"/>
            <a:ext cx="11247120" cy="789939"/>
          </a:xfrm>
          <a:prstGeom prst="rect">
            <a:avLst/>
          </a:prstGeom>
          <a:noFill/>
        </p:spPr>
        <p:txBody>
          <a:bodyPr wrap="square">
            <a:spAutoFit/>
          </a:bodyPr>
          <a:lstStyle/>
          <a:p>
            <a:pPr algn="ctr"/>
            <a:r>
              <a:rPr sz="4400" b="1">
                <a:solidFill>
                  <a:srgbClr val="D8B098"/>
                </a:solidFill>
              </a:rPr>
              <a:t>ATTACK VECTOR 3: VIDEO</a:t>
            </a:r>
          </a:p>
        </p:txBody>
      </p:sp>
      <p:sp>
        <p:nvSpPr>
          <p:cNvPr id="4" name="TextBox 3"/>
          <p:cNvSpPr txBox="1"/>
          <p:nvPr/>
        </p:nvSpPr>
        <p:spPr>
          <a:xfrm>
            <a:off x="792327" y="1245235"/>
            <a:ext cx="10607040" cy="1021080"/>
          </a:xfrm>
          <a:prstGeom prst="rect">
            <a:avLst/>
          </a:prstGeom>
          <a:noFill/>
        </p:spPr>
        <p:txBody>
          <a:bodyPr wrap="square">
            <a:spAutoFit/>
          </a:bodyPr>
          <a:lstStyle/>
          <a:p>
            <a:pPr algn="ctr"/>
            <a:r>
              <a:rPr sz="2800" i="0" b="0">
                <a:solidFill>
                  <a:srgbClr val="C8A89C"/>
                </a:solidFill>
              </a:rPr>
              <a:t>The third way goes further still: not just a voice, but a face on a screen.</a:t>
            </a:r>
          </a:p>
        </p:txBody>
      </p:sp>
      <p:pic>
        <p:nvPicPr>
          <p:cNvPr id="5" name="video_display8.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3010408" y="2326894"/>
            <a:ext cx="6177280" cy="3474720"/>
          </a:xfrm>
          <a:prstGeom prst="rect">
            <a:avLst/>
          </a:prstGeom>
        </p:spPr>
      </p:pic>
      <p:sp>
        <p:nvSpPr>
          <p:cNvPr id="6" name="TextBox 5"/>
          <p:cNvSpPr txBox="1"/>
          <p:nvPr/>
        </p:nvSpPr>
        <p:spPr>
          <a:xfrm>
            <a:off x="914400" y="5862193"/>
            <a:ext cx="10332720" cy="432308"/>
          </a:xfrm>
          <a:prstGeom prst="rect">
            <a:avLst/>
          </a:prstGeom>
          <a:noFill/>
        </p:spPr>
        <p:txBody>
          <a:bodyPr wrap="square">
            <a:spAutoFit/>
          </a:bodyPr>
          <a:lstStyle/>
          <a:p>
            <a:pPr algn="ctr"/>
            <a:r>
              <a:rPr sz="2400" i="1" b="0">
                <a:solidFill>
                  <a:srgbClr val="C8A89C"/>
                </a:solidFill>
              </a:rPr>
              <a:t>Click to play the video</a:t>
            </a:r>
          </a:p>
        </p:txBody>
      </p:sp>
      <p:sp>
        <p:nvSpPr>
          <p:cNvPr id="7" name="TextBox 6"/>
          <p:cNvSpPr txBox="1"/>
          <p:nvPr/>
        </p:nvSpPr>
        <p:spPr>
          <a:xfrm>
            <a:off x="10698480" y="6355080"/>
            <a:ext cx="1280160" cy="365760"/>
          </a:xfrm>
          <a:prstGeom prst="rect">
            <a:avLst/>
          </a:prstGeom>
          <a:noFill/>
        </p:spPr>
        <p:txBody>
          <a:bodyPr wrap="none">
            <a:spAutoFit/>
          </a:bodyPr>
          <a:lstStyle/>
          <a:p>
            <a:pPr algn="r"/>
            <a:r>
              <a:rPr sz="1200">
                <a:solidFill>
                  <a:srgbClr val="C8A89C"/>
                </a:solidFill>
              </a:rPr>
              <a:t>11</a:t>
            </a:r>
          </a:p>
        </p:txBody>
      </p:sp>
      <p:sp>
        <p:nvSpPr>
          <p:cNvPr id="8" name="Kiosk Previous">
            <a:hlinkClick r:id="rId7"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9" name="Kiosk Next">
            <a:hlinkClick action="ppaction://hlinksldjump" r:id="rId6"/>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WHAT ATTACKERS WANT FROM YOU</a:t>
            </a:r>
          </a:p>
        </p:txBody>
      </p:sp>
      <p:sp>
        <p:nvSpPr>
          <p:cNvPr id="4" name="Rounded Rectangle 3"/>
          <p:cNvSpPr/>
          <p:nvPr/>
        </p:nvSpPr>
        <p:spPr>
          <a:xfrm>
            <a:off x="548640" y="2532109"/>
            <a:ext cx="3484778" cy="2155477"/>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Step 1</a:t>
            </a:r>
          </a:p>
          <a:p>
            <a:pPr algn="ctr"/>
            <a:r>
              <a:rPr sz="2800">
                <a:solidFill>
                  <a:srgbClr val="2A1216"/>
                </a:solidFill>
              </a:rPr>
              <a:t>Your account gets compromised</a:t>
            </a:r>
          </a:p>
        </p:txBody>
      </p:sp>
      <p:sp>
        <p:nvSpPr>
          <p:cNvPr id="5" name="Rounded Rectangle 4"/>
          <p:cNvSpPr/>
          <p:nvPr/>
        </p:nvSpPr>
        <p:spPr>
          <a:xfrm>
            <a:off x="4353458" y="2532109"/>
            <a:ext cx="3484778" cy="2155477"/>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Step 2</a:t>
            </a:r>
          </a:p>
          <a:p>
            <a:pPr algn="ctr"/>
            <a:r>
              <a:rPr sz="2800">
                <a:solidFill>
                  <a:srgbClr val="2A1216"/>
                </a:solidFill>
              </a:rPr>
              <a:t>Every email from it now looks completely legitimate</a:t>
            </a:r>
          </a:p>
        </p:txBody>
      </p:sp>
      <p:sp>
        <p:nvSpPr>
          <p:cNvPr id="6" name="Rounded Rectangle 5"/>
          <p:cNvSpPr/>
          <p:nvPr/>
        </p:nvSpPr>
        <p:spPr>
          <a:xfrm>
            <a:off x="8158276" y="2532109"/>
            <a:ext cx="3484778" cy="2155477"/>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Step 3</a:t>
            </a:r>
          </a:p>
          <a:p>
            <a:pPr algn="ctr"/>
            <a:r>
              <a:rPr sz="2800">
                <a:solidFill>
                  <a:srgbClr val="2A1216"/>
                </a:solidFill>
              </a:rPr>
              <a:t>They don't ask for money. They ask for credentials</a:t>
            </a:r>
          </a:p>
        </p:txBody>
      </p:sp>
      <p:sp>
        <p:nvSpPr>
          <p:cNvPr id="7" name="TextBox 6"/>
          <p:cNvSpPr txBox="1"/>
          <p:nvPr/>
        </p:nvSpPr>
        <p:spPr>
          <a:xfrm>
            <a:off x="10698480" y="6355080"/>
            <a:ext cx="1280160" cy="365760"/>
          </a:xfrm>
          <a:prstGeom prst="rect">
            <a:avLst/>
          </a:prstGeom>
          <a:noFill/>
        </p:spPr>
        <p:txBody>
          <a:bodyPr wrap="none">
            <a:spAutoFit/>
          </a:bodyPr>
          <a:lstStyle/>
          <a:p>
            <a:pPr algn="r"/>
            <a:r>
              <a:rPr sz="1200">
                <a:solidFill>
                  <a:srgbClr val="C8A89C"/>
                </a:solidFill>
              </a:rPr>
              <a:t>12</a:t>
            </a:r>
          </a:p>
        </p:txBody>
      </p:sp>
      <p:sp>
        <p:nvSpPr>
          <p:cNvPr id="58" name="Kiosk Previous">
            <a:hlinkClick action="ppaction://hlinksldjump" r:id="rId4"/>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60" name="narration_v14_ex_12.mp3">
            <a:hlinkClick r:id="" action="ppaction://media"/>
          </p:cNvPr>
          <p:cNvPicPr>
            <a:picLocks noChangeAspect="1"/>
          </p:cNvPicPr>
          <p:nvPr>
            <a:audioFile r:link="rId6"/>
            <p:extLst>
              <p:ext uri="{DAA4B4D4-6D71-4841-9C94-3DE7FCFB9230}">
                <p14:media xmlns:p14="http://schemas.microsoft.com/office/powerpoint/2010/main" r:embed="rId3"/>
              </p:ext>
            </p:extLst>
          </p:nvPr>
        </p:nvPicPr>
        <p:blipFill>
          <a:blip r:embed="rId5"/>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89" fill="hold"/>
                                        <p:tgtEl>
                                          <p:spTgt spid="60"/>
                                        </p:tgtEl>
                                      </p:cBhvr>
                                    </p:cmd>
                                  </p:childTnLst>
                                </p:cTn>
                              </p:par>
                              <p:par>
                                <p:cTn id="20" presetID="26" presetClass="emph" presetSubtype="0" repeatCount="indefinite" fill="hold" grpId="0" nodeType="withEffect">
                                  <p:stCondLst>
                                    <p:cond delay="27089"/>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0"/>
                </p:tgtEl>
              </p:cMediaNode>
            </p:audio>
          </p:childTnLst>
        </p:cTn>
      </p:par>
    </p:tnLst>
    <p:bldLst>
      <p:bldP spid="59"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SPOT THE RED FLAG</a:t>
            </a:r>
          </a:p>
        </p:txBody>
      </p:sp>
      <p:sp>
        <p:nvSpPr>
          <p:cNvPr id="4"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13</a:t>
            </a:r>
          </a:p>
        </p:txBody>
      </p:sp>
      <p:sp>
        <p:nvSpPr>
          <p:cNvPr id="5" name="TextBox 3"/>
          <p:cNvSpPr txBox="1"/>
          <p:nvPr/>
        </p:nvSpPr>
        <p:spPr>
          <a:xfrm>
            <a:off x="795528" y="1554480"/>
            <a:ext cx="10607040" cy="548640"/>
          </a:xfrm>
          <a:prstGeom prst="rect">
            <a:avLst/>
          </a:prstGeom>
          <a:noFill/>
        </p:spPr>
        <p:txBody>
          <a:bodyPr wrap="square">
            <a:spAutoFit/>
          </a:bodyPr>
          <a:lstStyle/>
          <a:p>
            <a:pPr algn="l"/>
            <a:r>
              <a:rPr sz="2400" i="1" b="0">
                <a:solidFill>
                  <a:srgbClr val="F2EFE8"/>
                </a:solidFill>
              </a:rPr>
              <a:t>You have 30 seconds. Read this email and call out every red flag you can find.</a:t>
            </a:r>
          </a:p>
        </p:txBody>
      </p:sp>
      <p:sp>
        <p:nvSpPr>
          <p:cNvPr id="6" name="Rounded Rectangle 10"/>
          <p:cNvSpPr/>
          <p:nvPr/>
        </p:nvSpPr>
        <p:spPr>
          <a:xfrm>
            <a:off x="932688" y="2286000"/>
            <a:ext cx="10332720" cy="2743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2000" b="1">
                <a:solidFill>
                  <a:srgbClr val="2E2A45"/>
                </a:solidFill>
              </a:rPr>
              <a:t>From: IT Service Desk &lt;it-support@yourcompany-secure.com&gt;</a:t>
            </a:r>
          </a:p>
          <a:p>
            <a:pPr algn="l"/>
            <a:r>
              <a:rPr sz="2000" b="1">
                <a:solidFill>
                  <a:srgbClr val="2E2A45"/>
                </a:solidFill>
              </a:rPr>
              <a:t>Subject: Action Required: Verify Your Account Credentials</a:t>
            </a:r>
          </a:p>
          <a:p>
            <a:pPr algn="l"/>
            <a:r>
              <a:rPr sz="2000" b="0">
                <a:solidFill>
                  <a:srgbClr val="2E2A45"/>
                </a:solidFill>
              </a:rPr>
              <a:t>“We've detected unusual sign-in activity on your account. To keep your account secure, please verify your credentials within 24 hours. Failure to do so may result in temporary account suspension. IT Service Desk”</a:t>
            </a:r>
          </a:p>
        </p:txBody>
      </p:sp>
      <p:sp>
        <p:nvSpPr>
          <p:cNvPr id="7" name="TextBox 3"/>
          <p:cNvSpPr txBox="1"/>
          <p:nvPr/>
        </p:nvSpPr>
        <p:spPr>
          <a:xfrm>
            <a:off x="795528" y="5166360"/>
            <a:ext cx="10607040" cy="457200"/>
          </a:xfrm>
          <a:prstGeom prst="rect">
            <a:avLst/>
          </a:prstGeom>
          <a:noFill/>
        </p:spPr>
        <p:txBody>
          <a:bodyPr wrap="square">
            <a:spAutoFit/>
          </a:bodyPr>
          <a:lstStyle/>
          <a:p>
            <a:pPr algn="l"/>
            <a:r>
              <a:rPr sz="2000" i="1" b="0">
                <a:solidFill>
                  <a:srgbClr val="F2EFE8"/>
                </a:solidFill>
              </a:rPr>
              <a:t>(When you’re ready, the flagged version is on the next slide.)</a:t>
            </a:r>
          </a:p>
        </p:txBody>
      </p:sp>
      <p:sp>
        <p:nvSpPr>
          <p:cNvPr id="8"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9"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SPOT THE RED FLAG: REVEALED</a:t>
            </a:r>
          </a:p>
        </p:txBody>
      </p:sp>
      <p:sp>
        <p:nvSpPr>
          <p:cNvPr id="4"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14</a:t>
            </a:r>
          </a:p>
        </p:txBody>
      </p:sp>
      <p:sp>
        <p:nvSpPr>
          <p:cNvPr id="5" name="TextBox 3"/>
          <p:cNvSpPr txBox="1"/>
          <p:nvPr/>
        </p:nvSpPr>
        <p:spPr>
          <a:xfrm>
            <a:off x="548640" y="1737360"/>
            <a:ext cx="7498079" cy="4023360"/>
          </a:xfrm>
          <a:prstGeom prst="rect">
            <a:avLst/>
          </a:prstGeom>
          <a:noFill/>
        </p:spPr>
        <p:txBody>
          <a:bodyPr wrap="square">
            <a:spAutoFit/>
          </a:bodyPr>
          <a:lstStyle/>
          <a:p>
            <a:pPr algn="l"/>
            <a:r>
              <a:rPr sz="2000" i="0" b="0">
                <a:solidFill>
                  <a:srgbClr val="F2EFE8"/>
                </a:solidFill>
              </a:rPr>
              <a:t>🚩  A message from “IT” that asks you to verify your credentials.</a:t>
            </a:r>
          </a:p>
          <a:p>
            <a:pPr algn="l"/>
            <a:r>
              <a:rPr sz="2000" i="0" b="0">
                <a:solidFill>
                  <a:srgbClr val="F2EFE8"/>
                </a:solidFill>
              </a:rPr>
              <a:t>🚩  “Unusual sign-in activity”: a fear-based reason to act.</a:t>
            </a:r>
          </a:p>
          <a:p>
            <a:pPr algn="l"/>
            <a:r>
              <a:rPr sz="2000" i="0" b="0">
                <a:solidFill>
                  <a:srgbClr val="F2EFE8"/>
                </a:solidFill>
              </a:rPr>
              <a:t>🚩  “Within 24 hours”, with a threat of suspension: a deadline and a penalty.</a:t>
            </a:r>
          </a:p>
          <a:p>
            <a:pPr algn="l"/>
            <a:r>
              <a:rPr sz="2000" i="0" b="0">
                <a:solidFill>
                  <a:srgbClr val="F2EFE8"/>
                </a:solidFill>
              </a:rPr>
              <a:t>🚩  A lookalike domain: yourcompany-secure.com is not your company’s real domain.</a:t>
            </a:r>
          </a:p>
          <a:p>
            <a:pPr algn="l"/>
            <a:r>
              <a:rPr sz="2000" i="0" b="0">
                <a:solidFill>
                  <a:srgbClr val="F2EFE8"/>
                </a:solidFill>
              </a:rPr>
              <a:t>🚩  It is sent directly to you, not through the normal IT process.</a:t>
            </a:r>
          </a:p>
          <a:p>
            <a:pPr algn="l"/>
            <a:r>
              <a:rPr sz="2000" i="0" b="0">
                <a:solidFill>
                  <a:srgbClr val="F2EFE8"/>
                </a:solidFill>
              </a:rPr>
              <a:t>IT will not ask you to verify credentials by email. Report it, and sign in only through the official portal.</a:t>
            </a:r>
          </a:p>
        </p:txBody>
      </p:sp>
      <p:sp>
        <p:nvSpPr>
          <p:cNvPr id="6" name="TextBox 3"/>
          <p:cNvSpPr txBox="1"/>
          <p:nvPr/>
        </p:nvSpPr>
        <p:spPr>
          <a:xfrm>
            <a:off x="8412480" y="1691640"/>
            <a:ext cx="3291840" cy="457200"/>
          </a:xfrm>
          <a:prstGeom prst="rect">
            <a:avLst/>
          </a:prstGeom>
          <a:noFill/>
        </p:spPr>
        <p:txBody>
          <a:bodyPr wrap="square">
            <a:spAutoFit/>
          </a:bodyPr>
          <a:lstStyle/>
          <a:p>
            <a:pPr algn="l"/>
            <a:r>
              <a:rPr sz="2200" i="0" b="1">
                <a:solidFill>
                  <a:srgbClr val="F2EFE8"/>
                </a:solidFill>
              </a:rPr>
              <a:t>LEVERS PULLED</a:t>
            </a:r>
          </a:p>
        </p:txBody>
      </p:sp>
      <p:sp>
        <p:nvSpPr>
          <p:cNvPr id="7" name="Rounded Rectangle 3"/>
          <p:cNvSpPr/>
          <p:nvPr/>
        </p:nvSpPr>
        <p:spPr>
          <a:xfrm>
            <a:off x="8412480" y="2240280"/>
            <a:ext cx="3291840" cy="11887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2A1216"/>
                </a:solidFill>
              </a:rPr>
              <a:t>Authority</a:t>
            </a:r>
          </a:p>
          <a:p>
            <a:pPr algn="ctr"/>
            <a:r>
              <a:rPr sz="2000">
                <a:solidFill>
                  <a:srgbClr val="2A1216"/>
                </a:solidFill>
              </a:rPr>
              <a:t>An IT desk’s name makes people comply.</a:t>
            </a:r>
          </a:p>
        </p:txBody>
      </p:sp>
      <p:sp>
        <p:nvSpPr>
          <p:cNvPr id="8" name="Rounded Rectangle 3"/>
          <p:cNvSpPr/>
          <p:nvPr/>
        </p:nvSpPr>
        <p:spPr>
          <a:xfrm>
            <a:off x="8412480" y="3520440"/>
            <a:ext cx="3291840" cy="11887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2A1216"/>
                </a:solidFill>
              </a:rPr>
              <a:t>Scarcity</a:t>
            </a:r>
          </a:p>
          <a:p>
            <a:pPr algn="ctr"/>
            <a:r>
              <a:rPr sz="2000">
                <a:solidFill>
                  <a:srgbClr val="2A1216"/>
                </a:solidFill>
              </a:rPr>
              <a:t>A deadline and a penalty make you skip the check.</a:t>
            </a:r>
          </a:p>
        </p:txBody>
      </p:sp>
      <p:sp>
        <p:nvSpPr>
          <p:cNvPr id="9" name="TextBox 3"/>
          <p:cNvSpPr txBox="1"/>
          <p:nvPr/>
        </p:nvSpPr>
        <p:spPr>
          <a:xfrm>
            <a:off x="8412480" y="4846320"/>
            <a:ext cx="3291840" cy="1005840"/>
          </a:xfrm>
          <a:prstGeom prst="rect">
            <a:avLst/>
          </a:prstGeom>
          <a:noFill/>
        </p:spPr>
        <p:txBody>
          <a:bodyPr wrap="square">
            <a:spAutoFit/>
          </a:bodyPr>
          <a:lstStyle/>
          <a:p>
            <a:pPr algn="l"/>
            <a:r>
              <a:rPr sz="2000" i="1" b="0">
                <a:solidFill>
                  <a:srgbClr val="F2EFE8"/>
                </a:solidFill>
              </a:rPr>
              <a:t>Plus fear of losing access.</a:t>
            </a:r>
          </a:p>
        </p:txBody>
      </p:sp>
      <p:sp>
        <p:nvSpPr>
          <p:cNvPr id="10" name="TextBox 6"/>
          <p:cNvSpPr txBox="1"/>
          <p:nvPr/>
        </p:nvSpPr>
        <p:spPr>
          <a:xfrm>
            <a:off x="457200" y="5870448"/>
            <a:ext cx="11247120" cy="429768"/>
          </a:xfrm>
          <a:prstGeom prst="rect">
            <a:avLst/>
          </a:prstGeom>
          <a:noFill/>
        </p:spPr>
        <p:txBody>
          <a:bodyPr wrap="square">
            <a:spAutoFit/>
          </a:bodyPr>
          <a:lstStyle/>
          <a:p>
            <a:pPr algn="l"/>
            <a:r>
              <a:rPr sz="1800" i="1" b="0">
                <a:solidFill>
                  <a:srgbClr val="C8A89C"/>
                </a:solidFill>
              </a:rPr>
              <a:t>Sources: CISA and FBI AA23-320A; Cialdini, HBR (2001)</a:t>
            </a:r>
          </a:p>
        </p:txBody>
      </p:sp>
      <p:sp>
        <p:nvSpPr>
          <p:cNvPr id="11"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12"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13" name="narration_ex_25.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372" fill="hold"/>
                                        <p:tgtEl>
                                          <p:spTgt spid="13"/>
                                        </p:tgtEl>
                                      </p:cBhvr>
                                    </p:cmd>
                                  </p:childTnLst>
                                </p:cTn>
                              </p:par>
                              <p:par>
                                <p:cTn id="20" presetID="26" presetClass="emph" presetSubtype="0" repeatCount="indefinite" fill="hold" grpId="0" nodeType="withEffect">
                                  <p:stCondLst>
                                    <p:cond delay="56372"/>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3"/>
                </p:tgtEl>
              </p:cMediaNode>
            </p:audio>
          </p:childTnLst>
        </p:cTn>
      </p:par>
    </p:tnLst>
    <p:bldLst>
      <p:bldP spid="12"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SPOT THE RED FLAG</a:t>
            </a:r>
          </a:p>
        </p:txBody>
      </p:sp>
      <p:sp>
        <p:nvSpPr>
          <p:cNvPr id="4"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15</a:t>
            </a:r>
          </a:p>
        </p:txBody>
      </p:sp>
      <p:sp>
        <p:nvSpPr>
          <p:cNvPr id="5" name="TextBox 3"/>
          <p:cNvSpPr txBox="1"/>
          <p:nvPr/>
        </p:nvSpPr>
        <p:spPr>
          <a:xfrm>
            <a:off x="795528" y="1554480"/>
            <a:ext cx="10607040" cy="548640"/>
          </a:xfrm>
          <a:prstGeom prst="rect">
            <a:avLst/>
          </a:prstGeom>
          <a:noFill/>
        </p:spPr>
        <p:txBody>
          <a:bodyPr wrap="square">
            <a:spAutoFit/>
          </a:bodyPr>
          <a:lstStyle/>
          <a:p>
            <a:pPr algn="l"/>
            <a:r>
              <a:rPr sz="2400" i="1" b="0">
                <a:solidFill>
                  <a:srgbClr val="F2EFE8"/>
                </a:solidFill>
              </a:rPr>
              <a:t>You have 30 seconds. Read this email and call out every red flag you can find.</a:t>
            </a:r>
          </a:p>
        </p:txBody>
      </p:sp>
      <p:sp>
        <p:nvSpPr>
          <p:cNvPr id="6" name="Rounded Rectangle 10"/>
          <p:cNvSpPr/>
          <p:nvPr/>
        </p:nvSpPr>
        <p:spPr>
          <a:xfrm>
            <a:off x="932688" y="2286000"/>
            <a:ext cx="10332720" cy="2743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2000" b="1">
                <a:solidFill>
                  <a:srgbClr val="2E2A45"/>
                </a:solidFill>
              </a:rPr>
              <a:t>From: IT Support &lt;it-support@yourcompany-secure.com&gt;</a:t>
            </a:r>
          </a:p>
          <a:p>
            <a:pPr algn="l"/>
            <a:r>
              <a:rPr sz="2000" b="1">
                <a:solidFill>
                  <a:srgbClr val="2E2A45"/>
                </a:solidFill>
              </a:rPr>
              <a:t>Subject: Quick Verification Needed</a:t>
            </a:r>
          </a:p>
          <a:p>
            <a:pPr algn="l"/>
            <a:r>
              <a:rPr sz="2000" b="0">
                <a:solidFill>
                  <a:srgbClr val="2E2A45"/>
                </a:solidFill>
              </a:rPr>
              <a:t>“Hi, we're updating security settings on your account. You'll receive a 6-digit verification code shortly. Please reply with that code so we can confirm the update went through. Thanks, IT Support”</a:t>
            </a:r>
          </a:p>
        </p:txBody>
      </p:sp>
      <p:sp>
        <p:nvSpPr>
          <p:cNvPr id="7" name="TextBox 3"/>
          <p:cNvSpPr txBox="1"/>
          <p:nvPr/>
        </p:nvSpPr>
        <p:spPr>
          <a:xfrm>
            <a:off x="795528" y="5166360"/>
            <a:ext cx="10607040" cy="457200"/>
          </a:xfrm>
          <a:prstGeom prst="rect">
            <a:avLst/>
          </a:prstGeom>
          <a:noFill/>
        </p:spPr>
        <p:txBody>
          <a:bodyPr wrap="square">
            <a:spAutoFit/>
          </a:bodyPr>
          <a:lstStyle/>
          <a:p>
            <a:pPr algn="l"/>
            <a:r>
              <a:rPr sz="2000" i="1" b="0">
                <a:solidFill>
                  <a:srgbClr val="F2EFE8"/>
                </a:solidFill>
              </a:rPr>
              <a:t>(When you’re ready, the flagged version is on the next slide.)</a:t>
            </a:r>
          </a:p>
        </p:txBody>
      </p:sp>
      <p:sp>
        <p:nvSpPr>
          <p:cNvPr id="8"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9"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SPOT THE RED FLAG: REVEALED</a:t>
            </a:r>
          </a:p>
        </p:txBody>
      </p:sp>
      <p:sp>
        <p:nvSpPr>
          <p:cNvPr id="4"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16</a:t>
            </a:r>
          </a:p>
        </p:txBody>
      </p:sp>
      <p:sp>
        <p:nvSpPr>
          <p:cNvPr id="5" name="TextBox 3"/>
          <p:cNvSpPr txBox="1"/>
          <p:nvPr/>
        </p:nvSpPr>
        <p:spPr>
          <a:xfrm>
            <a:off x="548640" y="1737360"/>
            <a:ext cx="7498079" cy="4023360"/>
          </a:xfrm>
          <a:prstGeom prst="rect">
            <a:avLst/>
          </a:prstGeom>
          <a:noFill/>
        </p:spPr>
        <p:txBody>
          <a:bodyPr wrap="square">
            <a:spAutoFit/>
          </a:bodyPr>
          <a:lstStyle/>
          <a:p>
            <a:pPr algn="l"/>
            <a:r>
              <a:rPr sz="2000" i="0" b="0">
                <a:solidFill>
                  <a:srgbClr val="F2EFE8"/>
                </a:solidFill>
              </a:rPr>
              <a:t>🚩  A request to relay a verification code: a one-time code must never be shared.</a:t>
            </a:r>
          </a:p>
          <a:p>
            <a:pPr algn="l"/>
            <a:r>
              <a:rPr sz="2000" i="0" b="0">
                <a:solidFill>
                  <a:srgbClr val="F2EFE8"/>
                </a:solidFill>
              </a:rPr>
              <a:t>🚩  No link to click, so nothing looks dangerous.</a:t>
            </a:r>
          </a:p>
          <a:p>
            <a:pPr algn="l"/>
            <a:r>
              <a:rPr sz="2000" i="0" b="0">
                <a:solidFill>
                  <a:srgbClr val="F2EFE8"/>
                </a:solidFill>
              </a:rPr>
              <a:t>🚩  The code really does arrive “shortly”, which makes the request feel genuine.</a:t>
            </a:r>
          </a:p>
          <a:p>
            <a:pPr algn="l"/>
            <a:r>
              <a:rPr sz="2000" i="0" b="0">
                <a:solidFill>
                  <a:srgbClr val="F2EFE8"/>
                </a:solidFill>
              </a:rPr>
              <a:t>🚩  The same lookalike domain as before.</a:t>
            </a:r>
          </a:p>
          <a:p>
            <a:pPr algn="l"/>
            <a:r>
              <a:rPr sz="2000" i="0" b="0">
                <a:solidFill>
                  <a:srgbClr val="F2EFE8"/>
                </a:solidFill>
              </a:rPr>
              <a:t>🚩  A casual tone with no named person.</a:t>
            </a:r>
          </a:p>
          <a:p>
            <a:pPr algn="l"/>
            <a:r>
              <a:rPr sz="2000" i="0" b="0">
                <a:solidFill>
                  <a:srgbClr val="F2EFE8"/>
                </a:solidFill>
              </a:rPr>
              <a:t>Relaying that code can hand an attacker your account. Never share a one-time code with anyone who contacts you.</a:t>
            </a:r>
          </a:p>
        </p:txBody>
      </p:sp>
      <p:sp>
        <p:nvSpPr>
          <p:cNvPr id="6" name="TextBox 3"/>
          <p:cNvSpPr txBox="1"/>
          <p:nvPr/>
        </p:nvSpPr>
        <p:spPr>
          <a:xfrm>
            <a:off x="8412480" y="1691640"/>
            <a:ext cx="3291840" cy="457200"/>
          </a:xfrm>
          <a:prstGeom prst="rect">
            <a:avLst/>
          </a:prstGeom>
          <a:noFill/>
        </p:spPr>
        <p:txBody>
          <a:bodyPr wrap="square">
            <a:spAutoFit/>
          </a:bodyPr>
          <a:lstStyle/>
          <a:p>
            <a:pPr algn="l"/>
            <a:r>
              <a:rPr sz="2200" i="0" b="1">
                <a:solidFill>
                  <a:srgbClr val="F2EFE8"/>
                </a:solidFill>
              </a:rPr>
              <a:t>LEVERS PULLED</a:t>
            </a:r>
          </a:p>
        </p:txBody>
      </p:sp>
      <p:sp>
        <p:nvSpPr>
          <p:cNvPr id="7" name="Rounded Rectangle 3"/>
          <p:cNvSpPr/>
          <p:nvPr/>
        </p:nvSpPr>
        <p:spPr>
          <a:xfrm>
            <a:off x="8412480" y="2240280"/>
            <a:ext cx="3291840" cy="11887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2A1216"/>
                </a:solidFill>
              </a:rPr>
              <a:t>Authority</a:t>
            </a:r>
          </a:p>
          <a:p>
            <a:pPr algn="ctr"/>
            <a:r>
              <a:rPr sz="2000">
                <a:solidFill>
                  <a:srgbClr val="2A1216"/>
                </a:solidFill>
              </a:rPr>
              <a:t>An IT team’s name makes people comply.</a:t>
            </a:r>
          </a:p>
        </p:txBody>
      </p:sp>
      <p:sp>
        <p:nvSpPr>
          <p:cNvPr id="8" name="Rounded Rectangle 3"/>
          <p:cNvSpPr/>
          <p:nvPr/>
        </p:nvSpPr>
        <p:spPr>
          <a:xfrm>
            <a:off x="8412480" y="3520440"/>
            <a:ext cx="3291840" cy="11887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2A1216"/>
                </a:solidFill>
              </a:rPr>
              <a:t>Liking</a:t>
            </a:r>
          </a:p>
          <a:p>
            <a:pPr algn="ctr"/>
            <a:r>
              <a:rPr sz="2000">
                <a:solidFill>
                  <a:srgbClr val="2A1216"/>
                </a:solidFill>
              </a:rPr>
              <a:t>A friendly, casual tone lowers your guard.</a:t>
            </a:r>
          </a:p>
        </p:txBody>
      </p:sp>
      <p:sp>
        <p:nvSpPr>
          <p:cNvPr id="9" name="TextBox 3"/>
          <p:cNvSpPr txBox="1"/>
          <p:nvPr/>
        </p:nvSpPr>
        <p:spPr>
          <a:xfrm>
            <a:off x="8412480" y="4846320"/>
            <a:ext cx="3291840" cy="1005840"/>
          </a:xfrm>
          <a:prstGeom prst="rect">
            <a:avLst/>
          </a:prstGeom>
          <a:noFill/>
        </p:spPr>
        <p:txBody>
          <a:bodyPr wrap="square">
            <a:spAutoFit/>
          </a:bodyPr>
          <a:lstStyle/>
          <a:p>
            <a:pPr algn="l"/>
            <a:r>
              <a:rPr sz="2000" i="1" b="0">
                <a:solidFill>
                  <a:srgbClr val="F2EFE8"/>
                </a:solidFill>
              </a:rPr>
              <a:t>Plus timing: the real code arrives just as promised.</a:t>
            </a:r>
          </a:p>
        </p:txBody>
      </p:sp>
      <p:sp>
        <p:nvSpPr>
          <p:cNvPr id="10" name="TextBox 6"/>
          <p:cNvSpPr txBox="1"/>
          <p:nvPr/>
        </p:nvSpPr>
        <p:spPr>
          <a:xfrm>
            <a:off x="457200" y="5870448"/>
            <a:ext cx="11247120" cy="429768"/>
          </a:xfrm>
          <a:prstGeom prst="rect">
            <a:avLst/>
          </a:prstGeom>
          <a:noFill/>
        </p:spPr>
        <p:txBody>
          <a:bodyPr wrap="square">
            <a:spAutoFit/>
          </a:bodyPr>
          <a:lstStyle/>
          <a:p>
            <a:pPr algn="l"/>
            <a:r>
              <a:rPr sz="1800" i="1" b="0">
                <a:solidFill>
                  <a:srgbClr val="C8A89C"/>
                </a:solidFill>
              </a:rPr>
              <a:t>Sources: CISA and FBI AA23-320A; Cialdini, HBR (2001)</a:t>
            </a:r>
          </a:p>
        </p:txBody>
      </p:sp>
      <p:sp>
        <p:nvSpPr>
          <p:cNvPr id="11"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12"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13" name="narration_ex_27.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7647" fill="hold"/>
                                        <p:tgtEl>
                                          <p:spTgt spid="13"/>
                                        </p:tgtEl>
                                      </p:cBhvr>
                                    </p:cmd>
                                  </p:childTnLst>
                                </p:cTn>
                              </p:par>
                              <p:par>
                                <p:cTn id="20" presetID="26" presetClass="emph" presetSubtype="0" repeatCount="indefinite" fill="hold" grpId="0" nodeType="withEffect">
                                  <p:stCondLst>
                                    <p:cond delay="47647"/>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3"/>
                </p:tgtEl>
              </p:cMediaNode>
            </p:audio>
          </p:childTnLst>
        </p:cTn>
      </p:par>
    </p:tnLst>
    <p:bldLst>
      <p:bldP spid="12"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SAME LEVERS, OTHER CHANNELS</a:t>
            </a:r>
          </a:p>
        </p:txBody>
      </p:sp>
      <p:sp>
        <p:nvSpPr>
          <p:cNvPr id="4"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17</a:t>
            </a:r>
          </a:p>
        </p:txBody>
      </p:sp>
      <p:sp>
        <p:nvSpPr>
          <p:cNvPr id="5" name="TextBox 3"/>
          <p:cNvSpPr txBox="1"/>
          <p:nvPr/>
        </p:nvSpPr>
        <p:spPr>
          <a:xfrm>
            <a:off x="548640" y="1572768"/>
            <a:ext cx="5394960" cy="457200"/>
          </a:xfrm>
          <a:prstGeom prst="rect">
            <a:avLst/>
          </a:prstGeom>
          <a:noFill/>
        </p:spPr>
        <p:txBody>
          <a:bodyPr wrap="square">
            <a:spAutoFit/>
          </a:bodyPr>
          <a:lstStyle/>
          <a:p>
            <a:pPr algn="l"/>
            <a:r>
              <a:rPr sz="2000" i="0" b="1">
                <a:solidFill>
                  <a:srgbClr val="F2EFE8"/>
                </a:solidFill>
              </a:rPr>
              <a:t>Text message: a real Retool case (2023)</a:t>
            </a:r>
          </a:p>
        </p:txBody>
      </p:sp>
      <p:sp>
        <p:nvSpPr>
          <p:cNvPr id="6" name="Rounded Rectangle 10"/>
          <p:cNvSpPr/>
          <p:nvPr/>
        </p:nvSpPr>
        <p:spPr>
          <a:xfrm>
            <a:off x="548640" y="2103120"/>
            <a:ext cx="5394960" cy="2194560"/>
          </a:xfrm>
          <a:prstGeom prst="roundRect">
            <a:avLst>
              <a:gd name="adj" fmla="val 12000"/>
            </a:avLst>
          </a:prstGeom>
          <a:solidFill>
            <a:srgbClr val="2B2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11"/>
          <p:cNvSpPr/>
          <p:nvPr/>
        </p:nvSpPr>
        <p:spPr>
          <a:xfrm>
            <a:off x="822959" y="2286000"/>
            <a:ext cx="4846320" cy="1828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000" b="1">
                <a:solidFill>
                  <a:srgbClr val="2E2A45"/>
                </a:solidFill>
              </a:rPr>
              <a:t>IT Support</a:t>
            </a:r>
          </a:p>
          <a:p>
            <a:pPr algn="l"/>
            <a:r>
              <a:rPr sz="2000" b="0">
                <a:solidFill>
                  <a:srgbClr val="2E2A45"/>
                </a:solidFill>
              </a:rPr>
              <a:t>A problem with your payroll and open enrolment may block your healthcare coverage. Log in to fix it.</a:t>
            </a:r>
          </a:p>
          <a:p>
            <a:pPr algn="l"/>
            <a:r>
              <a:rPr sz="2000" b="0" u="sng">
                <a:solidFill>
                  <a:srgbClr val="1F5FBF"/>
                </a:solidFill>
              </a:rPr>
              <a:t>https://yourcompany-okta-login.com</a:t>
            </a:r>
          </a:p>
        </p:txBody>
      </p:sp>
      <p:sp>
        <p:nvSpPr>
          <p:cNvPr id="8" name="Rounded Rectangle 3"/>
          <p:cNvSpPr/>
          <p:nvPr/>
        </p:nvSpPr>
        <p:spPr>
          <a:xfrm>
            <a:off x="548640" y="4434840"/>
            <a:ext cx="2606040" cy="5029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Authority</a:t>
            </a:r>
          </a:p>
        </p:txBody>
      </p:sp>
      <p:sp>
        <p:nvSpPr>
          <p:cNvPr id="9" name="Rounded Rectangle 3"/>
          <p:cNvSpPr/>
          <p:nvPr/>
        </p:nvSpPr>
        <p:spPr>
          <a:xfrm>
            <a:off x="3337560" y="4434840"/>
            <a:ext cx="2606040" cy="5029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Scarcity</a:t>
            </a:r>
          </a:p>
        </p:txBody>
      </p:sp>
      <p:sp>
        <p:nvSpPr>
          <p:cNvPr id="10" name="TextBox 3"/>
          <p:cNvSpPr txBox="1"/>
          <p:nvPr/>
        </p:nvSpPr>
        <p:spPr>
          <a:xfrm>
            <a:off x="548640" y="5029200"/>
            <a:ext cx="5394960" cy="777240"/>
          </a:xfrm>
          <a:prstGeom prst="rect">
            <a:avLst/>
          </a:prstGeom>
          <a:noFill/>
        </p:spPr>
        <p:txBody>
          <a:bodyPr wrap="square">
            <a:spAutoFit/>
          </a:bodyPr>
          <a:lstStyle/>
          <a:p>
            <a:pPr algn="l"/>
            <a:r>
              <a:rPr sz="2000" i="0" b="0">
                <a:solidFill>
                  <a:srgbClr val="F2EFE8"/>
                </a:solidFill>
              </a:rPr>
              <a:t>Do not tap. IT does not text login links. Report it.</a:t>
            </a:r>
          </a:p>
        </p:txBody>
      </p:sp>
      <p:sp>
        <p:nvSpPr>
          <p:cNvPr id="11" name="TextBox 3"/>
          <p:cNvSpPr txBox="1"/>
          <p:nvPr/>
        </p:nvSpPr>
        <p:spPr>
          <a:xfrm>
            <a:off x="6263640" y="1572768"/>
            <a:ext cx="5394960" cy="457200"/>
          </a:xfrm>
          <a:prstGeom prst="rect">
            <a:avLst/>
          </a:prstGeom>
          <a:noFill/>
        </p:spPr>
        <p:txBody>
          <a:bodyPr wrap="square">
            <a:spAutoFit/>
          </a:bodyPr>
          <a:lstStyle/>
          <a:p>
            <a:pPr algn="l"/>
            <a:r>
              <a:rPr sz="2000" i="0" b="1">
                <a:solidFill>
                  <a:srgbClr val="F2EFE8"/>
                </a:solidFill>
              </a:rPr>
              <a:t>QR code: a real campaign</a:t>
            </a:r>
          </a:p>
        </p:txBody>
      </p:sp>
      <p:sp>
        <p:nvSpPr>
          <p:cNvPr id="12" name="Rounded Rectangle 16"/>
          <p:cNvSpPr/>
          <p:nvPr/>
        </p:nvSpPr>
        <p:spPr>
          <a:xfrm>
            <a:off x="6263640" y="2103120"/>
            <a:ext cx="5394960" cy="2194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3"/>
          <p:cNvSpPr txBox="1"/>
          <p:nvPr/>
        </p:nvSpPr>
        <p:spPr>
          <a:xfrm>
            <a:off x="6355079" y="2148839"/>
            <a:ext cx="5212080" cy="365760"/>
          </a:xfrm>
          <a:prstGeom prst="rect">
            <a:avLst/>
          </a:prstGeom>
          <a:noFill/>
        </p:spPr>
        <p:txBody>
          <a:bodyPr wrap="square">
            <a:spAutoFit/>
          </a:bodyPr>
          <a:lstStyle/>
          <a:p>
            <a:pPr algn="ctr"/>
            <a:r>
              <a:rPr sz="2200" i="0" b="1">
                <a:solidFill>
                  <a:srgbClr val="2E2A45"/>
                </a:solidFill>
              </a:rPr>
              <a:t>MICROSOFT 365</a:t>
            </a:r>
          </a:p>
        </p:txBody>
      </p:sp>
      <p:sp>
        <p:nvSpPr>
          <p:cNvPr id="14" name="TextBox 3"/>
          <p:cNvSpPr txBox="1"/>
          <p:nvPr/>
        </p:nvSpPr>
        <p:spPr>
          <a:xfrm>
            <a:off x="6355079" y="2487168"/>
            <a:ext cx="5212080" cy="320040"/>
          </a:xfrm>
          <a:prstGeom prst="rect">
            <a:avLst/>
          </a:prstGeom>
          <a:noFill/>
        </p:spPr>
        <p:txBody>
          <a:bodyPr wrap="square">
            <a:spAutoFit/>
          </a:bodyPr>
          <a:lstStyle/>
          <a:p>
            <a:pPr algn="ctr"/>
            <a:r>
              <a:rPr sz="2000" i="0" b="0">
                <a:solidFill>
                  <a:srgbClr val="2E2A45"/>
                </a:solidFill>
              </a:rPr>
              <a:t>Authenticator expires today</a:t>
            </a:r>
          </a:p>
        </p:txBody>
      </p:sp>
      <p:pic>
        <p:nvPicPr>
          <p:cNvPr id="15" name="Picture 19" descr="image.png"/>
          <p:cNvPicPr>
            <a:picLocks noChangeAspect="1"/>
          </p:cNvPicPr>
          <p:nvPr/>
        </p:nvPicPr>
        <p:blipFill>
          <a:blip r:embed="rId3"/>
          <a:stretch>
            <a:fillRect/>
          </a:stretch>
        </p:blipFill>
        <p:spPr>
          <a:xfrm>
            <a:off x="8412480" y="2852927"/>
            <a:ext cx="1097280" cy="1097280"/>
          </a:xfrm>
          <a:prstGeom prst="rect">
            <a:avLst/>
          </a:prstGeom>
        </p:spPr>
      </p:pic>
      <p:sp>
        <p:nvSpPr>
          <p:cNvPr id="16" name="TextBox 3"/>
          <p:cNvSpPr txBox="1"/>
          <p:nvPr/>
        </p:nvSpPr>
        <p:spPr>
          <a:xfrm>
            <a:off x="6355079" y="3886199"/>
            <a:ext cx="5212080" cy="365760"/>
          </a:xfrm>
          <a:prstGeom prst="rect">
            <a:avLst/>
          </a:prstGeom>
          <a:noFill/>
        </p:spPr>
        <p:txBody>
          <a:bodyPr wrap="square">
            <a:spAutoFit/>
          </a:bodyPr>
          <a:lstStyle/>
          <a:p>
            <a:pPr algn="ctr"/>
            <a:r>
              <a:rPr sz="2000" i="0" b="1">
                <a:solidFill>
                  <a:srgbClr val="2E2A45"/>
                </a:solidFill>
              </a:rPr>
              <a:t>Scan to re-authenticate</a:t>
            </a:r>
          </a:p>
        </p:txBody>
      </p:sp>
      <p:sp>
        <p:nvSpPr>
          <p:cNvPr id="17" name="Rounded Rectangle 3"/>
          <p:cNvSpPr/>
          <p:nvPr/>
        </p:nvSpPr>
        <p:spPr>
          <a:xfrm>
            <a:off x="6263640" y="4434840"/>
            <a:ext cx="2606040" cy="5029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Authority</a:t>
            </a:r>
          </a:p>
        </p:txBody>
      </p:sp>
      <p:sp>
        <p:nvSpPr>
          <p:cNvPr id="18" name="Rounded Rectangle 3"/>
          <p:cNvSpPr/>
          <p:nvPr/>
        </p:nvSpPr>
        <p:spPr>
          <a:xfrm>
            <a:off x="9052560" y="4434840"/>
            <a:ext cx="2606040" cy="50292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Scarcity</a:t>
            </a:r>
          </a:p>
        </p:txBody>
      </p:sp>
      <p:sp>
        <p:nvSpPr>
          <p:cNvPr id="19" name="TextBox 3"/>
          <p:cNvSpPr txBox="1"/>
          <p:nvPr/>
        </p:nvSpPr>
        <p:spPr>
          <a:xfrm>
            <a:off x="6263640" y="5029200"/>
            <a:ext cx="5394960" cy="777240"/>
          </a:xfrm>
          <a:prstGeom prst="rect">
            <a:avLst/>
          </a:prstGeom>
          <a:noFill/>
        </p:spPr>
        <p:txBody>
          <a:bodyPr wrap="square">
            <a:spAutoFit/>
          </a:bodyPr>
          <a:lstStyle/>
          <a:p>
            <a:pPr algn="l"/>
            <a:r>
              <a:rPr sz="2000" i="0" b="0">
                <a:solidFill>
                  <a:srgbClr val="F2EFE8"/>
                </a:solidFill>
              </a:rPr>
              <a:t>Do not scan. A phone can take you outside company security controls. Report it.</a:t>
            </a:r>
          </a:p>
        </p:txBody>
      </p:sp>
      <p:sp>
        <p:nvSpPr>
          <p:cNvPr id="20" name="TextBox 6"/>
          <p:cNvSpPr txBox="1"/>
          <p:nvPr/>
        </p:nvSpPr>
        <p:spPr>
          <a:xfrm>
            <a:off x="457200" y="5870448"/>
            <a:ext cx="11247120" cy="429768"/>
          </a:xfrm>
          <a:prstGeom prst="rect">
            <a:avLst/>
          </a:prstGeom>
          <a:noFill/>
        </p:spPr>
        <p:txBody>
          <a:bodyPr wrap="square">
            <a:spAutoFit/>
          </a:bodyPr>
          <a:lstStyle/>
          <a:p>
            <a:pPr algn="l"/>
            <a:r>
              <a:rPr sz="1800" i="1" b="0">
                <a:solidFill>
                  <a:srgbClr val="C8A89C"/>
                </a:solidFill>
              </a:rPr>
              <a:t>Sources: Retool blog, MFA isn’t MFA (2023); IRONSCALES; ASD’s ACSC, Quishing</a:t>
            </a:r>
          </a:p>
        </p:txBody>
      </p:sp>
      <p:sp>
        <p:nvSpPr>
          <p:cNvPr id="21"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22" name="Kiosk Next">
            <a:hlinkClick r:id="rId5"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23" name="narration_ex_28.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777" fill="hold"/>
                                        <p:tgtEl>
                                          <p:spTgt spid="23"/>
                                        </p:tgtEl>
                                      </p:cBhvr>
                                    </p:cmd>
                                  </p:childTnLst>
                                </p:cTn>
                              </p:par>
                              <p:par>
                                <p:cTn id="20" presetID="26" presetClass="emph" presetSubtype="0" repeatCount="indefinite" fill="hold" grpId="0" nodeType="withEffect">
                                  <p:stCondLst>
                                    <p:cond delay="40777"/>
                                  </p:stCondLst>
                                  <p:childTnLst>
                                    <p:animEffect transition="out" filter="fade">
                                      <p:cBhvr>
                                        <p:cTn id="21" dur="1000" tmFilter="0, 0; .2, .5; .8, .5; 1, 0"/>
                                        <p:tgtEl>
                                          <p:spTgt spid="22"/>
                                        </p:tgtEl>
                                      </p:cBhvr>
                                    </p:animEffect>
                                    <p:animScale>
                                      <p:cBhvr>
                                        <p:cTn id="22" dur="500" autoRev="1" fill="hold"/>
                                        <p:tgtEl>
                                          <p:spTgt spid="2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3"/>
                </p:tgtEl>
              </p:cMediaNode>
            </p:audio>
          </p:childTnLst>
        </p:cTn>
      </p:par>
    </p:tnLst>
    <p:bldLst>
      <p:bldP spid="22"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CLICKFIX: HOW A REAL MAILBOX GETS TAKEN</a:t>
            </a:r>
          </a:p>
        </p:txBody>
      </p:sp>
      <p:sp>
        <p:nvSpPr>
          <p:cNvPr id="4"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18</a:t>
            </a:r>
          </a:p>
        </p:txBody>
      </p:sp>
      <p:sp>
        <p:nvSpPr>
          <p:cNvPr id="5" name="Rounded Rectangle 3"/>
          <p:cNvSpPr/>
          <p:nvPr/>
        </p:nvSpPr>
        <p:spPr>
          <a:xfrm>
            <a:off x="457200" y="1554480"/>
            <a:ext cx="1920240" cy="18288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1</a:t>
            </a:r>
          </a:p>
          <a:p>
            <a:pPr algn="ctr"/>
            <a:r>
              <a:rPr sz="2000">
                <a:solidFill>
                  <a:srgbClr val="2A1216"/>
                </a:solidFill>
              </a:rPr>
              <a:t>A fake security check on a web page</a:t>
            </a:r>
          </a:p>
        </p:txBody>
      </p:sp>
      <p:sp>
        <p:nvSpPr>
          <p:cNvPr id="6" name="Right Arrow 10"/>
          <p:cNvSpPr/>
          <p:nvPr/>
        </p:nvSpPr>
        <p:spPr>
          <a:xfrm>
            <a:off x="241401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3"/>
          <p:cNvSpPr/>
          <p:nvPr/>
        </p:nvSpPr>
        <p:spPr>
          <a:xfrm>
            <a:off x="2788920" y="1554480"/>
            <a:ext cx="1920240" cy="18288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2</a:t>
            </a:r>
          </a:p>
          <a:p>
            <a:pPr algn="ctr"/>
            <a:r>
              <a:rPr sz="2000">
                <a:solidFill>
                  <a:srgbClr val="2A1216"/>
                </a:solidFill>
              </a:rPr>
              <a:t>You paste a command to “fix” it</a:t>
            </a:r>
          </a:p>
        </p:txBody>
      </p:sp>
      <p:sp>
        <p:nvSpPr>
          <p:cNvPr id="8" name="Right Arrow 12"/>
          <p:cNvSpPr/>
          <p:nvPr/>
        </p:nvSpPr>
        <p:spPr>
          <a:xfrm>
            <a:off x="474573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3"/>
          <p:cNvSpPr/>
          <p:nvPr/>
        </p:nvSpPr>
        <p:spPr>
          <a:xfrm>
            <a:off x="5120640" y="1554480"/>
            <a:ext cx="1920240" cy="18288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3</a:t>
            </a:r>
          </a:p>
          <a:p>
            <a:pPr algn="ctr"/>
            <a:r>
              <a:rPr sz="2000">
                <a:solidFill>
                  <a:srgbClr val="2A1216"/>
                </a:solidFill>
              </a:rPr>
              <a:t>It steals saved passwords and sessions</a:t>
            </a:r>
          </a:p>
        </p:txBody>
      </p:sp>
      <p:sp>
        <p:nvSpPr>
          <p:cNvPr id="10" name="Right Arrow 14"/>
          <p:cNvSpPr/>
          <p:nvPr/>
        </p:nvSpPr>
        <p:spPr>
          <a:xfrm>
            <a:off x="707745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3"/>
          <p:cNvSpPr/>
          <p:nvPr/>
        </p:nvSpPr>
        <p:spPr>
          <a:xfrm>
            <a:off x="7452359" y="1554480"/>
            <a:ext cx="1920240" cy="18288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4</a:t>
            </a:r>
          </a:p>
          <a:p>
            <a:pPr algn="ctr"/>
            <a:r>
              <a:rPr sz="2000">
                <a:solidFill>
                  <a:srgbClr val="2A1216"/>
                </a:solidFill>
              </a:rPr>
              <a:t>A real mailbox is taken over</a:t>
            </a:r>
          </a:p>
        </p:txBody>
      </p:sp>
      <p:sp>
        <p:nvSpPr>
          <p:cNvPr id="12" name="Right Arrow 16"/>
          <p:cNvSpPr/>
          <p:nvPr/>
        </p:nvSpPr>
        <p:spPr>
          <a:xfrm>
            <a:off x="940917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3"/>
          <p:cNvSpPr/>
          <p:nvPr/>
        </p:nvSpPr>
        <p:spPr>
          <a:xfrm>
            <a:off x="9784080" y="1554480"/>
            <a:ext cx="1920240" cy="182880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5</a:t>
            </a:r>
          </a:p>
          <a:p>
            <a:pPr algn="ctr"/>
            <a:r>
              <a:rPr sz="2000">
                <a:solidFill>
                  <a:srgbClr val="2A1216"/>
                </a:solidFill>
              </a:rPr>
              <a:t>The BEC message comes from a real address</a:t>
            </a:r>
          </a:p>
        </p:txBody>
      </p:sp>
      <p:sp>
        <p:nvSpPr>
          <p:cNvPr id="14" name="TextBox 3"/>
          <p:cNvSpPr txBox="1"/>
          <p:nvPr/>
        </p:nvSpPr>
        <p:spPr>
          <a:xfrm>
            <a:off x="795528" y="3520440"/>
            <a:ext cx="10607040" cy="685800"/>
          </a:xfrm>
          <a:prstGeom prst="rect">
            <a:avLst/>
          </a:prstGeom>
          <a:noFill/>
        </p:spPr>
        <p:txBody>
          <a:bodyPr wrap="square">
            <a:spAutoFit/>
          </a:bodyPr>
          <a:lstStyle/>
          <a:p>
            <a:pPr algn="l"/>
            <a:r>
              <a:rPr sz="2000" i="0" b="0">
                <a:solidFill>
                  <a:srgbClr val="F2EFE8"/>
                </a:solidFill>
              </a:rPr>
              <a:t>Growing fast: the top way in during 2025 in Microsoft’s data (47%), and 52% of Push Security’s detections through Q2 2026, reaching 67% in August.</a:t>
            </a:r>
          </a:p>
        </p:txBody>
      </p:sp>
      <p:sp>
        <p:nvSpPr>
          <p:cNvPr id="15" name="TextBox 3"/>
          <p:cNvSpPr txBox="1"/>
          <p:nvPr/>
        </p:nvSpPr>
        <p:spPr>
          <a:xfrm>
            <a:off x="795528" y="4206240"/>
            <a:ext cx="10607040" cy="365760"/>
          </a:xfrm>
          <a:prstGeom prst="rect">
            <a:avLst/>
          </a:prstGeom>
          <a:noFill/>
        </p:spPr>
        <p:txBody>
          <a:bodyPr wrap="square">
            <a:spAutoFit/>
          </a:bodyPr>
          <a:lstStyle/>
          <a:p>
            <a:pPr algn="l"/>
            <a:r>
              <a:rPr sz="2000" i="0" b="0">
                <a:solidFill>
                  <a:srgbClr val="F2EFE8"/>
                </a:solidFill>
              </a:rPr>
              <a:t>Most arrive through web search results and compromised sites, not email.</a:t>
            </a:r>
          </a:p>
        </p:txBody>
      </p:sp>
      <p:sp>
        <p:nvSpPr>
          <p:cNvPr id="16" name="TextBox 3"/>
          <p:cNvSpPr txBox="1"/>
          <p:nvPr/>
        </p:nvSpPr>
        <p:spPr>
          <a:xfrm>
            <a:off x="795528" y="4572000"/>
            <a:ext cx="10607040" cy="731520"/>
          </a:xfrm>
          <a:prstGeom prst="rect">
            <a:avLst/>
          </a:prstGeom>
          <a:noFill/>
        </p:spPr>
        <p:txBody>
          <a:bodyPr wrap="square">
            <a:spAutoFit/>
          </a:bodyPr>
          <a:lstStyle/>
          <a:p>
            <a:pPr algn="l"/>
            <a:r>
              <a:rPr sz="2000" i="0" b="1">
                <a:solidFill>
                  <a:srgbClr val="F2EFE8"/>
                </a:solidFill>
              </a:rPr>
              <a:t>For executives: a taken-over mailbox sends instructions from your own address, to your own team, with your real signature.</a:t>
            </a:r>
          </a:p>
        </p:txBody>
      </p:sp>
      <p:sp>
        <p:nvSpPr>
          <p:cNvPr id="17" name="TextBox 3"/>
          <p:cNvSpPr txBox="1"/>
          <p:nvPr/>
        </p:nvSpPr>
        <p:spPr>
          <a:xfrm>
            <a:off x="795528" y="5303520"/>
            <a:ext cx="10607040" cy="411480"/>
          </a:xfrm>
          <a:prstGeom prst="rect">
            <a:avLst/>
          </a:prstGeom>
          <a:noFill/>
        </p:spPr>
        <p:txBody>
          <a:bodyPr wrap="square">
            <a:spAutoFit/>
          </a:bodyPr>
          <a:lstStyle/>
          <a:p>
            <a:pPr algn="l"/>
            <a:r>
              <a:rPr sz="2000" i="1" b="0">
                <a:solidFill>
                  <a:srgbClr val="F2EFE8"/>
                </a:solidFill>
              </a:rPr>
              <a:t>Already pasted something? Stop and tell IT at once. Do not try to clean it up.</a:t>
            </a:r>
          </a:p>
        </p:txBody>
      </p:sp>
      <p:sp>
        <p:nvSpPr>
          <p:cNvPr id="18" name="TextBox 6"/>
          <p:cNvSpPr txBox="1"/>
          <p:nvPr/>
        </p:nvSpPr>
        <p:spPr>
          <a:xfrm>
            <a:off x="457200" y="5870448"/>
            <a:ext cx="11247120" cy="429768"/>
          </a:xfrm>
          <a:prstGeom prst="rect">
            <a:avLst/>
          </a:prstGeom>
          <a:noFill/>
        </p:spPr>
        <p:txBody>
          <a:bodyPr wrap="square">
            <a:spAutoFit/>
          </a:bodyPr>
          <a:lstStyle/>
          <a:p>
            <a:pPr algn="l"/>
            <a:r>
              <a:rPr sz="1800" i="1" b="0">
                <a:solidFill>
                  <a:srgbClr val="C8A89C"/>
                </a:solidFill>
              </a:rPr>
              <a:t>Sources: Push Security, “The state of ClickFix” (Sep 2026), which cites Microsoft’s 2025 report</a:t>
            </a:r>
          </a:p>
        </p:txBody>
      </p:sp>
      <p:sp>
        <p:nvSpPr>
          <p:cNvPr id="19"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20"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21" name="narration_ex_29.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8158" fill="hold"/>
                                        <p:tgtEl>
                                          <p:spTgt spid="21"/>
                                        </p:tgtEl>
                                      </p:cBhvr>
                                    </p:cmd>
                                  </p:childTnLst>
                                </p:cTn>
                              </p:par>
                              <p:par>
                                <p:cTn id="20" presetID="26" presetClass="emph" presetSubtype="0" repeatCount="indefinite" fill="hold" grpId="0" nodeType="withEffect">
                                  <p:stCondLst>
                                    <p:cond delay="78158"/>
                                  </p:stCondLst>
                                  <p:childTnLst>
                                    <p:animEffect transition="out" filter="fade">
                                      <p:cBhvr>
                                        <p:cTn id="21" dur="1000" tmFilter="0, 0; .2, .5; .8, .5; 1, 0"/>
                                        <p:tgtEl>
                                          <p:spTgt spid="20"/>
                                        </p:tgtEl>
                                      </p:cBhvr>
                                    </p:animEffect>
                                    <p:animScale>
                                      <p:cBhvr>
                                        <p:cTn id="22" dur="500" autoRev="1" fill="hold"/>
                                        <p:tgtEl>
                                          <p:spTgt spid="2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1"/>
                </p:tgtEl>
              </p:cMediaNode>
            </p:audio>
          </p:childTnLst>
        </p:cTn>
      </p:par>
    </p:tnLst>
    <p:bldLst>
      <p:bldP spid="20"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ALSO WATCH FOR: THE FAKE PAYMENT RECALL</a:t>
            </a:r>
          </a:p>
        </p:txBody>
      </p:sp>
      <p:sp>
        <p:nvSpPr>
          <p:cNvPr id="4" name="Rounded Rectangle 3"/>
          <p:cNvSpPr/>
          <p:nvPr/>
        </p:nvSpPr>
        <p:spPr>
          <a:xfrm>
            <a:off x="548640" y="1456020"/>
            <a:ext cx="3484778" cy="363065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2A1216"/>
                </a:solidFill>
              </a:rPr>
              <a:t>What it looks like</a:t>
            </a:r>
          </a:p>
          <a:p>
            <a:pPr algn="ctr"/>
            <a:r>
              <a:rPr sz="2400">
                <a:solidFill>
                  <a:srgbClr val="2A1216"/>
                </a:solidFill>
              </a:rPr>
              <a:t>A message, apparently from a vendor, customer or colleague, saying a payment was sent in error and asking you to return it to a different account.</a:t>
            </a:r>
          </a:p>
        </p:txBody>
      </p:sp>
      <p:sp>
        <p:nvSpPr>
          <p:cNvPr id="5" name="Rounded Rectangle 4"/>
          <p:cNvSpPr/>
          <p:nvPr/>
        </p:nvSpPr>
        <p:spPr>
          <a:xfrm>
            <a:off x="4353458" y="1456020"/>
            <a:ext cx="3484778" cy="363065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2A1216"/>
                </a:solidFill>
              </a:rPr>
              <a:t>Why it works</a:t>
            </a:r>
          </a:p>
          <a:p>
            <a:pPr algn="ctr"/>
            <a:r>
              <a:rPr sz="2400">
                <a:solidFill>
                  <a:srgbClr val="2A1216"/>
                </a:solidFill>
              </a:rPr>
              <a:t>It sounds like fixing a mistake, so people act quickly and skip checks. The original payment may later be reversed.</a:t>
            </a:r>
          </a:p>
        </p:txBody>
      </p:sp>
      <p:sp>
        <p:nvSpPr>
          <p:cNvPr id="6" name="Rounded Rectangle 5"/>
          <p:cNvSpPr/>
          <p:nvPr/>
        </p:nvSpPr>
        <p:spPr>
          <a:xfrm>
            <a:off x="8158276" y="1456020"/>
            <a:ext cx="3484778" cy="363065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2A1216"/>
                </a:solidFill>
              </a:rPr>
              <a:t>How to verify</a:t>
            </a:r>
          </a:p>
          <a:p>
            <a:pPr algn="ctr"/>
            <a:r>
              <a:rPr sz="2400">
                <a:solidFill>
                  <a:srgbClr val="2A1216"/>
                </a:solidFill>
              </a:rPr>
              <a:t>Check the original payment in your own records, and contact the bank or sender on a number you already hold.</a:t>
            </a:r>
          </a:p>
        </p:txBody>
      </p:sp>
      <p:sp>
        <p:nvSpPr>
          <p:cNvPr id="7" name="TextBox 7"/>
          <p:cNvSpPr txBox="1"/>
          <p:nvPr/>
        </p:nvSpPr>
        <p:spPr>
          <a:xfrm>
            <a:off x="10698480" y="6355080"/>
            <a:ext cx="1280160" cy="365760"/>
          </a:xfrm>
          <a:prstGeom prst="rect">
            <a:avLst/>
          </a:prstGeom>
          <a:noFill/>
        </p:spPr>
        <p:txBody>
          <a:bodyPr wrap="none">
            <a:spAutoFit/>
          </a:bodyPr>
          <a:lstStyle/>
          <a:p>
            <a:pPr algn="r"/>
            <a:r>
              <a:rPr sz="1200">
                <a:solidFill>
                  <a:srgbClr val="C8A89C"/>
                </a:solidFill>
              </a:rPr>
              <a:t>19</a:t>
            </a:r>
          </a:p>
        </p:txBody>
      </p:sp>
      <p:sp>
        <p:nvSpPr>
          <p:cNvPr id="8" name="TextBox 5"/>
          <p:cNvSpPr txBox="1"/>
          <p:nvPr/>
        </p:nvSpPr>
        <p:spPr>
          <a:xfrm>
            <a:off x="792327" y="5175157"/>
            <a:ext cx="10607040" cy="478790"/>
          </a:xfrm>
          <a:prstGeom prst="rect">
            <a:avLst/>
          </a:prstGeom>
          <a:noFill/>
        </p:spPr>
        <p:txBody>
          <a:bodyPr wrap="square">
            <a:spAutoFit/>
          </a:bodyPr>
          <a:lstStyle/>
          <a:p>
            <a:pPr algn="ctr"/>
            <a:r>
              <a:rPr sz="2400" i="1" b="1">
                <a:solidFill>
                  <a:srgbClr val="D8B098"/>
                </a:solidFill>
              </a:rPr>
              <a:t>A real mistake is fixed through your own records.</a:t>
            </a:r>
          </a:p>
        </p:txBody>
      </p:sp>
      <p:pic>
        <p:nvPicPr>
          <p:cNvPr id="10" name="narration_ex_L16.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Sources: Consumer Affairs Victoria; NSW Small Business (overpayment scams)</a:t>
            </a:r>
          </a:p>
        </p:txBody>
      </p:sp>
      <p:sp>
        <p:nvSpPr>
          <p:cNvPr id="12"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13"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656" fill="hold"/>
                                        <p:tgtEl>
                                          <p:spTgt spid="10"/>
                                        </p:tgtEl>
                                      </p:cBhvr>
                                    </p:cmd>
                                  </p:childTnLst>
                                </p:cTn>
                              </p:par>
                              <p:par>
                                <p:cTn id="20" presetID="26" presetClass="emph" presetSubtype="0" repeatCount="indefinite" fill="hold" grpId="0" nodeType="withEffect">
                                  <p:stCondLst>
                                    <p:cond delay="28656"/>
                                  </p:stCondLst>
                                  <p:childTnLst>
                                    <p:animEffect transition="out" filter="fade">
                                      <p:cBhvr>
                                        <p:cTn id="21" dur="1000" tmFilter="0, 0; .2, .5; .8, .5; 1, 0"/>
                                        <p:tgtEl>
                                          <p:spTgt spid="13"/>
                                        </p:tgtEl>
                                      </p:cBhvr>
                                    </p:animEffect>
                                    <p:animScale>
                                      <p:cBhvr>
                                        <p:cTn id="22" dur="500" autoRev="1" fill="hold"/>
                                        <p:tgtEl>
                                          <p:spTgt spid="1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3"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WHY THIS TARGETS EXECUTIVES</a:t>
            </a:r>
          </a:p>
        </p:txBody>
      </p:sp>
      <p:sp>
        <p:nvSpPr>
          <p:cNvPr id="4" name="Rounded Rectangle 3"/>
          <p:cNvSpPr/>
          <p:nvPr/>
        </p:nvSpPr>
        <p:spPr>
          <a:xfrm>
            <a:off x="548641" y="2015706"/>
            <a:ext cx="2602153" cy="3078556"/>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High-Value Target</a:t>
            </a:r>
          </a:p>
          <a:p>
            <a:pPr algn="ctr"/>
            <a:r>
              <a:rPr sz="2800">
                <a:solidFill>
                  <a:srgbClr val="2A1216"/>
                </a:solidFill>
              </a:rPr>
              <a:t>You can authorise large transfers alone</a:t>
            </a:r>
          </a:p>
        </p:txBody>
      </p:sp>
      <p:sp>
        <p:nvSpPr>
          <p:cNvPr id="5" name="Rounded Rectangle 4"/>
          <p:cNvSpPr/>
          <p:nvPr/>
        </p:nvSpPr>
        <p:spPr>
          <a:xfrm>
            <a:off x="3379394" y="2015706"/>
            <a:ext cx="2602153" cy="3078556"/>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Frequent Travel</a:t>
            </a:r>
          </a:p>
          <a:p>
            <a:pPr algn="ctr"/>
            <a:r>
              <a:rPr sz="2800">
                <a:solidFill>
                  <a:srgbClr val="2A1216"/>
                </a:solidFill>
              </a:rPr>
              <a:t>Makes “call to double-check” harder in the moment</a:t>
            </a:r>
          </a:p>
        </p:txBody>
      </p:sp>
      <p:sp>
        <p:nvSpPr>
          <p:cNvPr id="6" name="Rounded Rectangle 5"/>
          <p:cNvSpPr/>
          <p:nvPr/>
        </p:nvSpPr>
        <p:spPr>
          <a:xfrm>
            <a:off x="6210147" y="2015706"/>
            <a:ext cx="2602153" cy="3078556"/>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Fast Approvals</a:t>
            </a:r>
          </a:p>
          <a:p>
            <a:pPr algn="ctr"/>
            <a:r>
              <a:rPr sz="2800">
                <a:solidFill>
                  <a:srgbClr val="2A1216"/>
                </a:solidFill>
              </a:rPr>
              <a:t>Exactly what an attacker is counting on</a:t>
            </a:r>
          </a:p>
        </p:txBody>
      </p:sp>
      <p:sp>
        <p:nvSpPr>
          <p:cNvPr id="7" name="Rounded Rectangle 6"/>
          <p:cNvSpPr/>
          <p:nvPr/>
        </p:nvSpPr>
        <p:spPr>
          <a:xfrm>
            <a:off x="9040900" y="2015706"/>
            <a:ext cx="2602153" cy="3078556"/>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Publicly Identifiable</a:t>
            </a:r>
          </a:p>
          <a:p>
            <a:pPr algn="ctr"/>
            <a:r>
              <a:rPr sz="2800">
                <a:solidFill>
                  <a:srgbClr val="2A1216"/>
                </a:solidFill>
              </a:rPr>
              <a:t>Your voice, face, and schedule are easy to find</a:t>
            </a:r>
          </a:p>
        </p:txBody>
      </p:sp>
      <p:sp>
        <p:nvSpPr>
          <p:cNvPr id="8" name="TextBox 7"/>
          <p:cNvSpPr txBox="1"/>
          <p:nvPr/>
        </p:nvSpPr>
        <p:spPr>
          <a:xfrm>
            <a:off x="10698480" y="6355080"/>
            <a:ext cx="1280160" cy="365760"/>
          </a:xfrm>
          <a:prstGeom prst="rect">
            <a:avLst/>
          </a:prstGeom>
          <a:noFill/>
        </p:spPr>
        <p:txBody>
          <a:bodyPr wrap="none">
            <a:spAutoFit/>
          </a:bodyPr>
          <a:lstStyle/>
          <a:p>
            <a:pPr algn="r"/>
            <a:r>
              <a:rPr sz="1200">
                <a:solidFill>
                  <a:srgbClr val="C8A89C"/>
                </a:solidFill>
              </a:rPr>
              <a:t>20</a:t>
            </a:r>
          </a:p>
        </p:txBody>
      </p:sp>
      <p:pic>
        <p:nvPicPr>
          <p:cNvPr id="58" name="narration_slide18.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0"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 FBI IC3 PSA I-120324-PSA (generative AI, vocal cloning, video fraud)</a:t>
            </a:r>
          </a:p>
        </p:txBody>
      </p:sp>
      <p:sp>
        <p:nvSpPr>
          <p:cNvPr id="61"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62"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480" fill="hold"/>
                                        <p:tgtEl>
                                          <p:spTgt spid="58"/>
                                        </p:tgtEl>
                                      </p:cBhvr>
                                    </p:cmd>
                                  </p:childTnLst>
                                </p:cTn>
                              </p:par>
                              <p:par>
                                <p:cTn id="20" presetID="26" presetClass="emph" presetSubtype="0" repeatCount="indefinite" fill="hold" grpId="0" nodeType="withEffect">
                                  <p:stCondLst>
                                    <p:cond delay="27480"/>
                                  </p:stCondLst>
                                  <p:childTnLst>
                                    <p:animEffect transition="out" filter="fade">
                                      <p:cBhvr>
                                        <p:cTn id="21" dur="1000" tmFilter="0, 0; .2, .5; .8, .5; 1, 0"/>
                                        <p:tgtEl>
                                          <p:spTgt spid="62"/>
                                        </p:tgtEl>
                                      </p:cBhvr>
                                    </p:animEffect>
                                    <p:animScale>
                                      <p:cBhvr>
                                        <p:cTn id="22" dur="500" autoRev="1"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8"/>
                </p:tgtEl>
              </p:cMediaNode>
            </p:audio>
          </p:childTnLst>
        </p:cTn>
      </p:par>
    </p:tnLst>
    <p:bldLst>
      <p:bldP spid="62"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IT HAS ALREADY TARGETED A CEO</a:t>
            </a:r>
          </a:p>
        </p:txBody>
      </p:sp>
      <p:sp>
        <p:nvSpPr>
          <p:cNvPr id="4" name="Rounded Rectangle 3"/>
          <p:cNvSpPr/>
          <p:nvPr/>
        </p:nvSpPr>
        <p:spPr>
          <a:xfrm>
            <a:off x="548640" y="1422463"/>
            <a:ext cx="5318607" cy="2631249"/>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WPP, 2024</a:t>
            </a:r>
          </a:p>
          <a:p>
            <a:pPr algn="ctr"/>
            <a:r>
              <a:rPr sz="2800">
                <a:solidFill>
                  <a:srgbClr val="2A1216"/>
                </a:solidFill>
              </a:rPr>
              <a:t>A deepfake of the CEO targeted an executive on a fake Teams call. It failed because the executive stayed suspicious.</a:t>
            </a:r>
          </a:p>
        </p:txBody>
      </p:sp>
      <p:sp>
        <p:nvSpPr>
          <p:cNvPr id="5" name="Rounded Rectangle 4"/>
          <p:cNvSpPr/>
          <p:nvPr/>
        </p:nvSpPr>
        <p:spPr>
          <a:xfrm>
            <a:off x="6324447" y="1422463"/>
            <a:ext cx="5318607" cy="2631249"/>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Arup, 2024</a:t>
            </a:r>
          </a:p>
          <a:p>
            <a:pPr algn="ctr"/>
            <a:r>
              <a:rPr sz="2800">
                <a:solidFill>
                  <a:srgbClr val="2A1216"/>
                </a:solidFill>
              </a:rPr>
              <a:t>A deepfake video call of the CFO led an employee to send HK$200 million (about US$25.6 million) in 15 transfers.</a:t>
            </a:r>
          </a:p>
        </p:txBody>
      </p:sp>
      <p:sp>
        <p:nvSpPr>
          <p:cNvPr id="6" name="TextBox 5"/>
          <p:cNvSpPr txBox="1"/>
          <p:nvPr/>
        </p:nvSpPr>
        <p:spPr>
          <a:xfrm>
            <a:off x="792327" y="4108640"/>
            <a:ext cx="10607040" cy="1578864"/>
          </a:xfrm>
          <a:prstGeom prst="rect">
            <a:avLst/>
          </a:prstGeom>
          <a:noFill/>
        </p:spPr>
        <p:txBody>
          <a:bodyPr wrap="square">
            <a:spAutoFit/>
          </a:bodyPr>
          <a:lstStyle/>
          <a:p>
            <a:pPr algn="ctr"/>
            <a:r>
              <a:rPr sz="3200" i="1" b="1">
                <a:solidFill>
                  <a:srgbClr val="D8B098"/>
                </a:solidFill>
              </a:rPr>
              <a:t>One attempt was stopped by suspicion. The other cost about US$25.6 million. Habit made the difference, not technology. Here's how to build it.</a:t>
            </a:r>
          </a:p>
        </p:txBody>
      </p:sp>
      <p:sp>
        <p:nvSpPr>
          <p:cNvPr id="7" name="TextBox 6"/>
          <p:cNvSpPr txBox="1"/>
          <p:nvPr/>
        </p:nvSpPr>
        <p:spPr>
          <a:xfrm>
            <a:off x="10698480" y="6355080"/>
            <a:ext cx="1280160" cy="365760"/>
          </a:xfrm>
          <a:prstGeom prst="rect">
            <a:avLst/>
          </a:prstGeom>
          <a:noFill/>
        </p:spPr>
        <p:txBody>
          <a:bodyPr wrap="none">
            <a:spAutoFit/>
          </a:bodyPr>
          <a:lstStyle/>
          <a:p>
            <a:pPr algn="r"/>
            <a:r>
              <a:rPr sz="1200">
                <a:solidFill>
                  <a:srgbClr val="C8A89C"/>
                </a:solidFill>
              </a:rPr>
              <a:t>21</a:t>
            </a:r>
          </a:p>
        </p:txBody>
      </p:sp>
      <p:pic>
        <p:nvPicPr>
          <p:cNvPr id="60" name="narration_ex_L1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1"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Sources: CNN Business, Financial Times; The Guardian</a:t>
            </a:r>
          </a:p>
        </p:txBody>
      </p:sp>
      <p:sp>
        <p:nvSpPr>
          <p:cNvPr id="62"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63" name="Kiosk Next">
            <a:hlinkClick action="ppaction://hlinksldjump" r:id="rId7"/>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333" fill="hold"/>
                                        <p:tgtEl>
                                          <p:spTgt spid="60"/>
                                        </p:tgtEl>
                                      </p:cBhvr>
                                    </p:cmd>
                                  </p:childTnLst>
                                </p:cTn>
                              </p:par>
                              <p:par>
                                <p:cTn id="20" presetID="26" presetClass="emph" presetSubtype="0" repeatCount="indefinite" fill="hold" grpId="0" nodeType="withEffect">
                                  <p:stCondLst>
                                    <p:cond delay="40333"/>
                                  </p:stCondLst>
                                  <p:childTnLst>
                                    <p:animEffect transition="out" filter="fade">
                                      <p:cBhvr>
                                        <p:cTn id="21" dur="1000" tmFilter="0, 0; .2, .5; .8, .5; 1, 0"/>
                                        <p:tgtEl>
                                          <p:spTgt spid="63"/>
                                        </p:tgtEl>
                                      </p:cBhvr>
                                    </p:animEffect>
                                    <p:animScale>
                                      <p:cBhvr>
                                        <p:cTn id="22" dur="500" autoRev="1" fill="hold"/>
                                        <p:tgtEl>
                                          <p:spTgt spid="6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0"/>
                </p:tgtEl>
              </p:cMediaNode>
            </p:audio>
          </p:childTnLst>
        </p:cTn>
      </p:par>
    </p:tnLst>
    <p:bldLst>
      <p:bldP spid="63"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958848"/>
            <a:ext cx="10698480" cy="773176"/>
          </a:xfrm>
          <a:prstGeom prst="rect">
            <a:avLst/>
          </a:prstGeom>
          <a:noFill/>
        </p:spPr>
        <p:txBody>
          <a:bodyPr wrap="none">
            <a:spAutoFit/>
          </a:bodyPr>
          <a:lstStyle/>
          <a:p>
            <a:pPr algn="ctr"/>
            <a:r>
              <a:rPr sz="4400" b="1">
                <a:solidFill>
                  <a:srgbClr val="D8B098"/>
                </a:solidFill>
              </a:rPr>
              <a:t>VERIFY</a:t>
            </a:r>
          </a:p>
        </p:txBody>
      </p:sp>
      <p:sp>
        <p:nvSpPr>
          <p:cNvPr id="4" name="TextBox 3"/>
          <p:cNvSpPr txBox="1"/>
          <p:nvPr/>
        </p:nvSpPr>
        <p:spPr>
          <a:xfrm>
            <a:off x="792327" y="3234944"/>
            <a:ext cx="10607040" cy="1207008"/>
          </a:xfrm>
          <a:prstGeom prst="rect">
            <a:avLst/>
          </a:prstGeom>
          <a:noFill/>
        </p:spPr>
        <p:txBody>
          <a:bodyPr wrap="square">
            <a:spAutoFit/>
          </a:bodyPr>
          <a:lstStyle/>
          <a:p>
            <a:pPr algn="ctr"/>
            <a:r>
              <a:rPr sz="3600" i="1" b="0">
                <a:solidFill>
                  <a:srgbClr val="C8A89C"/>
                </a:solidFill>
              </a:rPr>
              <a:t>The one habit that would have stopped it, no matter the channel.</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22</a:t>
            </a:r>
          </a:p>
        </p:txBody>
      </p:sp>
      <p:sp>
        <p:nvSpPr>
          <p:cNvPr id="6"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7"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
        <p:nvSpPr>
          <p:cNvPr id="8" name="Phase label"/>
          <p:cNvSpPr txBox="1"/>
          <p:nvPr/>
        </p:nvSpPr>
        <p:spPr>
          <a:xfrm>
            <a:off x="731520" y="1325880"/>
            <a:ext cx="10698480" cy="548640"/>
          </a:xfrm>
          <a:prstGeom prst="rect">
            <a:avLst/>
          </a:prstGeom>
          <a:noFill/>
        </p:spPr>
        <p:txBody>
          <a:bodyPr wrap="none">
            <a:spAutoFit/>
          </a:bodyPr>
          <a:lstStyle/>
          <a:p>
            <a:pPr algn="ctr"/>
            <a:r>
              <a:rPr sz="2400" b="0">
                <a:solidFill>
                  <a:srgbClr val="C8A89C"/>
                </a:solidFill>
              </a:rPr>
              <a:t>PHASE 2</a:t>
            </a:r>
          </a:p>
        </p:txBody>
      </p:sp>
      <p:pic>
        <p:nvPicPr>
          <p:cNvPr id="9" name="narration_v14_ex_22.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09" fill="hold"/>
                                        <p:tgtEl>
                                          <p:spTgt spid="9"/>
                                        </p:tgtEl>
                                      </p:cBhvr>
                                    </p:cmd>
                                  </p:childTnLst>
                                </p:cTn>
                              </p:par>
                              <p:par>
                                <p:cTn id="20" presetID="26" presetClass="emph" presetSubtype="0" repeatCount="indefinite" fill="hold" grpId="0" nodeType="withEffect">
                                  <p:stCondLst>
                                    <p:cond delay="6609"/>
                                  </p:stCondLst>
                                  <p:childTnLst>
                                    <p:animEffect transition="out" filter="fade">
                                      <p:cBhvr>
                                        <p:cTn id="21" dur="1000" tmFilter="0, 0; .2, .5; .8, .5; 1, 0"/>
                                        <p:tgtEl>
                                          <p:spTgt spid="7"/>
                                        </p:tgtEl>
                                      </p:cBhvr>
                                    </p:animEffect>
                                    <p:animScale>
                                      <p:cBhvr>
                                        <p:cTn id="22" dur="500" autoRev="1" fill="hold"/>
                                        <p:tgtEl>
                                          <p:spTgt spid="7"/>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9"/>
                </p:tgtEl>
              </p:cMediaNode>
            </p:audio>
          </p:childTnLst>
        </p:cTn>
      </p:par>
    </p:tnLst>
    <p:bldLst>
      <p:bldP spid="7"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WHY VERIFICATION FAILS</a:t>
            </a:r>
          </a:p>
        </p:txBody>
      </p:sp>
      <p:sp>
        <p:nvSpPr>
          <p:cNvPr id="4" name="Rounded Rectangle 3"/>
          <p:cNvSpPr/>
          <p:nvPr/>
        </p:nvSpPr>
        <p:spPr>
          <a:xfrm>
            <a:off x="548640" y="1556533"/>
            <a:ext cx="3484778" cy="2600897"/>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Urgency</a:t>
            </a:r>
          </a:p>
          <a:p>
            <a:pPr algn="ctr"/>
            <a:r>
              <a:rPr sz="2800">
                <a:solidFill>
                  <a:srgbClr val="2A1216"/>
                </a:solidFill>
              </a:rPr>
              <a:t>Manufactured time pressure gets you to act before you verify</a:t>
            </a:r>
          </a:p>
        </p:txBody>
      </p:sp>
      <p:sp>
        <p:nvSpPr>
          <p:cNvPr id="5" name="Rounded Rectangle 4"/>
          <p:cNvSpPr/>
          <p:nvPr/>
        </p:nvSpPr>
        <p:spPr>
          <a:xfrm>
            <a:off x="4353458" y="1556533"/>
            <a:ext cx="3484778" cy="2600897"/>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Trusted Channel</a:t>
            </a:r>
          </a:p>
          <a:p>
            <a:pPr algn="ctr"/>
            <a:r>
              <a:rPr sz="2800">
                <a:solidFill>
                  <a:srgbClr val="2A1216"/>
                </a:solidFill>
              </a:rPr>
              <a:t>A spoofed domain or cloned voice mimics the channel you already trust</a:t>
            </a:r>
          </a:p>
        </p:txBody>
      </p:sp>
      <p:sp>
        <p:nvSpPr>
          <p:cNvPr id="6" name="Rounded Rectangle 5"/>
          <p:cNvSpPr/>
          <p:nvPr/>
        </p:nvSpPr>
        <p:spPr>
          <a:xfrm>
            <a:off x="8158276" y="1556533"/>
            <a:ext cx="3484778" cy="2600897"/>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Compromised Check</a:t>
            </a:r>
          </a:p>
          <a:p>
            <a:pPr algn="ctr"/>
            <a:r>
              <a:rPr sz="2800">
                <a:solidFill>
                  <a:srgbClr val="2A1216"/>
                </a:solidFill>
              </a:rPr>
              <a:t>Verifying via that same channel confirms the fraud, not catches it</a:t>
            </a:r>
          </a:p>
        </p:txBody>
      </p:sp>
      <p:sp>
        <p:nvSpPr>
          <p:cNvPr id="7" name="TextBox 6"/>
          <p:cNvSpPr txBox="1"/>
          <p:nvPr/>
        </p:nvSpPr>
        <p:spPr>
          <a:xfrm>
            <a:off x="792327" y="4346427"/>
            <a:ext cx="10607040" cy="1207008"/>
          </a:xfrm>
          <a:prstGeom prst="rect">
            <a:avLst/>
          </a:prstGeom>
          <a:noFill/>
        </p:spPr>
        <p:txBody>
          <a:bodyPr wrap="square">
            <a:spAutoFit/>
          </a:bodyPr>
          <a:lstStyle/>
          <a:p>
            <a:pPr algn="ctr"/>
            <a:r>
              <a:rPr sz="3600" i="1" b="1">
                <a:solidFill>
                  <a:srgbClr val="D8B098"/>
                </a:solidFill>
              </a:rPr>
              <a:t>The fix can't live inside the channel. It has to sit outside it.</a:t>
            </a:r>
          </a:p>
        </p:txBody>
      </p:sp>
      <p:sp>
        <p:nvSpPr>
          <p:cNvPr id="8" name="TextBox 7"/>
          <p:cNvSpPr txBox="1"/>
          <p:nvPr/>
        </p:nvSpPr>
        <p:spPr>
          <a:xfrm>
            <a:off x="10698480" y="6355080"/>
            <a:ext cx="1280160" cy="365760"/>
          </a:xfrm>
          <a:prstGeom prst="rect">
            <a:avLst/>
          </a:prstGeom>
          <a:noFill/>
        </p:spPr>
        <p:txBody>
          <a:bodyPr wrap="none">
            <a:spAutoFit/>
          </a:bodyPr>
          <a:lstStyle/>
          <a:p>
            <a:pPr algn="r"/>
            <a:r>
              <a:rPr sz="1200">
                <a:solidFill>
                  <a:srgbClr val="C8A89C"/>
                </a:solidFill>
              </a:rPr>
              <a:t>23</a:t>
            </a:r>
          </a:p>
        </p:txBody>
      </p:sp>
      <p:sp>
        <p:nvSpPr>
          <p:cNvPr id="60"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 FBI IC3 PSA I-120324-PSA (AI audio and video used to impersonate people)</a:t>
            </a:r>
          </a:p>
        </p:txBody>
      </p:sp>
      <p:sp>
        <p:nvSpPr>
          <p:cNvPr id="61" name="Kiosk Previous">
            <a:hlinkClick action="ppaction://hlinksldjump" r:id="rId4"/>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62"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63" name="narration_v14_ex_23.mp3">
            <a:hlinkClick r:id="" action="ppaction://media"/>
          </p:cNvPr>
          <p:cNvPicPr>
            <a:picLocks noChangeAspect="1"/>
          </p:cNvPicPr>
          <p:nvPr>
            <a:audioFile r:link="rId6"/>
            <p:extLst>
              <p:ext uri="{DAA4B4D4-6D71-4841-9C94-3DE7FCFB9230}">
                <p14:media xmlns:p14="http://schemas.microsoft.com/office/powerpoint/2010/main" r:embed="rId3"/>
              </p:ext>
            </p:extLst>
          </p:nvPr>
        </p:nvPicPr>
        <p:blipFill>
          <a:blip r:embed="rId5"/>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5092" fill="hold"/>
                                        <p:tgtEl>
                                          <p:spTgt spid="63"/>
                                        </p:tgtEl>
                                      </p:cBhvr>
                                    </p:cmd>
                                  </p:childTnLst>
                                </p:cTn>
                              </p:par>
                              <p:par>
                                <p:cTn id="20" presetID="26" presetClass="emph" presetSubtype="0" repeatCount="indefinite" fill="hold" grpId="0" nodeType="withEffect">
                                  <p:stCondLst>
                                    <p:cond delay="55092"/>
                                  </p:stCondLst>
                                  <p:childTnLst>
                                    <p:animEffect transition="out" filter="fade">
                                      <p:cBhvr>
                                        <p:cTn id="21" dur="1000" tmFilter="0, 0; .2, .5; .8, .5; 1, 0"/>
                                        <p:tgtEl>
                                          <p:spTgt spid="62"/>
                                        </p:tgtEl>
                                      </p:cBhvr>
                                    </p:animEffect>
                                    <p:animScale>
                                      <p:cBhvr>
                                        <p:cTn id="22" dur="500" autoRev="1"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3"/>
                </p:tgtEl>
              </p:cMediaNode>
            </p:audio>
          </p:childTnLst>
        </p:cTn>
      </p:par>
    </p:tnLst>
    <p:bldLst>
      <p:bldP spid="62"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A PROTOCOL BUILT TO HOLD</a:t>
            </a:r>
          </a:p>
        </p:txBody>
      </p:sp>
      <p:sp>
        <p:nvSpPr>
          <p:cNvPr id="4" name="Rounded Rectangle 3"/>
          <p:cNvSpPr/>
          <p:nvPr/>
        </p:nvSpPr>
        <p:spPr>
          <a:xfrm>
            <a:off x="548641" y="1436400"/>
            <a:ext cx="2602153" cy="3071024"/>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Callback Number</a:t>
            </a:r>
          </a:p>
          <a:p>
            <a:pPr algn="ctr"/>
            <a:r>
              <a:rPr sz="2800">
                <a:solidFill>
                  <a:srgbClr val="2A1216"/>
                </a:solidFill>
              </a:rPr>
              <a:t>From the directory, never the email itself</a:t>
            </a:r>
          </a:p>
        </p:txBody>
      </p:sp>
      <p:sp>
        <p:nvSpPr>
          <p:cNvPr id="5" name="Rounded Rectangle 4"/>
          <p:cNvSpPr/>
          <p:nvPr/>
        </p:nvSpPr>
        <p:spPr>
          <a:xfrm>
            <a:off x="3379394" y="1436400"/>
            <a:ext cx="2602153" cy="3071024"/>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Code Phrase</a:t>
            </a:r>
          </a:p>
          <a:p>
            <a:pPr algn="ctr"/>
            <a:r>
              <a:rPr sz="2800">
                <a:solidFill>
                  <a:srgbClr val="2A1216"/>
                </a:solidFill>
              </a:rPr>
              <a:t>Agreed in advance, for anything high-value</a:t>
            </a:r>
          </a:p>
        </p:txBody>
      </p:sp>
      <p:sp>
        <p:nvSpPr>
          <p:cNvPr id="6" name="Rounded Rectangle 5"/>
          <p:cNvSpPr/>
          <p:nvPr/>
        </p:nvSpPr>
        <p:spPr>
          <a:xfrm>
            <a:off x="6210147" y="1436400"/>
            <a:ext cx="2602153" cy="3071024"/>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Second Approver</a:t>
            </a:r>
          </a:p>
          <a:p>
            <a:pPr algn="ctr"/>
            <a:r>
              <a:rPr sz="2800">
                <a:solidFill>
                  <a:srgbClr val="2A1216"/>
                </a:solidFill>
              </a:rPr>
              <a:t>Required above a set dollar threshold</a:t>
            </a:r>
          </a:p>
        </p:txBody>
      </p:sp>
      <p:sp>
        <p:nvSpPr>
          <p:cNvPr id="7" name="Rounded Rectangle 6"/>
          <p:cNvSpPr/>
          <p:nvPr/>
        </p:nvSpPr>
        <p:spPr>
          <a:xfrm>
            <a:off x="9040900" y="1436400"/>
            <a:ext cx="2602153" cy="3071024"/>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2A1216"/>
                </a:solidFill>
              </a:rPr>
              <a:t>Direct Access</a:t>
            </a:r>
          </a:p>
          <a:p>
            <a:pPr algn="ctr"/>
            <a:r>
              <a:rPr sz="2800">
                <a:solidFill>
                  <a:srgbClr val="2A1216"/>
                </a:solidFill>
              </a:rPr>
              <a:t>Reachable in person, without a single message to trust</a:t>
            </a:r>
          </a:p>
        </p:txBody>
      </p:sp>
      <p:sp>
        <p:nvSpPr>
          <p:cNvPr id="8" name="TextBox 7"/>
          <p:cNvSpPr txBox="1"/>
          <p:nvPr/>
        </p:nvSpPr>
        <p:spPr>
          <a:xfrm>
            <a:off x="792327" y="4576288"/>
            <a:ext cx="10607040" cy="1207008"/>
          </a:xfrm>
          <a:prstGeom prst="rect">
            <a:avLst/>
          </a:prstGeom>
          <a:noFill/>
        </p:spPr>
        <p:txBody>
          <a:bodyPr wrap="square">
            <a:spAutoFit/>
          </a:bodyPr>
          <a:lstStyle/>
          <a:p>
            <a:pPr algn="ctr"/>
            <a:r>
              <a:rPr sz="3600" i="1" b="1">
                <a:solidFill>
                  <a:srgbClr val="D8B098"/>
                </a:solidFill>
              </a:rPr>
              <a:t>None of this is complicated. It just has to exist before you need it.</a:t>
            </a:r>
          </a:p>
        </p:txBody>
      </p:sp>
      <p:sp>
        <p:nvSpPr>
          <p:cNvPr id="9"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24</a:t>
            </a:r>
          </a:p>
        </p:txBody>
      </p:sp>
      <p:pic>
        <p:nvPicPr>
          <p:cNvPr id="59" name="narration_slide1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0"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61" name="Kiosk Next">
            <a:hlinkClick action="ppaction://hlinksldjump" r:id="rId7"/>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563" fill="hold"/>
                                        <p:tgtEl>
                                          <p:spTgt spid="59"/>
                                        </p:tgtEl>
                                      </p:cBhvr>
                                    </p:cmd>
                                  </p:childTnLst>
                                </p:cTn>
                              </p:par>
                              <p:par>
                                <p:cTn id="20" presetID="26" presetClass="emph" presetSubtype="0" repeatCount="indefinite" fill="hold" grpId="0" nodeType="withEffect">
                                  <p:stCondLst>
                                    <p:cond delay="30563"/>
                                  </p:stCondLst>
                                  <p:childTnLst>
                                    <p:animEffect transition="out" filter="fade">
                                      <p:cBhvr>
                                        <p:cTn id="21" dur="1000" tmFilter="0, 0; .2, .5; .8, .5; 1, 0"/>
                                        <p:tgtEl>
                                          <p:spTgt spid="61"/>
                                        </p:tgtEl>
                                      </p:cBhvr>
                                    </p:animEffect>
                                    <p:animScale>
                                      <p:cBhvr>
                                        <p:cTn id="22" dur="500" autoRev="1" fill="hold"/>
                                        <p:tgtEl>
                                          <p:spTgt spid="6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9"/>
                </p:tgtEl>
              </p:cMediaNode>
            </p:audio>
          </p:childTnLst>
        </p:cTn>
      </p:par>
    </p:tnLst>
    <p:bldLst>
      <p:bldP spid="61"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WHAT ONLY EXECUTIVES CAN DO</a:t>
            </a:r>
          </a:p>
        </p:txBody>
      </p:sp>
      <p:sp>
        <p:nvSpPr>
          <p:cNvPr id="4" name="Rounded Rectangle 3"/>
          <p:cNvSpPr/>
          <p:nvPr/>
        </p:nvSpPr>
        <p:spPr>
          <a:xfrm>
            <a:off x="548640" y="1425181"/>
            <a:ext cx="3484778" cy="2901989"/>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Authority</a:t>
            </a:r>
          </a:p>
          <a:p>
            <a:pPr algn="ctr"/>
            <a:r>
              <a:rPr sz="2600">
                <a:solidFill>
                  <a:srgbClr val="2A1216"/>
                </a:solidFill>
              </a:rPr>
              <a:t>Approve the protocol formally. Staff can only follow it if someone with authority has made it official.</a:t>
            </a:r>
          </a:p>
        </p:txBody>
      </p:sp>
      <p:sp>
        <p:nvSpPr>
          <p:cNvPr id="5" name="Rounded Rectangle 4"/>
          <p:cNvSpPr/>
          <p:nvPr/>
        </p:nvSpPr>
        <p:spPr>
          <a:xfrm>
            <a:off x="4353458" y="1425181"/>
            <a:ext cx="3484778" cy="2901989"/>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Budget</a:t>
            </a:r>
          </a:p>
          <a:p>
            <a:pPr algn="ctr"/>
            <a:r>
              <a:rPr sz="2600">
                <a:solidFill>
                  <a:srgbClr val="2A1216"/>
                </a:solidFill>
              </a:rPr>
              <a:t>Fund the defence before an incident forces the spend: the tools, training and practice drills.</a:t>
            </a:r>
          </a:p>
        </p:txBody>
      </p:sp>
      <p:sp>
        <p:nvSpPr>
          <p:cNvPr id="6" name="Rounded Rectangle 5"/>
          <p:cNvSpPr/>
          <p:nvPr/>
        </p:nvSpPr>
        <p:spPr>
          <a:xfrm>
            <a:off x="8158276" y="1425181"/>
            <a:ext cx="3484778" cy="2901989"/>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Time</a:t>
            </a:r>
          </a:p>
          <a:p>
            <a:pPr algn="ctr"/>
            <a:r>
              <a:rPr sz="2600">
                <a:solidFill>
                  <a:srgbClr val="2A1216"/>
                </a:solidFill>
              </a:rPr>
              <a:t>Allow time to check. Never let a deadline replace the callback.</a:t>
            </a:r>
          </a:p>
        </p:txBody>
      </p:sp>
      <p:sp>
        <p:nvSpPr>
          <p:cNvPr id="7" name="TextBox 7"/>
          <p:cNvSpPr txBox="1"/>
          <p:nvPr/>
        </p:nvSpPr>
        <p:spPr>
          <a:xfrm>
            <a:off x="10698480" y="6355080"/>
            <a:ext cx="1280160" cy="365760"/>
          </a:xfrm>
          <a:prstGeom prst="rect">
            <a:avLst/>
          </a:prstGeom>
          <a:noFill/>
        </p:spPr>
        <p:txBody>
          <a:bodyPr wrap="none">
            <a:spAutoFit/>
          </a:bodyPr>
          <a:lstStyle/>
          <a:p>
            <a:pPr algn="r"/>
            <a:r>
              <a:rPr sz="1200">
                <a:solidFill>
                  <a:srgbClr val="C8A89C"/>
                </a:solidFill>
              </a:rPr>
              <a:t>25</a:t>
            </a:r>
          </a:p>
        </p:txBody>
      </p:sp>
      <p:sp>
        <p:nvSpPr>
          <p:cNvPr id="8" name="TextBox 5"/>
          <p:cNvSpPr txBox="1"/>
          <p:nvPr/>
        </p:nvSpPr>
        <p:spPr>
          <a:xfrm>
            <a:off x="792327" y="4384815"/>
            <a:ext cx="10607040" cy="1299972"/>
          </a:xfrm>
          <a:prstGeom prst="rect">
            <a:avLst/>
          </a:prstGeom>
          <a:noFill/>
        </p:spPr>
        <p:txBody>
          <a:bodyPr wrap="square">
            <a:spAutoFit/>
          </a:bodyPr>
          <a:lstStyle/>
          <a:p>
            <a:pPr algn="ctr"/>
            <a:r>
              <a:rPr sz="2600" i="1" b="1">
                <a:solidFill>
                  <a:srgbClr val="D8B098"/>
                </a:solidFill>
              </a:rPr>
              <a:t>Only executives can make it exist. NIST's CSF 2.0 added a Govern function in 2024, and the AICD's principles make a similar point for directors.</a:t>
            </a:r>
          </a:p>
        </p:txBody>
      </p:sp>
      <p:sp>
        <p:nvSpPr>
          <p:cNvPr id="12"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Sources: NIST CSF 2.0 (Govern function); AICD and CSCRC (2022 principles)</a:t>
            </a:r>
          </a:p>
        </p:txBody>
      </p:sp>
      <p:sp>
        <p:nvSpPr>
          <p:cNvPr id="13" name="Kiosk Previous">
            <a:hlinkClick action="ppaction://hlinksldjump" r:id="rId6"/>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14"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15" name="narration_v14_ex_25.mp3">
            <a:hlinkClick r:id="" action="ppaction://media"/>
          </p:cNvPr>
          <p:cNvPicPr>
            <a:picLocks noChangeAspect="1"/>
          </p:cNvPicPr>
          <p:nvPr>
            <a:audioFile r:link="rId3"/>
            <p:extLst>
              <p:ext uri="{DAA4B4D4-6D71-4841-9C94-3DE7FCFB9230}">
                <p14:media xmlns:p14="http://schemas.microsoft.com/office/powerpoint/2010/main" r:embed="rId7"/>
              </p:ext>
            </p:extLst>
          </p:nvPr>
        </p:nvPicPr>
        <p:blipFill>
          <a:blip r:embed="rId5"/>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3651" fill="hold"/>
                                        <p:tgtEl>
                                          <p:spTgt spid="15"/>
                                        </p:tgtEl>
                                      </p:cBhvr>
                                    </p:cmd>
                                  </p:childTnLst>
                                </p:cTn>
                              </p:par>
                              <p:par>
                                <p:cTn id="20" presetID="26" presetClass="emph" presetSubtype="0" repeatCount="indefinite" fill="hold" grpId="0" nodeType="withEffect">
                                  <p:stCondLst>
                                    <p:cond delay="43651"/>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GIVE STAFF PERMISSION TO HOLD THE LINE</a:t>
            </a:r>
          </a:p>
        </p:txBody>
      </p:sp>
      <p:sp>
        <p:nvSpPr>
          <p:cNvPr id="4" name="Rounded Rectangle 3"/>
          <p:cNvSpPr/>
          <p:nvPr/>
        </p:nvSpPr>
        <p:spPr>
          <a:xfrm>
            <a:off x="548641" y="1588829"/>
            <a:ext cx="2602153" cy="3078556"/>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Say it in advance</a:t>
            </a:r>
          </a:p>
          <a:p>
            <a:pPr algn="ctr"/>
            <a:r>
              <a:rPr sz="2000">
                <a:solidFill>
                  <a:srgbClr val="2A1216"/>
                </a:solidFill>
              </a:rPr>
              <a:t>“If I ever ask for an urgent transfer or anything out of the ordinary, call me back on my known number. I will thank you for it.”</a:t>
            </a:r>
          </a:p>
        </p:txBody>
      </p:sp>
      <p:sp>
        <p:nvSpPr>
          <p:cNvPr id="5" name="Rounded Rectangle 4"/>
          <p:cNvSpPr/>
          <p:nvPr/>
        </p:nvSpPr>
        <p:spPr>
          <a:xfrm>
            <a:off x="3379394" y="1588829"/>
            <a:ext cx="2602153" cy="3078556"/>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Promise no penalty</a:t>
            </a:r>
          </a:p>
          <a:p>
            <a:pPr algn="ctr"/>
            <a:r>
              <a:rPr sz="2000">
                <a:solidFill>
                  <a:srgbClr val="2A1216"/>
                </a:solidFill>
              </a:rPr>
              <a:t>Staff who delay a request to verify it will never be penalised, even if the request was real. They need to know you have their backs.</a:t>
            </a:r>
          </a:p>
        </p:txBody>
      </p:sp>
      <p:sp>
        <p:nvSpPr>
          <p:cNvPr id="6" name="Rounded Rectangle 5"/>
          <p:cNvSpPr/>
          <p:nvPr/>
        </p:nvSpPr>
        <p:spPr>
          <a:xfrm>
            <a:off x="6210147" y="1588829"/>
            <a:ext cx="2602153" cy="3078556"/>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Be verifiable</a:t>
            </a:r>
          </a:p>
          <a:p>
            <a:pPr algn="ctr"/>
            <a:r>
              <a:rPr sz="2000">
                <a:solidFill>
                  <a:srgbClr val="2A1216"/>
                </a:solidFill>
              </a:rPr>
              <a:t>No executive is above the protocol. Be willing and able to be verified.</a:t>
            </a:r>
          </a:p>
        </p:txBody>
      </p:sp>
      <p:sp>
        <p:nvSpPr>
          <p:cNvPr id="7" name="TextBox 7"/>
          <p:cNvSpPr txBox="1"/>
          <p:nvPr/>
        </p:nvSpPr>
        <p:spPr>
          <a:xfrm>
            <a:off x="10698480" y="6355080"/>
            <a:ext cx="1280160" cy="365760"/>
          </a:xfrm>
          <a:prstGeom prst="rect">
            <a:avLst/>
          </a:prstGeom>
          <a:noFill/>
        </p:spPr>
        <p:txBody>
          <a:bodyPr wrap="none">
            <a:spAutoFit/>
          </a:bodyPr>
          <a:lstStyle/>
          <a:p>
            <a:pPr algn="r"/>
            <a:r>
              <a:rPr sz="1200">
                <a:solidFill>
                  <a:srgbClr val="C8A89C"/>
                </a:solidFill>
              </a:rPr>
              <a:t>26</a:t>
            </a:r>
          </a:p>
        </p:txBody>
      </p:sp>
      <p:sp>
        <p:nvSpPr>
          <p:cNvPr id="8" name="Rounded Rectangle 5"/>
          <p:cNvSpPr/>
          <p:nvPr/>
        </p:nvSpPr>
        <p:spPr>
          <a:xfrm>
            <a:off x="9040900" y="1588829"/>
            <a:ext cx="2602153" cy="3078556"/>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Keep watching</a:t>
            </a:r>
          </a:p>
          <a:p>
            <a:pPr algn="ctr"/>
            <a:r>
              <a:rPr sz="2000">
                <a:solidFill>
                  <a:srgbClr val="2A1216"/>
                </a:solidFill>
              </a:rPr>
              <a:t>Ask for regular reports on near-misses and verification rates.</a:t>
            </a:r>
          </a:p>
        </p:txBody>
      </p:sp>
      <p:sp>
        <p:nvSpPr>
          <p:cNvPr id="9" name="TextBox 5"/>
          <p:cNvSpPr txBox="1"/>
          <p:nvPr/>
        </p:nvSpPr>
        <p:spPr>
          <a:xfrm>
            <a:off x="792327" y="4888678"/>
            <a:ext cx="10607040" cy="742188"/>
          </a:xfrm>
          <a:prstGeom prst="rect">
            <a:avLst/>
          </a:prstGeom>
          <a:noFill/>
        </p:spPr>
        <p:txBody>
          <a:bodyPr wrap="square">
            <a:spAutoFit/>
          </a:bodyPr>
          <a:lstStyle/>
          <a:p>
            <a:pPr algn="ctr"/>
            <a:r>
              <a:rPr sz="2000" i="1" b="1">
                <a:solidFill>
                  <a:srgbClr val="D8B098"/>
                </a:solidFill>
              </a:rPr>
              <a:t>Nobody here will ever ask you to do something illegal or outside policy. If it seems they have, it is not really them.</a:t>
            </a:r>
          </a:p>
        </p:txBody>
      </p:sp>
      <p:pic>
        <p:nvPicPr>
          <p:cNvPr id="10" name="narration_ex_L15.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Kiosk Previous">
            <a:hlinkClick action="ppaction://hlinksldjump" r:id="rId6"/>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12" name="Kiosk Next">
            <a:hlinkClick action="ppaction://hlinksldjump" r:id="rId7"/>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907" fill="hold"/>
                                        <p:tgtEl>
                                          <p:spTgt spid="10"/>
                                        </p:tgtEl>
                                      </p:cBhvr>
                                    </p:cmd>
                                  </p:childTnLst>
                                </p:cTn>
                              </p:par>
                              <p:par>
                                <p:cTn id="20" presetID="26" presetClass="emph" presetSubtype="0" repeatCount="indefinite" fill="hold" grpId="0" nodeType="withEffect">
                                  <p:stCondLst>
                                    <p:cond delay="40907"/>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WHAT EXECUTIVES SHOULD NOT SHARE</a:t>
            </a:r>
          </a:p>
        </p:txBody>
      </p:sp>
      <p:sp>
        <p:nvSpPr>
          <p:cNvPr id="4" name="Rounded Rectangle 3"/>
          <p:cNvSpPr/>
          <p:nvPr/>
        </p:nvSpPr>
        <p:spPr>
          <a:xfrm>
            <a:off x="548640" y="1425181"/>
            <a:ext cx="3484778" cy="2901989"/>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Passwords and codes</a:t>
            </a:r>
          </a:p>
          <a:p>
            <a:pPr algn="ctr"/>
            <a:r>
              <a:rPr sz="2000">
                <a:solidFill>
                  <a:srgbClr val="2A1216"/>
                </a:solidFill>
              </a:rPr>
              <a:t>Never give your password or a one-time code to anyone who contacts you, even “IT”. Sign in only from your own bookmark.</a:t>
            </a:r>
          </a:p>
        </p:txBody>
      </p:sp>
      <p:sp>
        <p:nvSpPr>
          <p:cNvPr id="5" name="Rounded Rectangle 4"/>
          <p:cNvSpPr/>
          <p:nvPr/>
        </p:nvSpPr>
        <p:spPr>
          <a:xfrm>
            <a:off x="4353458" y="1425181"/>
            <a:ext cx="3484778" cy="2901989"/>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Personal and financial details</a:t>
            </a:r>
          </a:p>
          <a:p>
            <a:pPr algn="ctr"/>
            <a:r>
              <a:rPr sz="2000">
                <a:solidFill>
                  <a:srgbClr val="2A1216"/>
                </a:solidFill>
              </a:rPr>
              <a:t>Do not confirm account, card or identity details to an unexpected caller. Hang up and call back on a number you hold.</a:t>
            </a:r>
          </a:p>
        </p:txBody>
      </p:sp>
      <p:sp>
        <p:nvSpPr>
          <p:cNvPr id="6" name="Rounded Rectangle 5"/>
          <p:cNvSpPr/>
          <p:nvPr/>
        </p:nvSpPr>
        <p:spPr>
          <a:xfrm>
            <a:off x="8158276" y="1425181"/>
            <a:ext cx="3484778" cy="2901989"/>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2A1216"/>
                </a:solidFill>
              </a:rPr>
              <a:t>Your voice, face and plans</a:t>
            </a:r>
          </a:p>
          <a:p>
            <a:pPr algn="ctr"/>
            <a:r>
              <a:rPr sz="2000">
                <a:solidFill>
                  <a:srgbClr val="2A1216"/>
                </a:solidFill>
              </a:rPr>
              <a:t>Limit what is public: private social accounts, fewer recordings, no live travel updates. It is the raw material for a deepfake.</a:t>
            </a:r>
          </a:p>
        </p:txBody>
      </p:sp>
      <p:sp>
        <p:nvSpPr>
          <p:cNvPr id="7" name="TextBox 7"/>
          <p:cNvSpPr txBox="1"/>
          <p:nvPr/>
        </p:nvSpPr>
        <p:spPr>
          <a:xfrm>
            <a:off x="10698480" y="6355080"/>
            <a:ext cx="1280160" cy="365760"/>
          </a:xfrm>
          <a:prstGeom prst="rect">
            <a:avLst/>
          </a:prstGeom>
          <a:noFill/>
        </p:spPr>
        <p:txBody>
          <a:bodyPr wrap="none">
            <a:spAutoFit/>
          </a:bodyPr>
          <a:lstStyle/>
          <a:p>
            <a:pPr algn="r"/>
            <a:r>
              <a:rPr sz="1200">
                <a:solidFill>
                  <a:srgbClr val="C8A89C"/>
                </a:solidFill>
              </a:rPr>
              <a:t>27</a:t>
            </a:r>
          </a:p>
        </p:txBody>
      </p:sp>
      <p:sp>
        <p:nvSpPr>
          <p:cNvPr id="8" name="TextBox 5"/>
          <p:cNvSpPr txBox="1"/>
          <p:nvPr/>
        </p:nvSpPr>
        <p:spPr>
          <a:xfrm>
            <a:off x="792327" y="4384815"/>
            <a:ext cx="10607040" cy="1299972"/>
          </a:xfrm>
          <a:prstGeom prst="rect">
            <a:avLst/>
          </a:prstGeom>
          <a:noFill/>
        </p:spPr>
        <p:txBody>
          <a:bodyPr wrap="square">
            <a:spAutoFit/>
          </a:bodyPr>
          <a:lstStyle/>
          <a:p>
            <a:pPr algn="ctr"/>
            <a:r>
              <a:rPr sz="2600" i="1" b="1">
                <a:solidFill>
                  <a:srgbClr val="D8B098"/>
                </a:solidFill>
              </a:rPr>
              <a:t>No genuine request for your password or a one-time code is urgent enough to answer on the spot.</a:t>
            </a:r>
          </a:p>
        </p:txBody>
      </p:sp>
      <p:sp>
        <p:nvSpPr>
          <p:cNvPr id="9"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 FBI IC3 PSA I-120324-PSA (criminals’ use of generative AI)</a:t>
            </a:r>
          </a:p>
        </p:txBody>
      </p:sp>
      <p:sp>
        <p:nvSpPr>
          <p:cNvPr id="10"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11"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12" name="narration_v14_ex_27.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273" fill="hold"/>
                                        <p:tgtEl>
                                          <p:spTgt spid="12"/>
                                        </p:tgtEl>
                                      </p:cBhvr>
                                    </p:cmd>
                                  </p:childTnLst>
                                </p:cTn>
                              </p:par>
                              <p:par>
                                <p:cTn id="20" presetID="26" presetClass="emph" presetSubtype="0" repeatCount="indefinite" fill="hold" grpId="0" nodeType="withEffect">
                                  <p:stCondLst>
                                    <p:cond delay="41273"/>
                                  </p:stCondLst>
                                  <p:childTnLst>
                                    <p:animEffect transition="out" filter="fade">
                                      <p:cBhvr>
                                        <p:cTn id="21" dur="1000" tmFilter="0, 0; .2, .5; .8, .5; 1, 0"/>
                                        <p:tgtEl>
                                          <p:spTgt spid="11"/>
                                        </p:tgtEl>
                                      </p:cBhvr>
                                    </p:animEffect>
                                    <p:animScale>
                                      <p:cBhvr>
                                        <p:cTn id="22" dur="500" autoRev="1" fill="hold"/>
                                        <p:tgtEl>
                                          <p:spTgt spid="1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2"/>
                </p:tgtEl>
              </p:cMediaNode>
            </p:audio>
          </p:childTnLst>
        </p:cTn>
      </p:par>
    </p:tnLst>
    <p:bldLst>
      <p:bldP spid="11"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1343494"/>
            <a:ext cx="3657600" cy="525272"/>
          </a:xfrm>
          <a:prstGeom prst="rect">
            <a:avLst/>
          </a:prstGeom>
          <a:noFill/>
        </p:spPr>
        <p:txBody>
          <a:bodyPr wrap="none">
            <a:spAutoFit/>
          </a:bodyPr>
          <a:lstStyle/>
          <a:p>
            <a:r>
              <a:rPr sz="2800" b="1">
                <a:solidFill>
                  <a:srgbClr val="D8B098"/>
                </a:solidFill>
              </a:rPr>
              <a:t>▶ SCENARIO: PHONE CALL</a:t>
            </a:r>
          </a:p>
        </p:txBody>
      </p:sp>
      <p:sp>
        <p:nvSpPr>
          <p:cNvPr id="4" name="TextBox 3"/>
          <p:cNvSpPr txBox="1"/>
          <p:nvPr/>
        </p:nvSpPr>
        <p:spPr>
          <a:xfrm>
            <a:off x="457200" y="365760"/>
            <a:ext cx="11247120" cy="789939"/>
          </a:xfrm>
          <a:prstGeom prst="rect">
            <a:avLst/>
          </a:prstGeom>
          <a:noFill/>
        </p:spPr>
        <p:txBody>
          <a:bodyPr wrap="square">
            <a:spAutoFit/>
          </a:bodyPr>
          <a:lstStyle/>
          <a:p>
            <a:pPr algn="ctr"/>
            <a:r>
              <a:rPr sz="4400" b="1">
                <a:solidFill>
                  <a:srgbClr val="D8B098"/>
                </a:solidFill>
              </a:rPr>
              <a:t>THE URGENT DEAL</a:t>
            </a:r>
          </a:p>
        </p:txBody>
      </p:sp>
      <p:sp>
        <p:nvSpPr>
          <p:cNvPr id="5" name="TextBox 4"/>
          <p:cNvSpPr txBox="1"/>
          <p:nvPr/>
        </p:nvSpPr>
        <p:spPr>
          <a:xfrm>
            <a:off x="792327" y="1936164"/>
            <a:ext cx="10607040" cy="1785444"/>
          </a:xfrm>
          <a:prstGeom prst="rect">
            <a:avLst/>
          </a:prstGeom>
          <a:noFill/>
        </p:spPr>
        <p:txBody>
          <a:bodyPr wrap="square">
            <a:spAutoFit/>
          </a:bodyPr>
          <a:lstStyle/>
          <a:p>
            <a:pPr algn="ctr"/>
            <a:r>
              <a:rPr sz="2200" i="0" b="1">
                <a:solidFill>
                  <a:srgbClr val="F2EFE8"/>
                </a:solidFill>
              </a:rPr>
              <a:t>The Chair calls: a deal closes in an hour, and a USD 480,000 payment must go today. She says the usual callback and second approver will take too long, and tells you to authorise it yourself. Your process: payments over USD 100,000 need two approvers in the bank portal. What do you do?</a:t>
            </a:r>
          </a:p>
        </p:txBody>
      </p:sp>
      <p:sp>
        <p:nvSpPr>
          <p:cNvPr id="6" name="Rounded Rectangle 5">
            <a:hlinkClick action="ppaction://hlinksldjump" r:id="rId4"/>
          </p:cNvPr>
          <p:cNvSpPr/>
          <p:nvPr/>
        </p:nvSpPr>
        <p:spPr>
          <a:xfrm>
            <a:off x="932688" y="3794760"/>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A)  Release it with your token, and ask the second approver to sign it off by phone.</a:t>
            </a:r>
          </a:p>
        </p:txBody>
      </p:sp>
      <p:sp>
        <p:nvSpPr>
          <p:cNvPr id="11" name="Rounded Rectangle X">
            <a:hlinkClick action="ppaction://hlinksldjump" r:id="rId3"/>
          </p:cNvPr>
          <p:cNvSpPr/>
          <p:nvPr/>
        </p:nvSpPr>
        <p:spPr>
          <a:xfrm>
            <a:off x="932688" y="4599432"/>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B)  Keep the two approvers, and ask treasury to fast-track the payment within the hour.</a:t>
            </a:r>
          </a:p>
        </p:txBody>
      </p:sp>
      <p:sp>
        <p:nvSpPr>
          <p:cNvPr id="7" name="Rounded Rectangle 6">
            <a:hlinkClick action="ppaction://hlinksldjump" r:id="rId9"/>
          </p:cNvPr>
          <p:cNvSpPr/>
          <p:nvPr/>
        </p:nvSpPr>
        <p:spPr>
          <a:xfrm>
            <a:off x="932688" y="5404104"/>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C)  Ask the CFO to take over, and let her decide whether it goes ahead.</a:t>
            </a:r>
          </a:p>
        </p:txBody>
      </p:sp>
      <p:sp>
        <p:nvSpPr>
          <p:cNvPr id="8"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28</a:t>
            </a:r>
          </a:p>
        </p:txBody>
      </p:sp>
      <p:pic>
        <p:nvPicPr>
          <p:cNvPr id="9" name="narration_ex_L06.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
        <p:nvSpPr>
          <p:cNvPr id="10" name="Kiosk Previous">
            <a:hlinkClick action="ppaction://hlinksldjump" r:id="rId8"/>
          </p:cNvPr>
          <p:cNvSpPr/>
          <p:nvPr/>
        </p:nvSpPr>
        <p:spPr>
          <a:xfrm>
            <a:off x="536432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85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9"/>
                </p:tgtEl>
              </p:cMediaNode>
            </p:audi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078014"/>
            <a:ext cx="9966960" cy="773176"/>
          </a:xfrm>
          <a:prstGeom prst="rect">
            <a:avLst/>
          </a:prstGeom>
          <a:noFill/>
        </p:spPr>
        <p:txBody>
          <a:bodyPr wrap="square">
            <a:spAutoFit/>
          </a:bodyPr>
          <a:lstStyle/>
          <a:p>
            <a:pPr algn="ctr"/>
            <a:r>
              <a:rPr sz="4400" b="1">
                <a:solidFill>
                  <a:srgbClr val="C48A3A"/>
                </a:solidFill>
              </a:rPr>
              <a:t>PAYMENT SENT: FRAUD SUCCEEDED</a:t>
            </a:r>
          </a:p>
        </p:txBody>
      </p:sp>
      <p:sp>
        <p:nvSpPr>
          <p:cNvPr id="4" name="TextBox 3"/>
          <p:cNvSpPr txBox="1"/>
          <p:nvPr/>
        </p:nvSpPr>
        <p:spPr>
          <a:xfrm>
            <a:off x="792327" y="2474662"/>
            <a:ext cx="10607040" cy="1764792"/>
          </a:xfrm>
          <a:prstGeom prst="rect">
            <a:avLst/>
          </a:prstGeom>
          <a:noFill/>
        </p:spPr>
        <p:txBody>
          <a:bodyPr wrap="square">
            <a:spAutoFit/>
          </a:bodyPr>
          <a:lstStyle/>
          <a:p>
            <a:pPr algn="ctr"/>
            <a:r>
              <a:rPr sz="2400" i="0" b="0">
                <a:solidFill>
                  <a:srgbClr val="C8A89C"/>
                </a:solidFill>
              </a:rPr>
              <a:t>The second approver, hearing it came from the Chair, signs it off, and the payment goes out. The call was a deepfake of the Chair, built from her public interviews. Two signatures on one unverified request are one check, not two.</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29</a:t>
            </a:r>
          </a:p>
        </p:txBody>
      </p:sp>
      <p:sp>
        <p:nvSpPr>
          <p:cNvPr id="7"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0"/>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081024"/>
            <a:ext cx="9966960" cy="773176"/>
          </a:xfrm>
          <a:prstGeom prst="rect">
            <a:avLst/>
          </a:prstGeom>
          <a:noFill/>
        </p:spPr>
        <p:txBody>
          <a:bodyPr wrap="square">
            <a:spAutoFit/>
          </a:bodyPr>
          <a:lstStyle/>
          <a:p>
            <a:pPr algn="ctr"/>
            <a:r>
              <a:rPr sz="4400" b="1">
                <a:solidFill>
                  <a:srgbClr val="2E8B57"/>
                </a:solidFill>
              </a:rPr>
              <a:t>ATTEMPT STOPPED</a:t>
            </a:r>
          </a:p>
        </p:txBody>
      </p:sp>
      <p:sp>
        <p:nvSpPr>
          <p:cNvPr id="4" name="TextBox 3"/>
          <p:cNvSpPr txBox="1"/>
          <p:nvPr/>
        </p:nvSpPr>
        <p:spPr>
          <a:xfrm>
            <a:off x="792327" y="2290741"/>
            <a:ext cx="10607040" cy="2322576"/>
          </a:xfrm>
          <a:prstGeom prst="rect">
            <a:avLst/>
          </a:prstGeom>
          <a:noFill/>
        </p:spPr>
        <p:txBody>
          <a:bodyPr wrap="square">
            <a:spAutoFit/>
          </a:bodyPr>
          <a:lstStyle/>
          <a:p>
            <a:pPr algn="ctr"/>
            <a:r>
              <a:rPr sz="3200" i="0" b="0">
                <a:solidFill>
                  <a:srgbClr val="C8A89C"/>
                </a:solidFill>
              </a:rPr>
              <a:t>Treasury fast-tracks the two approvals, and during the checks the Chair's office says she never called. Nothing is released, and a real deal would still close in time. Urgency changes how fast you work through the controls, not whether you do.</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30</a:t>
            </a:r>
          </a:p>
        </p:txBody>
      </p:sp>
      <p:sp>
        <p:nvSpPr>
          <p:cNvPr id="7"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0"/>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081024"/>
            <a:ext cx="9966960" cy="773176"/>
          </a:xfrm>
          <a:prstGeom prst="rect">
            <a:avLst/>
          </a:prstGeom>
          <a:noFill/>
        </p:spPr>
        <p:txBody>
          <a:bodyPr wrap="square">
            <a:spAutoFit/>
          </a:bodyPr>
          <a:lstStyle/>
          <a:p>
            <a:pPr algn="ctr"/>
            <a:r>
              <a:rPr sz="4400" b="1">
                <a:solidFill>
                  <a:srgbClr val="2E8B57"/>
                </a:solidFill>
              </a:rPr>
              <a:t>PARTLY RIGHT</a:t>
            </a:r>
          </a:p>
        </p:txBody>
      </p:sp>
      <p:sp>
        <p:nvSpPr>
          <p:cNvPr id="4" name="TextBox 3"/>
          <p:cNvSpPr txBox="1"/>
          <p:nvPr/>
        </p:nvSpPr>
        <p:spPr>
          <a:xfrm>
            <a:off x="792327" y="2290741"/>
            <a:ext cx="10607040" cy="2322576"/>
          </a:xfrm>
          <a:prstGeom prst="rect">
            <a:avLst/>
          </a:prstGeom>
          <a:noFill/>
        </p:spPr>
        <p:txBody>
          <a:bodyPr wrap="square">
            <a:spAutoFit/>
          </a:bodyPr>
          <a:lstStyle/>
          <a:p>
            <a:pPr algn="ctr"/>
            <a:r>
              <a:rPr sz="3200" i="0" b="0">
                <a:solidFill>
                  <a:srgbClr val="C8A89C"/>
                </a:solidFill>
              </a:rPr>
              <a:t>You avoid deciding alone, which is good. But the CFO now decides on an unverified instruction, and the pressure has simply moved to her. Until someone checks with the Chair's office, nothing has been verified.</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31</a:t>
            </a:r>
          </a:p>
        </p:txBody>
      </p:sp>
      <p:sp>
        <p:nvSpPr>
          <p:cNvPr id="7"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DEBRIEF</a:t>
            </a:r>
          </a:p>
        </p:txBody>
      </p:sp>
      <p:sp>
        <p:nvSpPr>
          <p:cNvPr id="4" name="TextBox 3"/>
          <p:cNvSpPr txBox="1"/>
          <p:nvPr/>
        </p:nvSpPr>
        <p:spPr>
          <a:xfrm>
            <a:off x="792327" y="1611884"/>
            <a:ext cx="10607040" cy="3995928"/>
          </a:xfrm>
          <a:prstGeom prst="rect">
            <a:avLst/>
          </a:prstGeom>
          <a:noFill/>
        </p:spPr>
        <p:txBody>
          <a:bodyPr wrap="square">
            <a:spAutoFit/>
          </a:bodyPr>
          <a:lstStyle/>
          <a:p>
            <a:pPr algn="l"/>
            <a:r>
              <a:rPr sz="3200" i="0" b="0">
                <a:solidFill>
                  <a:srgbClr val="F2EFE8"/>
                </a:solidFill>
              </a:rPr>
              <a:t>Attackers target the moment when a control feels like an obstacle. A one-hour deadline and the Chair's authority are the levers, and a second approver signing by phone does not add a second check.</a:t>
            </a:r>
          </a:p>
          <a:p>
            <a:pPr algn="l"/>
            <a:r>
              <a:rPr sz="3200" i="0" b="0">
                <a:solidFill>
                  <a:srgbClr val="F2EFE8"/>
                </a:solidFill>
              </a:rPr>
              <a:t>Keeping both approvers and asking treasury to fast-track protects the payment and the deal. If the request is real, it survives a few minutes of checking.</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32</a:t>
            </a:r>
          </a:p>
        </p:txBody>
      </p:sp>
      <p:pic>
        <p:nvPicPr>
          <p:cNvPr id="6" name="narration_ex_L07.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7"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805" fill="hold"/>
                                        <p:tgtEl>
                                          <p:spTgt spid="6"/>
                                        </p:tgtEl>
                                      </p:cBhvr>
                                    </p:cmd>
                                  </p:childTnLst>
                                </p:cTn>
                              </p:par>
                              <p:par>
                                <p:cTn id="20" presetID="26" presetClass="emph" presetSubtype="0" repeatCount="indefinite" fill="hold" grpId="0" nodeType="withEffect">
                                  <p:stCondLst>
                                    <p:cond delay="22805"/>
                                  </p:stCondLst>
                                  <p:childTnLst>
                                    <p:animEffect transition="out" filter="fade">
                                      <p:cBhvr>
                                        <p:cTn id="21" dur="1000" tmFilter="0, 0; .2, .5; .8, .5; 1, 0"/>
                                        <p:tgtEl>
                                          <p:spTgt spid="8"/>
                                        </p:tgtEl>
                                      </p:cBhvr>
                                    </p:animEffect>
                                    <p:animScale>
                                      <p:cBhvr>
                                        <p:cTn id="22" dur="500" autoRev="1" fill="hold"/>
                                        <p:tgtEl>
                                          <p:spTgt spid="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
                </p:tgtEl>
              </p:cMediaNode>
            </p:audio>
          </p:childTnLst>
        </p:cTn>
      </p:par>
    </p:tnLst>
    <p:bldLst>
      <p:bldP spid="8"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1338318"/>
            <a:ext cx="3657600" cy="540766"/>
          </a:xfrm>
          <a:prstGeom prst="rect">
            <a:avLst/>
          </a:prstGeom>
          <a:noFill/>
        </p:spPr>
        <p:txBody>
          <a:bodyPr wrap="none">
            <a:spAutoFit/>
          </a:bodyPr>
          <a:lstStyle/>
          <a:p>
            <a:r>
              <a:rPr sz="2800" b="1">
                <a:solidFill>
                  <a:srgbClr val="D8B098"/>
                </a:solidFill>
              </a:rPr>
              <a:t>▶ SCENARIO: VIDEO CALL</a:t>
            </a:r>
          </a:p>
        </p:txBody>
      </p:sp>
      <p:sp>
        <p:nvSpPr>
          <p:cNvPr id="4" name="TextBox 3"/>
          <p:cNvSpPr txBox="1"/>
          <p:nvPr/>
        </p:nvSpPr>
        <p:spPr>
          <a:xfrm>
            <a:off x="457200" y="365760"/>
            <a:ext cx="11247120" cy="789939"/>
          </a:xfrm>
          <a:prstGeom prst="rect">
            <a:avLst/>
          </a:prstGeom>
          <a:noFill/>
        </p:spPr>
        <p:txBody>
          <a:bodyPr wrap="square">
            <a:spAutoFit/>
          </a:bodyPr>
          <a:lstStyle/>
          <a:p>
            <a:pPr algn="ctr"/>
            <a:r>
              <a:rPr sz="4400" b="1">
                <a:solidFill>
                  <a:srgbClr val="D8B098"/>
                </a:solidFill>
              </a:rPr>
              <a:t>THE BOARD VIDEO CALL</a:t>
            </a:r>
          </a:p>
        </p:txBody>
      </p:sp>
      <p:sp>
        <p:nvSpPr>
          <p:cNvPr id="5" name="TextBox 4"/>
          <p:cNvSpPr txBox="1"/>
          <p:nvPr/>
        </p:nvSpPr>
        <p:spPr>
          <a:xfrm>
            <a:off x="792327" y="1941307"/>
            <a:ext cx="10607040" cy="1780301"/>
          </a:xfrm>
          <a:prstGeom prst="rect">
            <a:avLst/>
          </a:prstGeom>
          <a:noFill/>
        </p:spPr>
        <p:txBody>
          <a:bodyPr wrap="square">
            <a:spAutoFit/>
          </a:bodyPr>
          <a:lstStyle/>
          <a:p>
            <a:pPr algn="ctr"/>
            <a:r>
              <a:rPr sz="2200" i="0" b="1">
                <a:solidFill>
                  <a:srgbClr val="F2EFE8"/>
                </a:solidFill>
              </a:rPr>
              <a:t>A video call from the board: the Chair and two directors ask you to approve a USD 480,000 payment for a confidential acquisition today, with no time for the usual checks. Your process: acquisition payments need a board resolution, recorded by the company secretary. What do you do?</a:t>
            </a:r>
          </a:p>
        </p:txBody>
      </p:sp>
      <p:sp>
        <p:nvSpPr>
          <p:cNvPr id="6" name="Rounded Rectangle 5">
            <a:hlinkClick action="ppaction://hlinksldjump" r:id="rId9"/>
          </p:cNvPr>
          <p:cNvSpPr/>
          <p:nvPr/>
        </p:nvSpPr>
        <p:spPr>
          <a:xfrm>
            <a:off x="932688" y="3794760"/>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A)  Ask the company secretary to confirm there is a board resolution for the payment.</a:t>
            </a:r>
          </a:p>
        </p:txBody>
      </p:sp>
      <p:sp>
        <p:nvSpPr>
          <p:cNvPr id="11" name="Rounded Rectangle X">
            <a:hlinkClick action="ppaction://hlinksldjump" r:id="rId4"/>
          </p:cNvPr>
          <p:cNvSpPr/>
          <p:nvPr/>
        </p:nvSpPr>
        <p:spPr>
          <a:xfrm>
            <a:off x="932688" y="4599432"/>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B)  Ask the CFO to join the call, and approve it if she agrees.</a:t>
            </a:r>
          </a:p>
        </p:txBody>
      </p:sp>
      <p:sp>
        <p:nvSpPr>
          <p:cNvPr id="7" name="Rounded Rectangle 6">
            <a:hlinkClick action="ppaction://hlinksldjump" r:id="rId3"/>
          </p:cNvPr>
          <p:cNvSpPr/>
          <p:nvPr/>
        </p:nvSpPr>
        <p:spPr>
          <a:xfrm>
            <a:off x="932688" y="5404104"/>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C)  Approve it now, and ask the company secretary to record the resolution afterwards.</a:t>
            </a:r>
          </a:p>
        </p:txBody>
      </p:sp>
      <p:sp>
        <p:nvSpPr>
          <p:cNvPr id="8"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33</a:t>
            </a:r>
          </a:p>
        </p:txBody>
      </p:sp>
      <p:sp>
        <p:nvSpPr>
          <p:cNvPr id="9"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pic>
        <p:nvPicPr>
          <p:cNvPr id="10" name="narration_ex_17.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21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078014"/>
            <a:ext cx="9966960" cy="773176"/>
          </a:xfrm>
          <a:prstGeom prst="rect">
            <a:avLst/>
          </a:prstGeom>
          <a:noFill/>
        </p:spPr>
        <p:txBody>
          <a:bodyPr wrap="square">
            <a:spAutoFit/>
          </a:bodyPr>
          <a:lstStyle/>
          <a:p>
            <a:pPr algn="ctr"/>
            <a:r>
              <a:rPr sz="4400" b="1">
                <a:solidFill>
                  <a:srgbClr val="C48A3A"/>
                </a:solidFill>
              </a:rPr>
              <a:t>PAYMENT SENT: FRAUD SUCCEEDED</a:t>
            </a:r>
          </a:p>
        </p:txBody>
      </p:sp>
      <p:sp>
        <p:nvSpPr>
          <p:cNvPr id="4" name="TextBox 3"/>
          <p:cNvSpPr txBox="1"/>
          <p:nvPr/>
        </p:nvSpPr>
        <p:spPr>
          <a:xfrm>
            <a:off x="792327" y="2288734"/>
            <a:ext cx="10607040" cy="2322576"/>
          </a:xfrm>
          <a:prstGeom prst="rect">
            <a:avLst/>
          </a:prstGeom>
          <a:noFill/>
        </p:spPr>
        <p:txBody>
          <a:bodyPr wrap="square">
            <a:spAutoFit/>
          </a:bodyPr>
          <a:lstStyle/>
          <a:p>
            <a:pPr algn="ctr"/>
            <a:r>
              <a:rPr sz="3200" i="0" b="0">
                <a:solidFill>
                  <a:srgbClr val="C8A89C"/>
                </a:solidFill>
              </a:rPr>
              <a:t>The payment goes out and cannot be recalled in time. Everyone on the call was a deepfake, built from public footage and interviews. Recording the resolution afterwards would only have documented a decision nobody made.</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34</a:t>
            </a:r>
          </a:p>
        </p:txBody>
      </p:sp>
      <p:sp>
        <p:nvSpPr>
          <p:cNvPr id="7"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081024"/>
            <a:ext cx="9966960" cy="773176"/>
          </a:xfrm>
          <a:prstGeom prst="rect">
            <a:avLst/>
          </a:prstGeom>
          <a:noFill/>
        </p:spPr>
        <p:txBody>
          <a:bodyPr wrap="square">
            <a:spAutoFit/>
          </a:bodyPr>
          <a:lstStyle/>
          <a:p>
            <a:pPr algn="ctr"/>
            <a:r>
              <a:rPr sz="4400" b="1">
                <a:solidFill>
                  <a:srgbClr val="2E8B57"/>
                </a:solidFill>
              </a:rPr>
              <a:t>ATTEMPT STOPPED</a:t>
            </a:r>
          </a:p>
        </p:txBody>
      </p:sp>
      <p:sp>
        <p:nvSpPr>
          <p:cNvPr id="4" name="TextBox 3"/>
          <p:cNvSpPr txBox="1"/>
          <p:nvPr/>
        </p:nvSpPr>
        <p:spPr>
          <a:xfrm>
            <a:off x="792327" y="2290741"/>
            <a:ext cx="10607040" cy="2322576"/>
          </a:xfrm>
          <a:prstGeom prst="rect">
            <a:avLst/>
          </a:prstGeom>
          <a:noFill/>
        </p:spPr>
        <p:txBody>
          <a:bodyPr wrap="square">
            <a:spAutoFit/>
          </a:bodyPr>
          <a:lstStyle/>
          <a:p>
            <a:pPr algn="ctr"/>
            <a:r>
              <a:rPr sz="3200" i="0" b="0">
                <a:solidFill>
                  <a:srgbClr val="C8A89C"/>
                </a:solidFill>
              </a:rPr>
              <a:t>The company secretary has no resolution on record and no meeting scheduled. The real Chair and directors were never on the call. Nothing is approved, and the attempt goes to Security and the board.</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35</a:t>
            </a:r>
          </a:p>
        </p:txBody>
      </p:sp>
      <p:sp>
        <p:nvSpPr>
          <p:cNvPr id="7"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081024"/>
            <a:ext cx="9966960" cy="773176"/>
          </a:xfrm>
          <a:prstGeom prst="rect">
            <a:avLst/>
          </a:prstGeom>
          <a:noFill/>
        </p:spPr>
        <p:txBody>
          <a:bodyPr wrap="square">
            <a:spAutoFit/>
          </a:bodyPr>
          <a:lstStyle/>
          <a:p>
            <a:pPr algn="ctr"/>
            <a:r>
              <a:rPr sz="4400" b="1">
                <a:solidFill>
                  <a:srgbClr val="2E8B57"/>
                </a:solidFill>
              </a:rPr>
              <a:t>PARTLY RIGHT</a:t>
            </a:r>
          </a:p>
        </p:txBody>
      </p:sp>
      <p:sp>
        <p:nvSpPr>
          <p:cNvPr id="4" name="TextBox 3"/>
          <p:cNvSpPr txBox="1"/>
          <p:nvPr/>
        </p:nvSpPr>
        <p:spPr>
          <a:xfrm>
            <a:off x="792327" y="2290741"/>
            <a:ext cx="10607040" cy="2322576"/>
          </a:xfrm>
          <a:prstGeom prst="rect">
            <a:avLst/>
          </a:prstGeom>
          <a:noFill/>
        </p:spPr>
        <p:txBody>
          <a:bodyPr wrap="square">
            <a:spAutoFit/>
          </a:bodyPr>
          <a:lstStyle/>
          <a:p>
            <a:pPr algn="ctr"/>
            <a:r>
              <a:rPr sz="3200" i="0" b="0">
                <a:solidFill>
                  <a:srgbClr val="C8A89C"/>
                </a:solidFill>
              </a:rPr>
              <a:t>You avoid deciding alone, but the CFO joins the same call, hears the same story and sees the same faces. If everyone on the screen is fake, her agreement proves nothing. The resolution register would have settled it.</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36</a:t>
            </a:r>
          </a:p>
        </p:txBody>
      </p:sp>
      <p:sp>
        <p:nvSpPr>
          <p:cNvPr id="7"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DEBRIEF</a:t>
            </a:r>
          </a:p>
        </p:txBody>
      </p:sp>
      <p:sp>
        <p:nvSpPr>
          <p:cNvPr id="4" name="TextBox 3"/>
          <p:cNvSpPr txBox="1"/>
          <p:nvPr/>
        </p:nvSpPr>
        <p:spPr>
          <a:xfrm>
            <a:off x="792327" y="1835912"/>
            <a:ext cx="10607040" cy="3438144"/>
          </a:xfrm>
          <a:prstGeom prst="rect">
            <a:avLst/>
          </a:prstGeom>
          <a:noFill/>
        </p:spPr>
        <p:txBody>
          <a:bodyPr wrap="square">
            <a:spAutoFit/>
          </a:bodyPr>
          <a:lstStyle/>
          <a:p>
            <a:pPr algn="l"/>
            <a:r>
              <a:rPr sz="3200" i="0" b="0">
                <a:solidFill>
                  <a:srgbClr val="F2EFE8"/>
                </a:solidFill>
              </a:rPr>
              <a:t>Several senior faces agreeing on a call feels safe, but a deepfake can create all of them, and “record it afterwards” is the workaround that makes a decision look made.</a:t>
            </a:r>
          </a:p>
          <a:p>
            <a:pPr algn="l"/>
            <a:r>
              <a:rPr sz="3200" i="0" b="0">
                <a:solidFill>
                  <a:srgbClr val="F2EFE8"/>
                </a:solidFill>
              </a:rPr>
              <a:t>A payment this size needs a board resolution, and the company secretary holds the register. One question settles it, and a real board will not mind you asking.</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37</a:t>
            </a:r>
          </a:p>
        </p:txBody>
      </p:sp>
      <p:sp>
        <p:nvSpPr>
          <p:cNvPr id="7" name="TextBox 6"/>
          <p:cNvSpPr txBox="1"/>
          <p:nvPr/>
        </p:nvSpPr>
        <p:spPr>
          <a:xfrm>
            <a:off x="457200" y="5870448"/>
            <a:ext cx="11247120" cy="432308"/>
          </a:xfrm>
          <a:prstGeom prst="rect">
            <a:avLst/>
          </a:prstGeom>
          <a:noFill/>
        </p:spPr>
        <p:txBody>
          <a:bodyPr wrap="square">
            <a:spAutoFit/>
          </a:bodyPr>
          <a:lstStyle/>
          <a:p>
            <a:pPr algn="l"/>
            <a:r>
              <a:rPr sz="1800" i="1" b="0">
                <a:solidFill>
                  <a:srgbClr val="C8A89C"/>
                </a:solidFill>
              </a:rPr>
              <a:t>Sources: FBI IC3 PSA I-120324-PSA; CNN Business (Arup, 2024)</a:t>
            </a:r>
          </a:p>
        </p:txBody>
      </p:sp>
      <p:sp>
        <p:nvSpPr>
          <p:cNvPr id="8"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9"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10" name="narration_ex_20.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394" fill="hold"/>
                                        <p:tgtEl>
                                          <p:spTgt spid="10"/>
                                        </p:tgtEl>
                                      </p:cBhvr>
                                    </p:cmd>
                                  </p:childTnLst>
                                </p:cTn>
                              </p:par>
                              <p:par>
                                <p:cTn id="20" presetID="26" presetClass="emph" presetSubtype="0" repeatCount="indefinite" fill="hold" grpId="0" nodeType="withEffect">
                                  <p:stCondLst>
                                    <p:cond delay="21394"/>
                                  </p:stCondLst>
                                  <p:childTnLst>
                                    <p:animEffect transition="out" filter="fade">
                                      <p:cBhvr>
                                        <p:cTn id="21" dur="1000" tmFilter="0, 0; .2, .5; .8, .5; 1, 0"/>
                                        <p:tgtEl>
                                          <p:spTgt spid="9"/>
                                        </p:tgtEl>
                                      </p:cBhvr>
                                    </p:animEffect>
                                    <p:animScale>
                                      <p:cBhvr>
                                        <p:cTn id="22" dur="500" autoRev="1" fill="hold"/>
                                        <p:tgtEl>
                                          <p:spTgt spid="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9"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958848"/>
            <a:ext cx="10698480" cy="773176"/>
          </a:xfrm>
          <a:prstGeom prst="rect">
            <a:avLst/>
          </a:prstGeom>
          <a:noFill/>
        </p:spPr>
        <p:txBody>
          <a:bodyPr wrap="none">
            <a:spAutoFit/>
          </a:bodyPr>
          <a:lstStyle/>
          <a:p>
            <a:pPr algn="ctr"/>
            <a:r>
              <a:rPr sz="4400" b="1">
                <a:solidFill>
                  <a:srgbClr val="D8B098"/>
                </a:solidFill>
              </a:rPr>
              <a:t>CONTAIN</a:t>
            </a:r>
          </a:p>
        </p:txBody>
      </p:sp>
      <p:sp>
        <p:nvSpPr>
          <p:cNvPr id="4" name="TextBox 3"/>
          <p:cNvSpPr txBox="1"/>
          <p:nvPr/>
        </p:nvSpPr>
        <p:spPr>
          <a:xfrm>
            <a:off x="792327" y="3234944"/>
            <a:ext cx="10607040" cy="1207008"/>
          </a:xfrm>
          <a:prstGeom prst="rect">
            <a:avLst/>
          </a:prstGeom>
          <a:noFill/>
        </p:spPr>
        <p:txBody>
          <a:bodyPr wrap="square">
            <a:spAutoFit/>
          </a:bodyPr>
          <a:lstStyle/>
          <a:p>
            <a:pPr algn="ctr"/>
            <a:r>
              <a:rPr sz="3600" i="1" b="0">
                <a:solidFill>
                  <a:srgbClr val="C8A89C"/>
                </a:solidFill>
              </a:rPr>
              <a:t>You stopped it, or you didn't. Either way, here's what happens next.</a:t>
            </a:r>
          </a:p>
        </p:txBody>
      </p:sp>
      <p:sp>
        <p:nvSpPr>
          <p:cNvPr id="5" name="TextBox 4"/>
          <p:cNvSpPr txBox="1"/>
          <p:nvPr/>
        </p:nvSpPr>
        <p:spPr>
          <a:xfrm>
            <a:off x="10698480" y="6355080"/>
            <a:ext cx="1280160" cy="365760"/>
          </a:xfrm>
          <a:prstGeom prst="rect">
            <a:avLst/>
          </a:prstGeom>
          <a:noFill/>
        </p:spPr>
        <p:txBody>
          <a:bodyPr wrap="none">
            <a:spAutoFit/>
          </a:bodyPr>
          <a:lstStyle/>
          <a:p>
            <a:pPr algn="r"/>
            <a:r>
              <a:rPr sz="1200">
                <a:solidFill>
                  <a:srgbClr val="C8A89C"/>
                </a:solidFill>
              </a:rPr>
              <a:t>38</a:t>
            </a:r>
          </a:p>
        </p:txBody>
      </p:sp>
      <p:sp>
        <p:nvSpPr>
          <p:cNvPr id="6"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7"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
        <p:nvSpPr>
          <p:cNvPr id="8" name="Phase label"/>
          <p:cNvSpPr txBox="1"/>
          <p:nvPr/>
        </p:nvSpPr>
        <p:spPr>
          <a:xfrm>
            <a:off x="731520" y="1325880"/>
            <a:ext cx="10698480" cy="548640"/>
          </a:xfrm>
          <a:prstGeom prst="rect">
            <a:avLst/>
          </a:prstGeom>
          <a:noFill/>
        </p:spPr>
        <p:txBody>
          <a:bodyPr wrap="none">
            <a:spAutoFit/>
          </a:bodyPr>
          <a:lstStyle/>
          <a:p>
            <a:pPr algn="ctr"/>
            <a:r>
              <a:rPr sz="2400" b="0">
                <a:solidFill>
                  <a:srgbClr val="C8A89C"/>
                </a:solidFill>
              </a:rPr>
              <a:t>PHASE 3</a:t>
            </a:r>
          </a:p>
        </p:txBody>
      </p:sp>
      <p:pic>
        <p:nvPicPr>
          <p:cNvPr id="9" name="narration_v14_ex_36.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385" fill="hold"/>
                                        <p:tgtEl>
                                          <p:spTgt spid="9"/>
                                        </p:tgtEl>
                                      </p:cBhvr>
                                    </p:cmd>
                                  </p:childTnLst>
                                </p:cTn>
                              </p:par>
                              <p:par>
                                <p:cTn id="20" presetID="26" presetClass="emph" presetSubtype="0" repeatCount="indefinite" fill="hold" grpId="0" nodeType="withEffect">
                                  <p:stCondLst>
                                    <p:cond delay="8385"/>
                                  </p:stCondLst>
                                  <p:childTnLst>
                                    <p:animEffect transition="out" filter="fade">
                                      <p:cBhvr>
                                        <p:cTn id="21" dur="1000" tmFilter="0, 0; .2, .5; .8, .5; 1, 0"/>
                                        <p:tgtEl>
                                          <p:spTgt spid="7"/>
                                        </p:tgtEl>
                                      </p:cBhvr>
                                    </p:animEffect>
                                    <p:animScale>
                                      <p:cBhvr>
                                        <p:cTn id="22" dur="500" autoRev="1" fill="hold"/>
                                        <p:tgtEl>
                                          <p:spTgt spid="7"/>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9"/>
                </p:tgtEl>
              </p:cMediaNode>
            </p:audio>
          </p:childTnLst>
        </p:cTn>
      </p:par>
    </p:tnLst>
    <p:bldLst>
      <p:bldP spid="7"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CONTAIN: WHAT TO DO, IN ORDER</a:t>
            </a:r>
          </a:p>
        </p:txBody>
      </p:sp>
      <p:sp>
        <p:nvSpPr>
          <p:cNvPr id="4"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39</a:t>
            </a:r>
          </a:p>
        </p:txBody>
      </p:sp>
      <p:sp>
        <p:nvSpPr>
          <p:cNvPr id="5" name="Rounded Rectangle 9"/>
          <p:cNvSpPr/>
          <p:nvPr/>
        </p:nvSpPr>
        <p:spPr>
          <a:xfrm>
            <a:off x="1280160" y="1481328"/>
            <a:ext cx="3749039" cy="502920"/>
          </a:xfrm>
          <a:prstGeom prst="roundRect">
            <a:avLst/>
          </a:prstGeom>
          <a:solidFill>
            <a:srgbClr val="FFFFFF"/>
          </a:solidFill>
          <a:ln w="19050">
            <a:solidFill>
              <a:srgbClr val="9A7B3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You suspect an attempt</a:t>
            </a:r>
          </a:p>
        </p:txBody>
      </p:sp>
      <p:sp>
        <p:nvSpPr>
          <p:cNvPr id="6" name="Right Arrow 10"/>
          <p:cNvSpPr/>
          <p:nvPr/>
        </p:nvSpPr>
        <p:spPr>
          <a:xfrm>
            <a:off x="5138928" y="1554480"/>
            <a:ext cx="457200" cy="365760"/>
          </a:xfrm>
          <a:prstGeom prst="rightArrow">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11"/>
          <p:cNvSpPr/>
          <p:nvPr/>
        </p:nvSpPr>
        <p:spPr>
          <a:xfrm>
            <a:off x="5705856" y="1481328"/>
            <a:ext cx="5212080" cy="502920"/>
          </a:xfrm>
          <a:prstGeom prst="roundRect">
            <a:avLst/>
          </a:prstGeom>
          <a:solidFill>
            <a:srgbClr val="FFFFFF"/>
          </a:solidFill>
          <a:ln w="19050">
            <a:solidFill>
              <a:srgbClr val="9A7B3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Has money or data already moved?</a:t>
            </a:r>
          </a:p>
        </p:txBody>
      </p:sp>
      <p:sp>
        <p:nvSpPr>
          <p:cNvPr id="8" name="Rounded Rectangle 12"/>
          <p:cNvSpPr/>
          <p:nvPr/>
        </p:nvSpPr>
        <p:spPr>
          <a:xfrm>
            <a:off x="548640" y="2148840"/>
            <a:ext cx="5440680" cy="2194560"/>
          </a:xfrm>
          <a:prstGeom prst="roundRect">
            <a:avLst>
              <a:gd name="adj" fmla="val 8000"/>
            </a:avLst>
          </a:prstGeom>
          <a:solidFill>
            <a:srgbClr val="F2E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3"/>
          <p:cNvSpPr txBox="1"/>
          <p:nvPr/>
        </p:nvSpPr>
        <p:spPr>
          <a:xfrm>
            <a:off x="731520" y="2194560"/>
            <a:ext cx="5029200" cy="411480"/>
          </a:xfrm>
          <a:prstGeom prst="rect">
            <a:avLst/>
          </a:prstGeom>
          <a:noFill/>
        </p:spPr>
        <p:txBody>
          <a:bodyPr wrap="square">
            <a:spAutoFit/>
          </a:bodyPr>
          <a:lstStyle/>
          <a:p>
            <a:pPr algn="l"/>
            <a:r>
              <a:rPr sz="2200" i="0" b="1">
                <a:solidFill>
                  <a:srgbClr val="6B521F"/>
                </a:solidFill>
              </a:rPr>
              <a:t>No: nothing sent yet</a:t>
            </a:r>
          </a:p>
        </p:txBody>
      </p:sp>
      <p:sp>
        <p:nvSpPr>
          <p:cNvPr id="10" name="Oval 14"/>
          <p:cNvSpPr/>
          <p:nvPr/>
        </p:nvSpPr>
        <p:spPr>
          <a:xfrm>
            <a:off x="795528" y="2761488"/>
            <a:ext cx="420624" cy="420624"/>
          </a:xfrm>
          <a:prstGeom prst="ellipse">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11" name="TextBox 3"/>
          <p:cNvSpPr txBox="1"/>
          <p:nvPr/>
        </p:nvSpPr>
        <p:spPr>
          <a:xfrm>
            <a:off x="1371600" y="2743200"/>
            <a:ext cx="4526280" cy="457200"/>
          </a:xfrm>
          <a:prstGeom prst="rect">
            <a:avLst/>
          </a:prstGeom>
          <a:noFill/>
        </p:spPr>
        <p:txBody>
          <a:bodyPr wrap="square">
            <a:spAutoFit/>
          </a:bodyPr>
          <a:lstStyle/>
          <a:p>
            <a:pPr algn="l"/>
            <a:r>
              <a:rPr sz="2000" i="0" b="0">
                <a:solidFill>
                  <a:srgbClr val="2E2A45"/>
                </a:solidFill>
              </a:rPr>
              <a:t>Stop and verify elsewhere</a:t>
            </a:r>
          </a:p>
        </p:txBody>
      </p:sp>
      <p:sp>
        <p:nvSpPr>
          <p:cNvPr id="12" name="Rectangle 16"/>
          <p:cNvSpPr/>
          <p:nvPr/>
        </p:nvSpPr>
        <p:spPr>
          <a:xfrm>
            <a:off x="992124" y="3182112"/>
            <a:ext cx="27432" cy="146303"/>
          </a:xfrm>
          <a:prstGeom prst="rect">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7"/>
          <p:cNvSpPr/>
          <p:nvPr/>
        </p:nvSpPr>
        <p:spPr>
          <a:xfrm>
            <a:off x="795528" y="3328416"/>
            <a:ext cx="420624" cy="420624"/>
          </a:xfrm>
          <a:prstGeom prst="ellipse">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14" name="TextBox 3"/>
          <p:cNvSpPr txBox="1"/>
          <p:nvPr/>
        </p:nvSpPr>
        <p:spPr>
          <a:xfrm>
            <a:off x="1371600" y="3310128"/>
            <a:ext cx="4526280" cy="457200"/>
          </a:xfrm>
          <a:prstGeom prst="rect">
            <a:avLst/>
          </a:prstGeom>
          <a:noFill/>
        </p:spPr>
        <p:txBody>
          <a:bodyPr wrap="square">
            <a:spAutoFit/>
          </a:bodyPr>
          <a:lstStyle/>
          <a:p>
            <a:pPr algn="l"/>
            <a:r>
              <a:rPr sz="2000" i="0" b="0">
                <a:solidFill>
                  <a:srgbClr val="2E2A45"/>
                </a:solidFill>
              </a:rPr>
              <a:t>Tell your security team</a:t>
            </a:r>
          </a:p>
        </p:txBody>
      </p:sp>
      <p:sp>
        <p:nvSpPr>
          <p:cNvPr id="15" name="Rectangle 19"/>
          <p:cNvSpPr/>
          <p:nvPr/>
        </p:nvSpPr>
        <p:spPr>
          <a:xfrm>
            <a:off x="992124" y="3749040"/>
            <a:ext cx="27432" cy="146303"/>
          </a:xfrm>
          <a:prstGeom prst="rect">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20"/>
          <p:cNvSpPr/>
          <p:nvPr/>
        </p:nvSpPr>
        <p:spPr>
          <a:xfrm>
            <a:off x="795528" y="3895344"/>
            <a:ext cx="420624" cy="420624"/>
          </a:xfrm>
          <a:prstGeom prst="ellipse">
            <a:avLst/>
          </a:prstGeom>
          <a:solidFill>
            <a:srgbClr val="9A7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17" name="TextBox 3"/>
          <p:cNvSpPr txBox="1"/>
          <p:nvPr/>
        </p:nvSpPr>
        <p:spPr>
          <a:xfrm>
            <a:off x="1371600" y="3877056"/>
            <a:ext cx="4526280" cy="457200"/>
          </a:xfrm>
          <a:prstGeom prst="rect">
            <a:avLst/>
          </a:prstGeom>
          <a:noFill/>
        </p:spPr>
        <p:txBody>
          <a:bodyPr wrap="square">
            <a:spAutoFit/>
          </a:bodyPr>
          <a:lstStyle/>
          <a:p>
            <a:pPr algn="l"/>
            <a:r>
              <a:rPr sz="2000" i="0" b="0">
                <a:solidFill>
                  <a:srgbClr val="2E2A45"/>
                </a:solidFill>
              </a:rPr>
              <a:t>Keep the evidence</a:t>
            </a:r>
          </a:p>
        </p:txBody>
      </p:sp>
      <p:sp>
        <p:nvSpPr>
          <p:cNvPr id="18" name="Rounded Rectangle 22"/>
          <p:cNvSpPr/>
          <p:nvPr/>
        </p:nvSpPr>
        <p:spPr>
          <a:xfrm>
            <a:off x="6199632" y="2148840"/>
            <a:ext cx="5440680" cy="2194560"/>
          </a:xfrm>
          <a:prstGeom prst="roundRect">
            <a:avLst>
              <a:gd name="adj" fmla="val 8000"/>
            </a:avLst>
          </a:prstGeom>
          <a:solidFill>
            <a:srgbClr val="FBE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3"/>
          <p:cNvSpPr txBox="1"/>
          <p:nvPr/>
        </p:nvSpPr>
        <p:spPr>
          <a:xfrm>
            <a:off x="6382512" y="2194560"/>
            <a:ext cx="5029200" cy="411480"/>
          </a:xfrm>
          <a:prstGeom prst="rect">
            <a:avLst/>
          </a:prstGeom>
          <a:noFill/>
        </p:spPr>
        <p:txBody>
          <a:bodyPr wrap="square">
            <a:spAutoFit/>
          </a:bodyPr>
          <a:lstStyle/>
          <a:p>
            <a:pPr algn="l"/>
            <a:r>
              <a:rPr sz="2200" i="0" b="1">
                <a:solidFill>
                  <a:srgbClr val="A3470F"/>
                </a:solidFill>
              </a:rPr>
              <a:t>Yes: already moved</a:t>
            </a:r>
          </a:p>
        </p:txBody>
      </p:sp>
      <p:sp>
        <p:nvSpPr>
          <p:cNvPr id="20" name="Oval 24"/>
          <p:cNvSpPr/>
          <p:nvPr/>
        </p:nvSpPr>
        <p:spPr>
          <a:xfrm>
            <a:off x="6446520" y="2761488"/>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21" name="TextBox 3"/>
          <p:cNvSpPr txBox="1"/>
          <p:nvPr/>
        </p:nvSpPr>
        <p:spPr>
          <a:xfrm>
            <a:off x="7022592" y="2743200"/>
            <a:ext cx="4526280" cy="457200"/>
          </a:xfrm>
          <a:prstGeom prst="rect">
            <a:avLst/>
          </a:prstGeom>
          <a:noFill/>
        </p:spPr>
        <p:txBody>
          <a:bodyPr wrap="square">
            <a:spAutoFit/>
          </a:bodyPr>
          <a:lstStyle/>
          <a:p>
            <a:pPr algn="l"/>
            <a:r>
              <a:rPr sz="2000" i="0" b="0">
                <a:solidFill>
                  <a:srgbClr val="2E2A45"/>
                </a:solidFill>
              </a:rPr>
              <a:t>Call your bank: request a recall</a:t>
            </a:r>
          </a:p>
        </p:txBody>
      </p:sp>
      <p:sp>
        <p:nvSpPr>
          <p:cNvPr id="22" name="Rectangle 26"/>
          <p:cNvSpPr/>
          <p:nvPr/>
        </p:nvSpPr>
        <p:spPr>
          <a:xfrm>
            <a:off x="6643116" y="3182112"/>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7"/>
          <p:cNvSpPr/>
          <p:nvPr/>
        </p:nvSpPr>
        <p:spPr>
          <a:xfrm>
            <a:off x="6446520" y="3328416"/>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24" name="TextBox 3"/>
          <p:cNvSpPr txBox="1"/>
          <p:nvPr/>
        </p:nvSpPr>
        <p:spPr>
          <a:xfrm>
            <a:off x="7022592" y="3310128"/>
            <a:ext cx="4526280" cy="457200"/>
          </a:xfrm>
          <a:prstGeom prst="rect">
            <a:avLst/>
          </a:prstGeom>
          <a:noFill/>
        </p:spPr>
        <p:txBody>
          <a:bodyPr wrap="square">
            <a:spAutoFit/>
          </a:bodyPr>
          <a:lstStyle/>
          <a:p>
            <a:pPr algn="l"/>
            <a:r>
              <a:rPr sz="2000" i="0" b="0">
                <a:solidFill>
                  <a:srgbClr val="2E2A45"/>
                </a:solidFill>
              </a:rPr>
              <a:t>Tell Legal and your security team</a:t>
            </a:r>
          </a:p>
        </p:txBody>
      </p:sp>
      <p:sp>
        <p:nvSpPr>
          <p:cNvPr id="25" name="Rectangle 29"/>
          <p:cNvSpPr/>
          <p:nvPr/>
        </p:nvSpPr>
        <p:spPr>
          <a:xfrm>
            <a:off x="6643116" y="3749040"/>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30"/>
          <p:cNvSpPr/>
          <p:nvPr/>
        </p:nvSpPr>
        <p:spPr>
          <a:xfrm>
            <a:off x="6446520" y="3895344"/>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27" name="TextBox 3"/>
          <p:cNvSpPr txBox="1"/>
          <p:nvPr/>
        </p:nvSpPr>
        <p:spPr>
          <a:xfrm>
            <a:off x="7022592" y="3877056"/>
            <a:ext cx="4526280" cy="457200"/>
          </a:xfrm>
          <a:prstGeom prst="rect">
            <a:avLst/>
          </a:prstGeom>
          <a:noFill/>
        </p:spPr>
        <p:txBody>
          <a:bodyPr wrap="square">
            <a:spAutoFit/>
          </a:bodyPr>
          <a:lstStyle/>
          <a:p>
            <a:pPr algn="l"/>
            <a:r>
              <a:rPr sz="2000" i="0" b="0">
                <a:solidFill>
                  <a:srgbClr val="2E2A45"/>
                </a:solidFill>
              </a:rPr>
              <a:t>Brief the board and your insurer</a:t>
            </a:r>
          </a:p>
        </p:txBody>
      </p:sp>
      <p:sp>
        <p:nvSpPr>
          <p:cNvPr id="28" name="Down Arrow 32"/>
          <p:cNvSpPr/>
          <p:nvPr/>
        </p:nvSpPr>
        <p:spPr>
          <a:xfrm>
            <a:off x="3086100"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own Arrow 33"/>
          <p:cNvSpPr/>
          <p:nvPr/>
        </p:nvSpPr>
        <p:spPr>
          <a:xfrm>
            <a:off x="8737092"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3"/>
          <p:cNvSpPr/>
          <p:nvPr/>
        </p:nvSpPr>
        <p:spPr>
          <a:xfrm>
            <a:off x="548640" y="4663440"/>
            <a:ext cx="3611880" cy="117043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Report it</a:t>
            </a:r>
          </a:p>
          <a:p>
            <a:pPr algn="ctr"/>
            <a:r>
              <a:rPr sz="1800">
                <a:solidFill>
                  <a:srgbClr val="2A1216"/>
                </a:solidFill>
              </a:rPr>
              <a:t>Do not fix it quietly. ReportCyber, IC3, Report Fraud, CAFC.</a:t>
            </a:r>
          </a:p>
        </p:txBody>
      </p:sp>
      <p:sp>
        <p:nvSpPr>
          <p:cNvPr id="31" name="Rounded Rectangle 3"/>
          <p:cNvSpPr/>
          <p:nvPr/>
        </p:nvSpPr>
        <p:spPr>
          <a:xfrm>
            <a:off x="4288536" y="4663440"/>
            <a:ext cx="3611880" cy="117043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Check legal duties</a:t>
            </a:r>
          </a:p>
          <a:p>
            <a:pPr algn="ctr"/>
            <a:r>
              <a:rPr sz="1800">
                <a:solidFill>
                  <a:srgbClr val="2A1216"/>
                </a:solidFill>
              </a:rPr>
              <a:t>Some incidents must be reported within hours.</a:t>
            </a:r>
          </a:p>
        </p:txBody>
      </p:sp>
      <p:sp>
        <p:nvSpPr>
          <p:cNvPr id="32" name="Rounded Rectangle 3"/>
          <p:cNvSpPr/>
          <p:nvPr/>
        </p:nvSpPr>
        <p:spPr>
          <a:xfrm>
            <a:off x="8028431" y="4663440"/>
            <a:ext cx="3611880" cy="1170432"/>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Support people</a:t>
            </a:r>
          </a:p>
          <a:p>
            <a:pPr algn="ctr"/>
            <a:r>
              <a:rPr sz="1800">
                <a:solidFill>
                  <a:srgbClr val="2A1216"/>
                </a:solidFill>
              </a:rPr>
              <a:t>IDCARE helps with identity and cyber recovery.</a:t>
            </a:r>
          </a:p>
        </p:txBody>
      </p:sp>
      <p:sp>
        <p:nvSpPr>
          <p:cNvPr id="33" name="TextBox 6"/>
          <p:cNvSpPr txBox="1"/>
          <p:nvPr/>
        </p:nvSpPr>
        <p:spPr>
          <a:xfrm>
            <a:off x="457200" y="5870448"/>
            <a:ext cx="11247120" cy="429768"/>
          </a:xfrm>
          <a:prstGeom prst="rect">
            <a:avLst/>
          </a:prstGeom>
          <a:noFill/>
        </p:spPr>
        <p:txBody>
          <a:bodyPr wrap="square">
            <a:spAutoFit/>
          </a:bodyPr>
          <a:lstStyle/>
          <a:p>
            <a:pPr algn="l"/>
            <a:r>
              <a:rPr sz="1800" i="1" b="0">
                <a:solidFill>
                  <a:srgbClr val="C8A89C"/>
                </a:solidFill>
              </a:rPr>
              <a:t>Sources: FBI IC3 2025 Annual Report; ASD’s ACSC; Report Fraud; CAFC; SOCI; GDPR; IDCARE</a:t>
            </a:r>
          </a:p>
        </p:txBody>
      </p:sp>
      <p:sp>
        <p:nvSpPr>
          <p:cNvPr id="37" name="Contain note"/>
          <p:cNvSpPr txBox="1"/>
          <p:nvPr/>
        </p:nvSpPr>
        <p:spPr>
          <a:xfrm>
            <a:off x="457200" y="1188720"/>
            <a:ext cx="11247120" cy="274320"/>
          </a:xfrm>
          <a:prstGeom prst="rect">
            <a:avLst/>
          </a:prstGeom>
          <a:noFill/>
        </p:spPr>
        <p:txBody>
          <a:bodyPr wrap="square">
            <a:spAutoFit/>
          </a:bodyPr>
          <a:lstStyle/>
          <a:p>
            <a:pPr algn="ctr"/>
            <a:r>
              <a:rPr sz="1400" i="1" b="0">
                <a:solidFill>
                  <a:srgbClr val="C8A89C"/>
                </a:solidFill>
              </a:rPr>
              <a:t>The order may change depending on the situation. Follow your organisation's incident procedure.</a:t>
            </a:r>
          </a:p>
        </p:txBody>
      </p:sp>
      <p:sp>
        <p:nvSpPr>
          <p:cNvPr id="34"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35"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pic>
        <p:nvPicPr>
          <p:cNvPr id="36" name="narration_ex_33.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8315" fill="hold"/>
                                        <p:tgtEl>
                                          <p:spTgt spid="36"/>
                                        </p:tgtEl>
                                      </p:cBhvr>
                                    </p:cmd>
                                  </p:childTnLst>
                                </p:cTn>
                              </p:par>
                              <p:par>
                                <p:cTn id="20" presetID="26" presetClass="emph" presetSubtype="0" repeatCount="indefinite" fill="hold" grpId="0" nodeType="withEffect">
                                  <p:stCondLst>
                                    <p:cond delay="78315"/>
                                  </p:stCondLst>
                                  <p:childTnLst>
                                    <p:animEffect transition="out" filter="fade">
                                      <p:cBhvr>
                                        <p:cTn id="21" dur="1000" tmFilter="0, 0; .2, .5; .8, .5; 1, 0"/>
                                        <p:tgtEl>
                                          <p:spTgt spid="35"/>
                                        </p:tgtEl>
                                      </p:cBhvr>
                                    </p:animEffect>
                                    <p:animScale>
                                      <p:cBhvr>
                                        <p:cTn id="22" dur="500" autoRev="1" fill="hold"/>
                                        <p:tgtEl>
                                          <p:spTgt spid="3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36"/>
                </p:tgtEl>
              </p:cMediaNode>
            </p:audio>
          </p:childTnLst>
        </p:cTn>
      </p:par>
    </p:tnLst>
    <p:bldLst>
      <p:bldP spid="35"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1374416"/>
            <a:ext cx="3657600" cy="540766"/>
          </a:xfrm>
          <a:prstGeom prst="rect">
            <a:avLst/>
          </a:prstGeom>
          <a:noFill/>
        </p:spPr>
        <p:txBody>
          <a:bodyPr wrap="none">
            <a:spAutoFit/>
          </a:bodyPr>
          <a:lstStyle/>
          <a:p>
            <a:r>
              <a:rPr sz="2800" b="1">
                <a:solidFill>
                  <a:srgbClr val="D8B098"/>
                </a:solidFill>
              </a:rPr>
              <a:t>▶ KNOWLEDGE CHECK</a:t>
            </a:r>
          </a:p>
        </p:txBody>
      </p:sp>
      <p:sp>
        <p:nvSpPr>
          <p:cNvPr id="4" name="TextBox 3"/>
          <p:cNvSpPr txBox="1"/>
          <p:nvPr/>
        </p:nvSpPr>
        <p:spPr>
          <a:xfrm>
            <a:off x="457200" y="365760"/>
            <a:ext cx="11247120" cy="789939"/>
          </a:xfrm>
          <a:prstGeom prst="rect">
            <a:avLst/>
          </a:prstGeom>
          <a:noFill/>
        </p:spPr>
        <p:txBody>
          <a:bodyPr wrap="square">
            <a:spAutoFit/>
          </a:bodyPr>
          <a:lstStyle/>
          <a:p>
            <a:pPr algn="ctr"/>
            <a:r>
              <a:rPr sz="4400" b="1">
                <a:solidFill>
                  <a:srgbClr val="D8B098"/>
                </a:solidFill>
              </a:rPr>
              <a:t>QUESTION 1 OF 2</a:t>
            </a:r>
          </a:p>
        </p:txBody>
      </p:sp>
      <p:sp>
        <p:nvSpPr>
          <p:cNvPr id="5" name="TextBox 4"/>
          <p:cNvSpPr txBox="1"/>
          <p:nvPr/>
        </p:nvSpPr>
        <p:spPr>
          <a:xfrm>
            <a:off x="792327" y="2013503"/>
            <a:ext cx="10607040" cy="1439418"/>
          </a:xfrm>
          <a:prstGeom prst="rect">
            <a:avLst/>
          </a:prstGeom>
          <a:noFill/>
        </p:spPr>
        <p:txBody>
          <a:bodyPr wrap="square">
            <a:spAutoFit/>
          </a:bodyPr>
          <a:lstStyle/>
          <a:p>
            <a:pPr algn="ctr"/>
            <a:r>
              <a:rPr sz="2800" i="0" b="1">
                <a:solidFill>
                  <a:srgbClr val="F2EFE8"/>
                </a:solidFill>
              </a:rPr>
              <a:t>A new finance officer delays your own urgent transfer to run the callback. The deal is at risk. What do you do?</a:t>
            </a:r>
          </a:p>
        </p:txBody>
      </p:sp>
      <p:sp>
        <p:nvSpPr>
          <p:cNvPr id="6" name="Rounded Rectangle 5">
            <a:hlinkClick action="ppaction://hlinksldjump" r:id="rId4"/>
          </p:cNvPr>
          <p:cNvSpPr/>
          <p:nvPr/>
        </p:nvSpPr>
        <p:spPr>
          <a:xfrm>
            <a:off x="932688" y="3520440"/>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A)  Thank her, let the callback finish, and say the delay was right</a:t>
            </a:r>
          </a:p>
        </p:txBody>
      </p:sp>
      <p:sp>
        <p:nvSpPr>
          <p:cNvPr id="7" name="Rounded Rectangle 6">
            <a:hlinkClick action="ppaction://hlinksldjump" r:id="rId3"/>
          </p:cNvPr>
          <p:cNvSpPr/>
          <p:nvPr/>
        </p:nvSpPr>
        <p:spPr>
          <a:xfrm>
            <a:off x="932688" y="4325112"/>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B)  Tell her to skip it this once, and review the policy later</a:t>
            </a:r>
          </a:p>
        </p:txBody>
      </p:sp>
      <p:sp>
        <p:nvSpPr>
          <p:cNvPr id="8" name="Rounded Rectangle 7">
            <a:hlinkClick action="ppaction://hlinksldjump" r:id="rId3"/>
          </p:cNvPr>
          <p:cNvSpPr/>
          <p:nvPr/>
        </p:nvSpPr>
        <p:spPr>
          <a:xfrm>
            <a:off x="932688" y="5129784"/>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C)  Ask her manager to coach her on balancing speed with process</a:t>
            </a:r>
          </a:p>
        </p:txBody>
      </p:sp>
      <p:sp>
        <p:nvSpPr>
          <p:cNvPr id="9"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40</a:t>
            </a:r>
          </a:p>
        </p:txBody>
      </p:sp>
      <p:sp>
        <p:nvSpPr>
          <p:cNvPr id="10"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Tree>
  </p:cSld>
  <p:clrMapOvr>
    <a:masterClrMapping/>
  </p:clrMapOvr>
  <p:transition advClick="0"/>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078014"/>
            <a:ext cx="9966960" cy="773176"/>
          </a:xfrm>
          <a:prstGeom prst="rect">
            <a:avLst/>
          </a:prstGeom>
          <a:noFill/>
        </p:spPr>
        <p:txBody>
          <a:bodyPr wrap="square">
            <a:spAutoFit/>
          </a:bodyPr>
          <a:lstStyle/>
          <a:p>
            <a:pPr algn="ctr"/>
            <a:r>
              <a:rPr sz="4400" b="1">
                <a:solidFill>
                  <a:srgbClr val="C48A3A"/>
                </a:solidFill>
              </a:rPr>
              <a:t>NOT QUITE</a:t>
            </a:r>
          </a:p>
        </p:txBody>
      </p:sp>
      <p:sp>
        <p:nvSpPr>
          <p:cNvPr id="4" name="TextBox 3"/>
          <p:cNvSpPr txBox="1"/>
          <p:nvPr/>
        </p:nvSpPr>
        <p:spPr>
          <a:xfrm>
            <a:off x="792327" y="2288734"/>
            <a:ext cx="10607040" cy="2322576"/>
          </a:xfrm>
          <a:prstGeom prst="rect">
            <a:avLst/>
          </a:prstGeom>
          <a:noFill/>
        </p:spPr>
        <p:txBody>
          <a:bodyPr wrap="square">
            <a:spAutoFit/>
          </a:bodyPr>
          <a:lstStyle/>
          <a:p>
            <a:pPr algn="ctr"/>
            <a:r>
              <a:rPr sz="3200" i="0" b="0">
                <a:solidFill>
                  <a:srgbClr val="C8A89C"/>
                </a:solidFill>
              </a:rPr>
              <a:t>The answer is A) Thank her, let the callback finish, and say the delay was right. A delay to verify is the protocol working. Thanking her makes it safe for staff to hold the line, even against you.</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41</a:t>
            </a:r>
          </a:p>
        </p:txBody>
      </p:sp>
      <p:sp>
        <p:nvSpPr>
          <p:cNvPr id="7"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0"/>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387348"/>
            <a:ext cx="9966960" cy="773176"/>
          </a:xfrm>
          <a:prstGeom prst="rect">
            <a:avLst/>
          </a:prstGeom>
          <a:noFill/>
        </p:spPr>
        <p:txBody>
          <a:bodyPr wrap="square">
            <a:spAutoFit/>
          </a:bodyPr>
          <a:lstStyle/>
          <a:p>
            <a:pPr algn="ctr"/>
            <a:r>
              <a:rPr sz="4400" b="1">
                <a:solidFill>
                  <a:srgbClr val="2E8B57"/>
                </a:solidFill>
              </a:rPr>
              <a:t>CORRECT!</a:t>
            </a:r>
          </a:p>
        </p:txBody>
      </p:sp>
      <p:sp>
        <p:nvSpPr>
          <p:cNvPr id="4" name="TextBox 3"/>
          <p:cNvSpPr txBox="1"/>
          <p:nvPr/>
        </p:nvSpPr>
        <p:spPr>
          <a:xfrm>
            <a:off x="792327" y="2663444"/>
            <a:ext cx="10607040" cy="1207008"/>
          </a:xfrm>
          <a:prstGeom prst="rect">
            <a:avLst/>
          </a:prstGeom>
          <a:noFill/>
        </p:spPr>
        <p:txBody>
          <a:bodyPr wrap="square">
            <a:spAutoFit/>
          </a:bodyPr>
          <a:lstStyle/>
          <a:p>
            <a:pPr algn="ctr"/>
            <a:r>
              <a:rPr sz="3200" i="0" b="0">
                <a:solidFill>
                  <a:srgbClr val="C8A89C"/>
                </a:solidFill>
              </a:rPr>
              <a:t>Right. A delay to verify is the protocol working. Thanking her makes it safe for staff to hold the line, even against you.</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42</a:t>
            </a:r>
          </a:p>
        </p:txBody>
      </p:sp>
      <p:sp>
        <p:nvSpPr>
          <p:cNvPr id="7"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0"/>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1351526"/>
            <a:ext cx="3657600" cy="478790"/>
          </a:xfrm>
          <a:prstGeom prst="rect">
            <a:avLst/>
          </a:prstGeom>
          <a:noFill/>
        </p:spPr>
        <p:txBody>
          <a:bodyPr wrap="none">
            <a:spAutoFit/>
          </a:bodyPr>
          <a:lstStyle/>
          <a:p>
            <a:r>
              <a:rPr sz="2400" b="1">
                <a:solidFill>
                  <a:srgbClr val="D8B098"/>
                </a:solidFill>
              </a:rPr>
              <a:t>▶ KNOWLEDGE CHECK</a:t>
            </a:r>
          </a:p>
        </p:txBody>
      </p:sp>
      <p:sp>
        <p:nvSpPr>
          <p:cNvPr id="4" name="TextBox 3"/>
          <p:cNvSpPr txBox="1"/>
          <p:nvPr/>
        </p:nvSpPr>
        <p:spPr>
          <a:xfrm>
            <a:off x="457200" y="365760"/>
            <a:ext cx="11247120" cy="789939"/>
          </a:xfrm>
          <a:prstGeom prst="rect">
            <a:avLst/>
          </a:prstGeom>
          <a:noFill/>
        </p:spPr>
        <p:txBody>
          <a:bodyPr wrap="square">
            <a:spAutoFit/>
          </a:bodyPr>
          <a:lstStyle/>
          <a:p>
            <a:pPr algn="ctr"/>
            <a:r>
              <a:rPr sz="4400" b="1">
                <a:solidFill>
                  <a:srgbClr val="D8B098"/>
                </a:solidFill>
              </a:rPr>
              <a:t>QUESTION 2 OF 2</a:t>
            </a:r>
          </a:p>
        </p:txBody>
      </p:sp>
      <p:sp>
        <p:nvSpPr>
          <p:cNvPr id="5" name="TextBox 4"/>
          <p:cNvSpPr txBox="1"/>
          <p:nvPr/>
        </p:nvSpPr>
        <p:spPr>
          <a:xfrm>
            <a:off x="792327" y="1905746"/>
            <a:ext cx="10607040" cy="1253490"/>
          </a:xfrm>
          <a:prstGeom prst="rect">
            <a:avLst/>
          </a:prstGeom>
          <a:noFill/>
        </p:spPr>
        <p:txBody>
          <a:bodyPr wrap="square">
            <a:spAutoFit/>
          </a:bodyPr>
          <a:lstStyle/>
          <a:p>
            <a:pPr algn="ctr"/>
            <a:r>
              <a:rPr sz="2800" i="0" b="1">
                <a:solidFill>
                  <a:srgbClr val="F2EFE8"/>
                </a:solidFill>
              </a:rPr>
              <a:t>You are locked out of email before a board meeting. A text says to reply with the code just sent to restore access. What do you do?</a:t>
            </a:r>
          </a:p>
        </p:txBody>
      </p:sp>
      <p:sp>
        <p:nvSpPr>
          <p:cNvPr id="6" name="Rounded Rectangle 5">
            <a:hlinkClick action="ppaction://hlinksldjump" r:id="rId3"/>
          </p:cNvPr>
          <p:cNvSpPr/>
          <p:nvPr/>
        </p:nvSpPr>
        <p:spPr>
          <a:xfrm>
            <a:off x="932688" y="3520440"/>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A)  Reply with the code, because the text came from IT's usual number</a:t>
            </a:r>
          </a:p>
        </p:txBody>
      </p:sp>
      <p:sp>
        <p:nvSpPr>
          <p:cNvPr id="7" name="Rounded Rectangle 6">
            <a:hlinkClick action="ppaction://hlinksldjump" r:id="rId3"/>
          </p:cNvPr>
          <p:cNvSpPr/>
          <p:nvPr/>
        </p:nvSpPr>
        <p:spPr>
          <a:xfrm>
            <a:off x="932688" y="4325112"/>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B)  Forward the code to your assistant to sort out from the office</a:t>
            </a:r>
          </a:p>
        </p:txBody>
      </p:sp>
      <p:sp>
        <p:nvSpPr>
          <p:cNvPr id="8" name="Rounded Rectangle 7">
            <a:hlinkClick action="ppaction://hlinksldjump" r:id="rId4"/>
          </p:cNvPr>
          <p:cNvSpPr/>
          <p:nvPr/>
        </p:nvSpPr>
        <p:spPr>
          <a:xfrm>
            <a:off x="932688" y="5129784"/>
            <a:ext cx="10332720" cy="731520"/>
          </a:xfrm>
          <a:prstGeom prst="roundRect">
            <a:avLst>
              <a:gd name="adj" fmla="val 15000"/>
            </a:avLst>
          </a:prstGeom>
          <a:solidFill>
            <a:srgbClr val="D8B098"/>
          </a:soli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2000" b="1">
                <a:solidFill>
                  <a:srgbClr val="2A1216"/>
                </a:solidFill>
              </a:rPr>
              <a:t>C)  Share it with no one, and call IT on a saved number</a:t>
            </a:r>
          </a:p>
        </p:txBody>
      </p:sp>
      <p:sp>
        <p:nvSpPr>
          <p:cNvPr id="9" name="TextBox 8"/>
          <p:cNvSpPr txBox="1"/>
          <p:nvPr/>
        </p:nvSpPr>
        <p:spPr>
          <a:xfrm>
            <a:off x="10698480" y="6355080"/>
            <a:ext cx="1280160" cy="365760"/>
          </a:xfrm>
          <a:prstGeom prst="rect">
            <a:avLst/>
          </a:prstGeom>
          <a:noFill/>
        </p:spPr>
        <p:txBody>
          <a:bodyPr wrap="none">
            <a:spAutoFit/>
          </a:bodyPr>
          <a:lstStyle/>
          <a:p>
            <a:pPr algn="r"/>
            <a:r>
              <a:rPr sz="1200">
                <a:solidFill>
                  <a:srgbClr val="C8A89C"/>
                </a:solidFill>
              </a:rPr>
              <a:t>43</a:t>
            </a:r>
          </a:p>
        </p:txBody>
      </p:sp>
      <p:sp>
        <p:nvSpPr>
          <p:cNvPr id="10"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Tree>
  </p:cSld>
  <p:clrMapOvr>
    <a:masterClrMapping/>
  </p:clrMapOvr>
  <p:transition advClick="0"/>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925341"/>
            <a:ext cx="9966960" cy="773176"/>
          </a:xfrm>
          <a:prstGeom prst="rect">
            <a:avLst/>
          </a:prstGeom>
          <a:noFill/>
        </p:spPr>
        <p:txBody>
          <a:bodyPr wrap="square">
            <a:spAutoFit/>
          </a:bodyPr>
          <a:lstStyle/>
          <a:p>
            <a:pPr algn="ctr"/>
            <a:r>
              <a:rPr sz="4400" b="1">
                <a:solidFill>
                  <a:srgbClr val="C48A3A"/>
                </a:solidFill>
              </a:rPr>
              <a:t>NOT QUITE</a:t>
            </a:r>
          </a:p>
        </p:txBody>
      </p:sp>
      <p:sp>
        <p:nvSpPr>
          <p:cNvPr id="4" name="TextBox 3"/>
          <p:cNvSpPr txBox="1"/>
          <p:nvPr/>
        </p:nvSpPr>
        <p:spPr>
          <a:xfrm>
            <a:off x="792327" y="2186952"/>
            <a:ext cx="10607040" cy="2322576"/>
          </a:xfrm>
          <a:prstGeom prst="rect">
            <a:avLst/>
          </a:prstGeom>
          <a:noFill/>
        </p:spPr>
        <p:txBody>
          <a:bodyPr wrap="square">
            <a:spAutoFit/>
          </a:bodyPr>
          <a:lstStyle/>
          <a:p>
            <a:pPr algn="ctr"/>
            <a:r>
              <a:rPr sz="3200" i="0" b="0">
                <a:solidFill>
                  <a:srgbClr val="C8A89C"/>
                </a:solidFill>
              </a:rPr>
              <a:t>The answer is C) Share it with no one, and call IT on a saved number. Never share a one-time code with anyone who contacts you, and a number on a text can be faked. Check with IT on a number you already hold.</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44</a:t>
            </a:r>
          </a:p>
        </p:txBody>
      </p:sp>
      <p:sp>
        <p:nvSpPr>
          <p:cNvPr id="7"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action="ppaction://hlinksldjump" r:id="rId3"/>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0"/>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97280" y="1387348"/>
            <a:ext cx="9966960" cy="773176"/>
          </a:xfrm>
          <a:prstGeom prst="rect">
            <a:avLst/>
          </a:prstGeom>
          <a:noFill/>
        </p:spPr>
        <p:txBody>
          <a:bodyPr wrap="square">
            <a:spAutoFit/>
          </a:bodyPr>
          <a:lstStyle/>
          <a:p>
            <a:pPr algn="ctr"/>
            <a:r>
              <a:rPr sz="4400" b="1">
                <a:solidFill>
                  <a:srgbClr val="2E8B57"/>
                </a:solidFill>
              </a:rPr>
              <a:t>CORRECT!</a:t>
            </a:r>
          </a:p>
        </p:txBody>
      </p:sp>
      <p:sp>
        <p:nvSpPr>
          <p:cNvPr id="4" name="TextBox 3"/>
          <p:cNvSpPr txBox="1"/>
          <p:nvPr/>
        </p:nvSpPr>
        <p:spPr>
          <a:xfrm>
            <a:off x="792327" y="2663444"/>
            <a:ext cx="10607040" cy="1207008"/>
          </a:xfrm>
          <a:prstGeom prst="rect">
            <a:avLst/>
          </a:prstGeom>
          <a:noFill/>
        </p:spPr>
        <p:txBody>
          <a:bodyPr wrap="square">
            <a:spAutoFit/>
          </a:bodyPr>
          <a:lstStyle/>
          <a:p>
            <a:pPr algn="ctr"/>
            <a:r>
              <a:rPr sz="2400" i="0" b="0">
                <a:solidFill>
                  <a:srgbClr val="C8A89C"/>
                </a:solidFill>
              </a:rPr>
              <a:t>Right. Never share a one-time code with anyone who contacts you, and a number on a text can be faked. Check with IT on a number you already hold.</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45</a:t>
            </a:r>
          </a:p>
        </p:txBody>
      </p:sp>
      <p:sp>
        <p:nvSpPr>
          <p:cNvPr id="7"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8" name="Kiosk Next">
            <a:hlinkClick action="ppaction://hlinksldjump" r:id="rId3"/>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Tree>
  </p:cSld>
  <p:clrMapOvr>
    <a:masterClrMapping/>
  </p:clrMapOvr>
  <p:transition advClick="0"/>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457200"/>
            <a:ext cx="11247120" cy="789939"/>
          </a:xfrm>
          <a:prstGeom prst="rect">
            <a:avLst/>
          </a:prstGeom>
          <a:noFill/>
        </p:spPr>
        <p:txBody>
          <a:bodyPr wrap="square">
            <a:spAutoFit/>
          </a:bodyPr>
          <a:lstStyle/>
          <a:p>
            <a:pPr algn="ctr"/>
            <a:r>
              <a:rPr sz="4400" b="1">
                <a:solidFill>
                  <a:srgbClr val="D8B098"/>
                </a:solidFill>
              </a:rPr>
              <a:t>SUMMARY</a:t>
            </a:r>
          </a:p>
        </p:txBody>
      </p:sp>
      <p:sp>
        <p:nvSpPr>
          <p:cNvPr id="6" name="TextBox 5"/>
          <p:cNvSpPr txBox="1"/>
          <p:nvPr/>
        </p:nvSpPr>
        <p:spPr>
          <a:xfrm>
            <a:off x="10698480" y="6355080"/>
            <a:ext cx="1280160" cy="365760"/>
          </a:xfrm>
          <a:prstGeom prst="rect">
            <a:avLst/>
          </a:prstGeom>
          <a:noFill/>
        </p:spPr>
        <p:txBody>
          <a:bodyPr wrap="none">
            <a:spAutoFit/>
          </a:bodyPr>
          <a:lstStyle/>
          <a:p>
            <a:pPr algn="r"/>
            <a:r>
              <a:rPr sz="1200">
                <a:solidFill>
                  <a:srgbClr val="C8A89C"/>
                </a:solidFill>
              </a:rPr>
              <a:t>46</a:t>
            </a:r>
          </a:p>
        </p:txBody>
      </p:sp>
      <p:sp>
        <p:nvSpPr>
          <p:cNvPr id="57" name="Kiosk Previous">
            <a:hlinkClick action="ppaction://hlinksldjump" r:id="rId6"/>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58"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Next</a:t>
            </a:r>
          </a:p>
        </p:txBody>
      </p:sp>
      <p:sp>
        <p:nvSpPr>
          <p:cNvPr id="59" name="Summary card 1"/>
          <p:cNvSpPr/>
          <p:nvPr/>
        </p:nvSpPr>
        <p:spPr>
          <a:xfrm>
            <a:off x="548640" y="1600200"/>
            <a:ext cx="3483864" cy="237744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DETECT</a:t>
            </a:r>
          </a:p>
          <a:p>
            <a:pPr algn="ctr"/>
            <a:r>
              <a:rPr sz="2000">
                <a:solidFill>
                  <a:srgbClr val="2A1216"/>
                </a:solidFill>
              </a:rPr>
              <a:t>Authority plus urgency, in any channel</a:t>
            </a:r>
          </a:p>
        </p:txBody>
      </p:sp>
      <p:sp>
        <p:nvSpPr>
          <p:cNvPr id="60" name="Summary card 2"/>
          <p:cNvSpPr/>
          <p:nvPr/>
        </p:nvSpPr>
        <p:spPr>
          <a:xfrm>
            <a:off x="4352544" y="1600200"/>
            <a:ext cx="3483864" cy="237744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VERIFY</a:t>
            </a:r>
          </a:p>
          <a:p>
            <a:pPr algn="ctr"/>
            <a:r>
              <a:rPr sz="2000">
                <a:solidFill>
                  <a:srgbClr val="2A1216"/>
                </a:solidFill>
              </a:rPr>
              <a:t>Check somewhere the request can't reach, and give staff time and permission to do it</a:t>
            </a:r>
          </a:p>
        </p:txBody>
      </p:sp>
      <p:sp>
        <p:nvSpPr>
          <p:cNvPr id="61" name="Summary card 3"/>
          <p:cNvSpPr/>
          <p:nvPr/>
        </p:nvSpPr>
        <p:spPr>
          <a:xfrm>
            <a:off x="8156448" y="1600200"/>
            <a:ext cx="3483864" cy="2377440"/>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2A1216"/>
                </a:solidFill>
              </a:rPr>
              <a:t>CONTAIN</a:t>
            </a:r>
          </a:p>
          <a:p>
            <a:pPr algn="ctr"/>
            <a:r>
              <a:rPr sz="2000">
                <a:solidFill>
                  <a:srgbClr val="2A1216"/>
                </a:solidFill>
              </a:rPr>
              <a:t>Bank first, then Legal, security and the board</a:t>
            </a:r>
          </a:p>
        </p:txBody>
      </p:sp>
      <p:sp>
        <p:nvSpPr>
          <p:cNvPr id="62" name="Takeaway"/>
          <p:cNvSpPr txBox="1"/>
          <p:nvPr/>
        </p:nvSpPr>
        <p:spPr>
          <a:xfrm>
            <a:off x="795528" y="4343400"/>
            <a:ext cx="10607040" cy="731520"/>
          </a:xfrm>
          <a:prstGeom prst="rect">
            <a:avLst/>
          </a:prstGeom>
          <a:noFill/>
        </p:spPr>
        <p:txBody>
          <a:bodyPr wrap="square">
            <a:spAutoFit/>
          </a:bodyPr>
          <a:lstStyle/>
          <a:p>
            <a:pPr algn="ctr"/>
            <a:r>
              <a:rPr sz="2600" i="1" b="1">
                <a:solidFill>
                  <a:srgbClr val="D8B098"/>
                </a:solidFill>
              </a:rPr>
              <a:t>Always verify somewhere the request can't reach.</a:t>
            </a:r>
          </a:p>
        </p:txBody>
      </p:sp>
      <p:sp>
        <p:nvSpPr>
          <p:cNvPr id="64" name="Adapt note"/>
          <p:cNvSpPr txBox="1"/>
          <p:nvPr/>
        </p:nvSpPr>
        <p:spPr>
          <a:xfrm>
            <a:off x="795528" y="5184648"/>
            <a:ext cx="10607040" cy="713232"/>
          </a:xfrm>
          <a:prstGeom prst="rect">
            <a:avLst/>
          </a:prstGeom>
          <a:noFill/>
        </p:spPr>
        <p:txBody>
          <a:bodyPr wrap="square">
            <a:spAutoFit/>
          </a:bodyPr>
          <a:lstStyle/>
          <a:p>
            <a:pPr algn="ctr"/>
            <a:r>
              <a:rPr sz="2000" i="1" b="0">
                <a:solidFill>
                  <a:srgbClr val="D8B098"/>
                </a:solidFill>
              </a:rPr>
              <a:t>Laws, contacts and reporting services differ by country and industry. Adapt this module before you use it.</a:t>
            </a:r>
          </a:p>
        </p:txBody>
      </p:sp>
      <p:pic>
        <p:nvPicPr>
          <p:cNvPr id="63" name="narration_v14_ex_4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679" fill="hold"/>
                                        <p:tgtEl>
                                          <p:spTgt spid="63"/>
                                        </p:tgtEl>
                                      </p:cBhvr>
                                    </p:cmd>
                                  </p:childTnLst>
                                </p:cTn>
                              </p:par>
                              <p:par>
                                <p:cTn id="20" presetID="26" presetClass="emph" presetSubtype="0" repeatCount="indefinite" fill="hold" grpId="0" nodeType="withEffect">
                                  <p:stCondLst>
                                    <p:cond delay="32679"/>
                                  </p:stCondLst>
                                  <p:childTnLst>
                                    <p:animEffect transition="out" filter="fade">
                                      <p:cBhvr>
                                        <p:cTn id="21" dur="1000" tmFilter="0, 0; .2, .5; .8, .5; 1, 0"/>
                                        <p:tgtEl>
                                          <p:spTgt spid="58"/>
                                        </p:tgtEl>
                                      </p:cBhvr>
                                    </p:animEffect>
                                    <p:animScale>
                                      <p:cBhvr>
                                        <p:cTn id="22" dur="500" autoRev="1" fill="hold"/>
                                        <p:tgtEl>
                                          <p:spTgt spid="5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3"/>
                </p:tgtEl>
              </p:cMediaNode>
            </p:audio>
          </p:childTnLst>
        </p:cTn>
      </p:par>
    </p:tnLst>
    <p:bldLst>
      <p:bldP spid="58"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2_C_burgund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525778"/>
            <a:ext cx="10698480" cy="990092"/>
          </a:xfrm>
          <a:prstGeom prst="rect">
            <a:avLst/>
          </a:prstGeom>
          <a:noFill/>
        </p:spPr>
        <p:txBody>
          <a:bodyPr wrap="none">
            <a:spAutoFit/>
          </a:bodyPr>
          <a:lstStyle/>
          <a:p>
            <a:pPr algn="ctr"/>
            <a:r>
              <a:rPr sz="4800" b="1">
                <a:solidFill>
                  <a:srgbClr val="F2EFE8"/>
                </a:solidFill>
              </a:rPr>
              <a:t>THANK YOU</a:t>
            </a:r>
          </a:p>
        </p:txBody>
      </p:sp>
      <p:sp>
        <p:nvSpPr>
          <p:cNvPr id="4" name="TextBox 3"/>
          <p:cNvSpPr txBox="1"/>
          <p:nvPr/>
        </p:nvSpPr>
        <p:spPr>
          <a:xfrm>
            <a:off x="792327" y="3018790"/>
            <a:ext cx="10607040" cy="649224"/>
          </a:xfrm>
          <a:prstGeom prst="rect">
            <a:avLst/>
          </a:prstGeom>
          <a:noFill/>
        </p:spPr>
        <p:txBody>
          <a:bodyPr wrap="square">
            <a:spAutoFit/>
          </a:bodyPr>
          <a:lstStyle/>
          <a:p>
            <a:pPr algn="ctr"/>
            <a:r>
              <a:rPr sz="3600" i="0" b="0">
                <a:solidFill>
                  <a:srgbClr val="D8B098"/>
                </a:solidFill>
              </a:rPr>
              <a:t>Questions? Reach out to Jenny: s4927217@uq.edu.au</a:t>
            </a:r>
          </a:p>
        </p:txBody>
      </p:sp>
      <p:sp>
        <p:nvSpPr>
          <p:cNvPr id="5" name="TextBox 4"/>
          <p:cNvSpPr txBox="1"/>
          <p:nvPr/>
        </p:nvSpPr>
        <p:spPr>
          <a:xfrm>
            <a:off x="792327" y="4170934"/>
            <a:ext cx="10607040" cy="1207008"/>
          </a:xfrm>
          <a:prstGeom prst="rect">
            <a:avLst/>
          </a:prstGeom>
          <a:noFill/>
        </p:spPr>
        <p:txBody>
          <a:bodyPr wrap="square">
            <a:spAutoFit/>
          </a:bodyPr>
          <a:lstStyle/>
          <a:p>
            <a:pPr algn="ctr"/>
            <a:r>
              <a:rPr sz="3600" i="0" b="0">
                <a:solidFill>
                  <a:srgbClr val="C8A89C"/>
                </a:solidFill>
              </a:rPr>
              <a:t>Prepared as part of the Role-Based BEC Competency Framework (RBCF)</a:t>
            </a:r>
          </a:p>
        </p:txBody>
      </p:sp>
      <p:pic>
        <p:nvPicPr>
          <p:cNvPr id="55" name="narration_slide29.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7"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Previous</a:t>
            </a:r>
          </a:p>
        </p:txBody>
      </p:sp>
      <p:sp>
        <p:nvSpPr>
          <p:cNvPr id="58" name="Kiosk Finish">
            <a:hlinkClick r:id="" action="ppaction://hlinkshowjump?jump=endshow"/>
          </p:cNvPr>
          <p:cNvSpPr/>
          <p:nvPr/>
        </p:nvSpPr>
        <p:spPr>
          <a:xfrm>
            <a:off x="6233007" y="6309360"/>
            <a:ext cx="1463040" cy="384048"/>
          </a:xfrm>
          <a:prstGeom prst="roundRect">
            <a:avLst>
              <a:gd name="adj" fmla="val 8000"/>
            </a:avLst>
          </a:prstGeom>
          <a:gradFill rotWithShape="1">
            <a:gsLst>
              <a:gs pos="0">
                <a:srgbClr val="D8B098"/>
              </a:gs>
              <a:gs pos="100000">
                <a:srgbClr val="766053"/>
              </a:gs>
            </a:gsLst>
            <a:lin scaled="0" ang="18900000"/>
          </a:gradFill>
          <a:ln>
            <a:solidFill>
              <a:srgbClr val="D8B09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2A1216"/>
                </a:solidFill>
              </a:rPr>
              <a:t>Finish</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333" fill="hold"/>
                                        <p:tgtEl>
                                          <p:spTgt spid="5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Email Compromise Training: Executive (kiosk version)</dc:title>
  <dc:subject>Role-Based BEC Competency Framework (RBCF)</dc:subject>
  <dc:creator>Ida Jenifer Jayaprakasam</dc:creator>
  <cp:keywords>business email compromise; BEC; role-based training; RBCF</cp:keywords>
  <dc:description>Capstone project CYBR7901/7902, University of Queensland</dc:description>
  <cp:lastModifiedBy>Ida Jenifer Jayaprakasam</cp:lastModifiedBy>
  <cp:revision>1</cp:revision>
  <dcterms:created xsi:type="dcterms:W3CDTF">2013-01-27T09:14:16Z</dcterms:created>
  <dcterms:modified xsi:type="dcterms:W3CDTF">2013-01-27T09:15:58Z</dcterms:modified>
  <cp:category/>
</cp:coreProperties>
</file>
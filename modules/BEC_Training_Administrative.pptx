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4" ContentType="video/unknown"/>
  <Override PartName="/ppt/media/narration_adm_09.mp3" ContentType="audio/mpeg"/>
  <Override PartName="/ppt/media/narration_adm_11.mp3" ContentType="audio/mpeg"/>
  <Override PartName="/ppt/media/narration_adm_12.mp3" ContentType="audio/mpeg"/>
  <Override PartName="/ppt/media/narration_adm_13.mp3" ContentType="audio/mpeg"/>
  <Override PartName="/ppt/media/narration_adm_18.mp3" ContentType="audio/mpeg"/>
  <Override PartName="/ppt/media/narration_adm_21.mp3" ContentType="audio/mpeg"/>
  <Override PartName="/ppt/media/narration_adm_22.mp3" ContentType="audio/mpeg"/>
  <Override PartName="/ppt/media/narration_adm_25.mp3" ContentType="audio/mpeg"/>
  <Override PartName="/ppt/media/narration_adm_27.mp3" ContentType="audio/mpeg"/>
  <Override PartName="/ppt/media/narration_adm_L02.mp3" ContentType="audio/mpeg"/>
  <Override PartName="/ppt/media/narration_adm_L03.mp3" ContentType="audio/mpeg"/>
  <Override PartName="/ppt/media/narration_adm_L06.mp3" ContentType="audio/mpeg"/>
  <Override PartName="/ppt/media/narration_adm_L13.mp3" ContentType="audio/mpeg"/>
  <Override PartName="/ppt/media/narration_slide1.mp3" ContentType="audio/mpeg"/>
  <Override PartName="/ppt/media/narration_slide10.mp3" ContentType="audio/mpeg"/>
  <Override PartName="/ppt/media/narration_slide12.mp3" ContentType="audio/mpeg"/>
  <Override PartName="/ppt/media/narration_slide18.mp3" ContentType="audio/mpeg"/>
  <Override PartName="/ppt/media/narration_slide27.mp3" ContentType="audio/mpeg"/>
  <Override PartName="/ppt/media/narration_slide4.mp3" ContentType="audio/mpeg"/>
  <Override PartName="/ppt/media/narration_v15_adm_05.mp3" ContentType="audio/mpeg"/>
  <Override PartName="/ppt/media/narration_v16_adm_02.mp3" ContentType="audio/mpe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83" r:id="rId34"/>
    <p:sldId id="284" r:id="rId35"/>
    <p:sldId id="258" r:id="rId9"/>
    <p:sldId id="259" r:id="rId10"/>
    <p:sldId id="282" r:id="rId33"/>
    <p:sldId id="264" r:id="rId15"/>
    <p:sldId id="265" r:id="rId16"/>
    <p:sldId id="290" r:id="rId41"/>
    <p:sldId id="291" r:id="rId42"/>
    <p:sldId id="292" r:id="rId43"/>
    <p:sldId id="293" r:id="rId44"/>
    <p:sldId id="266" r:id="rId17"/>
    <p:sldId id="267" r:id="rId18"/>
    <p:sldId id="260" r:id="rId11"/>
    <p:sldId id="261" r:id="rId12"/>
    <p:sldId id="262" r:id="rId13"/>
    <p:sldId id="295" r:id="rId40"/>
    <p:sldId id="263" r:id="rId14"/>
    <p:sldId id="268" r:id="rId19"/>
    <p:sldId id="269" r:id="rId20"/>
    <p:sldId id="270" r:id="rId21"/>
    <p:sldId id="296" r:id="rId39"/>
    <p:sldId id="271" r:id="rId22"/>
    <p:sldId id="272" r:id="rId23"/>
    <p:sldId id="294" r:id="rId45"/>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kiosk restart="3600000"/>
    <p:sldAll/>
  </p:showPr>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16.xml"/><Relationship Id="rId12" Type="http://schemas.openxmlformats.org/officeDocument/2006/relationships/slide" Target="slides/slide17.xml"/><Relationship Id="rId13" Type="http://schemas.openxmlformats.org/officeDocument/2006/relationships/slide" Target="slides/slide18.xml"/><Relationship Id="rId14" Type="http://schemas.openxmlformats.org/officeDocument/2006/relationships/slide" Target="slides/slide20.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21.xml"/><Relationship Id="rId20" Type="http://schemas.openxmlformats.org/officeDocument/2006/relationships/slide" Target="slides/slide22.xml"/><Relationship Id="rId21" Type="http://schemas.openxmlformats.org/officeDocument/2006/relationships/slide" Target="slides/slide23.xml"/><Relationship Id="rId22" Type="http://schemas.openxmlformats.org/officeDocument/2006/relationships/slide" Target="slides/slide25.xml"/><Relationship Id="rId23" Type="http://schemas.openxmlformats.org/officeDocument/2006/relationships/slide" Target="slides/slide26.xml"/><Relationship Id="rId25" Type="http://schemas.openxmlformats.org/officeDocument/2006/relationships/slide" Target="slides/slide28.xml"/><Relationship Id="rId26" Type="http://schemas.openxmlformats.org/officeDocument/2006/relationships/slide" Target="slides/slide29.xml"/><Relationship Id="rId27" Type="http://schemas.openxmlformats.org/officeDocument/2006/relationships/slide" Target="slides/slide30.xml"/><Relationship Id="rId28" Type="http://schemas.openxmlformats.org/officeDocument/2006/relationships/slide" Target="slides/slide31.xml"/><Relationship Id="rId29" Type="http://schemas.openxmlformats.org/officeDocument/2006/relationships/slide" Target="slides/slide32.xml"/><Relationship Id="rId30" Type="http://schemas.openxmlformats.org/officeDocument/2006/relationships/slide" Target="slides/slide33.xml"/><Relationship Id="rId31" Type="http://schemas.openxmlformats.org/officeDocument/2006/relationships/slide" Target="slides/slide34.xml"/><Relationship Id="rId32" Type="http://schemas.openxmlformats.org/officeDocument/2006/relationships/slide" Target="slides/slide35.xml"/><Relationship Id="rId33" Type="http://schemas.openxmlformats.org/officeDocument/2006/relationships/slide" Target="slides/slide7.xml"/><Relationship Id="rId34" Type="http://schemas.openxmlformats.org/officeDocument/2006/relationships/slide" Target="slides/slide3.xml"/><Relationship Id="rId35" Type="http://schemas.openxmlformats.org/officeDocument/2006/relationships/slide" Target="slides/slide4.xml"/><Relationship Id="rId39" Type="http://schemas.openxmlformats.org/officeDocument/2006/relationships/slide" Target="slides/slide24.xml"/><Relationship Id="rId40" Type="http://schemas.openxmlformats.org/officeDocument/2006/relationships/slide" Target="slides/slide19.xml"/><Relationship Id="rId41" Type="http://schemas.openxmlformats.org/officeDocument/2006/relationships/slide" Target="slides/slide10.xml"/><Relationship Id="rId42" Type="http://schemas.openxmlformats.org/officeDocument/2006/relationships/slide" Target="slides/slide11.xml"/><Relationship Id="rId43" Type="http://schemas.openxmlformats.org/officeDocument/2006/relationships/slide" Target="slides/slide12.xml"/><Relationship Id="rId44" Type="http://schemas.openxmlformats.org/officeDocument/2006/relationships/slide" Target="slides/slide13.xml"/><Relationship Id="rId45"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1.mp3"/><Relationship Id="rId4" Type="http://schemas.microsoft.com/office/2007/relationships/media" Target="../media/narration_slide1.mp3"/><Relationship Id="rId5" Type="http://schemas.openxmlformats.org/officeDocument/2006/relationships/image" Target="../media/audio_icon.png"/><Relationship Id="rId6"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4" Type="http://schemas.microsoft.com/office/2007/relationships/media" Target="../media/narration_v16_adm_02.mp3"/><Relationship Id="rId5" Type="http://schemas.openxmlformats.org/officeDocument/2006/relationships/audio" Target="../media/narration_v16_adm_02.mp3"/><Relationship Id="rId6" Type="http://schemas.openxmlformats.org/officeDocument/2006/relationships/slide" Target="slide1.xml"/><Relationship Id="rId7" Type="http://schemas.openxmlformats.org/officeDocument/2006/relationships/slide" Target="slide3.xml"/><Relationship Id="rId10" Type="http://schemas.openxmlformats.org/officeDocument/2006/relationships/image" Target="../media/audio_icon.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adm_L02.mp3"/><Relationship Id="rId4" Type="http://schemas.microsoft.com/office/2007/relationships/media" Target="../media/narration_adm_L02.mp3"/><Relationship Id="rId5" Type="http://schemas.openxmlformats.org/officeDocument/2006/relationships/image" Target="../media/audio_icon.png"/><Relationship Id="rId6" Type="http://schemas.openxmlformats.org/officeDocument/2006/relationships/slide" Target="slide2.xml"/><Relationship Id="rId7"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adm_L03.mp3"/><Relationship Id="rId4" Type="http://schemas.microsoft.com/office/2007/relationships/media" Target="../media/narration_adm_L03.mp3"/><Relationship Id="rId5" Type="http://schemas.openxmlformats.org/officeDocument/2006/relationships/image" Target="../media/audio_icon.png"/><Relationship Id="rId6" Type="http://schemas.openxmlformats.org/officeDocument/2006/relationships/slide" Target="slide3.xml"/><Relationship Id="rId7" Type="http://schemas.openxmlformats.org/officeDocument/2006/relationships/slide" Target="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4" Type="http://schemas.microsoft.com/office/2007/relationships/media" Target="../media/narration_v15_adm_05.mp3"/><Relationship Id="rId5" Type="http://schemas.openxmlformats.org/officeDocument/2006/relationships/audio" Target="../media/narration_v15_adm_05.mp3"/><Relationship Id="rId6" Type="http://schemas.openxmlformats.org/officeDocument/2006/relationships/slide" Target="slide4.xml"/><Relationship Id="rId7" Type="http://schemas.openxmlformats.org/officeDocument/2006/relationships/slide" Target="slide6.xml"/><Relationship Id="rId10" Type="http://schemas.openxmlformats.org/officeDocument/2006/relationships/image" Target="../media/audio_icon.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4.mp3"/><Relationship Id="rId4" Type="http://schemas.microsoft.com/office/2007/relationships/media" Target="../media/narration_slide4.mp3"/><Relationship Id="rId5" Type="http://schemas.openxmlformats.org/officeDocument/2006/relationships/image" Target="../media/audio_icon.png"/><Relationship Id="rId6" Type="http://schemas.openxmlformats.org/officeDocument/2006/relationships/slide" Target="slide5.xml"/><Relationship Id="rId7" Type="http://schemas.openxmlformats.org/officeDocument/2006/relationships/slide" Target="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2.jpg"/><Relationship Id="rId6" Type="http://schemas.openxmlformats.org/officeDocument/2006/relationships/slide" Target="slide6.xml"/><Relationship Id="rId7" Type="http://schemas.openxmlformats.org/officeDocument/2006/relationships/slide" Target="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10.mp3"/><Relationship Id="rId4" Type="http://schemas.microsoft.com/office/2007/relationships/media" Target="../media/narration_slide10.mp3"/><Relationship Id="rId5" Type="http://schemas.openxmlformats.org/officeDocument/2006/relationships/image" Target="../media/audio_icon.png"/><Relationship Id="rId6" Type="http://schemas.openxmlformats.org/officeDocument/2006/relationships/slide" Target="slide7.xml"/><Relationship Id="rId7" Type="http://schemas.openxmlformats.org/officeDocument/2006/relationships/slide" Target="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8.xml"/><Relationship Id="rId4" Type="http://schemas.openxmlformats.org/officeDocument/2006/relationships/slide" Target="slide10.xml"/><Relationship Id="rId5" Type="http://schemas.openxmlformats.org/officeDocument/2006/relationships/audio" Target="../media/narration_adm_09.mp3"/><Relationship Id="rId6" Type="http://schemas.microsoft.com/office/2007/relationships/media" Target="../media/narration_adm_09.mp3"/><Relationship Id="rId7" Type="http://schemas.openxmlformats.org/officeDocument/2006/relationships/image" Target="../media/audio_icon.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9.xml"/><Relationship Id="rId4" Type="http://schemas.openxmlformats.org/officeDocument/2006/relationships/slide" Target="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0.xml"/><Relationship Id="rId4" Type="http://schemas.openxmlformats.org/officeDocument/2006/relationships/slide" Target="slide12.xml"/><Relationship Id="rId5" Type="http://schemas.openxmlformats.org/officeDocument/2006/relationships/audio" Target="../media/narration_adm_11.mp3"/><Relationship Id="rId6" Type="http://schemas.microsoft.com/office/2007/relationships/media" Target="../media/narration_adm_11.mp3"/><Relationship Id="rId7" Type="http://schemas.openxmlformats.org/officeDocument/2006/relationships/image" Target="../media/audio_icon.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slide" Target="slide11.xml"/><Relationship Id="rId5" Type="http://schemas.openxmlformats.org/officeDocument/2006/relationships/slide" Target="slide13.xml"/><Relationship Id="rId6" Type="http://schemas.openxmlformats.org/officeDocument/2006/relationships/audio" Target="../media/narration_adm_12.mp3"/><Relationship Id="rId7" Type="http://schemas.microsoft.com/office/2007/relationships/media" Target="../media/narration_adm_12.mp3"/><Relationship Id="rId8" Type="http://schemas.openxmlformats.org/officeDocument/2006/relationships/image" Target="../media/audio_icon.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2.xml"/><Relationship Id="rId4" Type="http://schemas.openxmlformats.org/officeDocument/2006/relationships/slide" Target="slide14.xml"/><Relationship Id="rId5" Type="http://schemas.openxmlformats.org/officeDocument/2006/relationships/audio" Target="../media/narration_adm_13.mp3"/><Relationship Id="rId6" Type="http://schemas.microsoft.com/office/2007/relationships/media" Target="../media/narration_adm_13.mp3"/><Relationship Id="rId7" Type="http://schemas.openxmlformats.org/officeDocument/2006/relationships/image" Target="../media/audio_icon.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12.mp3"/><Relationship Id="rId4" Type="http://schemas.microsoft.com/office/2007/relationships/media" Target="../media/narration_slide12.mp3"/><Relationship Id="rId5" Type="http://schemas.openxmlformats.org/officeDocument/2006/relationships/image" Target="../media/audio_icon.png"/><Relationship Id="rId6" Type="http://schemas.openxmlformats.org/officeDocument/2006/relationships/slide" Target="slide13.xml"/><Relationship Id="rId7" Type="http://schemas.openxmlformats.org/officeDocument/2006/relationships/slide" Target="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adm_L06.mp3"/><Relationship Id="rId4" Type="http://schemas.microsoft.com/office/2007/relationships/media" Target="../media/narration_adm_L06.mp3"/><Relationship Id="rId5" Type="http://schemas.openxmlformats.org/officeDocument/2006/relationships/image" Target="../media/audio_icon.png"/><Relationship Id="rId6" Type="http://schemas.openxmlformats.org/officeDocument/2006/relationships/slide" Target="slide14.xml"/><Relationship Id="rId7" Type="http://schemas.openxmlformats.org/officeDocument/2006/relationships/slide" Target="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7.xml"/><Relationship Id="rId4" Type="http://schemas.openxmlformats.org/officeDocument/2006/relationships/slide" Target="slide18.xml"/><Relationship Id="rId5" Type="http://schemas.openxmlformats.org/officeDocument/2006/relationships/slide" Target="slide15.xml"/><Relationship Id="rId6" Type="http://schemas.openxmlformats.org/officeDocument/2006/relationships/audio" Target="../media/narration_adm_18.mp3"/><Relationship Id="rId7" Type="http://schemas.microsoft.com/office/2007/relationships/media" Target="../media/narration_adm_18.mp3"/><Relationship Id="rId8" Type="http://schemas.openxmlformats.org/officeDocument/2006/relationships/image" Target="../media/audio_icon.png"/><Relationship Id="rId9" Type="http://schemas.openxmlformats.org/officeDocument/2006/relationships/slide" Target="slide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0.xml"/><Relationship Id="rId4" Type="http://schemas.openxmlformats.org/officeDocument/2006/relationships/slide" Target="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0.xml"/><Relationship Id="rId4" Type="http://schemas.openxmlformats.org/officeDocument/2006/relationships/slide" Target="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6.xml"/><Relationship Id="rId4" Type="http://schemas.openxmlformats.org/officeDocument/2006/relationships/slide" Target="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16.xml"/><Relationship Id="rId4" Type="http://schemas.openxmlformats.org/officeDocument/2006/relationships/slide" Target="slide21.xml"/><Relationship Id="rId5" Type="http://schemas.openxmlformats.org/officeDocument/2006/relationships/audio" Target="../media/narration_adm_21.mp3"/><Relationship Id="rId6" Type="http://schemas.microsoft.com/office/2007/relationships/media" Target="../media/narration_adm_21.mp3"/><Relationship Id="rId7" Type="http://schemas.openxmlformats.org/officeDocument/2006/relationships/image" Target="../media/audio_icon.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2.xml"/><Relationship Id="rId4" Type="http://schemas.openxmlformats.org/officeDocument/2006/relationships/slide" Target="slide23.xml"/><Relationship Id="rId5" Type="http://schemas.openxmlformats.org/officeDocument/2006/relationships/slide" Target="slide20.xml"/><Relationship Id="rId6" Type="http://schemas.openxmlformats.org/officeDocument/2006/relationships/audio" Target="../media/narration_adm_22.mp3"/><Relationship Id="rId7" Type="http://schemas.microsoft.com/office/2007/relationships/media" Target="../media/narration_adm_22.mp3"/><Relationship Id="rId8" Type="http://schemas.openxmlformats.org/officeDocument/2006/relationships/image" Target="../media/audio_icon.png"/><Relationship Id="rId9" Type="http://schemas.openxmlformats.org/officeDocument/2006/relationships/slide" Target="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5.xml"/><Relationship Id="rId4" Type="http://schemas.openxmlformats.org/officeDocument/2006/relationships/slide" Target="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5.xml"/><Relationship Id="rId4" Type="http://schemas.openxmlformats.org/officeDocument/2006/relationships/slide" Target="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1.xml"/><Relationship Id="rId4" Type="http://schemas.openxmlformats.org/officeDocument/2006/relationships/slide" Target="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1.xml"/><Relationship Id="rId4" Type="http://schemas.openxmlformats.org/officeDocument/2006/relationships/slide" Target="slide26.xml"/><Relationship Id="rId5" Type="http://schemas.openxmlformats.org/officeDocument/2006/relationships/audio" Target="../media/narration_adm_25.mp3"/><Relationship Id="rId6" Type="http://schemas.microsoft.com/office/2007/relationships/media" Target="../media/narration_adm_25.mp3"/><Relationship Id="rId7" Type="http://schemas.openxmlformats.org/officeDocument/2006/relationships/image" Target="../media/audio_icon.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18.mp3"/><Relationship Id="rId4" Type="http://schemas.microsoft.com/office/2007/relationships/media" Target="../media/narration_slide18.mp3"/><Relationship Id="rId5" Type="http://schemas.openxmlformats.org/officeDocument/2006/relationships/image" Target="../media/audio_icon.png"/><Relationship Id="rId6" Type="http://schemas.openxmlformats.org/officeDocument/2006/relationships/slide" Target="slide25.xml"/><Relationship Id="rId7" Type="http://schemas.openxmlformats.org/officeDocument/2006/relationships/slide" Target="slide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26.xml"/><Relationship Id="rId4" Type="http://schemas.openxmlformats.org/officeDocument/2006/relationships/slide" Target="slide28.xml"/><Relationship Id="rId5" Type="http://schemas.openxmlformats.org/officeDocument/2006/relationships/audio" Target="../media/narration_adm_27.mp3"/><Relationship Id="rId6" Type="http://schemas.microsoft.com/office/2007/relationships/media" Target="../media/narration_adm_27.mp3"/><Relationship Id="rId7" Type="http://schemas.openxmlformats.org/officeDocument/2006/relationships/image" Target="../media/audio_icon.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0.xml"/><Relationship Id="rId4" Type="http://schemas.openxmlformats.org/officeDocument/2006/relationships/slide" Target="slide29.xml"/><Relationship Id="rId5" Type="http://schemas.openxmlformats.org/officeDocument/2006/relationships/slide" Target="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1.xml"/><Relationship Id="rId4" Type="http://schemas.openxmlformats.org/officeDocument/2006/relationships/slide" Target="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1.xml"/><Relationship Id="rId4" Type="http://schemas.openxmlformats.org/officeDocument/2006/relationships/slide" Target="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2.xml"/><Relationship Id="rId4" Type="http://schemas.openxmlformats.org/officeDocument/2006/relationships/slide" Target="slide33.xml"/><Relationship Id="rId5" Type="http://schemas.openxmlformats.org/officeDocument/2006/relationships/slide" Target="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4.xml"/><Relationship Id="rId4" Type="http://schemas.openxmlformats.org/officeDocument/2006/relationships/slide" Target="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slide" Target="slide34.xml"/><Relationship Id="rId4" Type="http://schemas.openxmlformats.org/officeDocument/2006/relationships/slide" Target="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adm_L13.mp3"/><Relationship Id="rId4" Type="http://schemas.microsoft.com/office/2007/relationships/media" Target="../media/narration_adm_L13.mp3"/><Relationship Id="rId5" Type="http://schemas.openxmlformats.org/officeDocument/2006/relationships/image" Target="../media/audio_icon.png"/><Relationship Id="rId6" Type="http://schemas.openxmlformats.org/officeDocument/2006/relationships/slide" Target="slide31.xml"/><Relationship Id="rId7" Type="http://schemas.openxmlformats.org/officeDocument/2006/relationships/slide" Target="slide3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audio" Target="../media/narration_slide27.mp3"/><Relationship Id="rId4" Type="http://schemas.microsoft.com/office/2007/relationships/media" Target="../media/narration_slide27.mp3"/><Relationship Id="rId5" Type="http://schemas.openxmlformats.org/officeDocument/2006/relationships/image" Target="../media/audio_icon.png"/><Relationship Id="rId6" Type="http://schemas.openxmlformats.org/officeDocument/2006/relationships/slide" Target="slide3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893064"/>
            <a:ext cx="10698480" cy="1578864"/>
          </a:xfrm>
          <a:prstGeom prst="rect">
            <a:avLst/>
          </a:prstGeom>
          <a:noFill/>
        </p:spPr>
        <p:txBody>
          <a:bodyPr wrap="none">
            <a:spAutoFit/>
          </a:bodyPr>
          <a:lstStyle/>
          <a:p>
            <a:pPr algn="ctr"/>
            <a:r>
              <a:rPr sz="4800" b="1">
                <a:solidFill>
                  <a:srgbClr val="000000"/>
                </a:solidFill>
              </a:rPr>
              <a:t>BUSINESS EMAIL COMPROMISE TRAINING</a:t>
            </a:r>
          </a:p>
        </p:txBody>
      </p:sp>
      <p:sp>
        <p:nvSpPr>
          <p:cNvPr id="5" name="TextBox 4"/>
          <p:cNvSpPr txBox="1"/>
          <p:nvPr/>
        </p:nvSpPr>
        <p:spPr>
          <a:xfrm>
            <a:off x="792327" y="2816352"/>
            <a:ext cx="10607040" cy="649224"/>
          </a:xfrm>
          <a:prstGeom prst="rect">
            <a:avLst/>
          </a:prstGeom>
          <a:noFill/>
        </p:spPr>
        <p:txBody>
          <a:bodyPr wrap="square">
            <a:spAutoFit/>
          </a:bodyPr>
          <a:lstStyle/>
          <a:p>
            <a:pPr algn="ctr"/>
            <a:r>
              <a:rPr sz="3600" i="0" b="1">
                <a:solidFill>
                  <a:srgbClr val="333333"/>
                </a:solidFill>
              </a:rPr>
              <a:t>Administrative Staff Edition</a:t>
            </a:r>
          </a:p>
        </p:txBody>
      </p:sp>
      <p:sp>
        <p:nvSpPr>
          <p:cNvPr id="6" name="TextBox 5"/>
          <p:cNvSpPr txBox="1"/>
          <p:nvPr/>
        </p:nvSpPr>
        <p:spPr>
          <a:xfrm>
            <a:off x="792327" y="3810000"/>
            <a:ext cx="10607040" cy="649224"/>
          </a:xfrm>
          <a:prstGeom prst="rect">
            <a:avLst/>
          </a:prstGeom>
          <a:noFill/>
        </p:spPr>
        <p:txBody>
          <a:bodyPr wrap="square">
            <a:spAutoFit/>
          </a:bodyPr>
          <a:lstStyle/>
          <a:p>
            <a:pPr algn="ctr"/>
            <a:r>
              <a:rPr sz="3600" i="0" b="1">
                <a:solidFill>
                  <a:srgbClr val="4F7942"/>
                </a:solidFill>
              </a:rPr>
              <a:t>Detect  →  Verify  →  Contain</a:t>
            </a:r>
          </a:p>
        </p:txBody>
      </p:sp>
      <p:sp>
        <p:nvSpPr>
          <p:cNvPr id="7" name="TextBox 6"/>
          <p:cNvSpPr txBox="1"/>
          <p:nvPr/>
        </p:nvSpPr>
        <p:spPr>
          <a:xfrm>
            <a:off x="792327" y="4803648"/>
            <a:ext cx="10607040" cy="1207008"/>
          </a:xfrm>
          <a:prstGeom prst="rect">
            <a:avLst/>
          </a:prstGeom>
          <a:noFill/>
        </p:spPr>
        <p:txBody>
          <a:bodyPr wrap="square">
            <a:spAutoFit/>
          </a:bodyPr>
          <a:lstStyle/>
          <a:p>
            <a:pPr algn="ctr"/>
            <a:r>
              <a:rPr sz="3600" i="1" b="0">
                <a:solidFill>
                  <a:srgbClr val="333333"/>
                </a:solidFill>
              </a:rPr>
              <a:t>You're trusted to just get things done. That's exactly what attackers count on.</a:t>
            </a:r>
          </a:p>
        </p:txBody>
      </p:sp>
      <p:pic>
        <p:nvPicPr>
          <p:cNvPr id="57" name="narration_slide1.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58" name="Kiosk Next">
            <a:hlinkClick r:id="rId6" action="ppaction://hlinksldjump"/>
          </p:cNvPr>
          <p:cNvSpPr/>
          <p:nvPr/>
        </p:nvSpPr>
        <p:spPr>
          <a:xfrm>
            <a:off x="536432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5600" fill="hold"/>
                                        <p:tgtEl>
                                          <p:spTgt spid="57"/>
                                        </p:tgtEl>
                                      </p:cBhvr>
                                    </p:cmd>
                                  </p:childTnLst>
                                </p:cTn>
                              </p:par>
                              <p:par>
                                <p:cTn id="20" presetID="26" presetClass="emph" presetSubtype="0" repeatCount="indefinite" fill="hold" grpId="0" nodeType="withEffect">
                                  <p:stCondLst>
                                    <p:cond delay="25600"/>
                                  </p:stCondLst>
                                  <p:childTnLst>
                                    <p:animEffect transition="out" filter="fade">
                                      <p:cBhvr>
                                        <p:cTn id="21" dur="1000" tmFilter="0, 0; .2, .5; .8, .5; 1, 0"/>
                                        <p:tgtEl>
                                          <p:spTgt spid="58"/>
                                        </p:tgtEl>
                                      </p:cBhvr>
                                    </p:animEffect>
                                    <p:animScale>
                                      <p:cBhvr>
                                        <p:cTn id="22" dur="500" autoRev="1" fill="hold"/>
                                        <p:tgtEl>
                                          <p:spTgt spid="58"/>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7"/>
                </p:tgtEl>
              </p:cMediaNode>
            </p:audio>
          </p:childTnLst>
        </p:cTn>
      </p:par>
    </p:tnLst>
    <p:bldLst>
      <p:bldP spid="58"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AGENDA</a:t>
            </a:r>
          </a:p>
        </p:txBody>
      </p:sp>
      <p:sp>
        <p:nvSpPr>
          <p:cNvPr id="5" name="TextBox 4"/>
          <p:cNvSpPr txBox="1"/>
          <p:nvPr/>
        </p:nvSpPr>
        <p:spPr>
          <a:xfrm>
            <a:off x="792327" y="1375918"/>
            <a:ext cx="10607040" cy="4422140"/>
          </a:xfrm>
          <a:prstGeom prst="rect">
            <a:avLst/>
          </a:prstGeom>
          <a:noFill/>
        </p:spPr>
        <p:txBody>
          <a:bodyPr wrap="square">
            <a:spAutoFit/>
          </a:bodyPr>
          <a:lstStyle/>
          <a:p>
            <a:pPr marL="363474" indent="-363474">
              <a:spcAft>
                <a:spcPts val="848"/>
              </a:spcAft>
              <a:buFont typeface="Arial"/>
              <a:buChar char="•"/>
              <a:defRPr sz="2100">
                <a:solidFill>
                  <a:srgbClr val="333333"/>
                </a:solidFill>
              </a:defRPr>
            </a:pPr>
            <a:r>
              <a:rPr sz="2000">
                <a:solidFill>
                  <a:srgbClr val="333333"/>
                </a:solidFill>
              </a:rPr>
              <a:t>What business email compromise is, and why Administrative staff are targeted</a:t>
            </a:r>
          </a:p>
          <a:p>
            <a:pPr marL="363474" indent="-363474">
              <a:spcAft>
                <a:spcPts val="848"/>
              </a:spcAft>
              <a:buFont typeface="Arial"/>
              <a:buChar char="•"/>
              <a:defRPr sz="2100">
                <a:solidFill>
                  <a:srgbClr val="333333"/>
                </a:solidFill>
              </a:defRPr>
            </a:pPr>
            <a:r>
              <a:rPr sz="2000" b="1">
                <a:solidFill>
                  <a:srgbClr val="333333"/>
                </a:solidFill>
              </a:rPr>
              <a:t>Phase 1, Detect</a:t>
            </a:r>
          </a:p>
          <a:p>
            <a:pPr marL="363474" indent="-363474">
              <a:spcAft>
                <a:spcPts val="848"/>
              </a:spcAft>
              <a:buFont typeface="Arial"/>
              <a:buChar char="◦"/>
              <a:defRPr sz="2100">
                <a:solidFill>
                  <a:srgbClr val="333333"/>
                </a:solidFill>
              </a:defRPr>
            </a:pPr>
            <a:r>
              <a:rPr sz="2000">
                <a:solidFill>
                  <a:srgbClr val="333333"/>
                </a:solidFill>
              </a:rPr>
              <a:t>Two email red flags, and the psychology behind them</a:t>
            </a:r>
          </a:p>
          <a:p>
            <a:pPr marL="363474" indent="-363474">
              <a:spcAft>
                <a:spcPts val="848"/>
              </a:spcAft>
              <a:buFont typeface="Arial"/>
              <a:buChar char="◦"/>
              <a:defRPr sz="2100">
                <a:solidFill>
                  <a:srgbClr val="333333"/>
                </a:solidFill>
              </a:defRPr>
            </a:pPr>
            <a:r>
              <a:rPr sz="2000">
                <a:solidFill>
                  <a:srgbClr val="333333"/>
                </a:solidFill>
              </a:rPr>
              <a:t>Text messages, QR codes and ClickFix</a:t>
            </a:r>
          </a:p>
          <a:p>
            <a:pPr marL="363474" indent="-363474">
              <a:spcAft>
                <a:spcPts val="848"/>
              </a:spcAft>
              <a:buFont typeface="Arial"/>
              <a:buChar char="•"/>
              <a:defRPr sz="2100">
                <a:solidFill>
                  <a:srgbClr val="333333"/>
                </a:solidFill>
              </a:defRPr>
            </a:pPr>
            <a:r>
              <a:rPr sz="2000" b="1">
                <a:solidFill>
                  <a:srgbClr val="333333"/>
                </a:solidFill>
              </a:rPr>
              <a:t>Phase 2, Verify</a:t>
            </a:r>
          </a:p>
          <a:p>
            <a:pPr marL="363474" indent="-363474">
              <a:spcAft>
                <a:spcPts val="848"/>
              </a:spcAft>
              <a:buFont typeface="Arial"/>
              <a:buChar char="◦"/>
              <a:defRPr sz="2100">
                <a:solidFill>
                  <a:srgbClr val="333333"/>
                </a:solidFill>
              </a:defRPr>
            </a:pPr>
            <a:r>
              <a:rPr sz="2000">
                <a:solidFill>
                  <a:srgbClr val="333333"/>
                </a:solidFill>
              </a:rPr>
              <a:t>The one habit that stops it</a:t>
            </a:r>
          </a:p>
          <a:p>
            <a:pPr marL="363474" indent="-363474">
              <a:spcAft>
                <a:spcPts val="848"/>
              </a:spcAft>
              <a:buFont typeface="Arial"/>
              <a:buChar char="◦"/>
              <a:defRPr sz="2100">
                <a:solidFill>
                  <a:srgbClr val="333333"/>
                </a:solidFill>
              </a:defRPr>
            </a:pPr>
            <a:r>
              <a:rPr sz="2000">
                <a:solidFill>
                  <a:srgbClr val="333333"/>
                </a:solidFill>
              </a:rPr>
              <a:t>Two scenarios: an AI cloned voice and an AI deepfake video</a:t>
            </a:r>
          </a:p>
          <a:p>
            <a:pPr marL="363474" indent="-363474">
              <a:spcAft>
                <a:spcPts val="848"/>
              </a:spcAft>
              <a:buFont typeface="Arial"/>
              <a:buChar char="•"/>
              <a:defRPr sz="2100">
                <a:solidFill>
                  <a:srgbClr val="333333"/>
                </a:solidFill>
              </a:defRPr>
            </a:pPr>
            <a:r>
              <a:rPr sz="2000" b="1">
                <a:solidFill>
                  <a:srgbClr val="333333"/>
                </a:solidFill>
              </a:rPr>
              <a:t>Phase 3, Contain</a:t>
            </a:r>
          </a:p>
          <a:p>
            <a:pPr marL="363474" indent="-363474">
              <a:spcAft>
                <a:spcPts val="848"/>
              </a:spcAft>
              <a:buFont typeface="Arial"/>
              <a:buChar char="◦"/>
              <a:defRPr sz="2100">
                <a:solidFill>
                  <a:srgbClr val="333333"/>
                </a:solidFill>
              </a:defRPr>
            </a:pPr>
            <a:r>
              <a:rPr sz="2000">
                <a:solidFill>
                  <a:srgbClr val="333333"/>
                </a:solidFill>
              </a:rPr>
              <a:t>What to do if you suspect an attempt, and a knowledge check</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t>2</a:t>
            </a:r>
          </a:p>
        </p:txBody>
      </p:sp>
      <p:sp>
        <p:nvSpPr>
          <p:cNvPr id="8"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10" name="narration_v16_adm_02.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10"/>
          <a:stretch>
            <a:fillRect/>
          </a:stretch>
        </p:blipFill>
        <p:spPr>
          <a:xfrm>
            <a:off x="73152" y="6355080"/>
            <a:ext cx="365760" cy="365760"/>
          </a:xfrm>
          <a:prstGeom prst="rect">
            <a:avLst/>
          </a:prstGeom>
        </p:spPr>
      </p:pic>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3437" fill="hold"/>
                                        <p:tgtEl>
                                          <p:spTgt spid="10"/>
                                        </p:tgtEl>
                                      </p:cBhvr>
                                    </p:cmd>
                                  </p:childTnLst>
                                </p:cTn>
                              </p:par>
                              <p:par>
                                <p:cTn id="20" presetID="26" presetClass="emph" presetSubtype="0" repeatCount="indefinite" fill="hold" grpId="0" nodeType="withEffect">
                                  <p:stCondLst>
                                    <p:cond delay="33437"/>
                                  </p:stCondLst>
                                  <p:childTnLst>
                                    <p:animEffect transition="out" filter="fade">
                                      <p:cBhvr>
                                        <p:cTn id="21" dur="1000" tmFilter="0, 0; .2, .5; .8, .5; 1, 0"/>
                                        <p:tgtEl>
                                          <p:spTgt spid="9"/>
                                        </p:tgtEl>
                                      </p:cBhvr>
                                    </p:animEffect>
                                    <p:animScale>
                                      <p:cBhvr>
                                        <p:cTn id="22" dur="500" autoRev="1" fill="hold"/>
                                        <p:tgtEl>
                                          <p:spTgt spid="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
                </p:tgtEl>
              </p:cMediaNode>
            </p:audio>
          </p:childTnLst>
        </p:cTn>
      </p:par>
    </p:tnLst>
    <p:bldLst>
      <p:bldP spid="9"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WHAT IS BUSINESS EMAIL COMPROMISE?</a:t>
            </a:r>
          </a:p>
        </p:txBody>
      </p:sp>
      <p:sp>
        <p:nvSpPr>
          <p:cNvPr id="5" name="TextBox 4"/>
          <p:cNvSpPr txBox="1"/>
          <p:nvPr/>
        </p:nvSpPr>
        <p:spPr>
          <a:xfrm>
            <a:off x="792327" y="1437507"/>
            <a:ext cx="10607040" cy="1516888"/>
          </a:xfrm>
          <a:prstGeom prst="rect">
            <a:avLst/>
          </a:prstGeom>
          <a:noFill/>
        </p:spPr>
        <p:txBody>
          <a:bodyPr wrap="square">
            <a:spAutoFit/>
          </a:bodyPr>
          <a:lstStyle/>
          <a:p>
            <a:pPr algn="l"/>
            <a:r>
              <a:rPr sz="2200" i="0" b="0">
                <a:solidFill>
                  <a:srgbClr val="333333"/>
                </a:solidFill>
              </a:rPr>
              <a:t>BEC, also called email account compromise, is a scam in which a criminal impersonates someone you trust, or breaks into their real email account, to trick you into sending money or buying something you shouldn't. Either way, the message looks completely legitimate and asks for something you would normally do.</a:t>
            </a:r>
          </a:p>
        </p:txBody>
      </p:sp>
      <p:sp>
        <p:nvSpPr>
          <p:cNvPr id="6" name="Rounded Rectangle 6"/>
          <p:cNvSpPr/>
          <p:nvPr/>
        </p:nvSpPr>
        <p:spPr>
          <a:xfrm>
            <a:off x="929487" y="3070087"/>
            <a:ext cx="10332720" cy="2556653"/>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l">
              <a:defRPr sz="2300" b="1">
                <a:solidFill>
                  <a:srgbClr val="000000"/>
                </a:solidFill>
              </a:defRPr>
            </a:pPr>
            <a:r>
              <a:rPr sz="2200" b="1">
                <a:solidFill>
                  <a:srgbClr val="000000"/>
                </a:solidFill>
              </a:rPr>
              <a:t>From: Marcus L., Regional Director &lt;m.lawson@northridge-group.co&gt;</a:t>
            </a:r>
          </a:p>
          <a:p>
            <a:pPr algn="l">
              <a:defRPr sz="2300" b="1">
                <a:solidFill>
                  <a:srgbClr val="000000"/>
                </a:solidFill>
              </a:defRPr>
            </a:pPr>
            <a:r>
              <a:rPr sz="2200" b="1">
                <a:solidFill>
                  <a:srgbClr val="000000"/>
                </a:solidFill>
              </a:rPr>
              <a:t>Subject: Need a quick favour before 3pm</a:t>
            </a:r>
          </a:p>
          <a:p>
            <a:pPr>
              <a:defRPr sz="2300" b="0">
                <a:solidFill>
                  <a:srgbClr val="000000"/>
                </a:solidFill>
              </a:defRPr>
            </a:pPr>
          </a:p>
          <a:p>
            <a:pPr algn="l">
              <a:defRPr sz="2300" b="0">
                <a:solidFill>
                  <a:srgbClr val="000000"/>
                </a:solidFill>
              </a:defRPr>
            </a:pPr>
            <a:r>
              <a:rPr sz="2200" b="0">
                <a:solidFill>
                  <a:srgbClr val="000000"/>
                </a:solidFill>
              </a:rPr>
              <a:t>Are you at your desk? I need you to arrange a supplier payment today. Details to follow. Please keep this between us for now. Thanks, Marcus</a:t>
            </a:r>
          </a:p>
        </p:txBody>
      </p:sp>
      <p:sp>
        <p:nvSpPr>
          <p:cNvPr id="7" name="TextBox 5"/>
          <p:cNvSpPr txBox="1"/>
          <p:nvPr/>
        </p:nvSpPr>
        <p:spPr>
          <a:xfrm>
            <a:off x="10698480" y="6309360"/>
            <a:ext cx="1280160" cy="365760"/>
          </a:xfrm>
          <a:prstGeom prst="rect">
            <a:avLst/>
          </a:prstGeom>
          <a:noFill/>
        </p:spPr>
        <p:txBody>
          <a:bodyPr wrap="none">
            <a:spAutoFit/>
          </a:bodyPr>
          <a:lstStyle/>
          <a:p>
            <a:pPr algn="r"/>
            <a:r>
              <a:rPr sz="1100"/>
              <a:t>3</a:t>
            </a:r>
          </a:p>
        </p:txBody>
      </p:sp>
      <p:pic>
        <p:nvPicPr>
          <p:cNvPr id="102" name="narration_adm_L02.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03" name="Citation"/>
          <p:cNvSpPr txBox="1"/>
          <p:nvPr/>
        </p:nvSpPr>
        <p:spPr>
          <a:xfrm>
            <a:off x="457200" y="5870448"/>
            <a:ext cx="11247120" cy="432308"/>
          </a:xfrm>
          <a:prstGeom prst="rect">
            <a:avLst/>
          </a:prstGeom>
          <a:noFill/>
        </p:spPr>
        <p:txBody>
          <a:bodyPr wrap="square">
            <a:spAutoFit/>
          </a:bodyPr>
          <a:lstStyle/>
          <a:p>
            <a:pPr algn="l"/>
            <a:r>
              <a:rPr lang="en-US" sz="1800" i="1">
                <a:solidFill>
                  <a:srgbClr val="666666"/>
                </a:solidFill>
              </a:rPr>
              <a:t>Sources: FBI IC3 PSA I-091124, I-061118; IC3 2025 Annual Report</a:t>
            </a:r>
          </a:p>
        </p:txBody>
      </p:sp>
      <p:sp>
        <p:nvSpPr>
          <p:cNvPr id="104"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5"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5970" fill="hold"/>
                                        <p:tgtEl>
                                          <p:spTgt spid="102"/>
                                        </p:tgtEl>
                                      </p:cBhvr>
                                    </p:cmd>
                                  </p:childTnLst>
                                </p:cTn>
                              </p:par>
                              <p:par>
                                <p:cTn id="20" presetID="26" presetClass="emph" presetSubtype="0" repeatCount="indefinite" fill="hold" grpId="0" nodeType="withEffect">
                                  <p:stCondLst>
                                    <p:cond delay="35970"/>
                                  </p:stCondLst>
                                  <p:childTnLst>
                                    <p:animEffect transition="out" filter="fade">
                                      <p:cBhvr>
                                        <p:cTn id="21" dur="1000" tmFilter="0, 0; .2, .5; .8, .5; 1, 0"/>
                                        <p:tgtEl>
                                          <p:spTgt spid="105"/>
                                        </p:tgtEl>
                                      </p:cBhvr>
                                    </p:animEffect>
                                    <p:animScale>
                                      <p:cBhvr>
                                        <p:cTn id="22" dur="500" autoRev="1" fill="hold"/>
                                        <p:tgtEl>
                                          <p:spTgt spid="105"/>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2"/>
                </p:tgtEl>
              </p:cMediaNode>
            </p:audio>
          </p:childTnLst>
        </p:cTn>
      </p:par>
    </p:tnLst>
    <p:bldLst>
      <p:bldP spid="105"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HOW A BEC ATTACK ACTUALLY FLOWS</a:t>
            </a:r>
          </a:p>
        </p:txBody>
      </p:sp>
      <p:sp>
        <p:nvSpPr>
          <p:cNvPr id="5" name="Rounded Rectangle 4"/>
          <p:cNvSpPr/>
          <p:nvPr/>
        </p:nvSpPr>
        <p:spPr>
          <a:xfrm>
            <a:off x="548641" y="1827267"/>
            <a:ext cx="2464993" cy="3519442"/>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1. RESEARCH</a:t>
            </a:r>
          </a:p>
          <a:p>
            <a:pPr algn="ctr"/>
            <a:r>
              <a:rPr sz="2800">
                <a:solidFill>
                  <a:srgbClr val="FFFFFF"/>
                </a:solidFill>
              </a:rPr>
              <a:t>The attacker studies who you report to and who approves spending</a:t>
            </a:r>
          </a:p>
        </p:txBody>
      </p:sp>
      <p:sp>
        <p:nvSpPr>
          <p:cNvPr id="6" name="TextBox 5"/>
          <p:cNvSpPr txBox="1"/>
          <p:nvPr/>
        </p:nvSpPr>
        <p:spPr>
          <a:xfrm>
            <a:off x="3013634" y="3312668"/>
            <a:ext cx="411480" cy="548640"/>
          </a:xfrm>
          <a:prstGeom prst="rect">
            <a:avLst/>
          </a:prstGeom>
          <a:noFill/>
        </p:spPr>
        <p:txBody>
          <a:bodyPr wrap="none" anchor="ctr">
            <a:spAutoFit/>
          </a:bodyPr>
          <a:lstStyle/>
          <a:p>
            <a:pPr algn="ctr"/>
            <a:r>
              <a:rPr sz="2000" b="1">
                <a:solidFill>
                  <a:srgbClr val="4F7942"/>
                </a:solidFill>
              </a:rPr>
              <a:t>→</a:t>
            </a:r>
          </a:p>
        </p:txBody>
      </p:sp>
      <p:sp>
        <p:nvSpPr>
          <p:cNvPr id="7" name="Rounded Rectangle 4"/>
          <p:cNvSpPr/>
          <p:nvPr/>
        </p:nvSpPr>
        <p:spPr>
          <a:xfrm>
            <a:off x="3425114" y="1827267"/>
            <a:ext cx="2464993" cy="3519442"/>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2. SPOOF</a:t>
            </a:r>
          </a:p>
          <a:p>
            <a:pPr algn="ctr"/>
            <a:r>
              <a:rPr sz="2800">
                <a:solidFill>
                  <a:srgbClr val="FFFFFF"/>
                </a:solidFill>
              </a:rPr>
              <a:t>A lookalike address, or a real mailbox the attacker has taken over</a:t>
            </a:r>
          </a:p>
        </p:txBody>
      </p:sp>
      <p:sp>
        <p:nvSpPr>
          <p:cNvPr id="8" name="TextBox 6"/>
          <p:cNvSpPr txBox="1"/>
          <p:nvPr/>
        </p:nvSpPr>
        <p:spPr>
          <a:xfrm>
            <a:off x="5890107" y="3312668"/>
            <a:ext cx="411480" cy="548640"/>
          </a:xfrm>
          <a:prstGeom prst="rect">
            <a:avLst/>
          </a:prstGeom>
          <a:noFill/>
        </p:spPr>
        <p:txBody>
          <a:bodyPr wrap="none" anchor="ctr">
            <a:spAutoFit/>
          </a:bodyPr>
          <a:lstStyle/>
          <a:p>
            <a:pPr algn="ctr"/>
            <a:r>
              <a:rPr sz="2000" b="1">
                <a:solidFill>
                  <a:srgbClr val="4F7942"/>
                </a:solidFill>
              </a:rPr>
              <a:t>→</a:t>
            </a:r>
          </a:p>
        </p:txBody>
      </p:sp>
      <p:sp>
        <p:nvSpPr>
          <p:cNvPr id="9" name="Rounded Rectangle 4"/>
          <p:cNvSpPr/>
          <p:nvPr/>
        </p:nvSpPr>
        <p:spPr>
          <a:xfrm>
            <a:off x="6301587" y="1827267"/>
            <a:ext cx="2464993" cy="3519442"/>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3. URGENCY</a:t>
            </a:r>
          </a:p>
          <a:p>
            <a:pPr algn="ctr"/>
            <a:r>
              <a:rPr sz="2800">
                <a:solidFill>
                  <a:srgbClr val="FFFFFF"/>
                </a:solidFill>
              </a:rPr>
              <a:t>A deadline plus secrecy: “don't tell your manager”</a:t>
            </a:r>
          </a:p>
        </p:txBody>
      </p:sp>
      <p:sp>
        <p:nvSpPr>
          <p:cNvPr id="10" name="TextBox 7"/>
          <p:cNvSpPr txBox="1"/>
          <p:nvPr/>
        </p:nvSpPr>
        <p:spPr>
          <a:xfrm>
            <a:off x="8766580" y="3312668"/>
            <a:ext cx="411480" cy="548640"/>
          </a:xfrm>
          <a:prstGeom prst="rect">
            <a:avLst/>
          </a:prstGeom>
          <a:noFill/>
        </p:spPr>
        <p:txBody>
          <a:bodyPr wrap="none" anchor="ctr">
            <a:spAutoFit/>
          </a:bodyPr>
          <a:lstStyle/>
          <a:p>
            <a:pPr algn="ctr"/>
            <a:r>
              <a:rPr sz="2000" b="1">
                <a:solidFill>
                  <a:srgbClr val="4F7942"/>
                </a:solidFill>
              </a:rPr>
              <a:t>→</a:t>
            </a:r>
          </a:p>
        </p:txBody>
      </p:sp>
      <p:sp>
        <p:nvSpPr>
          <p:cNvPr id="11" name="Rounded Rectangle 4"/>
          <p:cNvSpPr/>
          <p:nvPr/>
        </p:nvSpPr>
        <p:spPr>
          <a:xfrm>
            <a:off x="9178060" y="1827267"/>
            <a:ext cx="2464993" cy="3519442"/>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4. REDIRECT</a:t>
            </a:r>
          </a:p>
          <a:p>
            <a:pPr algn="ctr"/>
            <a:r>
              <a:rPr sz="2800">
                <a:solidFill>
                  <a:srgbClr val="FFFFFF"/>
                </a:solidFill>
              </a:rPr>
              <a:t>Money or gift card codes go to the attacker, often unnoticed</a:t>
            </a:r>
          </a:p>
        </p:txBody>
      </p:sp>
      <p:sp>
        <p:nvSpPr>
          <p:cNvPr id="12" name="TextBox 5"/>
          <p:cNvSpPr txBox="1"/>
          <p:nvPr/>
        </p:nvSpPr>
        <p:spPr>
          <a:xfrm>
            <a:off x="10698480" y="6309360"/>
            <a:ext cx="1280160" cy="365760"/>
          </a:xfrm>
          <a:prstGeom prst="rect">
            <a:avLst/>
          </a:prstGeom>
          <a:noFill/>
        </p:spPr>
        <p:txBody>
          <a:bodyPr wrap="none">
            <a:spAutoFit/>
          </a:bodyPr>
          <a:lstStyle/>
          <a:p>
            <a:pPr algn="r"/>
            <a:r>
              <a:rPr sz="1100"/>
              <a:t>4</a:t>
            </a:r>
          </a:p>
        </p:txBody>
      </p:sp>
      <p:pic>
        <p:nvPicPr>
          <p:cNvPr id="13" name="narration_adm_L03.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4"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5"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2026" fill="hold"/>
                                        <p:tgtEl>
                                          <p:spTgt spid="13"/>
                                        </p:tgtEl>
                                      </p:cBhvr>
                                    </p:cmd>
                                  </p:childTnLst>
                                </p:cTn>
                              </p:par>
                              <p:par>
                                <p:cTn id="20" presetID="26" presetClass="emph" presetSubtype="0" repeatCount="indefinite" fill="hold" grpId="0" nodeType="withEffect">
                                  <p:stCondLst>
                                    <p:cond delay="32026"/>
                                  </p:stCondLst>
                                  <p:childTnLst>
                                    <p:animEffect transition="out" filter="fade">
                                      <p:cBhvr>
                                        <p:cTn id="21" dur="1000" tmFilter="0, 0; .2, .5; .8, .5; 1, 0"/>
                                        <p:tgtEl>
                                          <p:spTgt spid="15"/>
                                        </p:tgtEl>
                                      </p:cBhvr>
                                    </p:animEffect>
                                    <p:animScale>
                                      <p:cBhvr>
                                        <p:cTn id="22" dur="500" autoRev="1" fill="hold"/>
                                        <p:tgtEl>
                                          <p:spTgt spid="15"/>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3"/>
                </p:tgtEl>
              </p:cMediaNode>
            </p:audio>
          </p:childTnLst>
        </p:cTn>
      </p:par>
    </p:tnLst>
    <p:bldLst>
      <p:bldP spid="15"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YOUR JOB IS TO SAY YES QUICKLY</a:t>
            </a:r>
          </a:p>
        </p:txBody>
      </p:sp>
      <p:sp>
        <p:nvSpPr>
          <p:cNvPr id="5" name="TextBox 4"/>
          <p:cNvSpPr txBox="1"/>
          <p:nvPr/>
        </p:nvSpPr>
        <p:spPr>
          <a:xfrm>
            <a:off x="792327" y="1385282"/>
            <a:ext cx="10607040" cy="1578864"/>
          </a:xfrm>
          <a:prstGeom prst="rect">
            <a:avLst/>
          </a:prstGeom>
          <a:noFill/>
        </p:spPr>
        <p:txBody>
          <a:bodyPr wrap="square">
            <a:spAutoFit/>
          </a:bodyPr>
          <a:lstStyle/>
          <a:p>
            <a:pPr algn="ctr"/>
            <a:r>
              <a:rPr sz="3200" i="0" b="0">
                <a:solidFill>
                  <a:srgbClr val="333333"/>
                </a:solidFill>
              </a:rPr>
              <a:t>That's not a flaw. It's what makes you good at your role, and it's what a BEC attacker tries to use against you when they ask you to skip a step.</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t>5</a:t>
            </a:r>
          </a:p>
        </p:txBody>
      </p:sp>
      <p:sp>
        <p:nvSpPr>
          <p:cNvPr id="7" name="Rounded Rectangle 4"/>
          <p:cNvSpPr/>
          <p:nvPr/>
        </p:nvSpPr>
        <p:spPr>
          <a:xfrm>
            <a:off x="548640" y="3027612"/>
            <a:ext cx="3484778" cy="2651353"/>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United States</a:t>
            </a:r>
          </a:p>
          <a:p>
            <a:pPr algn="ctr"/>
            <a:r>
              <a:rPr sz="2600">
                <a:solidFill>
                  <a:srgbClr val="FFFFFF"/>
                </a:solidFill>
              </a:rPr>
              <a:t>USD 3.05 billion in BEC losses reported to the FBI in 2025, from 24,768 complaints</a:t>
            </a:r>
          </a:p>
        </p:txBody>
      </p:sp>
      <p:sp>
        <p:nvSpPr>
          <p:cNvPr id="8" name="Rounded Rectangle 5"/>
          <p:cNvSpPr/>
          <p:nvPr/>
        </p:nvSpPr>
        <p:spPr>
          <a:xfrm>
            <a:off x="4353458" y="3027612"/>
            <a:ext cx="3484778" cy="2651353"/>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Australia</a:t>
            </a:r>
          </a:p>
          <a:p>
            <a:pPr algn="ctr"/>
            <a:r>
              <a:rPr sz="2600">
                <a:solidFill>
                  <a:srgbClr val="FFFFFF"/>
                </a:solidFill>
              </a:rPr>
              <a:t>15% of business cybercrime reports in 2024–25 were BEC fraud with a financial loss</a:t>
            </a:r>
          </a:p>
        </p:txBody>
      </p:sp>
      <p:sp>
        <p:nvSpPr>
          <p:cNvPr id="9" name="Rounded Rectangle 6"/>
          <p:cNvSpPr/>
          <p:nvPr/>
        </p:nvSpPr>
        <p:spPr>
          <a:xfrm>
            <a:off x="8158276" y="3027612"/>
            <a:ext cx="3484778" cy="2651353"/>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Worldwide</a:t>
            </a:r>
          </a:p>
          <a:p>
            <a:pPr algn="ctr"/>
            <a:r>
              <a:rPr sz="2600">
                <a:solidFill>
                  <a:srgbClr val="FFFFFF"/>
                </a:solidFill>
              </a:rPr>
              <a:t>USD 55.5 billion in exposed losses, 2013 to 2023, reported in 186 countries (FBI)</a:t>
            </a:r>
          </a:p>
        </p:txBody>
      </p:sp>
      <p:sp>
        <p:nvSpPr>
          <p:cNvPr id="12" name="Citation"/>
          <p:cNvSpPr txBox="1"/>
          <p:nvPr/>
        </p:nvSpPr>
        <p:spPr>
          <a:xfrm>
            <a:off x="457200" y="5870448"/>
            <a:ext cx="11247120" cy="432308"/>
          </a:xfrm>
          <a:prstGeom prst="rect">
            <a:avLst/>
          </a:prstGeom>
          <a:noFill/>
        </p:spPr>
        <p:txBody>
          <a:bodyPr wrap="square">
            <a:spAutoFit/>
          </a:bodyPr>
          <a:lstStyle/>
          <a:p>
            <a:pPr algn="l"/>
            <a:r>
              <a:rPr lang="en-US" sz="1600" i="1">
                <a:solidFill>
                  <a:srgbClr val="666666"/>
                </a:solidFill>
              </a:rPr>
              <a:t>Sources: FBI IC3 2025 Annual Report; FBI IC3 PSA I-091124-PSA; Australian Signals Directorate Cyber Threat Report 2024–25</a:t>
            </a:r>
          </a:p>
        </p:txBody>
      </p:sp>
      <p:sp>
        <p:nvSpPr>
          <p:cNvPr id="13"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4"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15" name="narration_v15_adm_05.mp3">
            <a:hlinkClick r:id="" action="ppaction://media"/>
          </p:cNvPr>
          <p:cNvPicPr>
            <a:picLocks noChangeAspect="1"/>
          </p:cNvPicPr>
          <p:nvPr>
            <a:audioFile r:link="rId5"/>
            <p:extLst>
              <p:ext uri="{DAA4B4D4-6D71-4841-9C94-3DE7FCFB9230}">
                <p14:media xmlns:p14="http://schemas.microsoft.com/office/powerpoint/2010/main" r:embed="rId4"/>
              </p:ext>
            </p:extLst>
          </p:nvPr>
        </p:nvPicPr>
        <p:blipFill>
          <a:blip r:embed="rId10"/>
          <a:stretch>
            <a:fillRect/>
          </a:stretch>
        </p:blipFill>
        <p:spPr>
          <a:xfrm>
            <a:off x="73152" y="6355080"/>
            <a:ext cx="365760" cy="365760"/>
          </a:xfrm>
          <a:prstGeom prst="rect">
            <a:avLst/>
          </a:prstGeom>
        </p:spPr>
      </p:pic>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4779" fill="hold"/>
                                        <p:tgtEl>
                                          <p:spTgt spid="15"/>
                                        </p:tgtEl>
                                      </p:cBhvr>
                                    </p:cmd>
                                  </p:childTnLst>
                                </p:cTn>
                              </p:par>
                              <p:par>
                                <p:cTn id="20" presetID="26" presetClass="emph" presetSubtype="0" repeatCount="indefinite" fill="hold" grpId="0" nodeType="withEffect">
                                  <p:stCondLst>
                                    <p:cond delay="54779"/>
                                  </p:stCondLst>
                                  <p:childTnLst>
                                    <p:animEffect transition="out" filter="fade">
                                      <p:cBhvr>
                                        <p:cTn id="21" dur="1000" tmFilter="0, 0; .2, .5; .8, .5; 1, 0"/>
                                        <p:tgtEl>
                                          <p:spTgt spid="14"/>
                                        </p:tgtEl>
                                      </p:cBhvr>
                                    </p:animEffect>
                                    <p:animScale>
                                      <p:cBhvr>
                                        <p:cTn id="22" dur="500" autoRev="1" fill="hold"/>
                                        <p:tgtEl>
                                          <p:spTgt spid="1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5"/>
                </p:tgtEl>
              </p:cMediaNode>
            </p:audio>
          </p:childTnLst>
        </p:cTn>
      </p:par>
    </p:tnLst>
    <p:bldLst>
      <p:bldP spid="14"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327" y="1789176"/>
            <a:ext cx="10607040" cy="649224"/>
          </a:xfrm>
          <a:prstGeom prst="rect">
            <a:avLst/>
          </a:prstGeom>
          <a:noFill/>
        </p:spPr>
        <p:txBody>
          <a:bodyPr wrap="square">
            <a:spAutoFit/>
          </a:bodyPr>
          <a:lstStyle/>
          <a:p>
            <a:pPr algn="ctr"/>
            <a:r>
              <a:rPr sz="3600" i="0" b="1">
                <a:solidFill>
                  <a:srgbClr val="4F7942"/>
                </a:solidFill>
              </a:rPr>
              <a:t>PHASE 1</a:t>
            </a:r>
          </a:p>
        </p:txBody>
      </p:sp>
      <p:sp>
        <p:nvSpPr>
          <p:cNvPr id="5" name="TextBox 4"/>
          <p:cNvSpPr txBox="1"/>
          <p:nvPr/>
        </p:nvSpPr>
        <p:spPr>
          <a:xfrm>
            <a:off x="731520" y="2941320"/>
            <a:ext cx="10698480" cy="1021080"/>
          </a:xfrm>
          <a:prstGeom prst="rect">
            <a:avLst/>
          </a:prstGeom>
          <a:noFill/>
        </p:spPr>
        <p:txBody>
          <a:bodyPr wrap="none">
            <a:spAutoFit/>
          </a:bodyPr>
          <a:lstStyle/>
          <a:p>
            <a:pPr algn="ctr"/>
            <a:r>
              <a:rPr sz="6000" b="1">
                <a:solidFill>
                  <a:srgbClr val="000000"/>
                </a:solidFill>
              </a:rPr>
              <a:t>DETECT</a:t>
            </a:r>
          </a:p>
        </p:txBody>
      </p:sp>
      <p:sp>
        <p:nvSpPr>
          <p:cNvPr id="6" name="TextBox 5"/>
          <p:cNvSpPr txBox="1"/>
          <p:nvPr/>
        </p:nvSpPr>
        <p:spPr>
          <a:xfrm>
            <a:off x="792327" y="4465320"/>
            <a:ext cx="10607040" cy="649224"/>
          </a:xfrm>
          <a:prstGeom prst="rect">
            <a:avLst/>
          </a:prstGeom>
          <a:noFill/>
        </p:spPr>
        <p:txBody>
          <a:bodyPr wrap="square">
            <a:spAutoFit/>
          </a:bodyPr>
          <a:lstStyle/>
          <a:p>
            <a:pPr algn="ctr"/>
            <a:r>
              <a:rPr sz="3600" i="1" b="0">
                <a:solidFill>
                  <a:srgbClr val="333333"/>
                </a:solidFill>
              </a:rPr>
              <a:t>Can you spot it before it costs anything?</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6</a:t>
            </a:r>
          </a:p>
        </p:txBody>
      </p:sp>
      <p:pic>
        <p:nvPicPr>
          <p:cNvPr id="57" name="narration_slide4.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58"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59"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3400" fill="hold"/>
                                        <p:tgtEl>
                                          <p:spTgt spid="57"/>
                                        </p:tgtEl>
                                      </p:cBhvr>
                                    </p:cmd>
                                  </p:childTnLst>
                                </p:cTn>
                              </p:par>
                              <p:par>
                                <p:cTn id="20" presetID="26" presetClass="emph" presetSubtype="0" repeatCount="indefinite" fill="hold" grpId="0" nodeType="withEffect">
                                  <p:stCondLst>
                                    <p:cond delay="13400"/>
                                  </p:stCondLst>
                                  <p:childTnLst>
                                    <p:animEffect transition="out" filter="fade">
                                      <p:cBhvr>
                                        <p:cTn id="21" dur="1000" tmFilter="0, 0; .2, .5; .8, .5; 1, 0"/>
                                        <p:tgtEl>
                                          <p:spTgt spid="59"/>
                                        </p:tgtEl>
                                      </p:cBhvr>
                                    </p:animEffect>
                                    <p:animScale>
                                      <p:cBhvr>
                                        <p:cTn id="22" dur="500" autoRev="1" fill="hold"/>
                                        <p:tgtEl>
                                          <p:spTgt spid="5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7"/>
                </p:tgtEl>
              </p:cMediaNode>
            </p:audio>
          </p:childTnLst>
        </p:cTn>
      </p:par>
    </p:tnLst>
    <p:bldLst>
      <p:bldP spid="59"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5" name="TextBox 4"/>
          <p:cNvSpPr txBox="1"/>
          <p:nvPr/>
        </p:nvSpPr>
        <p:spPr>
          <a:xfrm>
            <a:off x="457200" y="320040"/>
            <a:ext cx="11247120" cy="777240"/>
          </a:xfrm>
          <a:prstGeom prst="rect">
            <a:avLst/>
          </a:prstGeom>
          <a:noFill/>
        </p:spPr>
        <p:txBody>
          <a:bodyPr wrap="square">
            <a:spAutoFit/>
          </a:bodyPr>
          <a:lstStyle/>
          <a:p>
            <a:pPr algn="ctr"/>
            <a:r>
              <a:rPr sz="4400" b="1">
                <a:solidFill>
                  <a:srgbClr val="000000"/>
                </a:solidFill>
              </a:rPr>
              <a:t>SCENARIO: THE ATTORNEY EMAIL</a:t>
            </a:r>
          </a:p>
        </p:txBody>
      </p:sp>
      <p:sp>
        <p:nvSpPr>
          <p:cNvPr id="6" name="TextBox 5"/>
          <p:cNvSpPr txBox="1"/>
          <p:nvPr/>
        </p:nvSpPr>
        <p:spPr>
          <a:xfrm>
            <a:off x="792327" y="1298448"/>
            <a:ext cx="10607040" cy="923544"/>
          </a:xfrm>
          <a:prstGeom prst="rect">
            <a:avLst/>
          </a:prstGeom>
          <a:noFill/>
        </p:spPr>
        <p:txBody>
          <a:bodyPr wrap="square">
            <a:spAutoFit/>
          </a:bodyPr>
          <a:lstStyle/>
          <a:p>
            <a:pPr algn="ctr"/>
            <a:r>
              <a:rPr sz="2700" i="1" b="0">
                <a:solidFill>
                  <a:srgbClr val="333333"/>
                </a:solidFill>
              </a:rPr>
              <a:t>A legal-sounding email, demanding urgent action and total secrecy.</a:t>
            </a:r>
          </a:p>
        </p:txBody>
      </p:sp>
      <p:pic>
        <p:nvPicPr>
          <p:cNvPr id="7" name="Video_Project_15.mp4">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2940212" y="2238248"/>
            <a:ext cx="6317672" cy="3474720"/>
          </a:xfrm>
          <a:prstGeom prst="rect">
            <a:avLst/>
          </a:prstGeom>
        </p:spPr>
      </p:pic>
      <p:sp>
        <p:nvSpPr>
          <p:cNvPr id="8" name="TextBox 7"/>
          <p:cNvSpPr txBox="1"/>
          <p:nvPr/>
        </p:nvSpPr>
        <p:spPr>
          <a:xfrm>
            <a:off x="792327" y="5779135"/>
            <a:ext cx="10607040" cy="509778"/>
          </a:xfrm>
          <a:prstGeom prst="rect">
            <a:avLst/>
          </a:prstGeom>
          <a:noFill/>
        </p:spPr>
        <p:txBody>
          <a:bodyPr wrap="square">
            <a:spAutoFit/>
          </a:bodyPr>
          <a:lstStyle/>
          <a:p>
            <a:pPr algn="ctr"/>
            <a:r>
              <a:rPr sz="2400">
                <a:solidFill>
                  <a:srgbClr val="333333"/>
                </a:solidFill>
              </a:rPr>
              <a:t>Click to play the video</a:t>
            </a:r>
          </a:p>
        </p:txBody>
      </p:sp>
      <p:sp>
        <p:nvSpPr>
          <p:cNvPr id="9" name="TextBox 8"/>
          <p:cNvSpPr txBox="1"/>
          <p:nvPr/>
        </p:nvSpPr>
        <p:spPr>
          <a:xfrm>
            <a:off x="10698480" y="6309360"/>
            <a:ext cx="1280160" cy="365760"/>
          </a:xfrm>
          <a:prstGeom prst="rect">
            <a:avLst/>
          </a:prstGeom>
          <a:noFill/>
        </p:spPr>
        <p:txBody>
          <a:bodyPr wrap="none">
            <a:spAutoFit/>
          </a:bodyPr>
          <a:lstStyle/>
          <a:p>
            <a:r>
              <a:t>7</a:t>
            </a:r>
          </a:p>
        </p:txBody>
      </p:sp>
      <p:sp>
        <p:nvSpPr>
          <p:cNvPr id="10"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1"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SPOT THE RED FLAG</a:t>
            </a:r>
          </a:p>
        </p:txBody>
      </p:sp>
      <p:sp>
        <p:nvSpPr>
          <p:cNvPr id="6" name="TextBox 5"/>
          <p:cNvSpPr txBox="1"/>
          <p:nvPr/>
        </p:nvSpPr>
        <p:spPr>
          <a:xfrm>
            <a:off x="792327" y="1818856"/>
            <a:ext cx="10607040" cy="416814"/>
          </a:xfrm>
          <a:prstGeom prst="rect">
            <a:avLst/>
          </a:prstGeom>
          <a:noFill/>
        </p:spPr>
        <p:txBody>
          <a:bodyPr wrap="square">
            <a:spAutoFit/>
          </a:bodyPr>
          <a:lstStyle/>
          <a:p>
            <a:pPr algn="ctr"/>
            <a:r>
              <a:rPr sz="2000" i="1" b="0">
                <a:solidFill>
                  <a:srgbClr val="333333"/>
                </a:solidFill>
              </a:rPr>
              <a:t>You have 30 seconds. Read this email and call out every red flag you can find.</a:t>
            </a:r>
          </a:p>
        </p:txBody>
      </p:sp>
      <p:sp>
        <p:nvSpPr>
          <p:cNvPr id="7" name="Rounded Rectangle 6"/>
          <p:cNvSpPr/>
          <p:nvPr/>
        </p:nvSpPr>
        <p:spPr>
          <a:xfrm>
            <a:off x="929487" y="2366951"/>
            <a:ext cx="10332720" cy="2805834"/>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2100" b="1">
                <a:solidFill>
                  <a:srgbClr val="000000"/>
                </a:solidFill>
              </a:defRPr>
            </a:pPr>
            <a:r>
              <a:rPr sz="2000" b="1">
                <a:solidFill>
                  <a:srgbClr val="000000"/>
                </a:solidFill>
              </a:rPr>
              <a:t>From: Sarah Whitfield, Senior Partner &lt;s.whitfield@caldwell-harrington-legal.com&gt;</a:t>
            </a:r>
          </a:p>
          <a:p>
            <a:pPr>
              <a:defRPr sz="2100" b="1">
                <a:solidFill>
                  <a:srgbClr val="000000"/>
                </a:solidFill>
              </a:defRPr>
            </a:pPr>
            <a:r>
              <a:rPr sz="2000" b="1">
                <a:solidFill>
                  <a:srgbClr val="000000"/>
                </a:solidFill>
              </a:rPr>
              <a:t>Subject: CONFIDENTIAL: Immediate Action Required</a:t>
            </a:r>
          </a:p>
          <a:p>
            <a:pPr>
              <a:defRPr sz="2100" b="1">
                <a:solidFill>
                  <a:srgbClr val="000000"/>
                </a:solidFill>
              </a:defRPr>
            </a:pPr>
            <a:r>
              <a:rPr sz="2000" b="1">
                <a:solidFill>
                  <a:srgbClr val="000000"/>
                </a:solidFill>
              </a:rPr>
              <a:t>Attachment: Payment_Instructions.pdf</a:t>
            </a:r>
          </a:p>
          <a:p>
            <a:pPr>
              <a:defRPr sz="2100" b="0">
                <a:solidFill>
                  <a:srgbClr val="000000"/>
                </a:solidFill>
              </a:defRPr>
            </a:pPr>
            <a:r>
              <a:rPr sz="2000" b="0">
                <a:solidFill>
                  <a:srgbClr val="000000"/>
                </a:solidFill>
              </a:rPr>
              <a:t>This matter is time-sensitive and strictly confidential. We require an urgent transfer of AUD 18,500 before end of business today. Please do not discuss this with anyone in your office, including your manager, until it is resolved.</a:t>
            </a:r>
          </a:p>
        </p:txBody>
      </p:sp>
      <p:sp>
        <p:nvSpPr>
          <p:cNvPr id="8" name="TextBox 7"/>
          <p:cNvSpPr txBox="1"/>
          <p:nvPr/>
        </p:nvSpPr>
        <p:spPr>
          <a:xfrm>
            <a:off x="792327" y="5304065"/>
            <a:ext cx="10607040" cy="416814"/>
          </a:xfrm>
          <a:prstGeom prst="rect">
            <a:avLst/>
          </a:prstGeom>
          <a:noFill/>
        </p:spPr>
        <p:txBody>
          <a:bodyPr wrap="square">
            <a:spAutoFit/>
          </a:bodyPr>
          <a:lstStyle/>
          <a:p>
            <a:pPr algn="ctr"/>
            <a:r>
              <a:rPr sz="2000" i="1" b="0">
                <a:solidFill>
                  <a:srgbClr val="333333"/>
                </a:solidFill>
              </a:rPr>
              <a:t>(When you're ready, the flagged version is on the next slide.)</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t>8</a:t>
            </a:r>
          </a:p>
        </p:txBody>
      </p:sp>
      <p:pic>
        <p:nvPicPr>
          <p:cNvPr id="59" name="narration_slide10.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60"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61"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2966" fill="hold"/>
                                        <p:tgtEl>
                                          <p:spTgt spid="59"/>
                                        </p:tgtEl>
                                      </p:cBhvr>
                                    </p:cmd>
                                  </p:childTnLst>
                                </p:cTn>
                              </p:par>
                              <p:par>
                                <p:cTn id="20" presetID="26" presetClass="emph" presetSubtype="0" repeatCount="indefinite" fill="hold" grpId="0" nodeType="withEffect">
                                  <p:stCondLst>
                                    <p:cond delay="32966"/>
                                  </p:stCondLst>
                                  <p:childTnLst>
                                    <p:animEffect transition="out" filter="fade">
                                      <p:cBhvr>
                                        <p:cTn id="21" dur="1000" tmFilter="0, 0; .2, .5; .8, .5; 1, 0"/>
                                        <p:tgtEl>
                                          <p:spTgt spid="61"/>
                                        </p:tgtEl>
                                      </p:cBhvr>
                                    </p:animEffect>
                                    <p:animScale>
                                      <p:cBhvr>
                                        <p:cTn id="22" dur="500" autoRev="1" fill="hold"/>
                                        <p:tgtEl>
                                          <p:spTgt spid="6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9"/>
                </p:tgtEl>
              </p:cMediaNode>
            </p:audio>
          </p:childTnLst>
        </p:cTn>
      </p:par>
    </p:tnLst>
    <p:bldLst>
      <p:bldP spid="61"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SPOT THE RED FLAG: REVEALED</a:t>
            </a:r>
          </a:p>
        </p:txBody>
      </p:sp>
      <p:sp>
        <p:nvSpPr>
          <p:cNvPr id="6" name="TextBox 5"/>
          <p:cNvSpPr txBox="1"/>
          <p:nvPr/>
        </p:nvSpPr>
        <p:spPr>
          <a:xfrm>
            <a:off x="548640" y="1737360"/>
            <a:ext cx="7498079" cy="4023360"/>
          </a:xfrm>
          <a:prstGeom prst="rect">
            <a:avLst/>
          </a:prstGeom>
          <a:noFill/>
        </p:spPr>
        <p:txBody>
          <a:bodyPr wrap="square">
            <a:spAutoFit/>
          </a:bodyPr>
          <a:lstStyle/>
          <a:p>
            <a:pPr>
              <a:spcAft>
                <a:spcPts val="896"/>
              </a:spcAft>
              <a:defRPr sz="2200">
                <a:solidFill>
                  <a:srgbClr val="333333"/>
                </a:solidFill>
              </a:defRPr>
            </a:pPr>
            <a:r>
              <a:rPr sz="2000">
                <a:solidFill>
                  <a:srgbClr val="333333"/>
                </a:solidFill>
              </a:rPr>
              <a:t>🚩  “Do not discuss this, including your manager”: it isolates you from the one person who could catch it.</a:t>
            </a:r>
          </a:p>
          <a:p>
            <a:pPr>
              <a:spcAft>
                <a:spcPts val="896"/>
              </a:spcAft>
              <a:defRPr sz="2200">
                <a:solidFill>
                  <a:srgbClr val="333333"/>
                </a:solidFill>
              </a:defRPr>
            </a:pPr>
            <a:r>
              <a:rPr sz="2000">
                <a:solidFill>
                  <a:srgbClr val="333333"/>
                </a:solidFill>
              </a:rPr>
              <a:t>🚩  “Before end of business today”: a deadline designed to rush the decision.</a:t>
            </a:r>
          </a:p>
          <a:p>
            <a:pPr>
              <a:spcAft>
                <a:spcPts val="896"/>
              </a:spcAft>
              <a:defRPr sz="2200">
                <a:solidFill>
                  <a:srgbClr val="333333"/>
                </a:solidFill>
              </a:defRPr>
            </a:pPr>
            <a:r>
              <a:rPr sz="2000">
                <a:solidFill>
                  <a:srgbClr val="333333"/>
                </a:solidFill>
              </a:rPr>
              <a:t>🚩  Process bypass: payment details attached directly, with no invoice or purchase order to check against.</a:t>
            </a:r>
          </a:p>
          <a:p>
            <a:pPr>
              <a:spcAft>
                <a:spcPts val="896"/>
              </a:spcAft>
              <a:defRPr sz="2200">
                <a:solidFill>
                  <a:srgbClr val="333333"/>
                </a:solidFill>
              </a:defRPr>
            </a:pPr>
            <a:r>
              <a:rPr sz="2000">
                <a:solidFill>
                  <a:srgbClr val="333333"/>
                </a:solidFill>
              </a:rPr>
              <a:t>🚩  A law firm name that has never been independently confirmed.</a:t>
            </a:r>
          </a:p>
          <a:p>
            <a:pPr>
              <a:spcAft>
                <a:spcPts val="896"/>
              </a:spcAft>
              <a:defRPr sz="2200">
                <a:solidFill>
                  <a:srgbClr val="333333"/>
                </a:solidFill>
              </a:defRPr>
            </a:pPr>
            <a:r>
              <a:rPr sz="2000">
                <a:solidFill>
                  <a:srgbClr val="333333"/>
                </a:solidFill>
              </a:rPr>
              <a:t>🚩  Unexpected attachment: payment instructions arrive as a file, outside your normal process.</a:t>
            </a:r>
          </a:p>
          <a:p>
            <a:pPr>
              <a:spcAft>
                <a:spcPts val="896"/>
              </a:spcAft>
              <a:defRPr sz="2200">
                <a:solidFill>
                  <a:srgbClr val="333333"/>
                </a:solidFill>
              </a:defRPr>
            </a:pPr>
            <a:r>
              <a:rPr sz="2000">
                <a:solidFill>
                  <a:srgbClr val="333333"/>
                </a:solidFill>
              </a:rPr>
              <a:t>Criminals impersonate executives, law firms and trusted vendors to trigger payments.</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9</a:t>
            </a:r>
          </a:p>
        </p:txBody>
      </p:sp>
      <p:sp>
        <p:nvSpPr>
          <p:cNvPr id="8"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FBI IC3 PSA I-061118-PSA; Cialdini, HBR (2001)</a:t>
            </a:r>
          </a:p>
        </p:txBody>
      </p:sp>
      <p:sp>
        <p:nvSpPr>
          <p:cNvPr id="9" name="TextBox 4"/>
          <p:cNvSpPr txBox="1"/>
          <p:nvPr/>
        </p:nvSpPr>
        <p:spPr>
          <a:xfrm>
            <a:off x="8412480" y="1691640"/>
            <a:ext cx="3291840" cy="457200"/>
          </a:xfrm>
          <a:prstGeom prst="rect">
            <a:avLst/>
          </a:prstGeom>
          <a:noFill/>
        </p:spPr>
        <p:txBody>
          <a:bodyPr wrap="square">
            <a:spAutoFit/>
          </a:bodyPr>
          <a:lstStyle/>
          <a:p>
            <a:pPr algn="ctr"/>
            <a:r>
              <a:rPr sz="2200" i="0" b="1">
                <a:solidFill>
                  <a:srgbClr val="333333"/>
                </a:solidFill>
              </a:rPr>
              <a:t>LEVERS PULLED</a:t>
            </a:r>
          </a:p>
        </p:txBody>
      </p:sp>
      <p:sp>
        <p:nvSpPr>
          <p:cNvPr id="10" name="Rounded Rectangle 4"/>
          <p:cNvSpPr/>
          <p:nvPr/>
        </p:nvSpPr>
        <p:spPr>
          <a:xfrm>
            <a:off x="8412480" y="2240280"/>
            <a:ext cx="3291840" cy="1188720"/>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Authority</a:t>
            </a:r>
          </a:p>
          <a:p>
            <a:pPr algn="ctr"/>
            <a:r>
              <a:rPr sz="2000">
                <a:solidFill>
                  <a:srgbClr val="FFFFFF"/>
                </a:solidFill>
              </a:rPr>
              <a:t>A law firm’s name makes people comply.</a:t>
            </a:r>
          </a:p>
        </p:txBody>
      </p:sp>
      <p:sp>
        <p:nvSpPr>
          <p:cNvPr id="11" name="Rounded Rectangle 4"/>
          <p:cNvSpPr/>
          <p:nvPr/>
        </p:nvSpPr>
        <p:spPr>
          <a:xfrm>
            <a:off x="8412480" y="3520440"/>
            <a:ext cx="3291840" cy="1188720"/>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Scarcity</a:t>
            </a:r>
          </a:p>
          <a:p>
            <a:pPr algn="ctr"/>
            <a:r>
              <a:rPr sz="2000">
                <a:solidFill>
                  <a:srgbClr val="FFFFFF"/>
                </a:solidFill>
              </a:rPr>
              <a:t>Little time means little checking.</a:t>
            </a:r>
          </a:p>
        </p:txBody>
      </p:sp>
      <p:sp>
        <p:nvSpPr>
          <p:cNvPr id="12" name="TextBox 4"/>
          <p:cNvSpPr txBox="1"/>
          <p:nvPr/>
        </p:nvSpPr>
        <p:spPr>
          <a:xfrm>
            <a:off x="8412480" y="4846320"/>
            <a:ext cx="3291840" cy="1005840"/>
          </a:xfrm>
          <a:prstGeom prst="rect">
            <a:avLst/>
          </a:prstGeom>
          <a:noFill/>
        </p:spPr>
        <p:txBody>
          <a:bodyPr wrap="square">
            <a:spAutoFit/>
          </a:bodyPr>
          <a:lstStyle/>
          <a:p>
            <a:pPr algn="ctr"/>
            <a:r>
              <a:rPr sz="2000" i="1" b="0">
                <a:solidFill>
                  <a:srgbClr val="333333"/>
                </a:solidFill>
              </a:rPr>
              <a:t>Plus secrecy, which stops anyone checking.</a:t>
            </a:r>
          </a:p>
        </p:txBody>
      </p:sp>
      <p:sp>
        <p:nvSpPr>
          <p:cNvPr id="13"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4"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15" name="narration_adm_09.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9611" fill="hold"/>
                                        <p:tgtEl>
                                          <p:spTgt spid="15"/>
                                        </p:tgtEl>
                                      </p:cBhvr>
                                    </p:cmd>
                                  </p:childTnLst>
                                </p:cTn>
                              </p:par>
                              <p:par>
                                <p:cTn id="20" presetID="26" presetClass="emph" presetSubtype="0" repeatCount="indefinite" fill="hold" grpId="0" nodeType="withEffect">
                                  <p:stCondLst>
                                    <p:cond delay="59611"/>
                                  </p:stCondLst>
                                  <p:childTnLst>
                                    <p:animEffect transition="out" filter="fade">
                                      <p:cBhvr>
                                        <p:cTn id="21" dur="1000" tmFilter="0, 0; .2, .5; .8, .5; 1, 0"/>
                                        <p:tgtEl>
                                          <p:spTgt spid="14"/>
                                        </p:tgtEl>
                                      </p:cBhvr>
                                    </p:animEffect>
                                    <p:animScale>
                                      <p:cBhvr>
                                        <p:cTn id="22" dur="500" autoRev="1" fill="hold"/>
                                        <p:tgtEl>
                                          <p:spTgt spid="1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5"/>
                </p:tgtEl>
              </p:cMediaNode>
            </p:audio>
          </p:childTnLst>
        </p:cTn>
      </p:par>
    </p:tnLst>
    <p:bldLst>
      <p:bldP spid="14"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SPOT THE RED FLAG</a:t>
            </a:r>
          </a:p>
        </p:txBody>
      </p:sp>
      <p:sp>
        <p:nvSpPr>
          <p:cNvPr id="6" name="TextBox 5"/>
          <p:cNvSpPr txBox="1"/>
          <p:nvPr/>
        </p:nvSpPr>
        <p:spPr>
          <a:xfrm>
            <a:off x="792327" y="1764148"/>
            <a:ext cx="10607040" cy="494284"/>
          </a:xfrm>
          <a:prstGeom prst="rect">
            <a:avLst/>
          </a:prstGeom>
          <a:noFill/>
        </p:spPr>
        <p:txBody>
          <a:bodyPr wrap="square">
            <a:spAutoFit/>
          </a:bodyPr>
          <a:lstStyle/>
          <a:p>
            <a:pPr algn="ctr"/>
            <a:r>
              <a:rPr sz="2600" i="1" b="0">
                <a:solidFill>
                  <a:srgbClr val="333333"/>
                </a:solidFill>
              </a:rPr>
              <a:t>You have 30 seconds. Read this email and call out every red flag you can find.</a:t>
            </a:r>
          </a:p>
        </p:txBody>
      </p:sp>
      <p:sp>
        <p:nvSpPr>
          <p:cNvPr id="7" name="Rounded Rectangle 6"/>
          <p:cNvSpPr/>
          <p:nvPr/>
        </p:nvSpPr>
        <p:spPr>
          <a:xfrm>
            <a:off x="929487" y="2335004"/>
            <a:ext cx="10332720" cy="2869727"/>
          </a:xfrm>
          <a:prstGeom prst="roundRect">
            <a:avLst/>
          </a:prstGeom>
          <a:solidFill>
            <a:srgbClr val="FFFFFF"/>
          </a:solidFill>
          <a:ln>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wrap="square" lIns="274320" tIns="228600"/>
          <a:lstStyle/>
          <a:p>
            <a:pPr algn="ctr">
              <a:defRPr sz="2600" b="1">
                <a:solidFill>
                  <a:srgbClr val="000000"/>
                </a:solidFill>
              </a:defRPr>
            </a:pPr>
            <a:r>
              <a:rPr sz="2600" b="1">
                <a:solidFill>
                  <a:srgbClr val="000000"/>
                </a:solidFill>
              </a:rPr>
              <a:t>From: Elena Park, CEO &lt;elena.park@northridge-group.com&gt;</a:t>
            </a:r>
          </a:p>
          <a:p>
            <a:pPr>
              <a:defRPr sz="2600" b="1">
                <a:solidFill>
                  <a:srgbClr val="000000"/>
                </a:solidFill>
              </a:defRPr>
            </a:pPr>
            <a:r>
              <a:rPr sz="2600" b="1">
                <a:solidFill>
                  <a:srgbClr val="000000"/>
                </a:solidFill>
              </a:rPr>
              <a:t>Subject: Quick favour</a:t>
            </a:r>
          </a:p>
          <a:p>
            <a:pPr>
              <a:defRPr sz="2600" b="1">
                <a:solidFill>
                  <a:srgbClr val="000000"/>
                </a:solidFill>
              </a:defRPr>
            </a:pPr>
            <a:r>
              <a:rPr sz="2600" b="1">
                <a:solidFill>
                  <a:srgbClr val="000000"/>
                </a:solidFill>
              </a:rPr>
              <a:t>“I’m in back-to-back meetings and can’t talk. I need 5 gift cards for a client by 3 pm. Buy them and email me the codes. I’ll reimburse you. Please keep this between us. Elena”</a:t>
            </a:r>
          </a:p>
        </p:txBody>
      </p:sp>
      <p:sp>
        <p:nvSpPr>
          <p:cNvPr id="8" name="TextBox 7"/>
          <p:cNvSpPr txBox="1"/>
          <p:nvPr/>
        </p:nvSpPr>
        <p:spPr>
          <a:xfrm>
            <a:off x="792327" y="5281303"/>
            <a:ext cx="10607040" cy="494284"/>
          </a:xfrm>
          <a:prstGeom prst="rect">
            <a:avLst/>
          </a:prstGeom>
          <a:noFill/>
        </p:spPr>
        <p:txBody>
          <a:bodyPr wrap="square">
            <a:spAutoFit/>
          </a:bodyPr>
          <a:lstStyle/>
          <a:p>
            <a:pPr algn="ctr"/>
            <a:r>
              <a:rPr sz="2600" i="1" b="0">
                <a:solidFill>
                  <a:srgbClr val="333333"/>
                </a:solidFill>
              </a:rPr>
              <a:t>(When you're ready, the flagged version is on the next slide.)</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t>10</a:t>
            </a:r>
          </a:p>
        </p:txBody>
      </p:sp>
      <p:sp>
        <p:nvSpPr>
          <p:cNvPr id="10"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1"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320040"/>
            <a:ext cx="3657600" cy="411480"/>
          </a:xfrm>
          <a:prstGeom prst="rect">
            <a:avLst/>
          </a:prstGeom>
          <a:noFill/>
        </p:spPr>
        <p:txBody>
          <a:bodyPr wrap="none">
            <a:spAutoFit/>
          </a:bodyPr>
          <a:lstStyle/>
          <a:p>
            <a:r>
              <a:rPr sz="2000" b="1">
                <a:solidFill>
                  <a:srgbClr val="E88A00"/>
                </a:solidFill>
              </a:rPr>
              <a:t>▶ GAME</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SPOT THE RED FLAG: REVEALED</a:t>
            </a:r>
          </a:p>
        </p:txBody>
      </p:sp>
      <p:sp>
        <p:nvSpPr>
          <p:cNvPr id="6" name="TextBox 5"/>
          <p:cNvSpPr txBox="1"/>
          <p:nvPr/>
        </p:nvSpPr>
        <p:spPr>
          <a:xfrm>
            <a:off x="548640" y="1737360"/>
            <a:ext cx="7498079" cy="4023360"/>
          </a:xfrm>
          <a:prstGeom prst="rect">
            <a:avLst/>
          </a:prstGeom>
          <a:noFill/>
        </p:spPr>
        <p:txBody>
          <a:bodyPr wrap="square">
            <a:spAutoFit/>
          </a:bodyPr>
          <a:lstStyle/>
          <a:p>
            <a:pPr>
              <a:spcAft>
                <a:spcPts val="976"/>
              </a:spcAft>
              <a:defRPr sz="2400">
                <a:solidFill>
                  <a:srgbClr val="333333"/>
                </a:solidFill>
              </a:defRPr>
            </a:pPr>
            <a:r>
              <a:rPr sz="2000">
                <a:solidFill>
                  <a:srgbClr val="333333"/>
                </a:solidFill>
              </a:rPr>
              <a:t>🚩  Gift cards by email: a request to buy them and send the codes.</a:t>
            </a:r>
          </a:p>
          <a:p>
            <a:pPr>
              <a:spcAft>
                <a:spcPts val="976"/>
              </a:spcAft>
              <a:defRPr sz="2400">
                <a:solidFill>
                  <a:srgbClr val="333333"/>
                </a:solidFill>
              </a:defRPr>
            </a:pPr>
            <a:r>
              <a:rPr sz="2000">
                <a:solidFill>
                  <a:srgbClr val="333333"/>
                </a:solidFill>
              </a:rPr>
              <a:t>🚩  “Can’t talk”: a reason that blocks the obvious check.</a:t>
            </a:r>
          </a:p>
          <a:p>
            <a:pPr>
              <a:spcAft>
                <a:spcPts val="976"/>
              </a:spcAft>
              <a:defRPr sz="2400">
                <a:solidFill>
                  <a:srgbClr val="333333"/>
                </a:solidFill>
              </a:defRPr>
            </a:pPr>
            <a:r>
              <a:rPr sz="2000">
                <a:solidFill>
                  <a:srgbClr val="333333"/>
                </a:solidFill>
              </a:rPr>
              <a:t>🚩  “By 3 pm”: a deadline that leaves no time to check.</a:t>
            </a:r>
          </a:p>
          <a:p>
            <a:pPr>
              <a:spcAft>
                <a:spcPts val="976"/>
              </a:spcAft>
              <a:defRPr sz="2400">
                <a:solidFill>
                  <a:srgbClr val="333333"/>
                </a:solidFill>
              </a:defRPr>
            </a:pPr>
            <a:r>
              <a:rPr sz="2000">
                <a:solidFill>
                  <a:srgbClr val="333333"/>
                </a:solidFill>
              </a:rPr>
              <a:t>🚩  “Keep this between us”: secrecy cuts you off from the people who would check.</a:t>
            </a:r>
          </a:p>
          <a:p>
            <a:pPr>
              <a:spcAft>
                <a:spcPts val="976"/>
              </a:spcAft>
              <a:defRPr sz="2400">
                <a:solidFill>
                  <a:srgbClr val="333333"/>
                </a:solidFill>
              </a:defRPr>
            </a:pPr>
            <a:r>
              <a:rPr sz="2000">
                <a:solidFill>
                  <a:srgbClr val="333333"/>
                </a:solidFill>
              </a:rPr>
              <a:t>🚩  “I’ll reimburse you”: a promise that makes the favour feel safe.</a:t>
            </a:r>
          </a:p>
          <a:p>
            <a:pPr>
              <a:spcAft>
                <a:spcPts val="976"/>
              </a:spcAft>
              <a:defRPr sz="2400">
                <a:solidFill>
                  <a:srgbClr val="333333"/>
                </a:solidFill>
              </a:defRPr>
            </a:pPr>
            <a:r>
              <a:rPr sz="2000">
                <a:solidFill>
                  <a:srgbClr val="333333"/>
                </a:solidFill>
              </a:rPr>
              <a:t>Only scammers ask for gift card numbers and PINs. Check through the CEO’s office, on a number from the directory.</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11</a:t>
            </a:r>
          </a:p>
        </p:txBody>
      </p:sp>
      <p:sp>
        <p:nvSpPr>
          <p:cNvPr id="8"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FTC gift card alert; Cialdini, HBR (2001)</a:t>
            </a:r>
          </a:p>
        </p:txBody>
      </p:sp>
      <p:sp>
        <p:nvSpPr>
          <p:cNvPr id="9" name="TextBox 4"/>
          <p:cNvSpPr txBox="1"/>
          <p:nvPr/>
        </p:nvSpPr>
        <p:spPr>
          <a:xfrm>
            <a:off x="8412480" y="1691640"/>
            <a:ext cx="3291840" cy="457200"/>
          </a:xfrm>
          <a:prstGeom prst="rect">
            <a:avLst/>
          </a:prstGeom>
          <a:noFill/>
        </p:spPr>
        <p:txBody>
          <a:bodyPr wrap="square">
            <a:spAutoFit/>
          </a:bodyPr>
          <a:lstStyle/>
          <a:p>
            <a:pPr algn="ctr"/>
            <a:r>
              <a:rPr sz="2200" i="0" b="1">
                <a:solidFill>
                  <a:srgbClr val="333333"/>
                </a:solidFill>
              </a:rPr>
              <a:t>LEVERS PULLED</a:t>
            </a:r>
          </a:p>
        </p:txBody>
      </p:sp>
      <p:sp>
        <p:nvSpPr>
          <p:cNvPr id="10" name="Rounded Rectangle 4"/>
          <p:cNvSpPr/>
          <p:nvPr/>
        </p:nvSpPr>
        <p:spPr>
          <a:xfrm>
            <a:off x="8412480" y="2240280"/>
            <a:ext cx="3291840" cy="1188720"/>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Authority</a:t>
            </a:r>
          </a:p>
          <a:p>
            <a:pPr algn="ctr"/>
            <a:r>
              <a:rPr sz="2000">
                <a:solidFill>
                  <a:srgbClr val="FFFFFF"/>
                </a:solidFill>
              </a:rPr>
              <a:t>People comply when the CEO asks.</a:t>
            </a:r>
          </a:p>
        </p:txBody>
      </p:sp>
      <p:sp>
        <p:nvSpPr>
          <p:cNvPr id="11" name="Rounded Rectangle 4"/>
          <p:cNvSpPr/>
          <p:nvPr/>
        </p:nvSpPr>
        <p:spPr>
          <a:xfrm>
            <a:off x="8412480" y="3520440"/>
            <a:ext cx="3291840" cy="1188720"/>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Reciprocity</a:t>
            </a:r>
          </a:p>
          <a:p>
            <a:pPr algn="ctr"/>
            <a:r>
              <a:rPr sz="2000">
                <a:solidFill>
                  <a:srgbClr val="FFFFFF"/>
                </a:solidFill>
              </a:rPr>
              <a:t>A promise to repay makes a favour feel fair.</a:t>
            </a:r>
          </a:p>
        </p:txBody>
      </p:sp>
      <p:sp>
        <p:nvSpPr>
          <p:cNvPr id="12" name="TextBox 4"/>
          <p:cNvSpPr txBox="1"/>
          <p:nvPr/>
        </p:nvSpPr>
        <p:spPr>
          <a:xfrm>
            <a:off x="8412480" y="4846320"/>
            <a:ext cx="3291840" cy="1005840"/>
          </a:xfrm>
          <a:prstGeom prst="rect">
            <a:avLst/>
          </a:prstGeom>
          <a:noFill/>
        </p:spPr>
        <p:txBody>
          <a:bodyPr wrap="square">
            <a:spAutoFit/>
          </a:bodyPr>
          <a:lstStyle/>
          <a:p>
            <a:pPr algn="ctr"/>
            <a:r>
              <a:rPr sz="2000" i="1" b="0">
                <a:solidFill>
                  <a:srgbClr val="333333"/>
                </a:solidFill>
              </a:rPr>
              <a:t>Plus secrecy and a tight deadline.</a:t>
            </a:r>
          </a:p>
        </p:txBody>
      </p:sp>
      <p:sp>
        <p:nvSpPr>
          <p:cNvPr id="13"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4"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15" name="narration_adm_11.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9031" fill="hold"/>
                                        <p:tgtEl>
                                          <p:spTgt spid="15"/>
                                        </p:tgtEl>
                                      </p:cBhvr>
                                    </p:cmd>
                                  </p:childTnLst>
                                </p:cTn>
                              </p:par>
                              <p:par>
                                <p:cTn id="20" presetID="26" presetClass="emph" presetSubtype="0" repeatCount="indefinite" fill="hold" grpId="0" nodeType="withEffect">
                                  <p:stCondLst>
                                    <p:cond delay="49031"/>
                                  </p:stCondLst>
                                  <p:childTnLst>
                                    <p:animEffect transition="out" filter="fade">
                                      <p:cBhvr>
                                        <p:cTn id="21" dur="1000" tmFilter="0, 0; .2, .5; .8, .5; 1, 0"/>
                                        <p:tgtEl>
                                          <p:spTgt spid="14"/>
                                        </p:tgtEl>
                                      </p:cBhvr>
                                    </p:animEffect>
                                    <p:animScale>
                                      <p:cBhvr>
                                        <p:cTn id="22" dur="500" autoRev="1" fill="hold"/>
                                        <p:tgtEl>
                                          <p:spTgt spid="14"/>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5"/>
                </p:tgtEl>
              </p:cMediaNode>
            </p:audio>
          </p:childTnLst>
        </p:cTn>
      </p:par>
    </p:tnLst>
    <p:bldLst>
      <p:bldP spid="14"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SAME LEVERS, OTHER CHANNELS</a:t>
            </a:r>
          </a:p>
        </p:txBody>
      </p:sp>
      <p:sp>
        <p:nvSpPr>
          <p:cNvPr id="5" name="TextBox 9"/>
          <p:cNvSpPr txBox="1"/>
          <p:nvPr/>
        </p:nvSpPr>
        <p:spPr>
          <a:xfrm>
            <a:off x="10698480" y="6309360"/>
            <a:ext cx="1280160" cy="365760"/>
          </a:xfrm>
          <a:prstGeom prst="rect">
            <a:avLst/>
          </a:prstGeom>
          <a:noFill/>
        </p:spPr>
        <p:txBody>
          <a:bodyPr wrap="none">
            <a:spAutoFit/>
          </a:bodyPr>
          <a:lstStyle/>
          <a:p>
            <a:pPr algn="r"/>
            <a:r>
              <a:rPr sz="1100"/>
              <a:t>12</a:t>
            </a:r>
          </a:p>
        </p:txBody>
      </p:sp>
      <p:sp>
        <p:nvSpPr>
          <p:cNvPr id="6" name="TextBox 4"/>
          <p:cNvSpPr txBox="1"/>
          <p:nvPr/>
        </p:nvSpPr>
        <p:spPr>
          <a:xfrm>
            <a:off x="548640" y="1572768"/>
            <a:ext cx="5394960" cy="457200"/>
          </a:xfrm>
          <a:prstGeom prst="rect">
            <a:avLst/>
          </a:prstGeom>
          <a:noFill/>
        </p:spPr>
        <p:txBody>
          <a:bodyPr wrap="square">
            <a:spAutoFit/>
          </a:bodyPr>
          <a:lstStyle/>
          <a:p>
            <a:pPr algn="ctr"/>
            <a:r>
              <a:rPr sz="2000" i="0" b="1">
                <a:solidFill>
                  <a:srgbClr val="333333"/>
                </a:solidFill>
              </a:rPr>
              <a:t>Text message: a “CEO” favour</a:t>
            </a:r>
          </a:p>
        </p:txBody>
      </p:sp>
      <p:sp>
        <p:nvSpPr>
          <p:cNvPr id="7" name="Rounded Rectangle 11"/>
          <p:cNvSpPr/>
          <p:nvPr/>
        </p:nvSpPr>
        <p:spPr>
          <a:xfrm>
            <a:off x="548640" y="2103120"/>
            <a:ext cx="5394960" cy="2194560"/>
          </a:xfrm>
          <a:prstGeom prst="roundRect">
            <a:avLst>
              <a:gd name="adj" fmla="val 12000"/>
            </a:avLst>
          </a:prstGeom>
          <a:solidFill>
            <a:srgbClr val="2B27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12"/>
          <p:cNvSpPr/>
          <p:nvPr/>
        </p:nvSpPr>
        <p:spPr>
          <a:xfrm>
            <a:off x="822959" y="2286000"/>
            <a:ext cx="4846320" cy="1828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2000" b="1">
                <a:solidFill>
                  <a:srgbClr val="2E2A45"/>
                </a:solidFill>
              </a:rPr>
              <a:t>Text from “CEO”</a:t>
            </a:r>
          </a:p>
          <a:p>
            <a:pPr algn="l"/>
            <a:r>
              <a:rPr sz="2000" b="0">
                <a:solidFill>
                  <a:srgbClr val="2E2A45"/>
                </a:solidFill>
              </a:rPr>
              <a:t>“I’m in back-to-back meetings and can’t talk. I need 5 gift cards for a client by 3 pm. Buy them and text me the codes. I’ll reimburse you. Keep this between us.”</a:t>
            </a:r>
          </a:p>
        </p:txBody>
      </p:sp>
      <p:sp>
        <p:nvSpPr>
          <p:cNvPr id="9" name="Rounded Rectangle 4"/>
          <p:cNvSpPr/>
          <p:nvPr/>
        </p:nvSpPr>
        <p:spPr>
          <a:xfrm>
            <a:off x="548640" y="4434840"/>
            <a:ext cx="2606040" cy="502920"/>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Authority</a:t>
            </a:r>
          </a:p>
        </p:txBody>
      </p:sp>
      <p:sp>
        <p:nvSpPr>
          <p:cNvPr id="10" name="Rounded Rectangle 4"/>
          <p:cNvSpPr/>
          <p:nvPr/>
        </p:nvSpPr>
        <p:spPr>
          <a:xfrm>
            <a:off x="3337560" y="4434840"/>
            <a:ext cx="2606040" cy="502920"/>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Reciprocity</a:t>
            </a:r>
          </a:p>
        </p:txBody>
      </p:sp>
      <p:sp>
        <p:nvSpPr>
          <p:cNvPr id="11" name="TextBox 4"/>
          <p:cNvSpPr txBox="1"/>
          <p:nvPr/>
        </p:nvSpPr>
        <p:spPr>
          <a:xfrm>
            <a:off x="548640" y="5029200"/>
            <a:ext cx="5394960" cy="777240"/>
          </a:xfrm>
          <a:prstGeom prst="rect">
            <a:avLst/>
          </a:prstGeom>
          <a:noFill/>
        </p:spPr>
        <p:txBody>
          <a:bodyPr wrap="square">
            <a:spAutoFit/>
          </a:bodyPr>
          <a:lstStyle/>
          <a:p>
            <a:pPr algn="ctr"/>
            <a:r>
              <a:rPr sz="1800" i="0" b="0">
                <a:solidFill>
                  <a:srgbClr val="333333"/>
                </a:solidFill>
              </a:rPr>
              <a:t>Do not buy or reply. Check through the CEO’s office, then report it.</a:t>
            </a:r>
          </a:p>
        </p:txBody>
      </p:sp>
      <p:sp>
        <p:nvSpPr>
          <p:cNvPr id="12" name="TextBox 4"/>
          <p:cNvSpPr txBox="1"/>
          <p:nvPr/>
        </p:nvSpPr>
        <p:spPr>
          <a:xfrm>
            <a:off x="6263640" y="1572768"/>
            <a:ext cx="5394960" cy="457200"/>
          </a:xfrm>
          <a:prstGeom prst="rect">
            <a:avLst/>
          </a:prstGeom>
          <a:noFill/>
        </p:spPr>
        <p:txBody>
          <a:bodyPr wrap="square">
            <a:spAutoFit/>
          </a:bodyPr>
          <a:lstStyle/>
          <a:p>
            <a:pPr algn="ctr"/>
            <a:r>
              <a:rPr sz="2000" i="0" b="1">
                <a:solidFill>
                  <a:srgbClr val="333333"/>
                </a:solidFill>
              </a:rPr>
              <a:t>QR code: a real Sophos case (2024)</a:t>
            </a:r>
          </a:p>
        </p:txBody>
      </p:sp>
      <p:sp>
        <p:nvSpPr>
          <p:cNvPr id="13" name="Rounded Rectangle 17"/>
          <p:cNvSpPr/>
          <p:nvPr/>
        </p:nvSpPr>
        <p:spPr>
          <a:xfrm>
            <a:off x="6263640" y="2103120"/>
            <a:ext cx="5394960" cy="219456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4"/>
          <p:cNvSpPr txBox="1"/>
          <p:nvPr/>
        </p:nvSpPr>
        <p:spPr>
          <a:xfrm>
            <a:off x="6355079" y="2148839"/>
            <a:ext cx="5212080" cy="365760"/>
          </a:xfrm>
          <a:prstGeom prst="rect">
            <a:avLst/>
          </a:prstGeom>
          <a:noFill/>
        </p:spPr>
        <p:txBody>
          <a:bodyPr wrap="square">
            <a:spAutoFit/>
          </a:bodyPr>
          <a:lstStyle/>
          <a:p>
            <a:pPr algn="ctr"/>
            <a:r>
              <a:rPr sz="2200" i="0" b="1">
                <a:solidFill>
                  <a:srgbClr val="2E2A45"/>
                </a:solidFill>
              </a:rPr>
              <a:t>SCANNED DOCUMENT</a:t>
            </a:r>
          </a:p>
        </p:txBody>
      </p:sp>
      <p:sp>
        <p:nvSpPr>
          <p:cNvPr id="15" name="TextBox 4"/>
          <p:cNvSpPr txBox="1"/>
          <p:nvPr/>
        </p:nvSpPr>
        <p:spPr>
          <a:xfrm>
            <a:off x="6355079" y="2487168"/>
            <a:ext cx="5212080" cy="320040"/>
          </a:xfrm>
          <a:prstGeom prst="rect">
            <a:avLst/>
          </a:prstGeom>
          <a:noFill/>
        </p:spPr>
        <p:txBody>
          <a:bodyPr wrap="square">
            <a:spAutoFit/>
          </a:bodyPr>
          <a:lstStyle/>
          <a:p>
            <a:pPr algn="ctr"/>
            <a:r>
              <a:rPr sz="2000" i="0" b="0">
                <a:solidFill>
                  <a:srgbClr val="2E2A45"/>
                </a:solidFill>
              </a:rPr>
              <a:t>Employee benefits: scan to view</a:t>
            </a:r>
          </a:p>
        </p:txBody>
      </p:sp>
      <p:pic>
        <p:nvPicPr>
          <p:cNvPr id="16" name="Picture 20" descr="image.png"/>
          <p:cNvPicPr>
            <a:picLocks noChangeAspect="1"/>
          </p:cNvPicPr>
          <p:nvPr/>
        </p:nvPicPr>
        <p:blipFill>
          <a:blip r:embed="rId3"/>
          <a:stretch>
            <a:fillRect/>
          </a:stretch>
        </p:blipFill>
        <p:spPr>
          <a:xfrm>
            <a:off x="8412480" y="2852927"/>
            <a:ext cx="1097280" cy="1097280"/>
          </a:xfrm>
          <a:prstGeom prst="rect">
            <a:avLst/>
          </a:prstGeom>
        </p:spPr>
      </p:pic>
      <p:sp>
        <p:nvSpPr>
          <p:cNvPr id="17" name="TextBox 4"/>
          <p:cNvSpPr txBox="1"/>
          <p:nvPr/>
        </p:nvSpPr>
        <p:spPr>
          <a:xfrm>
            <a:off x="6355079" y="3886199"/>
            <a:ext cx="5212080" cy="365760"/>
          </a:xfrm>
          <a:prstGeom prst="rect">
            <a:avLst/>
          </a:prstGeom>
          <a:noFill/>
        </p:spPr>
        <p:txBody>
          <a:bodyPr wrap="square">
            <a:spAutoFit/>
          </a:bodyPr>
          <a:lstStyle/>
          <a:p>
            <a:pPr algn="ctr"/>
            <a:r>
              <a:rPr sz="2000" i="0" b="1">
                <a:solidFill>
                  <a:srgbClr val="2E2A45"/>
                </a:solidFill>
              </a:rPr>
              <a:t>Scan to view your document</a:t>
            </a:r>
          </a:p>
        </p:txBody>
      </p:sp>
      <p:sp>
        <p:nvSpPr>
          <p:cNvPr id="18" name="Rounded Rectangle 4"/>
          <p:cNvSpPr/>
          <p:nvPr/>
        </p:nvSpPr>
        <p:spPr>
          <a:xfrm>
            <a:off x="6263640" y="4434840"/>
            <a:ext cx="2606040" cy="502920"/>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Authority</a:t>
            </a:r>
          </a:p>
        </p:txBody>
      </p:sp>
      <p:sp>
        <p:nvSpPr>
          <p:cNvPr id="19" name="TextBox 4"/>
          <p:cNvSpPr txBox="1"/>
          <p:nvPr/>
        </p:nvSpPr>
        <p:spPr>
          <a:xfrm>
            <a:off x="6263640" y="5029200"/>
            <a:ext cx="5394960" cy="777240"/>
          </a:xfrm>
          <a:prstGeom prst="rect">
            <a:avLst/>
          </a:prstGeom>
          <a:noFill/>
        </p:spPr>
        <p:txBody>
          <a:bodyPr wrap="square">
            <a:spAutoFit/>
          </a:bodyPr>
          <a:lstStyle/>
          <a:p>
            <a:pPr algn="ctr"/>
            <a:r>
              <a:rPr sz="1800" i="0" b="0">
                <a:solidFill>
                  <a:srgbClr val="333333"/>
                </a:solidFill>
              </a:rPr>
              <a:t>Do not scan. Open benefits and remittance documents through the official portal, then report it.</a:t>
            </a:r>
          </a:p>
        </p:txBody>
      </p:sp>
      <p:sp>
        <p:nvSpPr>
          <p:cNvPr id="20"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FTC gift card alert; Sophos, “From QR to compromise” (2024)</a:t>
            </a:r>
          </a:p>
        </p:txBody>
      </p:sp>
      <p:sp>
        <p:nvSpPr>
          <p:cNvPr id="21"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22" name="Kiosk Next">
            <a:hlinkClick r:id="rId5"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23" name="narration_adm_12.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5322" fill="hold"/>
                                        <p:tgtEl>
                                          <p:spTgt spid="23"/>
                                        </p:tgtEl>
                                      </p:cBhvr>
                                    </p:cmd>
                                  </p:childTnLst>
                                </p:cTn>
                              </p:par>
                              <p:par>
                                <p:cTn id="20" presetID="26" presetClass="emph" presetSubtype="0" repeatCount="indefinite" fill="hold" grpId="0" nodeType="withEffect">
                                  <p:stCondLst>
                                    <p:cond delay="45322"/>
                                  </p:stCondLst>
                                  <p:childTnLst>
                                    <p:animEffect transition="out" filter="fade">
                                      <p:cBhvr>
                                        <p:cTn id="21" dur="1000" tmFilter="0, 0; .2, .5; .8, .5; 1, 0"/>
                                        <p:tgtEl>
                                          <p:spTgt spid="22"/>
                                        </p:tgtEl>
                                      </p:cBhvr>
                                    </p:animEffect>
                                    <p:animScale>
                                      <p:cBhvr>
                                        <p:cTn id="22" dur="500" autoRev="1" fill="hold"/>
                                        <p:tgtEl>
                                          <p:spTgt spid="2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23"/>
                </p:tgtEl>
              </p:cMediaNode>
            </p:audio>
          </p:childTnLst>
        </p:cTn>
      </p:par>
    </p:tnLst>
    <p:bldLst>
      <p:bldP spid="22"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CLICKFIX: HOW A REAL MAILBOX GETS TAKEN</a:t>
            </a:r>
          </a:p>
        </p:txBody>
      </p:sp>
      <p:sp>
        <p:nvSpPr>
          <p:cNvPr id="5" name="TextBox 9"/>
          <p:cNvSpPr txBox="1"/>
          <p:nvPr/>
        </p:nvSpPr>
        <p:spPr>
          <a:xfrm>
            <a:off x="10698480" y="6309360"/>
            <a:ext cx="1280160" cy="365760"/>
          </a:xfrm>
          <a:prstGeom prst="rect">
            <a:avLst/>
          </a:prstGeom>
          <a:noFill/>
        </p:spPr>
        <p:txBody>
          <a:bodyPr wrap="none">
            <a:spAutoFit/>
          </a:bodyPr>
          <a:lstStyle/>
          <a:p>
            <a:pPr algn="r"/>
            <a:r>
              <a:rPr sz="1100"/>
              <a:t>13</a:t>
            </a:r>
          </a:p>
        </p:txBody>
      </p:sp>
      <p:sp>
        <p:nvSpPr>
          <p:cNvPr id="6" name="Rounded Rectangle 4"/>
          <p:cNvSpPr/>
          <p:nvPr/>
        </p:nvSpPr>
        <p:spPr>
          <a:xfrm>
            <a:off x="457200" y="1554480"/>
            <a:ext cx="1920240" cy="1828800"/>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1</a:t>
            </a:r>
          </a:p>
          <a:p>
            <a:pPr algn="ctr"/>
            <a:r>
              <a:rPr sz="2000">
                <a:solidFill>
                  <a:srgbClr val="FFFFFF"/>
                </a:solidFill>
              </a:rPr>
              <a:t>A fake security check on a web page</a:t>
            </a:r>
          </a:p>
        </p:txBody>
      </p:sp>
      <p:sp>
        <p:nvSpPr>
          <p:cNvPr id="7" name="Right Arrow 11"/>
          <p:cNvSpPr/>
          <p:nvPr/>
        </p:nvSpPr>
        <p:spPr>
          <a:xfrm>
            <a:off x="241401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4"/>
          <p:cNvSpPr/>
          <p:nvPr/>
        </p:nvSpPr>
        <p:spPr>
          <a:xfrm>
            <a:off x="2788920" y="1554480"/>
            <a:ext cx="1920240" cy="1828800"/>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2</a:t>
            </a:r>
          </a:p>
          <a:p>
            <a:pPr algn="ctr"/>
            <a:r>
              <a:rPr sz="2000">
                <a:solidFill>
                  <a:srgbClr val="FFFFFF"/>
                </a:solidFill>
              </a:rPr>
              <a:t>You paste a command to “fix” it</a:t>
            </a:r>
          </a:p>
        </p:txBody>
      </p:sp>
      <p:sp>
        <p:nvSpPr>
          <p:cNvPr id="9" name="Right Arrow 13"/>
          <p:cNvSpPr/>
          <p:nvPr/>
        </p:nvSpPr>
        <p:spPr>
          <a:xfrm>
            <a:off x="474573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4"/>
          <p:cNvSpPr/>
          <p:nvPr/>
        </p:nvSpPr>
        <p:spPr>
          <a:xfrm>
            <a:off x="5120640" y="1554480"/>
            <a:ext cx="1920240" cy="1828800"/>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3</a:t>
            </a:r>
          </a:p>
          <a:p>
            <a:pPr algn="ctr"/>
            <a:r>
              <a:rPr sz="2000">
                <a:solidFill>
                  <a:srgbClr val="FFFFFF"/>
                </a:solidFill>
              </a:rPr>
              <a:t>It steals saved passwords and sessions</a:t>
            </a:r>
          </a:p>
        </p:txBody>
      </p:sp>
      <p:sp>
        <p:nvSpPr>
          <p:cNvPr id="11" name="Right Arrow 15"/>
          <p:cNvSpPr/>
          <p:nvPr/>
        </p:nvSpPr>
        <p:spPr>
          <a:xfrm>
            <a:off x="707745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4"/>
          <p:cNvSpPr/>
          <p:nvPr/>
        </p:nvSpPr>
        <p:spPr>
          <a:xfrm>
            <a:off x="7452359" y="1554480"/>
            <a:ext cx="1920240" cy="1828800"/>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4</a:t>
            </a:r>
          </a:p>
          <a:p>
            <a:pPr algn="ctr"/>
            <a:r>
              <a:rPr sz="2000">
                <a:solidFill>
                  <a:srgbClr val="FFFFFF"/>
                </a:solidFill>
              </a:rPr>
              <a:t>A real mailbox is taken over</a:t>
            </a:r>
          </a:p>
        </p:txBody>
      </p:sp>
      <p:sp>
        <p:nvSpPr>
          <p:cNvPr id="13" name="Right Arrow 17"/>
          <p:cNvSpPr/>
          <p:nvPr/>
        </p:nvSpPr>
        <p:spPr>
          <a:xfrm>
            <a:off x="9409176" y="2304288"/>
            <a:ext cx="329184" cy="365760"/>
          </a:xfrm>
          <a:prstGeom prst="rightArrow">
            <a:avLst/>
          </a:prstGeom>
          <a:solidFill>
            <a:srgbClr val="7A5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4"/>
          <p:cNvSpPr/>
          <p:nvPr/>
        </p:nvSpPr>
        <p:spPr>
          <a:xfrm>
            <a:off x="9784080" y="1554480"/>
            <a:ext cx="1920240" cy="1828800"/>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5</a:t>
            </a:r>
          </a:p>
          <a:p>
            <a:pPr algn="ctr"/>
            <a:r>
              <a:rPr sz="2000">
                <a:solidFill>
                  <a:srgbClr val="FFFFFF"/>
                </a:solidFill>
              </a:rPr>
              <a:t>The BEC message comes from a real address</a:t>
            </a:r>
          </a:p>
        </p:txBody>
      </p:sp>
      <p:sp>
        <p:nvSpPr>
          <p:cNvPr id="15" name="TextBox 4"/>
          <p:cNvSpPr txBox="1"/>
          <p:nvPr/>
        </p:nvSpPr>
        <p:spPr>
          <a:xfrm>
            <a:off x="795528" y="3520440"/>
            <a:ext cx="10607040" cy="685800"/>
          </a:xfrm>
          <a:prstGeom prst="rect">
            <a:avLst/>
          </a:prstGeom>
          <a:noFill/>
        </p:spPr>
        <p:txBody>
          <a:bodyPr wrap="square">
            <a:spAutoFit/>
          </a:bodyPr>
          <a:lstStyle/>
          <a:p>
            <a:pPr algn="ctr"/>
            <a:r>
              <a:rPr sz="2000" i="0" b="0">
                <a:solidFill>
                  <a:srgbClr val="333333"/>
                </a:solidFill>
              </a:rPr>
              <a:t>Growing fast: the top way in during 2025 in Microsoft’s data (47%), and 52% of Push Security’s detections through Q2 2026, reaching 67% in August.</a:t>
            </a:r>
          </a:p>
        </p:txBody>
      </p:sp>
      <p:sp>
        <p:nvSpPr>
          <p:cNvPr id="16" name="TextBox 4"/>
          <p:cNvSpPr txBox="1"/>
          <p:nvPr/>
        </p:nvSpPr>
        <p:spPr>
          <a:xfrm>
            <a:off x="795528" y="4206240"/>
            <a:ext cx="10607040" cy="365760"/>
          </a:xfrm>
          <a:prstGeom prst="rect">
            <a:avLst/>
          </a:prstGeom>
          <a:noFill/>
        </p:spPr>
        <p:txBody>
          <a:bodyPr wrap="square">
            <a:spAutoFit/>
          </a:bodyPr>
          <a:lstStyle/>
          <a:p>
            <a:pPr algn="ctr"/>
            <a:r>
              <a:rPr sz="2000" i="0" b="0">
                <a:solidFill>
                  <a:srgbClr val="333333"/>
                </a:solidFill>
              </a:rPr>
              <a:t>Most arrive through web search results and compromised sites, not email.</a:t>
            </a:r>
          </a:p>
        </p:txBody>
      </p:sp>
      <p:sp>
        <p:nvSpPr>
          <p:cNvPr id="17" name="TextBox 4"/>
          <p:cNvSpPr txBox="1"/>
          <p:nvPr/>
        </p:nvSpPr>
        <p:spPr>
          <a:xfrm>
            <a:off x="795528" y="4572000"/>
            <a:ext cx="10607040" cy="731520"/>
          </a:xfrm>
          <a:prstGeom prst="rect">
            <a:avLst/>
          </a:prstGeom>
          <a:noFill/>
        </p:spPr>
        <p:txBody>
          <a:bodyPr wrap="square">
            <a:spAutoFit/>
          </a:bodyPr>
          <a:lstStyle/>
          <a:p>
            <a:pPr algn="ctr"/>
            <a:r>
              <a:rPr sz="2000" i="0" b="1">
                <a:solidFill>
                  <a:srgbClr val="333333"/>
                </a:solidFill>
              </a:rPr>
              <a:t>For Administrative staff: a request can then appear to come from your manager’s real mailbox, so the only safe check is a call on a number you already hold.</a:t>
            </a:r>
          </a:p>
        </p:txBody>
      </p:sp>
      <p:sp>
        <p:nvSpPr>
          <p:cNvPr id="18" name="TextBox 4"/>
          <p:cNvSpPr txBox="1"/>
          <p:nvPr/>
        </p:nvSpPr>
        <p:spPr>
          <a:xfrm>
            <a:off x="795528" y="5303520"/>
            <a:ext cx="10607040" cy="411480"/>
          </a:xfrm>
          <a:prstGeom prst="rect">
            <a:avLst/>
          </a:prstGeom>
          <a:noFill/>
        </p:spPr>
        <p:txBody>
          <a:bodyPr wrap="square">
            <a:spAutoFit/>
          </a:bodyPr>
          <a:lstStyle/>
          <a:p>
            <a:pPr algn="ctr"/>
            <a:r>
              <a:rPr sz="2000" i="1" b="0">
                <a:solidFill>
                  <a:srgbClr val="333333"/>
                </a:solidFill>
              </a:rPr>
              <a:t>Already pasted something? Stop and tell IT at once. Do not try to clean it up.</a:t>
            </a:r>
          </a:p>
        </p:txBody>
      </p:sp>
      <p:sp>
        <p:nvSpPr>
          <p:cNvPr id="19"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Push Security, “The state of ClickFix” (Sep 2026), which cites Microsoft’s 2025 report</a:t>
            </a:r>
          </a:p>
        </p:txBody>
      </p:sp>
      <p:sp>
        <p:nvSpPr>
          <p:cNvPr id="20"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21" name="Kiosk Next">
            <a:hlinkClick action="ppaction://hlinksldjump" r:id="rId4"/>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22" name="narration_adm_13.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927" fill="hold"/>
                                        <p:tgtEl>
                                          <p:spTgt spid="22"/>
                                        </p:tgtEl>
                                      </p:cBhvr>
                                    </p:cmd>
                                  </p:childTnLst>
                                </p:cTn>
                              </p:par>
                              <p:par>
                                <p:cTn id="20" presetID="26" presetClass="emph" presetSubtype="0" repeatCount="indefinite" fill="hold" grpId="0" nodeType="withEffect">
                                  <p:stCondLst>
                                    <p:cond delay="80927"/>
                                  </p:stCondLst>
                                  <p:childTnLst>
                                    <p:animEffect transition="out" filter="fade">
                                      <p:cBhvr>
                                        <p:cTn id="21" dur="1000" tmFilter="0, 0; .2, .5; .8, .5; 1, 0"/>
                                        <p:tgtEl>
                                          <p:spTgt spid="21"/>
                                        </p:tgtEl>
                                      </p:cBhvr>
                                    </p:animEffect>
                                    <p:animScale>
                                      <p:cBhvr>
                                        <p:cTn id="22" dur="500" autoRev="1" fill="hold"/>
                                        <p:tgtEl>
                                          <p:spTgt spid="21"/>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22"/>
                </p:tgtEl>
              </p:cMediaNode>
            </p:audio>
          </p:childTnLst>
        </p:cTn>
      </p:par>
    </p:tnLst>
    <p:bldLst>
      <p:bldP spid="21"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327" y="1789176"/>
            <a:ext cx="10607040" cy="649224"/>
          </a:xfrm>
          <a:prstGeom prst="rect">
            <a:avLst/>
          </a:prstGeom>
          <a:noFill/>
        </p:spPr>
        <p:txBody>
          <a:bodyPr wrap="square">
            <a:spAutoFit/>
          </a:bodyPr>
          <a:lstStyle/>
          <a:p>
            <a:pPr algn="ctr"/>
            <a:r>
              <a:rPr sz="3600" i="0" b="1">
                <a:solidFill>
                  <a:srgbClr val="4F7942"/>
                </a:solidFill>
              </a:rPr>
              <a:t>PHASE 2</a:t>
            </a:r>
          </a:p>
        </p:txBody>
      </p:sp>
      <p:sp>
        <p:nvSpPr>
          <p:cNvPr id="5" name="TextBox 4"/>
          <p:cNvSpPr txBox="1"/>
          <p:nvPr/>
        </p:nvSpPr>
        <p:spPr>
          <a:xfrm>
            <a:off x="731520" y="2941320"/>
            <a:ext cx="10698480" cy="1021080"/>
          </a:xfrm>
          <a:prstGeom prst="rect">
            <a:avLst/>
          </a:prstGeom>
          <a:noFill/>
        </p:spPr>
        <p:txBody>
          <a:bodyPr wrap="none">
            <a:spAutoFit/>
          </a:bodyPr>
          <a:lstStyle/>
          <a:p>
            <a:pPr algn="ctr"/>
            <a:r>
              <a:rPr sz="6000" b="1">
                <a:solidFill>
                  <a:srgbClr val="000000"/>
                </a:solidFill>
              </a:rPr>
              <a:t>VERIFY</a:t>
            </a:r>
          </a:p>
        </p:txBody>
      </p:sp>
      <p:sp>
        <p:nvSpPr>
          <p:cNvPr id="6" name="TextBox 5"/>
          <p:cNvSpPr txBox="1"/>
          <p:nvPr/>
        </p:nvSpPr>
        <p:spPr>
          <a:xfrm>
            <a:off x="792327" y="4465320"/>
            <a:ext cx="10607040" cy="649224"/>
          </a:xfrm>
          <a:prstGeom prst="rect">
            <a:avLst/>
          </a:prstGeom>
          <a:noFill/>
        </p:spPr>
        <p:txBody>
          <a:bodyPr wrap="square">
            <a:spAutoFit/>
          </a:bodyPr>
          <a:lstStyle/>
          <a:p>
            <a:pPr algn="ctr"/>
            <a:r>
              <a:rPr sz="3600" i="1" b="0">
                <a:solidFill>
                  <a:srgbClr val="333333"/>
                </a:solidFill>
              </a:rPr>
              <a:t>The one habit that would have stopped it.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14</a:t>
            </a:r>
          </a:p>
        </p:txBody>
      </p:sp>
      <p:pic>
        <p:nvPicPr>
          <p:cNvPr id="57" name="narration_slide12.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58" name="Kiosk Previous">
            <a:hlinkClick action="ppaction://hlinksldjump" r:id="rId6"/>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59"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608" fill="hold"/>
                                        <p:tgtEl>
                                          <p:spTgt spid="57"/>
                                        </p:tgtEl>
                                      </p:cBhvr>
                                    </p:cmd>
                                  </p:childTnLst>
                                </p:cTn>
                              </p:par>
                              <p:par>
                                <p:cTn id="20" presetID="26" presetClass="emph" presetSubtype="0" repeatCount="indefinite" fill="hold" grpId="0" nodeType="withEffect">
                                  <p:stCondLst>
                                    <p:cond delay="6608"/>
                                  </p:stCondLst>
                                  <p:childTnLst>
                                    <p:animEffect transition="out" filter="fade">
                                      <p:cBhvr>
                                        <p:cTn id="21" dur="1000" tmFilter="0, 0; .2, .5; .8, .5; 1, 0"/>
                                        <p:tgtEl>
                                          <p:spTgt spid="59"/>
                                        </p:tgtEl>
                                      </p:cBhvr>
                                    </p:animEffect>
                                    <p:animScale>
                                      <p:cBhvr>
                                        <p:cTn id="22" dur="500" autoRev="1" fill="hold"/>
                                        <p:tgtEl>
                                          <p:spTgt spid="5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7"/>
                </p:tgtEl>
              </p:cMediaNode>
            </p:audio>
          </p:childTnLst>
        </p:cTn>
      </p:par>
    </p:tnLst>
    <p:bldLst>
      <p:bldP spid="59"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662940"/>
          </a:xfrm>
          <a:prstGeom prst="rect">
            <a:avLst/>
          </a:prstGeom>
          <a:noFill/>
        </p:spPr>
        <p:txBody>
          <a:bodyPr wrap="square">
            <a:spAutoFit/>
          </a:bodyPr>
          <a:lstStyle/>
          <a:p>
            <a:pPr algn="ctr"/>
            <a:r>
              <a:rPr sz="3600" b="1">
                <a:solidFill>
                  <a:srgbClr val="000000"/>
                </a:solidFill>
              </a:rPr>
              <a:t>ALWAYS VERIFY: SOMEWHERE THE REQUEST CAN'T REACH</a:t>
            </a:r>
          </a:p>
        </p:txBody>
      </p:sp>
      <p:sp>
        <p:nvSpPr>
          <p:cNvPr id="5" name="Rounded Rectangle 4"/>
          <p:cNvSpPr/>
          <p:nvPr/>
        </p:nvSpPr>
        <p:spPr>
          <a:xfrm>
            <a:off x="548641" y="1355862"/>
            <a:ext cx="2602153" cy="3701511"/>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Official Contact Only</a:t>
            </a:r>
          </a:p>
          <a:p>
            <a:pPr algn="ctr"/>
            <a:r>
              <a:rPr sz="2200">
                <a:solidFill>
                  <a:srgbClr val="FFFFFF"/>
                </a:solidFill>
              </a:rPr>
              <a:t>Verify law firms, vendors and callers through publicly listed details, never the message's own</a:t>
            </a:r>
          </a:p>
        </p:txBody>
      </p:sp>
      <p:sp>
        <p:nvSpPr>
          <p:cNvPr id="6" name="Rounded Rectangle 5"/>
          <p:cNvSpPr/>
          <p:nvPr/>
        </p:nvSpPr>
        <p:spPr>
          <a:xfrm>
            <a:off x="3379394" y="1355862"/>
            <a:ext cx="2602153" cy="3701511"/>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The Person Directly</a:t>
            </a:r>
          </a:p>
          <a:p>
            <a:pPr algn="ctr"/>
            <a:r>
              <a:rPr sz="2200">
                <a:solidFill>
                  <a:srgbClr val="FFFFFF"/>
                </a:solidFill>
              </a:rPr>
              <a:t>Contact the named person on a number or channel you already hold. For senior people, go through their office</a:t>
            </a:r>
          </a:p>
        </p:txBody>
      </p:sp>
      <p:sp>
        <p:nvSpPr>
          <p:cNvPr id="7" name="Rounded Rectangle 6"/>
          <p:cNvSpPr/>
          <p:nvPr/>
        </p:nvSpPr>
        <p:spPr>
          <a:xfrm>
            <a:off x="6210147" y="1355862"/>
            <a:ext cx="2602153" cy="3701511"/>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Standard Process</a:t>
            </a:r>
          </a:p>
          <a:p>
            <a:pPr algn="ctr"/>
            <a:r>
              <a:rPr sz="2200">
                <a:solidFill>
                  <a:srgbClr val="FFFFFF"/>
                </a:solidFill>
              </a:rPr>
              <a:t>Any financial or purchasing request still goes through the normal procurement steps</a:t>
            </a:r>
          </a:p>
        </p:txBody>
      </p:sp>
      <p:sp>
        <p:nvSpPr>
          <p:cNvPr id="8" name="Rounded Rectangle 7"/>
          <p:cNvSpPr/>
          <p:nvPr/>
        </p:nvSpPr>
        <p:spPr>
          <a:xfrm>
            <a:off x="9040900" y="1355862"/>
            <a:ext cx="2602153" cy="3701511"/>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Time to Verify</a:t>
            </a:r>
          </a:p>
          <a:p>
            <a:pPr algn="ctr"/>
            <a:r>
              <a:rPr sz="2200">
                <a:solidFill>
                  <a:srgbClr val="FFFFFF"/>
                </a:solidFill>
              </a:rPr>
              <a:t>Urgency is the tactic, so slowing down to check is always allowed</a:t>
            </a:r>
          </a:p>
        </p:txBody>
      </p:sp>
      <p:sp>
        <p:nvSpPr>
          <p:cNvPr id="9" name="TextBox 8"/>
          <p:cNvSpPr txBox="1"/>
          <p:nvPr/>
        </p:nvSpPr>
        <p:spPr>
          <a:xfrm>
            <a:off x="792327" y="5230865"/>
            <a:ext cx="10607040" cy="447802"/>
          </a:xfrm>
          <a:prstGeom prst="rect">
            <a:avLst/>
          </a:prstGeom>
          <a:noFill/>
        </p:spPr>
        <p:txBody>
          <a:bodyPr wrap="square">
            <a:spAutoFit/>
          </a:bodyPr>
          <a:lstStyle/>
          <a:p>
            <a:pPr algn="ctr"/>
            <a:r>
              <a:rPr sz="2200" i="1" b="1">
                <a:solidFill>
                  <a:srgbClr val="333333"/>
                </a:solidFill>
              </a:rPr>
              <a:t>If a request asks you to stay quiet, that's the part to act on first.</a:t>
            </a:r>
          </a:p>
        </p:txBody>
      </p:sp>
      <p:sp>
        <p:nvSpPr>
          <p:cNvPr id="10" name="TextBox 9"/>
          <p:cNvSpPr txBox="1"/>
          <p:nvPr/>
        </p:nvSpPr>
        <p:spPr>
          <a:xfrm>
            <a:off x="10698480" y="6309360"/>
            <a:ext cx="1280160" cy="365760"/>
          </a:xfrm>
          <a:prstGeom prst="rect">
            <a:avLst/>
          </a:prstGeom>
          <a:noFill/>
        </p:spPr>
        <p:txBody>
          <a:bodyPr wrap="none">
            <a:spAutoFit/>
          </a:bodyPr>
          <a:lstStyle/>
          <a:p>
            <a:pPr algn="r"/>
            <a:r>
              <a:rPr sz="1100"/>
              <a:t>15</a:t>
            </a:r>
          </a:p>
        </p:txBody>
      </p:sp>
      <p:pic>
        <p:nvPicPr>
          <p:cNvPr id="11" name="narration_adm_L06.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2"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3"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9079" fill="hold"/>
                                        <p:tgtEl>
                                          <p:spTgt spid="11"/>
                                        </p:tgtEl>
                                      </p:cBhvr>
                                    </p:cmd>
                                  </p:childTnLst>
                                </p:cTn>
                              </p:par>
                              <p:par>
                                <p:cTn id="20" presetID="26" presetClass="emph" presetSubtype="0" repeatCount="indefinite" fill="hold" grpId="0" nodeType="withEffect">
                                  <p:stCondLst>
                                    <p:cond delay="39079"/>
                                  </p:stCondLst>
                                  <p:childTnLst>
                                    <p:animEffect transition="out" filter="fade">
                                      <p:cBhvr>
                                        <p:cTn id="21" dur="1000" tmFilter="0, 0; .2, .5; .8, .5; 1, 0"/>
                                        <p:tgtEl>
                                          <p:spTgt spid="13"/>
                                        </p:tgtEl>
                                      </p:cBhvr>
                                    </p:animEffect>
                                    <p:animScale>
                                      <p:cBhvr>
                                        <p:cTn id="22" dur="500" autoRev="1" fill="hold"/>
                                        <p:tgtEl>
                                          <p:spTgt spid="13"/>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1"/>
                </p:tgtEl>
              </p:cMediaNode>
            </p:audio>
          </p:childTnLst>
        </p:cTn>
      </p:par>
    </p:tnLst>
    <p:bldLst>
      <p:bldP spid="13"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1768885"/>
            <a:ext cx="3657600" cy="432308"/>
          </a:xfrm>
          <a:prstGeom prst="rect">
            <a:avLst/>
          </a:prstGeom>
          <a:noFill/>
        </p:spPr>
        <p:txBody>
          <a:bodyPr wrap="none">
            <a:spAutoFit/>
          </a:bodyPr>
          <a:lstStyle/>
          <a:p>
            <a:r>
              <a:rPr sz="2200" b="1">
                <a:solidFill>
                  <a:srgbClr val="E88A00"/>
                </a:solidFill>
              </a:rPr>
              <a:t>▶ SCENARIO: PHONE CALL</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THE URGENT CALL</a:t>
            </a:r>
          </a:p>
        </p:txBody>
      </p:sp>
      <p:sp>
        <p:nvSpPr>
          <p:cNvPr id="6" name="TextBox 5"/>
          <p:cNvSpPr txBox="1"/>
          <p:nvPr/>
        </p:nvSpPr>
        <p:spPr>
          <a:xfrm>
            <a:off x="792327" y="2282502"/>
            <a:ext cx="10607040" cy="1667706"/>
          </a:xfrm>
          <a:prstGeom prst="rect">
            <a:avLst/>
          </a:prstGeom>
          <a:noFill/>
        </p:spPr>
        <p:txBody>
          <a:bodyPr wrap="square">
            <a:spAutoFit/>
          </a:bodyPr>
          <a:lstStyle/>
          <a:p>
            <a:pPr algn="ctr"/>
            <a:r>
              <a:rPr sz="2200" i="1" b="0">
                <a:solidFill>
                  <a:srgbClr val="333333"/>
                </a:solidFill>
              </a:rPr>
              <a:t>Your phone rings. It sounds exactly like your manager. She is stuck in meetings, needs 5 gift cards for a client by 3 pm, and asks you to buy them and read her the codes. She says she will reimburse you, and to keep it between you. Your process: gift cards are bought on a purchase request approved in the system.</a:t>
            </a:r>
          </a:p>
        </p:txBody>
      </p:sp>
      <p:sp>
        <p:nvSpPr>
          <p:cNvPr id="7" name="Rounded Rectangle 6">
            <a:hlinkClick action="ppaction://hlinksldjump" r:id="rId4"/>
          </p:cNvPr>
          <p:cNvSpPr/>
          <p:nvPr/>
        </p:nvSpPr>
        <p:spPr>
          <a:xfrm>
            <a:off x="548640" y="4023360"/>
            <a:ext cx="3529584" cy="1737360"/>
          </a:xfrm>
          <a:prstGeom prst="roundRect">
            <a:avLst>
              <a:gd name="adj" fmla="val 8000"/>
            </a:avLst>
          </a:prstGeom>
          <a:gradFill rotWithShape="1">
            <a:gsLst>
              <a:gs pos="0">
                <a:srgbClr val="6B7D5A"/>
              </a:gs>
              <a:gs pos="100000">
                <a:srgbClr val="4B583F"/>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Tell her you will raise a purchase request for her to approve in the system.</a:t>
            </a:r>
          </a:p>
        </p:txBody>
      </p:sp>
      <p:sp>
        <p:nvSpPr>
          <p:cNvPr id="13" name="Rounded Rectangle X">
            <a:hlinkClick action="ppaction://hlinksldjump" r:id="rId9"/>
          </p:cNvPr>
          <p:cNvSpPr/>
          <p:nvPr/>
        </p:nvSpPr>
        <p:spPr>
          <a:xfrm>
            <a:off x="4329684" y="4023360"/>
            <a:ext cx="3529584" cy="1737360"/>
          </a:xfrm>
          <a:prstGeom prst="roundRect">
            <a:avLst>
              <a:gd name="adj" fmla="val 8000"/>
            </a:avLst>
          </a:prstGeom>
          <a:gradFill rotWithShape="1">
            <a:gsLst>
              <a:gs pos="0">
                <a:srgbClr val="6B7D5A"/>
              </a:gs>
              <a:gs pos="100000">
                <a:srgbClr val="4B583F"/>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Tell her you will buy them once she emails the request to you and Finance.</a:t>
            </a:r>
          </a:p>
        </p:txBody>
      </p:sp>
      <p:sp>
        <p:nvSpPr>
          <p:cNvPr id="8" name="Rounded Rectangle 7">
            <a:hlinkClick action="ppaction://hlinksldjump" r:id="rId3"/>
          </p:cNvPr>
          <p:cNvSpPr/>
          <p:nvPr/>
        </p:nvSpPr>
        <p:spPr>
          <a:xfrm>
            <a:off x="8110728" y="4023360"/>
            <a:ext cx="3529584" cy="1737360"/>
          </a:xfrm>
          <a:prstGeom prst="roundRect">
            <a:avLst>
              <a:gd name="adj" fmla="val 8000"/>
            </a:avLst>
          </a:prstGeom>
          <a:gradFill rotWithShape="1">
            <a:gsLst>
              <a:gs pos="0">
                <a:srgbClr val="6B7D5A"/>
              </a:gs>
              <a:gs pos="100000">
                <a:srgbClr val="4B583F"/>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Buy them on your corporate card, and claim it back once she approves the expense.</a:t>
            </a:r>
          </a:p>
        </p:txBody>
      </p:sp>
      <p:sp>
        <p:nvSpPr>
          <p:cNvPr id="9" name="TextBox 8"/>
          <p:cNvSpPr txBox="1"/>
          <p:nvPr/>
        </p:nvSpPr>
        <p:spPr>
          <a:xfrm>
            <a:off x="792327" y="5897880"/>
            <a:ext cx="10607040" cy="432308"/>
          </a:xfrm>
          <a:prstGeom prst="rect">
            <a:avLst/>
          </a:prstGeom>
          <a:noFill/>
        </p:spPr>
        <p:txBody>
          <a:bodyPr wrap="square">
            <a:spAutoFit/>
          </a:bodyPr>
          <a:lstStyle/>
          <a:p>
            <a:pPr algn="ctr"/>
            <a:r>
              <a:rPr sz="2200" i="1" b="0">
                <a:solidFill>
                  <a:srgbClr val="333333"/>
                </a:solidFill>
              </a:rPr>
              <a:t>Click a card to choose.</a:t>
            </a:r>
          </a:p>
        </p:txBody>
      </p:sp>
      <p:sp>
        <p:nvSpPr>
          <p:cNvPr id="10" name="TextBox 9"/>
          <p:cNvSpPr txBox="1"/>
          <p:nvPr/>
        </p:nvSpPr>
        <p:spPr>
          <a:xfrm>
            <a:off x="10698480" y="6309360"/>
            <a:ext cx="1280160" cy="365760"/>
          </a:xfrm>
          <a:prstGeom prst="rect">
            <a:avLst/>
          </a:prstGeom>
          <a:noFill/>
        </p:spPr>
        <p:txBody>
          <a:bodyPr wrap="none">
            <a:spAutoFit/>
          </a:bodyPr>
          <a:lstStyle/>
          <a:p>
            <a:pPr algn="r"/>
            <a:r>
              <a:rPr sz="1100"/>
              <a:t>16</a:t>
            </a:r>
          </a:p>
        </p:txBody>
      </p:sp>
      <p:sp>
        <p:nvSpPr>
          <p:cNvPr id="11" name="Kiosk Previous">
            <a:hlinkClick r:id="rId5" action="ppaction://hlinksldjump"/>
          </p:cNvPr>
          <p:cNvSpPr/>
          <p:nvPr/>
        </p:nvSpPr>
        <p:spPr>
          <a:xfrm>
            <a:off x="536432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pic>
        <p:nvPicPr>
          <p:cNvPr id="12" name="narration_adm_18.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76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2"/>
                </p:tgtEl>
              </p:cMediaNode>
            </p:audi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6B7D5A"/>
                </a:solidFill>
              </a:rPr>
              <a:t>CODES SENT: FRAUD SUCCEEDED</a:t>
            </a:r>
          </a:p>
        </p:txBody>
      </p:sp>
      <p:sp>
        <p:nvSpPr>
          <p:cNvPr id="5" name="TextBox 4"/>
          <p:cNvSpPr txBox="1"/>
          <p:nvPr/>
        </p:nvSpPr>
        <p:spPr>
          <a:xfrm>
            <a:off x="792327" y="2290318"/>
            <a:ext cx="10607040" cy="2322576"/>
          </a:xfrm>
          <a:prstGeom prst="rect">
            <a:avLst/>
          </a:prstGeom>
          <a:noFill/>
        </p:spPr>
        <p:txBody>
          <a:bodyPr wrap="square">
            <a:spAutoFit/>
          </a:bodyPr>
          <a:lstStyle/>
          <a:p>
            <a:pPr algn="ctr"/>
            <a:r>
              <a:rPr sz="2800" i="0" b="0">
                <a:solidFill>
                  <a:srgbClr val="333333"/>
                </a:solidFill>
              </a:rPr>
              <a:t>You buy the cards and read out the codes, and they are redeemed within minutes. The caller was not your manager: her voice was cloned from a recording of a company event. “Buy now, claim later” put the company's money, and your own card, at risk.</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17</a:t>
            </a:r>
          </a:p>
        </p:txBody>
      </p:sp>
      <p:sp>
        <p:nvSpPr>
          <p:cNvPr id="8"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108456"/>
            <a:ext cx="9418320" cy="773176"/>
          </a:xfrm>
          <a:prstGeom prst="rect">
            <a:avLst/>
          </a:prstGeom>
          <a:noFill/>
        </p:spPr>
        <p:txBody>
          <a:bodyPr wrap="none">
            <a:spAutoFit/>
          </a:bodyPr>
          <a:lstStyle/>
          <a:p>
            <a:pPr algn="ctr"/>
            <a:r>
              <a:rPr sz="4400" b="1">
                <a:solidFill>
                  <a:srgbClr val="6B7D5A"/>
                </a:solidFill>
              </a:rPr>
              <a:t>ATTEMPT STOPPED</a:t>
            </a:r>
          </a:p>
        </p:txBody>
      </p:sp>
      <p:sp>
        <p:nvSpPr>
          <p:cNvPr id="5" name="TextBox 4"/>
          <p:cNvSpPr txBox="1"/>
          <p:nvPr/>
        </p:nvSpPr>
        <p:spPr>
          <a:xfrm>
            <a:off x="792327" y="2384552"/>
            <a:ext cx="10607040" cy="1764792"/>
          </a:xfrm>
          <a:prstGeom prst="rect">
            <a:avLst/>
          </a:prstGeom>
          <a:noFill/>
        </p:spPr>
        <p:txBody>
          <a:bodyPr wrap="square">
            <a:spAutoFit/>
          </a:bodyPr>
          <a:lstStyle/>
          <a:p>
            <a:pPr algn="ctr"/>
            <a:r>
              <a:rPr sz="3200" i="0" b="0">
                <a:solidFill>
                  <a:srgbClr val="333333"/>
                </a:solidFill>
              </a:rPr>
              <a:t>You raise the request. The real manager gets the approval notice, never asked for it, and says so. No cards are bought, and the attempt is reported.</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18</a:t>
            </a:r>
          </a:p>
        </p:txBody>
      </p:sp>
      <p:sp>
        <p:nvSpPr>
          <p:cNvPr id="8"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108456"/>
            <a:ext cx="9418320" cy="773176"/>
          </a:xfrm>
          <a:prstGeom prst="rect">
            <a:avLst/>
          </a:prstGeom>
          <a:noFill/>
        </p:spPr>
        <p:txBody>
          <a:bodyPr wrap="none">
            <a:spAutoFit/>
          </a:bodyPr>
          <a:lstStyle/>
          <a:p>
            <a:pPr algn="ctr"/>
            <a:r>
              <a:rPr sz="4400" b="1">
                <a:solidFill>
                  <a:srgbClr val="6B7D5A"/>
                </a:solidFill>
              </a:rPr>
              <a:t>PARTLY RIGHT</a:t>
            </a:r>
          </a:p>
        </p:txBody>
      </p:sp>
      <p:sp>
        <p:nvSpPr>
          <p:cNvPr id="5" name="TextBox 4"/>
          <p:cNvSpPr txBox="1"/>
          <p:nvPr/>
        </p:nvSpPr>
        <p:spPr>
          <a:xfrm>
            <a:off x="792327" y="2384552"/>
            <a:ext cx="10607040" cy="1764792"/>
          </a:xfrm>
          <a:prstGeom prst="rect">
            <a:avLst/>
          </a:prstGeom>
          <a:noFill/>
        </p:spPr>
        <p:txBody>
          <a:bodyPr wrap="square">
            <a:spAutoFit/>
          </a:bodyPr>
          <a:lstStyle/>
          <a:p>
            <a:pPr algn="ctr"/>
            <a:r>
              <a:rPr sz="2400" i="0" b="0">
                <a:solidFill>
                  <a:srgbClr val="333333"/>
                </a:solidFill>
              </a:rPr>
              <a:t>You buy nothing for now, so the fraud fails. But the email arrives from a lookalike address and looks real, no purchase request exists, and your manager is still unaware. Nobody reports it, so the same caller can try the next assistant.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19</a:t>
            </a:r>
          </a:p>
        </p:txBody>
      </p:sp>
      <p:sp>
        <p:nvSpPr>
          <p:cNvPr id="8" name="Kiosk Previous">
            <a:hlinkClick action="ppaction://hlinksldjump" r:id="rId3"/>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action="ppaction://hlinksldjump" r:id="rId4"/>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640080"/>
            <a:ext cx="11247120" cy="789939"/>
          </a:xfrm>
          <a:prstGeom prst="rect">
            <a:avLst/>
          </a:prstGeom>
          <a:noFill/>
        </p:spPr>
        <p:txBody>
          <a:bodyPr wrap="square">
            <a:spAutoFit/>
          </a:bodyPr>
          <a:lstStyle/>
          <a:p>
            <a:pPr algn="ctr"/>
            <a:r>
              <a:rPr sz="4400" b="1">
                <a:solidFill>
                  <a:srgbClr val="000000"/>
                </a:solidFill>
              </a:rPr>
              <a:t>DEBRIEF</a:t>
            </a:r>
          </a:p>
        </p:txBody>
      </p:sp>
      <p:sp>
        <p:nvSpPr>
          <p:cNvPr id="5" name="TextBox 4"/>
          <p:cNvSpPr txBox="1"/>
          <p:nvPr/>
        </p:nvSpPr>
        <p:spPr>
          <a:xfrm>
            <a:off x="792327" y="1700784"/>
            <a:ext cx="10607040" cy="3891280"/>
          </a:xfrm>
          <a:prstGeom prst="rect">
            <a:avLst/>
          </a:prstGeom>
          <a:noFill/>
        </p:spPr>
        <p:txBody>
          <a:bodyPr wrap="square">
            <a:spAutoFit/>
          </a:bodyPr>
          <a:lstStyle/>
          <a:p>
            <a:pPr>
              <a:spcAft>
                <a:spcPts val="1296"/>
              </a:spcAft>
              <a:defRPr sz="3200">
                <a:solidFill>
                  <a:srgbClr val="333333"/>
                </a:solidFill>
              </a:defRPr>
            </a:pPr>
            <a:r>
              <a:rPr sz="3200">
                <a:solidFill>
                  <a:srgbClr val="333333"/>
                </a:solidFill>
              </a:rPr>
              <a:t>Secrecy plus a deadline is a classic gift card lever. A cloned voice can ask in your manager's tone, and buying now to claim back later is the workaround that skips the approval.</a:t>
            </a:r>
          </a:p>
          <a:p>
            <a:pPr>
              <a:spcAft>
                <a:spcPts val="1296"/>
              </a:spcAft>
              <a:defRPr sz="3200">
                <a:solidFill>
                  <a:srgbClr val="333333"/>
                </a:solidFill>
              </a:defRPr>
            </a:pPr>
            <a:r>
              <a:rPr sz="3200">
                <a:solidFill>
                  <a:srgbClr val="333333"/>
                </a:solidFill>
              </a:rPr>
              <a:t>Gift cards go through a purchase request approved in the system. A real manager can approve it in a minute, and a fake one cannot.</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t>20</a:t>
            </a:r>
          </a:p>
        </p:txBody>
      </p:sp>
      <p:sp>
        <p:nvSpPr>
          <p:cNvPr id="8" name="Citation"/>
          <p:cNvSpPr txBox="1"/>
          <p:nvPr/>
        </p:nvSpPr>
        <p:spPr>
          <a:xfrm>
            <a:off x="457200" y="5870448"/>
            <a:ext cx="11247120" cy="432308"/>
          </a:xfrm>
          <a:prstGeom prst="rect">
            <a:avLst/>
          </a:prstGeom>
          <a:noFill/>
        </p:spPr>
        <p:txBody>
          <a:bodyPr wrap="square">
            <a:spAutoFit/>
          </a:bodyPr>
          <a:lstStyle/>
          <a:p>
            <a:pPr algn="l"/>
            <a:r>
              <a:rPr lang="en-US" sz="1800" i="1">
                <a:solidFill>
                  <a:srgbClr val="666666"/>
                </a:solidFill>
              </a:rPr>
              <a:t>Sources: FBI IC3 PSA I-120324-PSA (AI-generated audio); FTC gift card alert</a:t>
            </a:r>
          </a:p>
        </p:txBody>
      </p:sp>
      <p:sp>
        <p:nvSpPr>
          <p:cNvPr id="9"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11" name="narration_adm_21.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1211" fill="hold"/>
                                        <p:tgtEl>
                                          <p:spTgt spid="11"/>
                                        </p:tgtEl>
                                      </p:cBhvr>
                                    </p:cmd>
                                  </p:childTnLst>
                                </p:cTn>
                              </p:par>
                              <p:par>
                                <p:cTn id="20" presetID="26" presetClass="emph" presetSubtype="0" repeatCount="indefinite" fill="hold" grpId="0" nodeType="withEffect">
                                  <p:stCondLst>
                                    <p:cond delay="21211"/>
                                  </p:stCondLst>
                                  <p:childTnLst>
                                    <p:animEffect transition="out" filter="fade">
                                      <p:cBhvr>
                                        <p:cTn id="21" dur="1000" tmFilter="0, 0; .2, .5; .8, .5; 1, 0"/>
                                        <p:tgtEl>
                                          <p:spTgt spid="10"/>
                                        </p:tgtEl>
                                      </p:cBhvr>
                                    </p:animEffect>
                                    <p:animScale>
                                      <p:cBhvr>
                                        <p:cTn id="22" dur="500" autoRev="1" fill="hold"/>
                                        <p:tgtEl>
                                          <p:spTgt spid="10"/>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1"/>
                </p:tgtEl>
              </p:cMediaNode>
            </p:audio>
          </p:childTnLst>
        </p:cTn>
      </p:par>
    </p:tnLst>
    <p:bldLst>
      <p:bldP spid="10"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1819417"/>
            <a:ext cx="3657600" cy="447802"/>
          </a:xfrm>
          <a:prstGeom prst="rect">
            <a:avLst/>
          </a:prstGeom>
          <a:noFill/>
        </p:spPr>
        <p:txBody>
          <a:bodyPr wrap="none">
            <a:spAutoFit/>
          </a:bodyPr>
          <a:lstStyle/>
          <a:p>
            <a:r>
              <a:rPr sz="2200" b="1">
                <a:solidFill>
                  <a:srgbClr val="E88A00"/>
                </a:solidFill>
              </a:rPr>
              <a:t>▶ SCENARIO: VIDEO CALL</a:t>
            </a:r>
          </a:p>
        </p:txBody>
      </p:sp>
      <p:sp>
        <p:nvSpPr>
          <p:cNvPr id="5" name="TextBox 4"/>
          <p:cNvSpPr txBox="1"/>
          <p:nvPr/>
        </p:nvSpPr>
        <p:spPr>
          <a:xfrm>
            <a:off x="457200" y="777240"/>
            <a:ext cx="11247120" cy="789939"/>
          </a:xfrm>
          <a:prstGeom prst="rect">
            <a:avLst/>
          </a:prstGeom>
          <a:noFill/>
        </p:spPr>
        <p:txBody>
          <a:bodyPr wrap="square">
            <a:spAutoFit/>
          </a:bodyPr>
          <a:lstStyle/>
          <a:p>
            <a:pPr algn="ctr"/>
            <a:r>
              <a:rPr sz="4400" b="1">
                <a:solidFill>
                  <a:srgbClr val="000000"/>
                </a:solidFill>
              </a:rPr>
              <a:t>THE VIDEO CALL</a:t>
            </a:r>
          </a:p>
        </p:txBody>
      </p:sp>
      <p:sp>
        <p:nvSpPr>
          <p:cNvPr id="6" name="TextBox 5"/>
          <p:cNvSpPr txBox="1"/>
          <p:nvPr/>
        </p:nvSpPr>
        <p:spPr>
          <a:xfrm>
            <a:off x="792327" y="2399060"/>
            <a:ext cx="10607040" cy="1551148"/>
          </a:xfrm>
          <a:prstGeom prst="rect">
            <a:avLst/>
          </a:prstGeom>
          <a:noFill/>
        </p:spPr>
        <p:txBody>
          <a:bodyPr wrap="square">
            <a:spAutoFit/>
          </a:bodyPr>
          <a:lstStyle/>
          <a:p>
            <a:pPr algn="ctr"/>
            <a:r>
              <a:rPr sz="2200" i="1" b="0">
                <a:solidFill>
                  <a:srgbClr val="333333"/>
                </a:solidFill>
              </a:rPr>
              <a:t>A video call from the CEO. Her face and voice look right, and she says her phone is broken. She asks you to pay a new supplier invoice of AUD 18,500 today and not to tell anyone, because the deal is confidential. Your process: new suppliers are set up by Accounts Payable, with two approvals.</a:t>
            </a:r>
          </a:p>
        </p:txBody>
      </p:sp>
      <p:sp>
        <p:nvSpPr>
          <p:cNvPr id="7" name="Rounded Rectangle 6">
            <a:hlinkClick action="ppaction://hlinksldjump" r:id="rId3"/>
          </p:cNvPr>
          <p:cNvSpPr/>
          <p:nvPr/>
        </p:nvSpPr>
        <p:spPr>
          <a:xfrm>
            <a:off x="548640" y="4023360"/>
            <a:ext cx="3529584" cy="1737360"/>
          </a:xfrm>
          <a:prstGeom prst="roundRect">
            <a:avLst>
              <a:gd name="adj" fmla="val 8000"/>
            </a:avLst>
          </a:prstGeom>
          <a:gradFill rotWithShape="1">
            <a:gsLst>
              <a:gs pos="0">
                <a:srgbClr val="6B7D5A"/>
              </a:gs>
              <a:gs pos="100000">
                <a:srgbClr val="4B583F"/>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Pay it from the company bank portal with your own login, and send her the receipt.</a:t>
            </a:r>
          </a:p>
        </p:txBody>
      </p:sp>
      <p:sp>
        <p:nvSpPr>
          <p:cNvPr id="13" name="Rounded Rectangle X">
            <a:hlinkClick action="ppaction://hlinksldjump" r:id="rId4"/>
          </p:cNvPr>
          <p:cNvSpPr/>
          <p:nvPr/>
        </p:nvSpPr>
        <p:spPr>
          <a:xfrm>
            <a:off x="4329684" y="4023360"/>
            <a:ext cx="3529584" cy="1737360"/>
          </a:xfrm>
          <a:prstGeom prst="roundRect">
            <a:avLst>
              <a:gd name="adj" fmla="val 8000"/>
            </a:avLst>
          </a:prstGeom>
          <a:gradFill rotWithShape="1">
            <a:gsLst>
              <a:gs pos="0">
                <a:srgbClr val="6B7D5A"/>
              </a:gs>
              <a:gs pos="100000">
                <a:srgbClr val="4B583F"/>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Send the invoice to Accounts Payable as a new supplier, and tell the CEO's office.</a:t>
            </a:r>
          </a:p>
        </p:txBody>
      </p:sp>
      <p:sp>
        <p:nvSpPr>
          <p:cNvPr id="8" name="Rounded Rectangle 7">
            <a:hlinkClick action="ppaction://hlinksldjump" r:id="rId9"/>
          </p:cNvPr>
          <p:cNvSpPr/>
          <p:nvPr/>
        </p:nvSpPr>
        <p:spPr>
          <a:xfrm>
            <a:off x="8110728" y="4023360"/>
            <a:ext cx="3529584" cy="1737360"/>
          </a:xfrm>
          <a:prstGeom prst="roundRect">
            <a:avLst>
              <a:gd name="adj" fmla="val 8000"/>
            </a:avLst>
          </a:prstGeom>
          <a:gradFill rotWithShape="1">
            <a:gsLst>
              <a:gs pos="0">
                <a:srgbClr val="6B7D5A"/>
              </a:gs>
              <a:gs pos="100000">
                <a:srgbClr val="4B583F"/>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Send it to Accounts Payable marked urgent, noting that the CEO has approved it.</a:t>
            </a:r>
          </a:p>
        </p:txBody>
      </p:sp>
      <p:sp>
        <p:nvSpPr>
          <p:cNvPr id="9" name="TextBox 8"/>
          <p:cNvSpPr txBox="1"/>
          <p:nvPr/>
        </p:nvSpPr>
        <p:spPr>
          <a:xfrm>
            <a:off x="792327" y="5897880"/>
            <a:ext cx="10607040" cy="447802"/>
          </a:xfrm>
          <a:prstGeom prst="rect">
            <a:avLst/>
          </a:prstGeom>
          <a:noFill/>
        </p:spPr>
        <p:txBody>
          <a:bodyPr wrap="square">
            <a:spAutoFit/>
          </a:bodyPr>
          <a:lstStyle/>
          <a:p>
            <a:pPr algn="ctr"/>
            <a:r>
              <a:rPr sz="2200" i="1" b="0">
                <a:solidFill>
                  <a:srgbClr val="333333"/>
                </a:solidFill>
              </a:rPr>
              <a:t>Click a card to choose.</a:t>
            </a:r>
          </a:p>
        </p:txBody>
      </p:sp>
      <p:sp>
        <p:nvSpPr>
          <p:cNvPr id="10" name="TextBox 9"/>
          <p:cNvSpPr txBox="1"/>
          <p:nvPr/>
        </p:nvSpPr>
        <p:spPr>
          <a:xfrm>
            <a:off x="10698480" y="6309360"/>
            <a:ext cx="1280160" cy="365760"/>
          </a:xfrm>
          <a:prstGeom prst="rect">
            <a:avLst/>
          </a:prstGeom>
          <a:noFill/>
        </p:spPr>
        <p:txBody>
          <a:bodyPr wrap="none">
            <a:spAutoFit/>
          </a:bodyPr>
          <a:lstStyle/>
          <a:p>
            <a:pPr algn="r"/>
            <a:r>
              <a:rPr sz="1100"/>
              <a:t>21</a:t>
            </a:r>
          </a:p>
        </p:txBody>
      </p:sp>
      <p:sp>
        <p:nvSpPr>
          <p:cNvPr id="11" name="Kiosk Previous">
            <a:hlinkClick r:id="rId5" action="ppaction://hlinksldjump"/>
          </p:cNvPr>
          <p:cNvSpPr/>
          <p:nvPr/>
        </p:nvSpPr>
        <p:spPr>
          <a:xfrm>
            <a:off x="536432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pic>
        <p:nvPicPr>
          <p:cNvPr id="12" name="narration_adm_22.mp3">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816"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2"/>
                </p:tgtEl>
              </p:cMediaNode>
            </p:audio>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108456"/>
            <a:ext cx="9418320" cy="773176"/>
          </a:xfrm>
          <a:prstGeom prst="rect">
            <a:avLst/>
          </a:prstGeom>
          <a:noFill/>
        </p:spPr>
        <p:txBody>
          <a:bodyPr wrap="none">
            <a:spAutoFit/>
          </a:bodyPr>
          <a:lstStyle/>
          <a:p>
            <a:pPr algn="ctr"/>
            <a:r>
              <a:rPr sz="4400" b="1">
                <a:solidFill>
                  <a:srgbClr val="6B7D5A"/>
                </a:solidFill>
              </a:rPr>
              <a:t>PAYMENT SENT: FRAUD SUCCEEDED</a:t>
            </a:r>
          </a:p>
        </p:txBody>
      </p:sp>
      <p:sp>
        <p:nvSpPr>
          <p:cNvPr id="5" name="TextBox 4"/>
          <p:cNvSpPr txBox="1"/>
          <p:nvPr/>
        </p:nvSpPr>
        <p:spPr>
          <a:xfrm>
            <a:off x="792327" y="2384552"/>
            <a:ext cx="10607040" cy="1764792"/>
          </a:xfrm>
          <a:prstGeom prst="rect">
            <a:avLst/>
          </a:prstGeom>
          <a:noFill/>
        </p:spPr>
        <p:txBody>
          <a:bodyPr wrap="square">
            <a:spAutoFit/>
          </a:bodyPr>
          <a:lstStyle/>
          <a:p>
            <a:pPr algn="ctr"/>
            <a:r>
              <a:rPr sz="2400" i="0" b="0">
                <a:solidFill>
                  <a:srgbClr val="333333"/>
                </a:solidFill>
              </a:rPr>
              <a:t>The payment goes out within the hour. The CEO was never on the call: the video was a deepfake built from recordings of her. Having portal access does not mean the process lets you pay, and the money was moved on before anyone noticed.</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22</a:t>
            </a:r>
          </a:p>
        </p:txBody>
      </p:sp>
      <p:sp>
        <p:nvSpPr>
          <p:cNvPr id="8"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940562"/>
            <a:ext cx="9418320" cy="773176"/>
          </a:xfrm>
          <a:prstGeom prst="rect">
            <a:avLst/>
          </a:prstGeom>
          <a:noFill/>
        </p:spPr>
        <p:txBody>
          <a:bodyPr wrap="none">
            <a:spAutoFit/>
          </a:bodyPr>
          <a:lstStyle/>
          <a:p>
            <a:pPr algn="ctr"/>
            <a:r>
              <a:rPr sz="4400" b="1">
                <a:solidFill>
                  <a:srgbClr val="6B7D5A"/>
                </a:solidFill>
              </a:rPr>
              <a:t>ATTEMPT STOPPED</a:t>
            </a:r>
          </a:p>
        </p:txBody>
      </p:sp>
      <p:sp>
        <p:nvSpPr>
          <p:cNvPr id="5" name="TextBox 4"/>
          <p:cNvSpPr txBox="1"/>
          <p:nvPr/>
        </p:nvSpPr>
        <p:spPr>
          <a:xfrm>
            <a:off x="792327" y="2105660"/>
            <a:ext cx="10607040" cy="2322576"/>
          </a:xfrm>
          <a:prstGeom prst="rect">
            <a:avLst/>
          </a:prstGeom>
          <a:noFill/>
        </p:spPr>
        <p:txBody>
          <a:bodyPr wrap="square">
            <a:spAutoFit/>
          </a:bodyPr>
          <a:lstStyle/>
          <a:p>
            <a:pPr algn="ctr"/>
            <a:r>
              <a:rPr sz="3200" i="0" b="0">
                <a:solidFill>
                  <a:srgbClr val="333333"/>
                </a:solidFill>
              </a:rPr>
              <a:t>Accounts Payable starts the new-supplier checks, and the CEO's office says she made no such request. Nothing is paid, and the attempt is reported. “Tell no one” was the red flag; telling someone stopped it.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23</a:t>
            </a:r>
          </a:p>
        </p:txBody>
      </p:sp>
      <p:sp>
        <p:nvSpPr>
          <p:cNvPr id="8"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940562"/>
            <a:ext cx="9418320" cy="773176"/>
          </a:xfrm>
          <a:prstGeom prst="rect">
            <a:avLst/>
          </a:prstGeom>
          <a:noFill/>
        </p:spPr>
        <p:txBody>
          <a:bodyPr wrap="none">
            <a:spAutoFit/>
          </a:bodyPr>
          <a:lstStyle/>
          <a:p>
            <a:pPr algn="ctr"/>
            <a:r>
              <a:rPr sz="4400" b="1">
                <a:solidFill>
                  <a:srgbClr val="6B7D5A"/>
                </a:solidFill>
              </a:rPr>
              <a:t>PARTLY RIGHT</a:t>
            </a:r>
          </a:p>
        </p:txBody>
      </p:sp>
      <p:sp>
        <p:nvSpPr>
          <p:cNvPr id="5" name="TextBox 4"/>
          <p:cNvSpPr txBox="1"/>
          <p:nvPr/>
        </p:nvSpPr>
        <p:spPr>
          <a:xfrm>
            <a:off x="792327" y="2105660"/>
            <a:ext cx="10607040" cy="2322576"/>
          </a:xfrm>
          <a:prstGeom prst="rect">
            <a:avLst/>
          </a:prstGeom>
          <a:noFill/>
        </p:spPr>
        <p:txBody>
          <a:bodyPr wrap="square">
            <a:spAutoFit/>
          </a:bodyPr>
          <a:lstStyle/>
          <a:p>
            <a:pPr algn="ctr"/>
            <a:r>
              <a:rPr sz="3200" i="0" b="0">
                <a:solidFill>
                  <a:srgbClr val="333333"/>
                </a:solidFill>
              </a:rPr>
              <a:t>You used the right route, but you passed on an approval you never saw. Under pressure, Accounts Payable may skip the new-supplier checks because the CEO is said to have signed off. The unverified claim travels with the invoice.</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24</a:t>
            </a:r>
          </a:p>
        </p:txBody>
      </p:sp>
      <p:sp>
        <p:nvSpPr>
          <p:cNvPr id="8" name="Kiosk Previous">
            <a:hlinkClick action="ppaction://hlinksldjump" r:id="rId3"/>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action="ppaction://hlinksldjump" r:id="rId4"/>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640080"/>
            <a:ext cx="11247120" cy="789939"/>
          </a:xfrm>
          <a:prstGeom prst="rect">
            <a:avLst/>
          </a:prstGeom>
          <a:noFill/>
        </p:spPr>
        <p:txBody>
          <a:bodyPr wrap="square">
            <a:spAutoFit/>
          </a:bodyPr>
          <a:lstStyle/>
          <a:p>
            <a:pPr algn="ctr"/>
            <a:r>
              <a:rPr sz="4400" b="1">
                <a:solidFill>
                  <a:srgbClr val="000000"/>
                </a:solidFill>
              </a:rPr>
              <a:t>DEBRIEF</a:t>
            </a:r>
          </a:p>
        </p:txBody>
      </p:sp>
      <p:sp>
        <p:nvSpPr>
          <p:cNvPr id="5" name="TextBox 4"/>
          <p:cNvSpPr txBox="1"/>
          <p:nvPr/>
        </p:nvSpPr>
        <p:spPr>
          <a:xfrm>
            <a:off x="792327" y="1642491"/>
            <a:ext cx="10607040" cy="4007866"/>
          </a:xfrm>
          <a:prstGeom prst="rect">
            <a:avLst/>
          </a:prstGeom>
          <a:noFill/>
        </p:spPr>
        <p:txBody>
          <a:bodyPr wrap="square">
            <a:spAutoFit/>
          </a:bodyPr>
          <a:lstStyle/>
          <a:p>
            <a:pPr>
              <a:spcAft>
                <a:spcPts val="1328"/>
              </a:spcAft>
              <a:defRPr sz="3300">
                <a:solidFill>
                  <a:srgbClr val="333333"/>
                </a:solidFill>
              </a:defRPr>
            </a:pPr>
            <a:r>
              <a:rPr sz="3200">
                <a:solidFill>
                  <a:srgbClr val="333333"/>
                </a:solidFill>
              </a:rPr>
              <a:t>A deepfake video call from the CEO adds authority, secrecy and urgency at once. Paying it yourself is the workaround that skips the approvals, and “the CEO approved it” is a claim, not a record.</a:t>
            </a:r>
          </a:p>
          <a:p>
            <a:pPr>
              <a:spcAft>
                <a:spcPts val="1328"/>
              </a:spcAft>
              <a:defRPr sz="3300">
                <a:solidFill>
                  <a:srgbClr val="333333"/>
                </a:solidFill>
              </a:defRPr>
            </a:pPr>
            <a:r>
              <a:rPr sz="3200">
                <a:solidFill>
                  <a:srgbClr val="333333"/>
                </a:solidFill>
              </a:rPr>
              <a:t>New suppliers go through Accounts Payable with two approvals. Tell the CEO's office, because a real CEO will not mind being checked.</a:t>
            </a:r>
          </a:p>
        </p:txBody>
      </p:sp>
      <p:sp>
        <p:nvSpPr>
          <p:cNvPr id="6" name="TextBox 5"/>
          <p:cNvSpPr txBox="1"/>
          <p:nvPr/>
        </p:nvSpPr>
        <p:spPr>
          <a:xfrm>
            <a:off x="10698480" y="6309360"/>
            <a:ext cx="1280160" cy="365760"/>
          </a:xfrm>
          <a:prstGeom prst="rect">
            <a:avLst/>
          </a:prstGeom>
          <a:noFill/>
        </p:spPr>
        <p:txBody>
          <a:bodyPr wrap="none">
            <a:spAutoFit/>
          </a:bodyPr>
          <a:lstStyle/>
          <a:p>
            <a:pPr algn="r"/>
            <a:r>
              <a:rPr sz="1100"/>
              <a:t>25</a:t>
            </a:r>
          </a:p>
        </p:txBody>
      </p:sp>
      <p:sp>
        <p:nvSpPr>
          <p:cNvPr id="8" name="Citation"/>
          <p:cNvSpPr txBox="1"/>
          <p:nvPr/>
        </p:nvSpPr>
        <p:spPr>
          <a:xfrm>
            <a:off x="457200" y="5870448"/>
            <a:ext cx="11247120" cy="432308"/>
          </a:xfrm>
          <a:prstGeom prst="rect">
            <a:avLst/>
          </a:prstGeom>
          <a:noFill/>
        </p:spPr>
        <p:txBody>
          <a:bodyPr wrap="square">
            <a:spAutoFit/>
          </a:bodyPr>
          <a:lstStyle/>
          <a:p>
            <a:pPr algn="l"/>
            <a:r>
              <a:rPr lang="en-US" sz="1800" i="1">
                <a:solidFill>
                  <a:srgbClr val="666666"/>
                </a:solidFill>
              </a:rPr>
              <a:t>Sources: FBI IC3 PSA I-120324-PSA; CNN Business (Arup, 2024)</a:t>
            </a:r>
          </a:p>
        </p:txBody>
      </p:sp>
      <p:sp>
        <p:nvSpPr>
          <p:cNvPr id="9"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0"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11" name="narration_adm_25.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3876" fill="hold"/>
                                        <p:tgtEl>
                                          <p:spTgt spid="11"/>
                                        </p:tgtEl>
                                      </p:cBhvr>
                                    </p:cmd>
                                  </p:childTnLst>
                                </p:cTn>
                              </p:par>
                              <p:par>
                                <p:cTn id="20" presetID="26" presetClass="emph" presetSubtype="0" repeatCount="indefinite" fill="hold" grpId="0" nodeType="withEffect">
                                  <p:stCondLst>
                                    <p:cond delay="23876"/>
                                  </p:stCondLst>
                                  <p:childTnLst>
                                    <p:animEffect transition="out" filter="fade">
                                      <p:cBhvr>
                                        <p:cTn id="21" dur="1000" tmFilter="0, 0; .2, .5; .8, .5; 1, 0"/>
                                        <p:tgtEl>
                                          <p:spTgt spid="10"/>
                                        </p:tgtEl>
                                      </p:cBhvr>
                                    </p:animEffect>
                                    <p:animScale>
                                      <p:cBhvr>
                                        <p:cTn id="22" dur="500" autoRev="1" fill="hold"/>
                                        <p:tgtEl>
                                          <p:spTgt spid="10"/>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1"/>
                </p:tgtEl>
              </p:cMediaNode>
            </p:audio>
          </p:childTnLst>
        </p:cTn>
      </p:par>
    </p:tnLst>
    <p:bldLst>
      <p:bldP spid="10"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327" y="1510284"/>
            <a:ext cx="10607040" cy="649224"/>
          </a:xfrm>
          <a:prstGeom prst="rect">
            <a:avLst/>
          </a:prstGeom>
          <a:noFill/>
        </p:spPr>
        <p:txBody>
          <a:bodyPr wrap="square">
            <a:spAutoFit/>
          </a:bodyPr>
          <a:lstStyle/>
          <a:p>
            <a:pPr algn="ctr"/>
            <a:r>
              <a:rPr sz="3600" i="0" b="1">
                <a:solidFill>
                  <a:srgbClr val="4F7942"/>
                </a:solidFill>
              </a:rPr>
              <a:t>PHASE 3</a:t>
            </a:r>
          </a:p>
        </p:txBody>
      </p:sp>
      <p:sp>
        <p:nvSpPr>
          <p:cNvPr id="5" name="TextBox 4"/>
          <p:cNvSpPr txBox="1"/>
          <p:nvPr/>
        </p:nvSpPr>
        <p:spPr>
          <a:xfrm>
            <a:off x="731520" y="2662428"/>
            <a:ext cx="10698480" cy="1021080"/>
          </a:xfrm>
          <a:prstGeom prst="rect">
            <a:avLst/>
          </a:prstGeom>
          <a:noFill/>
        </p:spPr>
        <p:txBody>
          <a:bodyPr wrap="none">
            <a:spAutoFit/>
          </a:bodyPr>
          <a:lstStyle/>
          <a:p>
            <a:pPr algn="ctr"/>
            <a:r>
              <a:rPr sz="6000" b="1">
                <a:solidFill>
                  <a:srgbClr val="000000"/>
                </a:solidFill>
              </a:rPr>
              <a:t>CONTAIN</a:t>
            </a:r>
          </a:p>
        </p:txBody>
      </p:sp>
      <p:sp>
        <p:nvSpPr>
          <p:cNvPr id="6" name="TextBox 5"/>
          <p:cNvSpPr txBox="1"/>
          <p:nvPr/>
        </p:nvSpPr>
        <p:spPr>
          <a:xfrm>
            <a:off x="792327" y="4186428"/>
            <a:ext cx="10607040" cy="1207008"/>
          </a:xfrm>
          <a:prstGeom prst="rect">
            <a:avLst/>
          </a:prstGeom>
          <a:noFill/>
        </p:spPr>
        <p:txBody>
          <a:bodyPr wrap="square">
            <a:spAutoFit/>
          </a:bodyPr>
          <a:lstStyle/>
          <a:p>
            <a:pPr algn="ctr"/>
            <a:r>
              <a:rPr sz="3600" i="1" b="0">
                <a:solidFill>
                  <a:srgbClr val="333333"/>
                </a:solidFill>
              </a:rPr>
              <a:t>You caught it, or you didn't. Either way, here's what happens next.</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26</a:t>
            </a:r>
          </a:p>
        </p:txBody>
      </p:sp>
      <p:pic>
        <p:nvPicPr>
          <p:cNvPr id="57" name="narration_slide18.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58"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59"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48" fill="hold"/>
                                        <p:tgtEl>
                                          <p:spTgt spid="57"/>
                                        </p:tgtEl>
                                      </p:cBhvr>
                                    </p:cmd>
                                  </p:childTnLst>
                                </p:cTn>
                              </p:par>
                              <p:par>
                                <p:cTn id="20" presetID="26" presetClass="emph" presetSubtype="0" repeatCount="indefinite" fill="hold" grpId="0" nodeType="withEffect">
                                  <p:stCondLst>
                                    <p:cond delay="9848"/>
                                  </p:stCondLst>
                                  <p:childTnLst>
                                    <p:animEffect transition="out" filter="fade">
                                      <p:cBhvr>
                                        <p:cTn id="21" dur="1000" tmFilter="0, 0; .2, .5; .8, .5; 1, 0"/>
                                        <p:tgtEl>
                                          <p:spTgt spid="59"/>
                                        </p:tgtEl>
                                      </p:cBhvr>
                                    </p:animEffect>
                                    <p:animScale>
                                      <p:cBhvr>
                                        <p:cTn id="22" dur="500" autoRev="1" fill="hold"/>
                                        <p:tgtEl>
                                          <p:spTgt spid="59"/>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7"/>
                </p:tgtEl>
              </p:cMediaNode>
            </p:audio>
          </p:childTnLst>
        </p:cTn>
      </p:par>
    </p:tnLst>
    <p:bldLst>
      <p:bldP spid="59"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CONTAIN: WHAT TO DO, IN ORDER</a:t>
            </a:r>
          </a:p>
        </p:txBody>
      </p:sp>
      <p:sp>
        <p:nvSpPr>
          <p:cNvPr id="5" name="TextBox 9"/>
          <p:cNvSpPr txBox="1"/>
          <p:nvPr/>
        </p:nvSpPr>
        <p:spPr>
          <a:xfrm>
            <a:off x="10698480" y="6309360"/>
            <a:ext cx="1280160" cy="365760"/>
          </a:xfrm>
          <a:prstGeom prst="rect">
            <a:avLst/>
          </a:prstGeom>
          <a:noFill/>
        </p:spPr>
        <p:txBody>
          <a:bodyPr wrap="none">
            <a:spAutoFit/>
          </a:bodyPr>
          <a:lstStyle/>
          <a:p>
            <a:pPr algn="r"/>
            <a:r>
              <a:rPr sz="1100"/>
              <a:t>27</a:t>
            </a:r>
          </a:p>
        </p:txBody>
      </p:sp>
      <p:sp>
        <p:nvSpPr>
          <p:cNvPr id="6" name="Rounded Rectangle 10"/>
          <p:cNvSpPr/>
          <p:nvPr/>
        </p:nvSpPr>
        <p:spPr>
          <a:xfrm>
            <a:off x="1280160" y="1481328"/>
            <a:ext cx="3749039" cy="502920"/>
          </a:xfrm>
          <a:prstGeom prst="roundRect">
            <a:avLst/>
          </a:prstGeom>
          <a:solidFill>
            <a:srgbClr val="FFFFFF"/>
          </a:solidFill>
          <a:ln w="19050">
            <a:solidFill>
              <a:srgbClr val="4F8A5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200" b="1">
                <a:solidFill>
                  <a:srgbClr val="2E2A45"/>
                </a:solidFill>
              </a:rPr>
              <a:t>You suspect an attempt</a:t>
            </a:r>
          </a:p>
        </p:txBody>
      </p:sp>
      <p:sp>
        <p:nvSpPr>
          <p:cNvPr id="7" name="Right Arrow 11"/>
          <p:cNvSpPr/>
          <p:nvPr/>
        </p:nvSpPr>
        <p:spPr>
          <a:xfrm>
            <a:off x="5138928" y="1554480"/>
            <a:ext cx="457200" cy="365760"/>
          </a:xfrm>
          <a:prstGeom prst="rightArrow">
            <a:avLst/>
          </a:prstGeom>
          <a:solidFill>
            <a:srgbClr val="4F8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12"/>
          <p:cNvSpPr/>
          <p:nvPr/>
        </p:nvSpPr>
        <p:spPr>
          <a:xfrm>
            <a:off x="5705856" y="1481328"/>
            <a:ext cx="5212080" cy="502920"/>
          </a:xfrm>
          <a:prstGeom prst="roundRect">
            <a:avLst/>
          </a:prstGeom>
          <a:solidFill>
            <a:srgbClr val="FFFFFF"/>
          </a:solidFill>
          <a:ln w="19050">
            <a:solidFill>
              <a:srgbClr val="4F8A5B"/>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200" b="1">
                <a:solidFill>
                  <a:srgbClr val="2E2A45"/>
                </a:solidFill>
              </a:rPr>
              <a:t>Has money or any codes moved?</a:t>
            </a:r>
          </a:p>
        </p:txBody>
      </p:sp>
      <p:sp>
        <p:nvSpPr>
          <p:cNvPr id="9" name="Rounded Rectangle 13"/>
          <p:cNvSpPr/>
          <p:nvPr/>
        </p:nvSpPr>
        <p:spPr>
          <a:xfrm>
            <a:off x="548640" y="2148840"/>
            <a:ext cx="5440680" cy="2194560"/>
          </a:xfrm>
          <a:prstGeom prst="roundRect">
            <a:avLst>
              <a:gd name="adj" fmla="val 8000"/>
            </a:avLst>
          </a:prstGeom>
          <a:solidFill>
            <a:srgbClr val="E4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4"/>
          <p:cNvSpPr txBox="1"/>
          <p:nvPr/>
        </p:nvSpPr>
        <p:spPr>
          <a:xfrm>
            <a:off x="731520" y="2194560"/>
            <a:ext cx="5029200" cy="411480"/>
          </a:xfrm>
          <a:prstGeom prst="rect">
            <a:avLst/>
          </a:prstGeom>
          <a:noFill/>
        </p:spPr>
        <p:txBody>
          <a:bodyPr wrap="square">
            <a:spAutoFit/>
          </a:bodyPr>
          <a:lstStyle/>
          <a:p>
            <a:pPr algn="l"/>
            <a:r>
              <a:rPr sz="2200" i="0" b="1">
                <a:solidFill>
                  <a:srgbClr val="2F6B3C"/>
                </a:solidFill>
              </a:rPr>
              <a:t>No: nothing sent yet</a:t>
            </a:r>
          </a:p>
        </p:txBody>
      </p:sp>
      <p:sp>
        <p:nvSpPr>
          <p:cNvPr id="11" name="Oval 15"/>
          <p:cNvSpPr/>
          <p:nvPr/>
        </p:nvSpPr>
        <p:spPr>
          <a:xfrm>
            <a:off x="795528" y="2761488"/>
            <a:ext cx="420624" cy="420624"/>
          </a:xfrm>
          <a:prstGeom prst="ellipse">
            <a:avLst/>
          </a:prstGeom>
          <a:solidFill>
            <a:srgbClr val="4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1</a:t>
            </a:r>
          </a:p>
        </p:txBody>
      </p:sp>
      <p:sp>
        <p:nvSpPr>
          <p:cNvPr id="12" name="TextBox 4"/>
          <p:cNvSpPr txBox="1"/>
          <p:nvPr/>
        </p:nvSpPr>
        <p:spPr>
          <a:xfrm>
            <a:off x="1371600" y="2743200"/>
            <a:ext cx="4526280" cy="457200"/>
          </a:xfrm>
          <a:prstGeom prst="rect">
            <a:avLst/>
          </a:prstGeom>
          <a:noFill/>
        </p:spPr>
        <p:txBody>
          <a:bodyPr wrap="square">
            <a:spAutoFit/>
          </a:bodyPr>
          <a:lstStyle/>
          <a:p>
            <a:pPr algn="l"/>
            <a:r>
              <a:rPr sz="2000" i="0" b="0">
                <a:solidFill>
                  <a:srgbClr val="2E2A45"/>
                </a:solidFill>
              </a:rPr>
              <a:t>Refuse and don’t reply</a:t>
            </a:r>
          </a:p>
        </p:txBody>
      </p:sp>
      <p:sp>
        <p:nvSpPr>
          <p:cNvPr id="13" name="Rectangle 17"/>
          <p:cNvSpPr/>
          <p:nvPr/>
        </p:nvSpPr>
        <p:spPr>
          <a:xfrm>
            <a:off x="992124" y="3182112"/>
            <a:ext cx="27432" cy="146303"/>
          </a:xfrm>
          <a:prstGeom prst="rect">
            <a:avLst/>
          </a:prstGeom>
          <a:solidFill>
            <a:srgbClr val="4F8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8"/>
          <p:cNvSpPr/>
          <p:nvPr/>
        </p:nvSpPr>
        <p:spPr>
          <a:xfrm>
            <a:off x="795528" y="3328416"/>
            <a:ext cx="420624" cy="420624"/>
          </a:xfrm>
          <a:prstGeom prst="ellipse">
            <a:avLst/>
          </a:prstGeom>
          <a:solidFill>
            <a:srgbClr val="4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2</a:t>
            </a:r>
          </a:p>
        </p:txBody>
      </p:sp>
      <p:sp>
        <p:nvSpPr>
          <p:cNvPr id="15" name="TextBox 4"/>
          <p:cNvSpPr txBox="1"/>
          <p:nvPr/>
        </p:nvSpPr>
        <p:spPr>
          <a:xfrm>
            <a:off x="1371600" y="3310128"/>
            <a:ext cx="4526280" cy="457200"/>
          </a:xfrm>
          <a:prstGeom prst="rect">
            <a:avLst/>
          </a:prstGeom>
          <a:noFill/>
        </p:spPr>
        <p:txBody>
          <a:bodyPr wrap="square">
            <a:spAutoFit/>
          </a:bodyPr>
          <a:lstStyle/>
          <a:p>
            <a:pPr algn="l"/>
            <a:r>
              <a:rPr sz="2000" i="0" b="0">
                <a:solidFill>
                  <a:srgbClr val="2E2A45"/>
                </a:solidFill>
              </a:rPr>
              <a:t>Verify through a known contact</a:t>
            </a:r>
          </a:p>
        </p:txBody>
      </p:sp>
      <p:sp>
        <p:nvSpPr>
          <p:cNvPr id="16" name="Rectangle 20"/>
          <p:cNvSpPr/>
          <p:nvPr/>
        </p:nvSpPr>
        <p:spPr>
          <a:xfrm>
            <a:off x="992124" y="3749040"/>
            <a:ext cx="27432" cy="146303"/>
          </a:xfrm>
          <a:prstGeom prst="rect">
            <a:avLst/>
          </a:prstGeom>
          <a:solidFill>
            <a:srgbClr val="4F8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21"/>
          <p:cNvSpPr/>
          <p:nvPr/>
        </p:nvSpPr>
        <p:spPr>
          <a:xfrm>
            <a:off x="795528" y="3895344"/>
            <a:ext cx="420624" cy="420624"/>
          </a:xfrm>
          <a:prstGeom prst="ellipse">
            <a:avLst/>
          </a:prstGeom>
          <a:solidFill>
            <a:srgbClr val="4F8A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3</a:t>
            </a:r>
          </a:p>
        </p:txBody>
      </p:sp>
      <p:sp>
        <p:nvSpPr>
          <p:cNvPr id="18" name="TextBox 4"/>
          <p:cNvSpPr txBox="1"/>
          <p:nvPr/>
        </p:nvSpPr>
        <p:spPr>
          <a:xfrm>
            <a:off x="1371600" y="3877056"/>
            <a:ext cx="4526280" cy="457200"/>
          </a:xfrm>
          <a:prstGeom prst="rect">
            <a:avLst/>
          </a:prstGeom>
          <a:noFill/>
        </p:spPr>
        <p:txBody>
          <a:bodyPr wrap="square">
            <a:spAutoFit/>
          </a:bodyPr>
          <a:lstStyle/>
          <a:p>
            <a:pPr algn="l"/>
            <a:r>
              <a:rPr sz="2000" i="0" b="0">
                <a:solidFill>
                  <a:srgbClr val="2E2A45"/>
                </a:solidFill>
              </a:rPr>
              <a:t>Tell your manager and Security</a:t>
            </a:r>
          </a:p>
        </p:txBody>
      </p:sp>
      <p:sp>
        <p:nvSpPr>
          <p:cNvPr id="19" name="Rounded Rectangle 23"/>
          <p:cNvSpPr/>
          <p:nvPr/>
        </p:nvSpPr>
        <p:spPr>
          <a:xfrm>
            <a:off x="6199632" y="2148840"/>
            <a:ext cx="5440680" cy="2194560"/>
          </a:xfrm>
          <a:prstGeom prst="roundRect">
            <a:avLst>
              <a:gd name="adj" fmla="val 8000"/>
            </a:avLst>
          </a:prstGeom>
          <a:solidFill>
            <a:srgbClr val="FBE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4"/>
          <p:cNvSpPr txBox="1"/>
          <p:nvPr/>
        </p:nvSpPr>
        <p:spPr>
          <a:xfrm>
            <a:off x="6382512" y="2194560"/>
            <a:ext cx="5029200" cy="411480"/>
          </a:xfrm>
          <a:prstGeom prst="rect">
            <a:avLst/>
          </a:prstGeom>
          <a:noFill/>
        </p:spPr>
        <p:txBody>
          <a:bodyPr wrap="square">
            <a:spAutoFit/>
          </a:bodyPr>
          <a:lstStyle/>
          <a:p>
            <a:pPr algn="l"/>
            <a:r>
              <a:rPr sz="2200" i="0" b="1">
                <a:solidFill>
                  <a:srgbClr val="A3470F"/>
                </a:solidFill>
              </a:rPr>
              <a:t>Yes: money or codes sent</a:t>
            </a:r>
          </a:p>
        </p:txBody>
      </p:sp>
      <p:sp>
        <p:nvSpPr>
          <p:cNvPr id="21" name="Oval 25"/>
          <p:cNvSpPr/>
          <p:nvPr/>
        </p:nvSpPr>
        <p:spPr>
          <a:xfrm>
            <a:off x="6446520" y="2761488"/>
            <a:ext cx="420624" cy="420624"/>
          </a:xfrm>
          <a:prstGeom prst="ellipse">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1</a:t>
            </a:r>
          </a:p>
        </p:txBody>
      </p:sp>
      <p:sp>
        <p:nvSpPr>
          <p:cNvPr id="22" name="TextBox 4"/>
          <p:cNvSpPr txBox="1"/>
          <p:nvPr/>
        </p:nvSpPr>
        <p:spPr>
          <a:xfrm>
            <a:off x="7022592" y="2743200"/>
            <a:ext cx="4526280" cy="457200"/>
          </a:xfrm>
          <a:prstGeom prst="rect">
            <a:avLst/>
          </a:prstGeom>
          <a:noFill/>
        </p:spPr>
        <p:txBody>
          <a:bodyPr wrap="square">
            <a:spAutoFit/>
          </a:bodyPr>
          <a:lstStyle/>
          <a:p>
            <a:pPr algn="l"/>
            <a:r>
              <a:rPr sz="2000" i="0" b="0">
                <a:solidFill>
                  <a:srgbClr val="2E2A45"/>
                </a:solidFill>
              </a:rPr>
              <a:t>Call your bank or card company now</a:t>
            </a:r>
          </a:p>
        </p:txBody>
      </p:sp>
      <p:sp>
        <p:nvSpPr>
          <p:cNvPr id="23" name="Rectangle 27"/>
          <p:cNvSpPr/>
          <p:nvPr/>
        </p:nvSpPr>
        <p:spPr>
          <a:xfrm>
            <a:off x="6643116" y="3182112"/>
            <a:ext cx="27432" cy="146303"/>
          </a:xfrm>
          <a:prstGeom prst="rect">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8"/>
          <p:cNvSpPr/>
          <p:nvPr/>
        </p:nvSpPr>
        <p:spPr>
          <a:xfrm>
            <a:off x="6446520" y="3328416"/>
            <a:ext cx="420624" cy="420624"/>
          </a:xfrm>
          <a:prstGeom prst="ellipse">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2</a:t>
            </a:r>
          </a:p>
        </p:txBody>
      </p:sp>
      <p:sp>
        <p:nvSpPr>
          <p:cNvPr id="25" name="TextBox 4"/>
          <p:cNvSpPr txBox="1"/>
          <p:nvPr/>
        </p:nvSpPr>
        <p:spPr>
          <a:xfrm>
            <a:off x="7022592" y="3310128"/>
            <a:ext cx="4526280" cy="457200"/>
          </a:xfrm>
          <a:prstGeom prst="rect">
            <a:avLst/>
          </a:prstGeom>
          <a:noFill/>
        </p:spPr>
        <p:txBody>
          <a:bodyPr wrap="square">
            <a:spAutoFit/>
          </a:bodyPr>
          <a:lstStyle/>
          <a:p>
            <a:pPr algn="l"/>
            <a:r>
              <a:rPr sz="2000" i="0" b="0">
                <a:solidFill>
                  <a:srgbClr val="2E2A45"/>
                </a:solidFill>
              </a:rPr>
              <a:t>Ask for a recall or a freeze</a:t>
            </a:r>
          </a:p>
        </p:txBody>
      </p:sp>
      <p:sp>
        <p:nvSpPr>
          <p:cNvPr id="26" name="Rectangle 30"/>
          <p:cNvSpPr/>
          <p:nvPr/>
        </p:nvSpPr>
        <p:spPr>
          <a:xfrm>
            <a:off x="6643116" y="3749040"/>
            <a:ext cx="27432" cy="146303"/>
          </a:xfrm>
          <a:prstGeom prst="rect">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31"/>
          <p:cNvSpPr/>
          <p:nvPr/>
        </p:nvSpPr>
        <p:spPr>
          <a:xfrm>
            <a:off x="6446520" y="3895344"/>
            <a:ext cx="420624" cy="420624"/>
          </a:xfrm>
          <a:prstGeom prst="ellipse">
            <a:avLst/>
          </a:prstGeom>
          <a:solidFill>
            <a:srgbClr val="E078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ctr"/>
            <a:r>
              <a:rPr sz="2000" b="1">
                <a:solidFill>
                  <a:srgbClr val="FFFFFF"/>
                </a:solidFill>
              </a:rPr>
              <a:t>3</a:t>
            </a:r>
          </a:p>
        </p:txBody>
      </p:sp>
      <p:sp>
        <p:nvSpPr>
          <p:cNvPr id="28" name="TextBox 4"/>
          <p:cNvSpPr txBox="1"/>
          <p:nvPr/>
        </p:nvSpPr>
        <p:spPr>
          <a:xfrm>
            <a:off x="7022592" y="3877056"/>
            <a:ext cx="4526280" cy="457200"/>
          </a:xfrm>
          <a:prstGeom prst="rect">
            <a:avLst/>
          </a:prstGeom>
          <a:noFill/>
        </p:spPr>
        <p:txBody>
          <a:bodyPr wrap="square">
            <a:spAutoFit/>
          </a:bodyPr>
          <a:lstStyle/>
          <a:p>
            <a:pPr algn="l"/>
            <a:r>
              <a:rPr sz="2000" i="0" b="0">
                <a:solidFill>
                  <a:srgbClr val="2E2A45"/>
                </a:solidFill>
              </a:rPr>
              <a:t>Tell your manager and IT</a:t>
            </a:r>
          </a:p>
        </p:txBody>
      </p:sp>
      <p:sp>
        <p:nvSpPr>
          <p:cNvPr id="29" name="Down Arrow 33"/>
          <p:cNvSpPr/>
          <p:nvPr/>
        </p:nvSpPr>
        <p:spPr>
          <a:xfrm>
            <a:off x="3086100" y="4389120"/>
            <a:ext cx="365760" cy="237744"/>
          </a:xfrm>
          <a:prstGeom prst="downArrow">
            <a:avLst/>
          </a:prstGeom>
          <a:solidFill>
            <a:srgbClr val="9A8C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own Arrow 34"/>
          <p:cNvSpPr/>
          <p:nvPr/>
        </p:nvSpPr>
        <p:spPr>
          <a:xfrm>
            <a:off x="8737092" y="4389120"/>
            <a:ext cx="365760" cy="237744"/>
          </a:xfrm>
          <a:prstGeom prst="downArrow">
            <a:avLst/>
          </a:prstGeom>
          <a:solidFill>
            <a:srgbClr val="9A8C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4"/>
          <p:cNvSpPr/>
          <p:nvPr/>
        </p:nvSpPr>
        <p:spPr>
          <a:xfrm>
            <a:off x="548640" y="4663440"/>
            <a:ext cx="3611880" cy="1170432"/>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Keep the evidence</a:t>
            </a:r>
          </a:p>
          <a:p>
            <a:pPr algn="ctr"/>
            <a:r>
              <a:rPr sz="1800">
                <a:solidFill>
                  <a:srgbClr val="FFFFFF"/>
                </a:solidFill>
              </a:rPr>
              <a:t>Email, text, call log, receipts</a:t>
            </a:r>
          </a:p>
        </p:txBody>
      </p:sp>
      <p:sp>
        <p:nvSpPr>
          <p:cNvPr id="32" name="Rounded Rectangle 4"/>
          <p:cNvSpPr/>
          <p:nvPr/>
        </p:nvSpPr>
        <p:spPr>
          <a:xfrm>
            <a:off x="4288536" y="4663440"/>
            <a:ext cx="3611880" cy="1170432"/>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000">
                <a:solidFill>
                  <a:srgbClr val="FFFFFF"/>
                </a:solidFill>
              </a:rPr>
              <a:t>Report it</a:t>
            </a:r>
          </a:p>
          <a:p>
            <a:pPr algn="ctr"/>
            <a:r>
              <a:rPr sz="1800">
                <a:solidFill>
                  <a:srgbClr val="FFFFFF"/>
                </a:solidFill>
              </a:rPr>
              <a:t>ReportCyber, IC3, Report Fraud, CAFC</a:t>
            </a:r>
          </a:p>
        </p:txBody>
      </p:sp>
      <p:sp>
        <p:nvSpPr>
          <p:cNvPr id="33" name="Rounded Rectangle 4"/>
          <p:cNvSpPr/>
          <p:nvPr/>
        </p:nvSpPr>
        <p:spPr>
          <a:xfrm>
            <a:off x="8028431" y="4663440"/>
            <a:ext cx="3611880" cy="1170432"/>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200">
                <a:solidFill>
                  <a:srgbClr val="FFFFFF"/>
                </a:solidFill>
              </a:rPr>
              <a:t>Tell your team</a:t>
            </a:r>
          </a:p>
          <a:p>
            <a:pPr algn="ctr"/>
            <a:r>
              <a:rPr sz="2000">
                <a:solidFill>
                  <a:srgbClr val="FFFFFF"/>
                </a:solidFill>
              </a:rPr>
              <a:t>IT checks your mailbox. IDCARE helps with identity.</a:t>
            </a:r>
          </a:p>
        </p:txBody>
      </p:sp>
      <p:sp>
        <p:nvSpPr>
          <p:cNvPr id="34" name="Citation"/>
          <p:cNvSpPr txBox="1"/>
          <p:nvPr/>
        </p:nvSpPr>
        <p:spPr>
          <a:xfrm>
            <a:off x="457200" y="5870448"/>
            <a:ext cx="11247120" cy="429768"/>
          </a:xfrm>
          <a:prstGeom prst="rect">
            <a:avLst/>
          </a:prstGeom>
          <a:noFill/>
        </p:spPr>
        <p:txBody>
          <a:bodyPr wrap="square">
            <a:spAutoFit/>
          </a:bodyPr>
          <a:lstStyle/>
          <a:p>
            <a:pPr algn="l"/>
            <a:r>
              <a:rPr lang="en-US" sz="1800" i="1">
                <a:solidFill>
                  <a:srgbClr val="666666"/>
                </a:solidFill>
              </a:rPr>
              <a:t>Sources: FBI IC3 2025 Annual Report; FTC; ASD’s ACSC; Report Fraud; CAFC; IDCARE</a:t>
            </a:r>
          </a:p>
        </p:txBody>
      </p:sp>
      <p:sp>
        <p:nvSpPr>
          <p:cNvPr id="38" name="Contain note"/>
          <p:cNvSpPr txBox="1"/>
          <p:nvPr/>
        </p:nvSpPr>
        <p:spPr>
          <a:xfrm>
            <a:off x="457200" y="1143000"/>
            <a:ext cx="11247120" cy="274320"/>
          </a:xfrm>
          <a:prstGeom prst="rect">
            <a:avLst/>
          </a:prstGeom>
          <a:noFill/>
        </p:spPr>
        <p:txBody>
          <a:bodyPr wrap="square">
            <a:spAutoFit/>
          </a:bodyPr>
          <a:lstStyle/>
          <a:p>
            <a:pPr algn="ctr"/>
            <a:r>
              <a:rPr lang="en-US" sz="1400" i="1">
                <a:solidFill>
                  <a:srgbClr val="666666"/>
                </a:solidFill>
              </a:rPr>
              <a:t>The order may change depending on the situation. Follow your organisation's incident procedure.</a:t>
            </a:r>
          </a:p>
        </p:txBody>
      </p:sp>
      <p:sp>
        <p:nvSpPr>
          <p:cNvPr id="35" name="Kiosk Previous">
            <a:hlinkClick r:id="rId3"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36" name="Kiosk Next">
            <a:hlinkClick r:id="rId4"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pic>
        <p:nvPicPr>
          <p:cNvPr id="37" name="narration_adm_27.mp3">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3152" y="6355080"/>
            <a:ext cx="365760" cy="3657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8619" fill="hold"/>
                                        <p:tgtEl>
                                          <p:spTgt spid="37"/>
                                        </p:tgtEl>
                                      </p:cBhvr>
                                    </p:cmd>
                                  </p:childTnLst>
                                </p:cTn>
                              </p:par>
                              <p:par>
                                <p:cTn id="20" presetID="26" presetClass="emph" presetSubtype="0" repeatCount="indefinite" fill="hold" grpId="0" nodeType="withEffect">
                                  <p:stCondLst>
                                    <p:cond delay="58619"/>
                                  </p:stCondLst>
                                  <p:childTnLst>
                                    <p:animEffect transition="out" filter="fade">
                                      <p:cBhvr>
                                        <p:cTn id="21" dur="1000" tmFilter="0, 0; .2, .5; .8, .5; 1, 0"/>
                                        <p:tgtEl>
                                          <p:spTgt spid="36"/>
                                        </p:tgtEl>
                                      </p:cBhvr>
                                    </p:animEffect>
                                    <p:animScale>
                                      <p:cBhvr>
                                        <p:cTn id="22" dur="500" autoRev="1" fill="hold"/>
                                        <p:tgtEl>
                                          <p:spTgt spid="36"/>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37"/>
                </p:tgtEl>
              </p:cMediaNode>
            </p:audio>
          </p:childTnLst>
        </p:cTn>
      </p:par>
    </p:tnLst>
    <p:bldLst>
      <p:bldP spid="36"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327" y="867475"/>
            <a:ext cx="10607040" cy="789939"/>
          </a:xfrm>
          <a:prstGeom prst="rect">
            <a:avLst/>
          </a:prstGeom>
          <a:noFill/>
        </p:spPr>
        <p:txBody>
          <a:bodyPr wrap="square">
            <a:spAutoFit/>
          </a:bodyPr>
          <a:lstStyle/>
          <a:p>
            <a:pPr algn="ctr"/>
            <a:r>
              <a:rPr sz="4400" b="1">
                <a:solidFill>
                  <a:srgbClr val="000000"/>
                </a:solidFill>
              </a:rPr>
              <a:t>KNOWLEDGE CHECK: CONTAIN (Q1)</a:t>
            </a:r>
          </a:p>
        </p:txBody>
      </p:sp>
      <p:sp>
        <p:nvSpPr>
          <p:cNvPr id="5" name="TextBox 4"/>
          <p:cNvSpPr txBox="1"/>
          <p:nvPr/>
        </p:nvSpPr>
        <p:spPr>
          <a:xfrm>
            <a:off x="792327" y="1864983"/>
            <a:ext cx="10607040" cy="1083056"/>
          </a:xfrm>
          <a:prstGeom prst="rect">
            <a:avLst/>
          </a:prstGeom>
          <a:noFill/>
        </p:spPr>
        <p:txBody>
          <a:bodyPr wrap="square">
            <a:spAutoFit/>
          </a:bodyPr>
          <a:lstStyle/>
          <a:p>
            <a:pPr algn="ctr"/>
            <a:r>
              <a:rPr sz="2800" i="0" b="1">
                <a:solidFill>
                  <a:srgbClr val="333333"/>
                </a:solidFill>
              </a:rPr>
              <a:t>You bought gift cards for an email from the CEO and sent the codes. Now you suspect it was fake. What do you do first?</a:t>
            </a:r>
          </a:p>
        </p:txBody>
      </p:sp>
      <p:sp>
        <p:nvSpPr>
          <p:cNvPr id="6" name="Rounded Rectangle 5">
            <a:hlinkClick action="ppaction://hlinksldjump" r:id="rId3"/>
          </p:cNvPr>
          <p:cNvSpPr/>
          <p:nvPr/>
        </p:nvSpPr>
        <p:spPr>
          <a:xfrm>
            <a:off x="932688" y="3520440"/>
            <a:ext cx="10332720" cy="731520"/>
          </a:xfrm>
          <a:prstGeom prst="roundRect">
            <a:avLst>
              <a:gd name="adj" fmla="val 15000"/>
            </a:avLst>
          </a:prstGeom>
          <a:solidFill>
            <a:srgbClr val="8FA377"/>
          </a:soli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000" b="1">
                <a:solidFill>
                  <a:srgbClr val="FFFFFF"/>
                </a:solidFill>
              </a:rPr>
              <a:t>A)  Contact the gift card company at once, with the card numbers</a:t>
            </a:r>
          </a:p>
        </p:txBody>
      </p:sp>
      <p:sp>
        <p:nvSpPr>
          <p:cNvPr id="7" name="Rounded Rectangle 6">
            <a:hlinkClick action="ppaction://hlinksldjump" r:id="rId4"/>
          </p:cNvPr>
          <p:cNvSpPr/>
          <p:nvPr/>
        </p:nvSpPr>
        <p:spPr>
          <a:xfrm>
            <a:off x="932688" y="4325112"/>
            <a:ext cx="10332720" cy="731520"/>
          </a:xfrm>
          <a:prstGeom prst="roundRect">
            <a:avLst>
              <a:gd name="adj" fmla="val 15000"/>
            </a:avLst>
          </a:prstGeom>
          <a:solidFill>
            <a:srgbClr val="8FA377"/>
          </a:soli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000" b="1">
                <a:solidFill>
                  <a:srgbClr val="FFFFFF"/>
                </a:solidFill>
              </a:rPr>
              <a:t>B)  Tell your manager and wait for instructions before doing anything else</a:t>
            </a:r>
          </a:p>
        </p:txBody>
      </p:sp>
      <p:sp>
        <p:nvSpPr>
          <p:cNvPr id="8" name="Rounded Rectangle 7">
            <a:hlinkClick action="ppaction://hlinksldjump" r:id="rId4"/>
          </p:cNvPr>
          <p:cNvSpPr/>
          <p:nvPr/>
        </p:nvSpPr>
        <p:spPr>
          <a:xfrm>
            <a:off x="932688" y="5129784"/>
            <a:ext cx="10332720" cy="731520"/>
          </a:xfrm>
          <a:prstGeom prst="roundRect">
            <a:avLst>
              <a:gd name="adj" fmla="val 15000"/>
            </a:avLst>
          </a:prstGeom>
          <a:solidFill>
            <a:srgbClr val="8FA377"/>
          </a:soli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000" b="1">
                <a:solidFill>
                  <a:srgbClr val="FFFFFF"/>
                </a:solidFill>
              </a:rPr>
              <a:t>C)  Text the CEO on her mobile to check that she really asked</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t>28</a:t>
            </a:r>
          </a:p>
        </p:txBody>
      </p:sp>
      <p:sp>
        <p:nvSpPr>
          <p:cNvPr id="10" name="Kiosk Previous">
            <a:hlinkClick r:id="rId5" action="ppaction://hlinksldjump"/>
          </p:cNvPr>
          <p:cNvSpPr/>
          <p:nvPr/>
        </p:nvSpPr>
        <p:spPr>
          <a:xfrm>
            <a:off x="536432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Tree>
  </p:cSld>
  <p:clrMapOvr>
    <a:masterClrMapping/>
  </p:clrMapOvr>
  <p:transition advClick="0"/>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E88A00"/>
                </a:solidFill>
              </a:rPr>
              <a:t>NOT QUITE</a:t>
            </a:r>
          </a:p>
        </p:txBody>
      </p:sp>
      <p:sp>
        <p:nvSpPr>
          <p:cNvPr id="5" name="TextBox 4"/>
          <p:cNvSpPr txBox="1"/>
          <p:nvPr/>
        </p:nvSpPr>
        <p:spPr>
          <a:xfrm>
            <a:off x="792327" y="2290318"/>
            <a:ext cx="10607040" cy="2322576"/>
          </a:xfrm>
          <a:prstGeom prst="rect">
            <a:avLst/>
          </a:prstGeom>
          <a:noFill/>
        </p:spPr>
        <p:txBody>
          <a:bodyPr wrap="square">
            <a:spAutoFit/>
          </a:bodyPr>
          <a:lstStyle/>
          <a:p>
            <a:pPr algn="ctr"/>
            <a:r>
              <a:rPr sz="3200" i="0" b="0">
                <a:solidFill>
                  <a:srgbClr val="333333"/>
                </a:solidFill>
              </a:rPr>
              <a:t>The answer is A) Contact the gift card company at once, with the card numbers. Gift card money can sometimes be frozen if the company is told fast. Call them first, then tell your manager and Security.</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29</a:t>
            </a:r>
          </a:p>
        </p:txBody>
      </p:sp>
      <p:sp>
        <p:nvSpPr>
          <p:cNvPr id="8"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108456"/>
            <a:ext cx="9418320" cy="773176"/>
          </a:xfrm>
          <a:prstGeom prst="rect">
            <a:avLst/>
          </a:prstGeom>
          <a:noFill/>
        </p:spPr>
        <p:txBody>
          <a:bodyPr wrap="none">
            <a:spAutoFit/>
          </a:bodyPr>
          <a:lstStyle/>
          <a:p>
            <a:pPr algn="ctr"/>
            <a:r>
              <a:rPr sz="4400" b="1">
                <a:solidFill>
                  <a:srgbClr val="6B7D5A"/>
                </a:solidFill>
              </a:rPr>
              <a:t>CORRECT!</a:t>
            </a:r>
          </a:p>
        </p:txBody>
      </p:sp>
      <p:sp>
        <p:nvSpPr>
          <p:cNvPr id="5" name="TextBox 4"/>
          <p:cNvSpPr txBox="1"/>
          <p:nvPr/>
        </p:nvSpPr>
        <p:spPr>
          <a:xfrm>
            <a:off x="792327" y="2384552"/>
            <a:ext cx="10607040" cy="1764792"/>
          </a:xfrm>
          <a:prstGeom prst="rect">
            <a:avLst/>
          </a:prstGeom>
          <a:noFill/>
        </p:spPr>
        <p:txBody>
          <a:bodyPr wrap="square">
            <a:spAutoFit/>
          </a:bodyPr>
          <a:lstStyle/>
          <a:p>
            <a:pPr algn="ctr"/>
            <a:r>
              <a:rPr sz="3200" i="0" b="0">
                <a:solidFill>
                  <a:srgbClr val="333333"/>
                </a:solidFill>
              </a:rPr>
              <a:t>Right. Gift card money can sometimes be frozen if the company is told fast. Call them first, then tell your manager and Security.</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30</a:t>
            </a:r>
          </a:p>
        </p:txBody>
      </p:sp>
      <p:sp>
        <p:nvSpPr>
          <p:cNvPr id="8"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92327" y="867475"/>
            <a:ext cx="10607040" cy="789939"/>
          </a:xfrm>
          <a:prstGeom prst="rect">
            <a:avLst/>
          </a:prstGeom>
          <a:noFill/>
        </p:spPr>
        <p:txBody>
          <a:bodyPr wrap="square">
            <a:spAutoFit/>
          </a:bodyPr>
          <a:lstStyle/>
          <a:p>
            <a:pPr algn="ctr"/>
            <a:r>
              <a:rPr sz="4400" b="1">
                <a:solidFill>
                  <a:srgbClr val="000000"/>
                </a:solidFill>
              </a:rPr>
              <a:t>KNOWLEDGE CHECK: CONTAIN (Q2)</a:t>
            </a:r>
          </a:p>
        </p:txBody>
      </p:sp>
      <p:sp>
        <p:nvSpPr>
          <p:cNvPr id="5" name="TextBox 4"/>
          <p:cNvSpPr txBox="1"/>
          <p:nvPr/>
        </p:nvSpPr>
        <p:spPr>
          <a:xfrm>
            <a:off x="792327" y="1883575"/>
            <a:ext cx="10607040" cy="990092"/>
          </a:xfrm>
          <a:prstGeom prst="rect">
            <a:avLst/>
          </a:prstGeom>
          <a:noFill/>
        </p:spPr>
        <p:txBody>
          <a:bodyPr wrap="square">
            <a:spAutoFit/>
          </a:bodyPr>
          <a:lstStyle/>
          <a:p>
            <a:pPr algn="ctr"/>
            <a:r>
              <a:rPr sz="2800" i="0" b="1">
                <a:solidFill>
                  <a:srgbClr val="333333"/>
                </a:solidFill>
              </a:rPr>
              <a:t>Your manager's email asks you to pay an invoice within the hour. She is travelling and her phone is off. What do you do?</a:t>
            </a:r>
          </a:p>
        </p:txBody>
      </p:sp>
      <p:sp>
        <p:nvSpPr>
          <p:cNvPr id="6" name="Rounded Rectangle 5">
            <a:hlinkClick action="ppaction://hlinksldjump" r:id="rId3"/>
          </p:cNvPr>
          <p:cNvSpPr/>
          <p:nvPr/>
        </p:nvSpPr>
        <p:spPr>
          <a:xfrm>
            <a:off x="932688" y="3520440"/>
            <a:ext cx="10332720" cy="731520"/>
          </a:xfrm>
          <a:prstGeom prst="roundRect">
            <a:avLst>
              <a:gd name="adj" fmla="val 15000"/>
            </a:avLst>
          </a:prstGeom>
          <a:solidFill>
            <a:srgbClr val="8FA377"/>
          </a:soli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000" b="1">
                <a:solidFill>
                  <a:srgbClr val="FFFFFF"/>
                </a:solidFill>
              </a:rPr>
              <a:t>A)  Pay it now, because the invoice matches one you have paid before</a:t>
            </a:r>
          </a:p>
        </p:txBody>
      </p:sp>
      <p:sp>
        <p:nvSpPr>
          <p:cNvPr id="7" name="Rounded Rectangle 6">
            <a:hlinkClick action="ppaction://hlinksldjump" r:id="rId3"/>
          </p:cNvPr>
          <p:cNvSpPr/>
          <p:nvPr/>
        </p:nvSpPr>
        <p:spPr>
          <a:xfrm>
            <a:off x="932688" y="4325112"/>
            <a:ext cx="10332720" cy="731520"/>
          </a:xfrm>
          <a:prstGeom prst="roundRect">
            <a:avLst>
              <a:gd name="adj" fmla="val 15000"/>
            </a:avLst>
          </a:prstGeom>
          <a:solidFill>
            <a:srgbClr val="8FA377"/>
          </a:soli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000" b="1">
                <a:solidFill>
                  <a:srgbClr val="FFFFFF"/>
                </a:solidFill>
              </a:rPr>
              <a:t>B)  Reply to the email, and pay if she answers within the hour</a:t>
            </a:r>
          </a:p>
        </p:txBody>
      </p:sp>
      <p:sp>
        <p:nvSpPr>
          <p:cNvPr id="8" name="Rounded Rectangle 7">
            <a:hlinkClick action="ppaction://hlinksldjump" r:id="rId4"/>
          </p:cNvPr>
          <p:cNvSpPr/>
          <p:nvPr/>
        </p:nvSpPr>
        <p:spPr>
          <a:xfrm>
            <a:off x="932688" y="5129784"/>
            <a:ext cx="10332720" cy="731520"/>
          </a:xfrm>
          <a:prstGeom prst="roundRect">
            <a:avLst>
              <a:gd name="adj" fmla="val 15000"/>
            </a:avLst>
          </a:prstGeom>
          <a:solidFill>
            <a:srgbClr val="8FA377"/>
          </a:soli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2000" b="1">
                <a:solidFill>
                  <a:srgbClr val="FFFFFF"/>
                </a:solidFill>
              </a:rPr>
              <a:t>C)  Hold the payment and ask the next approver through a known contact</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t>31</a:t>
            </a:r>
          </a:p>
        </p:txBody>
      </p:sp>
      <p:sp>
        <p:nvSpPr>
          <p:cNvPr id="10" name="Kiosk Previous">
            <a:hlinkClick r:id="rId5" action="ppaction://hlinksldjump"/>
          </p:cNvPr>
          <p:cNvSpPr/>
          <p:nvPr/>
        </p:nvSpPr>
        <p:spPr>
          <a:xfrm>
            <a:off x="536432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Tree>
  </p:cSld>
  <p:clrMapOvr>
    <a:masterClrMapping/>
  </p:clrMapOvr>
  <p:transition advClick="0"/>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080390"/>
            <a:ext cx="9418320" cy="773176"/>
          </a:xfrm>
          <a:prstGeom prst="rect">
            <a:avLst/>
          </a:prstGeom>
          <a:noFill/>
        </p:spPr>
        <p:txBody>
          <a:bodyPr wrap="none">
            <a:spAutoFit/>
          </a:bodyPr>
          <a:lstStyle/>
          <a:p>
            <a:pPr algn="ctr"/>
            <a:r>
              <a:rPr sz="4400" b="1">
                <a:solidFill>
                  <a:srgbClr val="E88A00"/>
                </a:solidFill>
              </a:rPr>
              <a:t>NOT QUITE</a:t>
            </a:r>
          </a:p>
        </p:txBody>
      </p:sp>
      <p:sp>
        <p:nvSpPr>
          <p:cNvPr id="5" name="TextBox 4"/>
          <p:cNvSpPr txBox="1"/>
          <p:nvPr/>
        </p:nvSpPr>
        <p:spPr>
          <a:xfrm>
            <a:off x="792327" y="2290318"/>
            <a:ext cx="10607040" cy="2322576"/>
          </a:xfrm>
          <a:prstGeom prst="rect">
            <a:avLst/>
          </a:prstGeom>
          <a:noFill/>
        </p:spPr>
        <p:txBody>
          <a:bodyPr wrap="square">
            <a:spAutoFit/>
          </a:bodyPr>
          <a:lstStyle/>
          <a:p>
            <a:pPr algn="ctr"/>
            <a:r>
              <a:rPr sz="2800" i="0" b="0">
                <a:solidFill>
                  <a:srgbClr val="333333"/>
                </a:solidFill>
              </a:rPr>
              <a:t>The answer is C) Hold the payment and ask the next approver through a known contact. A real address can be taken over, and a reply goes to whoever controls it. Hold the payment and reach someone with authority through a contact you already hold.</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32</a:t>
            </a:r>
          </a:p>
        </p:txBody>
      </p:sp>
      <p:sp>
        <p:nvSpPr>
          <p:cNvPr id="8"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1371600" y="1108456"/>
            <a:ext cx="9418320" cy="773176"/>
          </a:xfrm>
          <a:prstGeom prst="rect">
            <a:avLst/>
          </a:prstGeom>
          <a:noFill/>
        </p:spPr>
        <p:txBody>
          <a:bodyPr wrap="none">
            <a:spAutoFit/>
          </a:bodyPr>
          <a:lstStyle/>
          <a:p>
            <a:pPr algn="ctr"/>
            <a:r>
              <a:rPr sz="4400" b="1">
                <a:solidFill>
                  <a:srgbClr val="6B7D5A"/>
                </a:solidFill>
              </a:rPr>
              <a:t>CORRECT!</a:t>
            </a:r>
          </a:p>
        </p:txBody>
      </p:sp>
      <p:sp>
        <p:nvSpPr>
          <p:cNvPr id="5" name="TextBox 4"/>
          <p:cNvSpPr txBox="1"/>
          <p:nvPr/>
        </p:nvSpPr>
        <p:spPr>
          <a:xfrm>
            <a:off x="792327" y="2384552"/>
            <a:ext cx="10607040" cy="1764792"/>
          </a:xfrm>
          <a:prstGeom prst="rect">
            <a:avLst/>
          </a:prstGeom>
          <a:noFill/>
        </p:spPr>
        <p:txBody>
          <a:bodyPr wrap="square">
            <a:spAutoFit/>
          </a:bodyPr>
          <a:lstStyle/>
          <a:p>
            <a:pPr algn="ctr"/>
            <a:r>
              <a:rPr sz="3200" i="0" b="0">
                <a:solidFill>
                  <a:srgbClr val="333333"/>
                </a:solidFill>
              </a:rPr>
              <a:t>Right. A real address can be taken over, and a reply goes to whoever controls it. Hold the payment and reach someone with authority through a contact you already hold.</a:t>
            </a:r>
          </a:p>
        </p:txBody>
      </p:sp>
      <p:sp>
        <p:nvSpPr>
          <p:cNvPr id="7" name="TextBox 6"/>
          <p:cNvSpPr txBox="1"/>
          <p:nvPr/>
        </p:nvSpPr>
        <p:spPr>
          <a:xfrm>
            <a:off x="10698480" y="6309360"/>
            <a:ext cx="1280160" cy="365760"/>
          </a:xfrm>
          <a:prstGeom prst="rect">
            <a:avLst/>
          </a:prstGeom>
          <a:noFill/>
        </p:spPr>
        <p:txBody>
          <a:bodyPr wrap="none">
            <a:spAutoFit/>
          </a:bodyPr>
          <a:lstStyle/>
          <a:p>
            <a:pPr algn="r"/>
            <a:r>
              <a:rPr sz="1100"/>
              <a:t>33</a:t>
            </a:r>
          </a:p>
        </p:txBody>
      </p:sp>
      <p:sp>
        <p:nvSpPr>
          <p:cNvPr id="8" name="Kiosk Previous">
            <a:hlinkClick r:id="rId4"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9" name="Kiosk Next">
            <a:hlinkClick r:id="rId3"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0"/>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457200" y="411480"/>
            <a:ext cx="11247120" cy="789939"/>
          </a:xfrm>
          <a:prstGeom prst="rect">
            <a:avLst/>
          </a:prstGeom>
          <a:noFill/>
        </p:spPr>
        <p:txBody>
          <a:bodyPr wrap="square">
            <a:spAutoFit/>
          </a:bodyPr>
          <a:lstStyle/>
          <a:p>
            <a:pPr algn="ctr"/>
            <a:r>
              <a:rPr sz="4400" b="1">
                <a:solidFill>
                  <a:srgbClr val="000000"/>
                </a:solidFill>
              </a:rPr>
              <a:t>SUMMARY</a:t>
            </a:r>
          </a:p>
        </p:txBody>
      </p:sp>
      <p:sp>
        <p:nvSpPr>
          <p:cNvPr id="5" name="Rounded Rectangle 4"/>
          <p:cNvSpPr/>
          <p:nvPr/>
        </p:nvSpPr>
        <p:spPr>
          <a:xfrm>
            <a:off x="548640" y="1552699"/>
            <a:ext cx="3484778" cy="2630687"/>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DETECT</a:t>
            </a:r>
          </a:p>
          <a:p>
            <a:pPr algn="ctr"/>
            <a:r>
              <a:rPr sz="2800">
                <a:solidFill>
                  <a:srgbClr val="FFFFFF"/>
                </a:solidFill>
              </a:rPr>
              <a:t>Secrecy plus urgency is the pattern</a:t>
            </a:r>
          </a:p>
        </p:txBody>
      </p:sp>
      <p:sp>
        <p:nvSpPr>
          <p:cNvPr id="6" name="Rounded Rectangle 5"/>
          <p:cNvSpPr/>
          <p:nvPr/>
        </p:nvSpPr>
        <p:spPr>
          <a:xfrm>
            <a:off x="4353458" y="1552699"/>
            <a:ext cx="3484778" cy="2630687"/>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VERIFY</a:t>
            </a:r>
          </a:p>
          <a:p>
            <a:pPr algn="ctr"/>
            <a:r>
              <a:rPr sz="2800">
                <a:solidFill>
                  <a:srgbClr val="FFFFFF"/>
                </a:solidFill>
              </a:rPr>
              <a:t>Contact the person directly, somewhere the request can't reach</a:t>
            </a:r>
          </a:p>
        </p:txBody>
      </p:sp>
      <p:sp>
        <p:nvSpPr>
          <p:cNvPr id="7" name="Rounded Rectangle 6"/>
          <p:cNvSpPr/>
          <p:nvPr/>
        </p:nvSpPr>
        <p:spPr>
          <a:xfrm>
            <a:off x="8158276" y="1552699"/>
            <a:ext cx="3484778" cy="2630687"/>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2800">
                <a:solidFill>
                  <a:srgbClr val="FFFFFF"/>
                </a:solidFill>
              </a:rPr>
              <a:t>CONTAIN</a:t>
            </a:r>
          </a:p>
          <a:p>
            <a:pPr algn="ctr"/>
            <a:r>
              <a:rPr sz="2800">
                <a:solidFill>
                  <a:srgbClr val="FFFFFF"/>
                </a:solidFill>
              </a:rPr>
              <a:t>Bank or card company first, then report</a:t>
            </a:r>
          </a:p>
        </p:txBody>
      </p:sp>
      <p:sp>
        <p:nvSpPr>
          <p:cNvPr id="8" name="TextBox 7"/>
          <p:cNvSpPr txBox="1"/>
          <p:nvPr/>
        </p:nvSpPr>
        <p:spPr>
          <a:xfrm>
            <a:off x="792327" y="4414269"/>
            <a:ext cx="10607040" cy="1207008"/>
          </a:xfrm>
          <a:prstGeom prst="rect">
            <a:avLst/>
          </a:prstGeom>
          <a:noFill/>
        </p:spPr>
        <p:txBody>
          <a:bodyPr wrap="square">
            <a:spAutoFit/>
          </a:bodyPr>
          <a:lstStyle/>
          <a:p>
            <a:pPr algn="ctr"/>
            <a:r>
              <a:rPr sz="3600" i="1" b="1">
                <a:solidFill>
                  <a:srgbClr val="333333"/>
                </a:solidFill>
              </a:rPr>
              <a:t>If a request asks you to stay quiet, that's the part to act on first.</a:t>
            </a:r>
          </a:p>
        </p:txBody>
      </p:sp>
      <p:sp>
        <p:nvSpPr>
          <p:cNvPr id="13" name="Adapt note"/>
          <p:cNvSpPr txBox="1"/>
          <p:nvPr/>
        </p:nvSpPr>
        <p:spPr>
          <a:xfrm>
            <a:off x="792327" y="5731005"/>
            <a:ext cx="10607040" cy="713232"/>
          </a:xfrm>
          <a:prstGeom prst="rect">
            <a:avLst/>
          </a:prstGeom>
          <a:noFill/>
        </p:spPr>
        <p:txBody>
          <a:bodyPr wrap="square">
            <a:spAutoFit/>
          </a:bodyPr>
          <a:lstStyle/>
          <a:p>
            <a:pPr algn="ctr"/>
            <a:r>
              <a:rPr sz="2000" i="1" b="0">
                <a:solidFill>
                  <a:srgbClr val="333333"/>
                </a:solidFill>
              </a:rPr>
              <a:t>Laws, contacts and reporting services differ by country and industry. Adapt this module before you use it.</a:t>
            </a:r>
          </a:p>
        </p:txBody>
      </p:sp>
      <p:sp>
        <p:nvSpPr>
          <p:cNvPr id="9" name="TextBox 8"/>
          <p:cNvSpPr txBox="1"/>
          <p:nvPr/>
        </p:nvSpPr>
        <p:spPr>
          <a:xfrm>
            <a:off x="10698480" y="6309360"/>
            <a:ext cx="1280160" cy="365760"/>
          </a:xfrm>
          <a:prstGeom prst="rect">
            <a:avLst/>
          </a:prstGeom>
          <a:noFill/>
        </p:spPr>
        <p:txBody>
          <a:bodyPr wrap="none">
            <a:spAutoFit/>
          </a:bodyPr>
          <a:lstStyle/>
          <a:p>
            <a:pPr algn="r"/>
            <a:r>
              <a:rPr sz="1100"/>
              <a:t>34</a:t>
            </a:r>
          </a:p>
        </p:txBody>
      </p:sp>
      <p:pic>
        <p:nvPicPr>
          <p:cNvPr id="10" name="narration_adm_L13.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11"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12" name="Kiosk Next">
            <a:hlinkClick r:id="rId7" action="ppaction://hlinksldjump"/>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Next</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8238" fill="hold"/>
                                        <p:tgtEl>
                                          <p:spTgt spid="10"/>
                                        </p:tgtEl>
                                      </p:cBhvr>
                                    </p:cmd>
                                  </p:childTnLst>
                                </p:cTn>
                              </p:par>
                              <p:par>
                                <p:cTn id="20" presetID="26" presetClass="emph" presetSubtype="0" repeatCount="indefinite" fill="hold" grpId="0" nodeType="withEffect">
                                  <p:stCondLst>
                                    <p:cond delay="28238"/>
                                  </p:stCondLst>
                                  <p:childTnLst>
                                    <p:animEffect transition="out" filter="fade">
                                      <p:cBhvr>
                                        <p:cTn id="21" dur="1000" tmFilter="0, 0; .2, .5; .8, .5; 1, 0"/>
                                        <p:tgtEl>
                                          <p:spTgt spid="12"/>
                                        </p:tgtEl>
                                      </p:cBhvr>
                                    </p:animEffect>
                                    <p:animScale>
                                      <p:cBhvr>
                                        <p:cTn id="22" dur="500" autoRev="1" fill="hold"/>
                                        <p:tgtEl>
                                          <p:spTgt spid="12"/>
                                        </p:tgtEl>
                                      </p:cBhvr>
                                      <p:by x="110000" y="110000"/>
                                    </p:animScale>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10"/>
                </p:tgtEl>
              </p:cMediaNode>
            </p:audio>
          </p:childTnLst>
        </p:cTn>
      </p:par>
    </p:tnLst>
    <p:bldLst>
      <p:bldP spid="12"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0.png"/>
          <p:cNvPicPr>
            <a:picLocks noChangeAspect="1"/>
          </p:cNvPicPr>
          <p:nvPr/>
        </p:nvPicPr>
        <p:blipFill>
          <a:blip r:embed="rId2"/>
          <a:stretch>
            <a:fillRect/>
          </a:stretch>
        </p:blipFill>
        <p:spPr>
          <a:xfrm>
            <a:off x="0" y="0"/>
            <a:ext cx="12191695" cy="6858000"/>
          </a:xfrm>
          <a:prstGeom prst="rect">
            <a:avLst/>
          </a:prstGeom>
        </p:spPr>
      </p:pic>
      <p:sp>
        <p:nvSpPr>
          <p:cNvPr id="4" name="TextBox 3"/>
          <p:cNvSpPr txBox="1"/>
          <p:nvPr/>
        </p:nvSpPr>
        <p:spPr>
          <a:xfrm>
            <a:off x="731520" y="1270127"/>
            <a:ext cx="10698480" cy="943609"/>
          </a:xfrm>
          <a:prstGeom prst="rect">
            <a:avLst/>
          </a:prstGeom>
          <a:noFill/>
        </p:spPr>
        <p:txBody>
          <a:bodyPr wrap="none">
            <a:spAutoFit/>
          </a:bodyPr>
          <a:lstStyle/>
          <a:p>
            <a:pPr algn="ctr"/>
            <a:r>
              <a:rPr sz="4800" b="1">
                <a:solidFill>
                  <a:srgbClr val="000000"/>
                </a:solidFill>
              </a:rPr>
              <a:t>THANK YOU</a:t>
            </a:r>
          </a:p>
        </p:txBody>
      </p:sp>
      <p:sp>
        <p:nvSpPr>
          <p:cNvPr id="5" name="TextBox 4"/>
          <p:cNvSpPr txBox="1"/>
          <p:nvPr/>
        </p:nvSpPr>
        <p:spPr>
          <a:xfrm>
            <a:off x="792327" y="2716656"/>
            <a:ext cx="10607040" cy="1207008"/>
          </a:xfrm>
          <a:prstGeom prst="rect">
            <a:avLst/>
          </a:prstGeom>
          <a:noFill/>
        </p:spPr>
        <p:txBody>
          <a:bodyPr wrap="square">
            <a:spAutoFit/>
          </a:bodyPr>
          <a:lstStyle/>
          <a:p>
            <a:pPr algn="ctr"/>
            <a:r>
              <a:rPr sz="3600" i="0" b="0">
                <a:solidFill>
                  <a:srgbClr val="333333"/>
                </a:solidFill>
              </a:rPr>
              <a:t>Questions? Reach out to Jenny: s4927217@uq.edu.au</a:t>
            </a:r>
          </a:p>
        </p:txBody>
      </p:sp>
      <p:sp>
        <p:nvSpPr>
          <p:cNvPr id="6" name="TextBox 5"/>
          <p:cNvSpPr txBox="1"/>
          <p:nvPr/>
        </p:nvSpPr>
        <p:spPr>
          <a:xfrm>
            <a:off x="792327" y="4426584"/>
            <a:ext cx="10607040" cy="1207008"/>
          </a:xfrm>
          <a:prstGeom prst="rect">
            <a:avLst/>
          </a:prstGeom>
          <a:noFill/>
        </p:spPr>
        <p:txBody>
          <a:bodyPr wrap="square">
            <a:spAutoFit/>
          </a:bodyPr>
          <a:lstStyle/>
          <a:p>
            <a:pPr algn="ctr"/>
            <a:r>
              <a:rPr sz="3600" i="0" b="0">
                <a:solidFill>
                  <a:srgbClr val="333333"/>
                </a:solidFill>
              </a:rPr>
              <a:t>Prepared as part of the Role-Based BEC Competency Framework (RBCF)</a:t>
            </a:r>
          </a:p>
        </p:txBody>
      </p:sp>
      <p:pic>
        <p:nvPicPr>
          <p:cNvPr id="56" name="narration_slide27.mp3">
            <a:hlinkClick r:id="" action="ppaction://media"/>
          </p:cNvPr>
          <p:cNvPicPr>
            <a:picLocks noChangeAspect="1"/>
          </p:cNvPicPr>
          <p:nvPr>
            <a:audioFile r:link="rId3"/>
            <p:extLst>
              <p:ext uri="{DAA4B4D4-6D71-4841-9C94-3DE7FCFB9230}">
                <p14:media xmlns:p14="http://schemas.microsoft.com/office/powerpoint/2010/main" r:embed="rId4"/>
              </p:ext>
            </p:extLst>
          </p:nvPr>
        </p:nvPicPr>
        <p:blipFill>
          <a:blip r:embed="rId5"/>
          <a:stretch>
            <a:fillRect/>
          </a:stretch>
        </p:blipFill>
        <p:spPr>
          <a:xfrm>
            <a:off x="73152" y="6355080"/>
            <a:ext cx="365760" cy="365760"/>
          </a:xfrm>
          <a:prstGeom prst="rect">
            <a:avLst/>
          </a:prstGeom>
        </p:spPr>
      </p:pic>
      <p:sp>
        <p:nvSpPr>
          <p:cNvPr id="58" name="Kiosk Previous">
            <a:hlinkClick r:id="rId6" action="ppaction://hlinksldjump"/>
          </p:cNvPr>
          <p:cNvSpPr/>
          <p:nvPr/>
        </p:nvSpPr>
        <p:spPr>
          <a:xfrm>
            <a:off x="449564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Previous</a:t>
            </a:r>
          </a:p>
        </p:txBody>
      </p:sp>
      <p:sp>
        <p:nvSpPr>
          <p:cNvPr id="59" name="Kiosk Finish">
            <a:hlinkClick r:id="" action="ppaction://hlinkshowjump?jump=endshow"/>
          </p:cNvPr>
          <p:cNvSpPr/>
          <p:nvPr/>
        </p:nvSpPr>
        <p:spPr>
          <a:xfrm>
            <a:off x="6233007" y="6309360"/>
            <a:ext cx="1463040" cy="384048"/>
          </a:xfrm>
          <a:prstGeom prst="roundRect">
            <a:avLst>
              <a:gd name="adj" fmla="val 8000"/>
            </a:avLst>
          </a:prstGeom>
          <a:gradFill rotWithShape="1">
            <a:gsLst>
              <a:gs pos="0">
                <a:srgbClr val="8FA377"/>
              </a:gs>
              <a:gs pos="100000">
                <a:srgbClr val="647253"/>
              </a:gs>
            </a:gsLst>
            <a:lin scaled="0" ang="18900000"/>
          </a:gradFill>
          <a:ln>
            <a:solidFill>
              <a:srgbClr val="4F7942"/>
            </a:solidFill>
          </a:ln>
        </p:spPr>
        <p:style>
          <a:lnRef idx="1">
            <a:schemeClr val="accent1"/>
          </a:lnRef>
          <a:fillRef idx="3">
            <a:schemeClr val="accent1"/>
          </a:fillRef>
          <a:effectRef idx="2">
            <a:schemeClr val="accent1"/>
          </a:effectRef>
          <a:fontRef idx="minor">
            <a:schemeClr val="lt1"/>
          </a:fontRef>
        </p:style>
        <p:txBody>
          <a:bodyPr rtlCol="0" anchor="ctr" wrap="none" lIns="45720" rIns="45720" tIns="0" bIns="0"/>
          <a:lstStyle/>
          <a:p>
            <a:pPr algn="ctr"/>
            <a:r>
              <a:rPr b="1" sz="2000">
                <a:solidFill>
                  <a:srgbClr val="FFFFFF"/>
                </a:solidFill>
              </a:rPr>
              <a:t>Finish</a:t>
            </a:r>
          </a:p>
        </p:txBody>
      </p:sp>
    </p:spTree>
  </p:cSld>
  <p:clrMapOvr>
    <a:masterClrMapping/>
  </p:clrMapOvr>
  <p:transition advClick="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7789" fill="hold"/>
                                        <p:tgtEl>
                                          <p:spTgt spid="5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cond evt="onBegin" delay="0">
                      <p:tn val="2"/>
                    </p:cond>
                  </p:stCondLst>
                  <p:endCondLst>
                    <p:cond evt="onStopAudio" delay="0">
                      <p:tgtEl>
                        <p:sldTgt/>
                      </p:tgtEl>
                    </p:cond>
                  </p:endCondLst>
                </p:cTn>
                <p:tgtEl>
                  <p:spTgt spid="56"/>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Email Compromise Training: Administrative (kiosk version)</dc:title>
  <dc:subject>Role-Based BEC Competency Framework (RBCF)</dc:subject>
  <dc:creator>Ida Jenifer Jayaprakasam</dc:creator>
  <cp:keywords>business email compromise; BEC; role-based training; RBCF</cp:keywords>
  <dc:description>Capstone project CYBR7901/7902, University of Queensland</dc:description>
  <cp:lastModifiedBy>Ida Jenifer Jayaprakasam</cp:lastModifiedBy>
  <cp:revision>1</cp:revision>
  <dcterms:created xsi:type="dcterms:W3CDTF">2013-01-27T09:14:16Z</dcterms:created>
  <dcterms:modified xsi:type="dcterms:W3CDTF">2013-01-27T09:15:58Z</dcterms:modified>
  <cp:category/>
</cp:coreProperties>
</file>
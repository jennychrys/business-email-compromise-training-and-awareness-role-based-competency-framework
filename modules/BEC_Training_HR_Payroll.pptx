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narration_fix_Payroll_6.mp3" ContentType="audio/mpeg"/>
  <Override PartName="/ppt/media/narration_pay_L02.mp3" ContentType="audio/mpeg"/>
  <Override PartName="/ppt/media/narration_pay_L03.mp3" ContentType="audio/mpeg"/>
  <Override PartName="/ppt/media/narration_pay_L06.mp3" ContentType="audio/mpeg"/>
  <Override PartName="/ppt/media/narration_pay_L07.mp3" ContentType="audio/mpeg"/>
  <Override PartName="/ppt/media/narration_pay_L08.mp3" ContentType="audio/mpeg"/>
  <Override PartName="/ppt/media/narration_pay_L09.mp3" ContentType="audio/mpeg"/>
  <Override PartName="/ppt/media/narration_pay_L10.mp3" ContentType="audio/mpeg"/>
  <Override PartName="/ppt/media/narration_pay_L13.mp3" ContentType="audio/mpeg"/>
  <Override PartName="/ppt/media/narration_pay_P1.mp3" ContentType="audio/mpeg"/>
  <Override PartName="/ppt/media/narration_pay_P2.mp3" ContentType="audio/mpeg"/>
  <Override PartName="/ppt/media/narration_pay_P3.mp3" ContentType="audio/mpeg"/>
  <Override PartName="/ppt/media/narration_pay_P4.mp3" ContentType="audio/mpeg"/>
  <Override PartName="/ppt/media/narration_pay_P5.mp3" ContentType="audio/mpeg"/>
  <Override PartName="/ppt/media/narration_pay_P7.mp3" ContentType="audio/mpeg"/>
  <Override PartName="/ppt/media/narration_slide1.mp3" ContentType="audio/mpeg"/>
  <Override PartName="/ppt/media/narration_slide10.mp3" ContentType="audio/mpeg"/>
  <Override PartName="/ppt/media/narration_slide18.mp3" ContentType="audio/mpeg"/>
  <Override PartName="/ppt/media/narration_slide27.mp3" ContentType="audio/mpeg"/>
  <Override PartName="/ppt/media/narration_slide9.mp3" ContentType="audio/mpeg"/>
  <Override PartName="/ppt/media/narration_v15_pay_05.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83" r:id="rId34"/>
    <p:sldId id="284" r:id="rId35"/>
    <p:sldId id="258" r:id="rId4"/>
    <p:sldId id="259" r:id="rId5"/>
    <p:sldId id="260" r:id="rId6"/>
    <p:sldId id="261" r:id="rId7"/>
    <p:sldId id="262" r:id="rId8"/>
    <p:sldId id="292" r:id="rId43"/>
    <p:sldId id="293" r:id="rId44"/>
    <p:sldId id="298" r:id="rId42"/>
    <p:sldId id="297" r:id="rId48"/>
    <p:sldId id="263" r:id="rId9"/>
    <p:sldId id="264" r:id="rId10"/>
    <p:sldId id="285" r:id="rId36"/>
    <p:sldId id="265" r:id="rId11"/>
    <p:sldId id="266" r:id="rId12"/>
    <p:sldId id="267" r:id="rId13"/>
    <p:sldId id="300" r:id="rId40"/>
    <p:sldId id="268" r:id="rId14"/>
    <p:sldId id="269" r:id="rId15"/>
    <p:sldId id="270" r:id="rId16"/>
    <p:sldId id="271" r:id="rId17"/>
    <p:sldId id="301" r:id="rId39"/>
    <p:sldId id="272" r:id="rId18"/>
    <p:sldId id="273" r:id="rId19"/>
    <p:sldId id="299" r:id="rId41"/>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kiosk restart="3600000"/>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0" d="100"/>
          <a:sy n="120" d="100"/>
        </p:scale>
        <p:origin x="198"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5.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4.xml"/><Relationship Id="rId10" Type="http://schemas.openxmlformats.org/officeDocument/2006/relationships/slide" Target="slides/slide15.xml"/><Relationship Id="rId11" Type="http://schemas.openxmlformats.org/officeDocument/2006/relationships/slide" Target="slides/slide17.xml"/><Relationship Id="rId12" Type="http://schemas.openxmlformats.org/officeDocument/2006/relationships/slide" Target="slides/slide18.xml"/><Relationship Id="rId13" Type="http://schemas.openxmlformats.org/officeDocument/2006/relationships/slide" Target="slides/slide19.xml"/><Relationship Id="rId14" Type="http://schemas.openxmlformats.org/officeDocument/2006/relationships/slide" Target="slides/slide21.xml"/><Relationship Id="rId15" Type="http://schemas.openxmlformats.org/officeDocument/2006/relationships/slide" Target="slides/slide22.xml"/><Relationship Id="rId16" Type="http://schemas.openxmlformats.org/officeDocument/2006/relationships/slide" Target="slides/slide23.xml"/><Relationship Id="rId17" Type="http://schemas.openxmlformats.org/officeDocument/2006/relationships/slide" Target="slides/slide24.xml"/><Relationship Id="rId18" Type="http://schemas.openxmlformats.org/officeDocument/2006/relationships/slide" Target="slides/slide26.xml"/><Relationship Id="rId19" Type="http://schemas.openxmlformats.org/officeDocument/2006/relationships/slide" Target="slides/slide27.xml"/><Relationship Id="rId21" Type="http://schemas.openxmlformats.org/officeDocument/2006/relationships/slide" Target="slides/slide29.xml"/><Relationship Id="rId22" Type="http://schemas.openxmlformats.org/officeDocument/2006/relationships/slide" Target="slides/slide30.xml"/><Relationship Id="rId23" Type="http://schemas.openxmlformats.org/officeDocument/2006/relationships/slide" Target="slides/slide31.xml"/><Relationship Id="rId24" Type="http://schemas.openxmlformats.org/officeDocument/2006/relationships/slide" Target="slides/slide32.xml"/><Relationship Id="rId25" Type="http://schemas.openxmlformats.org/officeDocument/2006/relationships/slide" Target="slides/slide33.xml"/><Relationship Id="rId26" Type="http://schemas.openxmlformats.org/officeDocument/2006/relationships/slide" Target="slides/slide34.xml"/><Relationship Id="rId27" Type="http://schemas.openxmlformats.org/officeDocument/2006/relationships/slide" Target="slides/slide35.xml"/><Relationship Id="rId28" Type="http://schemas.openxmlformats.org/officeDocument/2006/relationships/slide" Target="slides/slide36.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3.xml"/><Relationship Id="rId35" Type="http://schemas.openxmlformats.org/officeDocument/2006/relationships/slide" Target="slides/slide4.xml"/><Relationship Id="rId36" Type="http://schemas.openxmlformats.org/officeDocument/2006/relationships/slide" Target="slides/slide16.xml"/><Relationship Id="rId39" Type="http://schemas.openxmlformats.org/officeDocument/2006/relationships/slide" Target="slides/slide25.xml"/><Relationship Id="rId40" Type="http://schemas.openxmlformats.org/officeDocument/2006/relationships/slide" Target="slides/slide20.xml"/><Relationship Id="rId41" Type="http://schemas.openxmlformats.org/officeDocument/2006/relationships/slide" Target="slides/slide28.xml"/><Relationship Id="rId42" Type="http://schemas.openxmlformats.org/officeDocument/2006/relationships/slide" Target="slides/slide12.xml"/><Relationship Id="rId43" Type="http://schemas.openxmlformats.org/officeDocument/2006/relationships/slide" Target="slides/slide10.xml"/><Relationship Id="rId44" Type="http://schemas.openxmlformats.org/officeDocument/2006/relationships/slide" Target="slides/slide11.xml"/><Relationship Id="rId4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9F0FDC-C890-46DD-B582-F86B6728CF30}" type="datetimeFigureOut">
              <a:rPr lang="en-AU" smtClean="0"/>
              <a:t>18/09/2026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E4A7FB-02FA-43DF-A922-7F691B9A54EE}" type="slidenum">
              <a:rPr lang="en-AU" smtClean="0"/>
              <a:t>‹#›</a:t>
            </a:fld>
            <a:endParaRPr lang="en-AU"/>
          </a:p>
        </p:txBody>
      </p:sp>
    </p:spTree>
    <p:extLst>
      <p:ext uri="{BB962C8B-B14F-4D97-AF65-F5344CB8AC3E}">
        <p14:creationId xmlns:p14="http://schemas.microsoft.com/office/powerpoint/2010/main" val="2609998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DE4A7FB-02FA-43DF-A922-7F691B9A54EE}" type="slidenum">
              <a:rPr lang="en-AU" smtClean="0"/>
              <a:t>6</a:t>
            </a:fld>
            <a:endParaRPr lang="en-AU"/>
          </a:p>
        </p:txBody>
      </p:sp>
    </p:spTree>
    <p:extLst>
      <p:ext uri="{BB962C8B-B14F-4D97-AF65-F5344CB8AC3E}">
        <p14:creationId xmlns:p14="http://schemas.microsoft.com/office/powerpoint/2010/main" val="1222829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audio" Target="../media/narration_slide1.mp3"/><Relationship Id="rId7" Type="http://schemas.microsoft.com/office/2007/relationships/media" Target="../media/narration_slide1.mp3"/><Relationship Id="rId8" Type="http://schemas.openxmlformats.org/officeDocument/2006/relationships/image" Target="../media/audio_icon.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xml"/><Relationship Id="rId4" Type="http://schemas.openxmlformats.org/officeDocument/2006/relationships/slide" Target="slide3.xml"/><Relationship Id="rId5" Type="http://schemas.openxmlformats.org/officeDocument/2006/relationships/audio" Target="../media/narration_pay_P1.mp3"/><Relationship Id="rId6" Type="http://schemas.microsoft.com/office/2007/relationships/media" Target="../media/narration_pay_P1.mp3"/><Relationship Id="rId7" Type="http://schemas.openxmlformats.org/officeDocument/2006/relationships/image" Target="../media/audio_icon.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pay_L02.mp3"/><Relationship Id="rId4" Type="http://schemas.microsoft.com/office/2007/relationships/media" Target="../media/narration_pay_L02.mp3"/><Relationship Id="rId5" Type="http://schemas.openxmlformats.org/officeDocument/2006/relationships/image" Target="../media/audio_icon.png"/><Relationship Id="rId6" Type="http://schemas.openxmlformats.org/officeDocument/2006/relationships/slide" Target="slide2.xml"/><Relationship Id="rId7"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pay_L03.mp3"/><Relationship Id="rId4" Type="http://schemas.microsoft.com/office/2007/relationships/media" Target="../media/narration_pay_L03.mp3"/><Relationship Id="rId5" Type="http://schemas.openxmlformats.org/officeDocument/2006/relationships/image" Target="../media/audio_icon.png"/><Relationship Id="rId6" Type="http://schemas.openxmlformats.org/officeDocument/2006/relationships/slide" Target="slide3.xml"/><Relationship Id="rId7"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 Target="slide4.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microsoft.com/office/2007/relationships/media" Target="../media/narration_v15_pay_05.mp3"/><Relationship Id="rId7" Type="http://schemas.openxmlformats.org/officeDocument/2006/relationships/audio" Target="../media/narration_v15_pay_05.mp3"/><Relationship Id="rId8" Type="http://schemas.openxmlformats.org/officeDocument/2006/relationships/image" Target="../media/audio_icon.png"/></Relationships>
</file>

<file path=ppt/slides/_rels/slide6.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 Target="slide5.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audio" Target="../media/narration_fix_Payroll_6.mp3"/><Relationship Id="rId7" Type="http://schemas.microsoft.com/office/2007/relationships/media" Target="../media/narration_fix_Payroll_6.mp3"/><Relationship Id="rId8" Type="http://schemas.openxmlformats.org/officeDocument/2006/relationships/image" Target="../media/audio_icon.png"/></Relationships>
</file>

<file path=ppt/slides/_rels/slide7.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3.jpg"/><Relationship Id="rId6" Type="http://schemas.openxmlformats.org/officeDocument/2006/relationships/slide" Target="slide6.xml"/><Relationship Id="rId7"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slide" Target="slide7.xml"/><Relationship Id="rId5"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8.xml"/><Relationship Id="rId4" Type="http://schemas.openxmlformats.org/officeDocument/2006/relationships/slide" Target="slide10.xml"/><Relationship Id="rId5" Type="http://schemas.openxmlformats.org/officeDocument/2006/relationships/audio" Target="../media/narration_pay_P2.mp3"/><Relationship Id="rId6" Type="http://schemas.microsoft.com/office/2007/relationships/media" Target="../media/narration_pay_P2.mp3"/><Relationship Id="rId7" Type="http://schemas.openxmlformats.org/officeDocument/2006/relationships/image" Target="../media/audio_icon.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9.xml"/><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audio" Target="../media/narration_pay_P3.mp3"/><Relationship Id="rId6" Type="http://schemas.microsoft.com/office/2007/relationships/media" Target="../media/narration_pay_P3.mp3"/><Relationship Id="rId7" Type="http://schemas.openxmlformats.org/officeDocument/2006/relationships/image" Target="../media/audio_icon.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slide" Target="slide11.xml"/><Relationship Id="rId5" Type="http://schemas.openxmlformats.org/officeDocument/2006/relationships/slide" Target="slide13.xml"/><Relationship Id="rId6" Type="http://schemas.openxmlformats.org/officeDocument/2006/relationships/audio" Target="../media/narration_pay_P4.mp3"/><Relationship Id="rId7" Type="http://schemas.microsoft.com/office/2007/relationships/media" Target="../media/narration_pay_P4.mp3"/><Relationship Id="rId8" Type="http://schemas.openxmlformats.org/officeDocument/2006/relationships/image" Target="../media/audio_icon.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2.xml"/><Relationship Id="rId4" Type="http://schemas.openxmlformats.org/officeDocument/2006/relationships/slide" Target="slide14.xml"/><Relationship Id="rId5" Type="http://schemas.openxmlformats.org/officeDocument/2006/relationships/audio" Target="../media/narration_pay_P5.mp3"/><Relationship Id="rId6" Type="http://schemas.microsoft.com/office/2007/relationships/media" Target="../media/narration_pay_P5.mp3"/><Relationship Id="rId7" Type="http://schemas.openxmlformats.org/officeDocument/2006/relationships/image" Target="../media/audio_icon.png"/></Relationships>
</file>

<file path=ppt/slides/_rels/slide14.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 Target="slide13.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audio" Target="../media/narration_slide10.mp3"/><Relationship Id="rId7" Type="http://schemas.microsoft.com/office/2007/relationships/media" Target="../media/narration_slide10.mp3"/><Relationship Id="rId8" Type="http://schemas.openxmlformats.org/officeDocument/2006/relationships/image" Target="../media/audio_icon.png"/></Relationships>
</file>

<file path=ppt/slides/_rels/slide1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14.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audio" Target="../media/narration_slide9.mp3"/><Relationship Id="rId7" Type="http://schemas.microsoft.com/office/2007/relationships/media" Target="../media/narration_slide9.mp3"/><Relationship Id="rId8" Type="http://schemas.openxmlformats.org/officeDocument/2006/relationships/image" Target="../media/audio_icon.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pay_L06.mp3"/><Relationship Id="rId4" Type="http://schemas.microsoft.com/office/2007/relationships/media" Target="../media/narration_pay_L06.mp3"/><Relationship Id="rId5" Type="http://schemas.openxmlformats.org/officeDocument/2006/relationships/image" Target="../media/audio_icon.png"/><Relationship Id="rId6" Type="http://schemas.openxmlformats.org/officeDocument/2006/relationships/slide" Target="slide15.xml"/><Relationship Id="rId7" Type="http://schemas.openxmlformats.org/officeDocument/2006/relationships/slide" Target="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audio" Target="../media/narration_pay_L07.mp3"/><Relationship Id="rId6" Type="http://schemas.microsoft.com/office/2007/relationships/media" Target="../media/narration_pay_L07.mp3"/><Relationship Id="rId7" Type="http://schemas.openxmlformats.org/officeDocument/2006/relationships/image" Target="../media/audio_icon.png"/><Relationship Id="rId8" Type="http://schemas.openxmlformats.org/officeDocument/2006/relationships/slide" Target="slide16.xml"/><Relationship Id="rId9" Type="http://schemas.openxmlformats.org/officeDocument/2006/relationships/slide" Target="slide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1.xml"/><Relationship Id="rId4" Type="http://schemas.openxmlformats.org/officeDocument/2006/relationships/slide" Target="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1.xml"/><Relationship Id="rId4" Type="http://schemas.openxmlformats.org/officeDocument/2006/relationships/slide" Target="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7.xml"/><Relationship Id="rId4" Type="http://schemas.openxmlformats.org/officeDocument/2006/relationships/slide" Target="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pay_L08.mp3"/><Relationship Id="rId4" Type="http://schemas.microsoft.com/office/2007/relationships/media" Target="../media/narration_pay_L08.mp3"/><Relationship Id="rId5" Type="http://schemas.openxmlformats.org/officeDocument/2006/relationships/image" Target="../media/audio_icon.png"/><Relationship Id="rId6" Type="http://schemas.openxmlformats.org/officeDocument/2006/relationships/slide" Target="slide17.xml"/><Relationship Id="rId7" Type="http://schemas.openxmlformats.org/officeDocument/2006/relationships/slide" Target="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3.xml"/><Relationship Id="rId4" Type="http://schemas.openxmlformats.org/officeDocument/2006/relationships/slide" Target="slide24.xml"/><Relationship Id="rId5" Type="http://schemas.openxmlformats.org/officeDocument/2006/relationships/audio" Target="../media/narration_pay_L09.mp3"/><Relationship Id="rId6" Type="http://schemas.microsoft.com/office/2007/relationships/media" Target="../media/narration_pay_L09.mp3"/><Relationship Id="rId7" Type="http://schemas.openxmlformats.org/officeDocument/2006/relationships/image" Target="../media/audio_icon.png"/><Relationship Id="rId8" Type="http://schemas.openxmlformats.org/officeDocument/2006/relationships/slide" Target="slide21.xml"/><Relationship Id="rId9" Type="http://schemas.openxmlformats.org/officeDocument/2006/relationships/slide" Target="slide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6.xml"/><Relationship Id="rId4" Type="http://schemas.openxmlformats.org/officeDocument/2006/relationships/slide" Target="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6.xml"/><Relationship Id="rId4" Type="http://schemas.openxmlformats.org/officeDocument/2006/relationships/slide" Target="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2.xml"/><Relationship Id="rId4" Type="http://schemas.openxmlformats.org/officeDocument/2006/relationships/slide" Target="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pay_L10.mp3"/><Relationship Id="rId4" Type="http://schemas.microsoft.com/office/2007/relationships/media" Target="../media/narration_pay_L10.mp3"/><Relationship Id="rId5" Type="http://schemas.openxmlformats.org/officeDocument/2006/relationships/image" Target="../media/audio_icon.png"/><Relationship Id="rId6" Type="http://schemas.openxmlformats.org/officeDocument/2006/relationships/slide" Target="slide22.xml"/><Relationship Id="rId7" Type="http://schemas.openxmlformats.org/officeDocument/2006/relationships/slide" Target="slide27.xml"/></Relationships>
</file>

<file path=ppt/slides/_rels/slide27.xml.rels><?xml version='1.0' encoding='UTF-8' standalone='yes'?>
<Relationships xmlns="http://schemas.openxmlformats.org/package/2006/relationships"><Relationship Id="rId1" Type="http://schemas.openxmlformats.org/officeDocument/2006/relationships/slide" Target="slide28.xml"/><Relationship Id="rId2" Type="http://schemas.openxmlformats.org/officeDocument/2006/relationships/slide" Target="slide26.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audio" Target="../media/narration_slide18.mp3"/><Relationship Id="rId7" Type="http://schemas.microsoft.com/office/2007/relationships/media" Target="../media/narration_slide18.mp3"/><Relationship Id="rId8" Type="http://schemas.openxmlformats.org/officeDocument/2006/relationships/image" Target="../media/audio_icon.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7.xml"/><Relationship Id="rId4" Type="http://schemas.openxmlformats.org/officeDocument/2006/relationships/slide" Target="slide29.xml"/><Relationship Id="rId5" Type="http://schemas.openxmlformats.org/officeDocument/2006/relationships/audio" Target="../media/narration_pay_P7.mp3"/><Relationship Id="rId6" Type="http://schemas.microsoft.com/office/2007/relationships/media" Target="../media/narration_pay_P7.mp3"/><Relationship Id="rId7" Type="http://schemas.openxmlformats.org/officeDocument/2006/relationships/image" Target="../media/audio_icon.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1.xml"/><Relationship Id="rId4" Type="http://schemas.openxmlformats.org/officeDocument/2006/relationships/slide" Target="slide30.xml"/><Relationship Id="rId5" Type="http://schemas.openxmlformats.org/officeDocument/2006/relationships/slide" Target="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2.xml"/><Relationship Id="rId4" Type="http://schemas.openxmlformats.org/officeDocument/2006/relationships/slide" Target="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2.xml"/><Relationship Id="rId4" Type="http://schemas.openxmlformats.org/officeDocument/2006/relationships/slide" Target="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3.xml"/><Relationship Id="rId4" Type="http://schemas.openxmlformats.org/officeDocument/2006/relationships/slide" Target="slide34.xml"/><Relationship Id="rId5" Type="http://schemas.openxmlformats.org/officeDocument/2006/relationships/slide" Target="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5.xml"/><Relationship Id="rId4" Type="http://schemas.openxmlformats.org/officeDocument/2006/relationships/slide" Target="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5.xml"/><Relationship Id="rId4" Type="http://schemas.openxmlformats.org/officeDocument/2006/relationships/slide" Target="slide32.xml"/></Relationships>
</file>

<file path=ppt/slides/_rels/slide35.xml.rels><?xml version='1.0' encoding='UTF-8' standalone='yes'?>
<Relationships xmlns="http://schemas.openxmlformats.org/package/2006/relationships"><Relationship Id="rId1" Type="http://schemas.openxmlformats.org/officeDocument/2006/relationships/slide" Target="slide36.xml"/><Relationship Id="rId2" Type="http://schemas.openxmlformats.org/officeDocument/2006/relationships/slide" Target="slide32.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audio" Target="../media/narration_pay_L13.mp3"/><Relationship Id="rId6" Type="http://schemas.microsoft.com/office/2007/relationships/media" Target="../media/narration_pay_L13.mp3"/><Relationship Id="rId7" Type="http://schemas.openxmlformats.org/officeDocument/2006/relationships/image" Target="../media/audio_icon.png"/></Relationships>
</file>

<file path=ppt/slides/_rels/slide36.xml.rels><?xml version='1.0' encoding='UTF-8' standalone='yes'?>
<Relationships xmlns="http://schemas.openxmlformats.org/package/2006/relationships"><Relationship Id="rId2" Type="http://schemas.openxmlformats.org/officeDocument/2006/relationships/slide" Target="slide35.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audio" Target="../media/narration_slide27.mp3"/><Relationship Id="rId7" Type="http://schemas.microsoft.com/office/2007/relationships/media" Target="../media/narration_slide27.mp3"/><Relationship Id="rId8" Type="http://schemas.openxmlformats.org/officeDocument/2006/relationships/image" Target="../media/audio_icon.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731520" y="896112"/>
            <a:ext cx="10698480" cy="1581912"/>
          </a:xfrm>
          <a:prstGeom prst="rect">
            <a:avLst/>
          </a:prstGeom>
          <a:noFill/>
        </p:spPr>
        <p:txBody>
          <a:bodyPr wrap="none">
            <a:spAutoFit/>
          </a:bodyPr>
          <a:lstStyle/>
          <a:p>
            <a:pPr algn="ctr"/>
            <a:r>
              <a:rPr sz="4800" b="1">
                <a:solidFill>
                  <a:srgbClr val="000000"/>
                </a:solidFill>
              </a:rPr>
              <a:t>BUSINESS EMAIL COMPROMISE TRAINING</a:t>
            </a:r>
          </a:p>
        </p:txBody>
      </p:sp>
      <p:sp>
        <p:nvSpPr>
          <p:cNvPr id="5" name="TextBox 4"/>
          <p:cNvSpPr txBox="1"/>
          <p:nvPr/>
        </p:nvSpPr>
        <p:spPr>
          <a:xfrm>
            <a:off x="795528" y="2816352"/>
            <a:ext cx="10607040" cy="649224"/>
          </a:xfrm>
          <a:prstGeom prst="rect">
            <a:avLst/>
          </a:prstGeom>
          <a:noFill/>
        </p:spPr>
        <p:txBody>
          <a:bodyPr wrap="square">
            <a:spAutoFit/>
          </a:bodyPr>
          <a:lstStyle/>
          <a:p>
            <a:pPr algn="ctr"/>
            <a:r>
              <a:rPr sz="3600" b="1" i="0" dirty="0">
                <a:solidFill>
                  <a:srgbClr val="333333"/>
                </a:solidFill>
              </a:rPr>
              <a:t>Payroll </a:t>
            </a:r>
            <a:r>
              <a:rPr lang="en-US" sz="3600" b="1" i="0" dirty="0">
                <a:solidFill>
                  <a:srgbClr val="333333"/>
                </a:solidFill>
              </a:rPr>
              <a:t>&amp; HR </a:t>
            </a:r>
            <a:r>
              <a:rPr sz="3600" b="1" i="0" dirty="0">
                <a:solidFill>
                  <a:srgbClr val="333333"/>
                </a:solidFill>
              </a:rPr>
              <a:t>Team Edition</a:t>
            </a:r>
          </a:p>
        </p:txBody>
      </p:sp>
      <p:sp>
        <p:nvSpPr>
          <p:cNvPr id="6" name="TextBox 5"/>
          <p:cNvSpPr txBox="1"/>
          <p:nvPr/>
        </p:nvSpPr>
        <p:spPr>
          <a:xfrm>
            <a:off x="795528" y="3813048"/>
            <a:ext cx="10607040" cy="649224"/>
          </a:xfrm>
          <a:prstGeom prst="rect">
            <a:avLst/>
          </a:prstGeom>
          <a:noFill/>
        </p:spPr>
        <p:txBody>
          <a:bodyPr wrap="square">
            <a:spAutoFit/>
          </a:bodyPr>
          <a:lstStyle/>
          <a:p>
            <a:pPr algn="ctr"/>
            <a:r>
              <a:rPr sz="3600" b="1" i="0">
                <a:solidFill>
                  <a:srgbClr val="665CC7"/>
                </a:solidFill>
              </a:rPr>
              <a:t>Detect  →  Verify  →  Contain</a:t>
            </a:r>
          </a:p>
        </p:txBody>
      </p:sp>
      <p:sp>
        <p:nvSpPr>
          <p:cNvPr id="58" name="Tagline"/>
          <p:cNvSpPr txBox="1"/>
          <p:nvPr/>
        </p:nvSpPr>
        <p:spPr>
          <a:xfrm>
            <a:off x="795528" y="4800600"/>
            <a:ext cx="10607040" cy="1207008"/>
          </a:xfrm>
          <a:prstGeom prst="rect">
            <a:avLst/>
          </a:prstGeom>
          <a:noFill/>
        </p:spPr>
        <p:txBody>
          <a:bodyPr wrap="square">
            <a:spAutoFit/>
          </a:bodyPr>
          <a:lstStyle/>
          <a:p>
            <a:pPr algn="ctr"/>
            <a:r>
              <a:rPr sz="3600" b="0" i="1" dirty="0">
                <a:solidFill>
                  <a:srgbClr val="333333"/>
                </a:solidFill>
              </a:rPr>
              <a:t>Pay runs, bank details and staff records all pass through your desk. One habit protects them all.</a:t>
            </a:r>
          </a:p>
        </p:txBody>
      </p:sp>
      <p:pic>
        <p:nvPicPr>
          <p:cNvPr id="56" name="narration_slide1.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
        <p:nvSpPr>
          <p:cNvPr id="57" name="Kiosk Next">
            <a:hlinkClick r:id="rId2" action="ppaction://hlinksldjump"/>
          </p:cNvPr>
          <p:cNvSpPr/>
          <p:nvPr/>
        </p:nvSpPr>
        <p:spPr>
          <a:xfrm>
            <a:off x="536448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742" fill="hold"/>
                                        <p:tgtEl>
                                          <p:spTgt spid="56"/>
                                        </p:tgtEl>
                                      </p:cBhvr>
                                    </p:cmd>
                                  </p:childTnLst>
                                </p:cTn>
                              </p:par>
                              <p:par>
                                <p:cTn id="20" presetID="26" presetClass="emph" presetSubtype="0" repeatCount="indefinite" fill="hold" grpId="0" nodeType="withEffect">
                                  <p:stCondLst>
                                    <p:cond delay="27742"/>
                                  </p:stCondLst>
                                  <p:childTnLst>
                                    <p:animEffect transition="out" filter="fade">
                                      <p:cBhvr>
                                        <p:cTn id="21" dur="1000" tmFilter="0, 0; .2, .5; .8, .5; 1, 0"/>
                                        <p:tgtEl>
                                          <p:spTgt spid="57"/>
                                        </p:tgtEl>
                                      </p:cBhvr>
                                    </p:animEffect>
                                    <p:animScale>
                                      <p:cBhvr>
                                        <p:cTn id="22" dur="500" autoRev="1" fill="hold"/>
                                        <p:tgtEl>
                                          <p:spTgt spid="57"/>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6"/>
                </p:tgtEl>
              </p:cMediaNode>
            </p:audio>
          </p:childTnLst>
        </p:cTn>
      </p:par>
    </p:tnLst>
    <p:bldLst>
      <p:bldP spid="5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AGENDA</a:t>
            </a:r>
          </a:p>
        </p:txBody>
      </p:sp>
      <p:sp>
        <p:nvSpPr>
          <p:cNvPr id="5" name="TextBox 4"/>
          <p:cNvSpPr txBox="1"/>
          <p:nvPr/>
        </p:nvSpPr>
        <p:spPr>
          <a:xfrm>
            <a:off x="792480" y="1407287"/>
            <a:ext cx="10607040" cy="4359401"/>
          </a:xfrm>
          <a:prstGeom prst="rect">
            <a:avLst/>
          </a:prstGeom>
          <a:noFill/>
        </p:spPr>
        <p:txBody>
          <a:bodyPr wrap="square">
            <a:spAutoFit/>
          </a:bodyPr>
          <a:lstStyle/>
          <a:p>
            <a:pPr marL="397764" indent="-397764">
              <a:spcAft>
                <a:spcPts val="928"/>
              </a:spcAft>
              <a:buFont typeface="Arial"/>
              <a:buChar char="•"/>
              <a:defRPr sz="2300">
                <a:solidFill>
                  <a:srgbClr val="333333"/>
                </a:solidFill>
              </a:defRPr>
            </a:pPr>
            <a:r>
              <a:rPr sz="2200">
                <a:solidFill>
                  <a:srgbClr val="333333"/>
                </a:solidFill>
              </a:rPr>
              <a:t>What business email compromise is, and why Payroll is a target</a:t>
            </a:r>
          </a:p>
          <a:p>
            <a:pPr marL="397764" indent="-397764">
              <a:spcAft>
                <a:spcPts val="928"/>
              </a:spcAft>
              <a:buFont typeface="Arial"/>
              <a:buChar char="•"/>
              <a:defRPr sz="2300">
                <a:solidFill>
                  <a:srgbClr val="333333"/>
                </a:solidFill>
              </a:defRPr>
            </a:pPr>
            <a:r>
              <a:rPr sz="2200" b="1">
                <a:solidFill>
                  <a:srgbClr val="333333"/>
                </a:solidFill>
              </a:rPr>
              <a:t>Phase 1, Detect</a:t>
            </a:r>
          </a:p>
          <a:p>
            <a:pPr marL="397764" indent="-397764">
              <a:spcAft>
                <a:spcPts val="928"/>
              </a:spcAft>
              <a:buFont typeface="Arial"/>
              <a:buChar char="◦"/>
              <a:defRPr sz="2300">
                <a:solidFill>
                  <a:srgbClr val="333333"/>
                </a:solidFill>
              </a:defRPr>
            </a:pPr>
            <a:r>
              <a:rPr sz="2200">
                <a:solidFill>
                  <a:srgbClr val="333333"/>
                </a:solidFill>
              </a:rPr>
              <a:t>Two email red flags, and the psychology behind them</a:t>
            </a:r>
          </a:p>
          <a:p>
            <a:pPr marL="397764" indent="-397764">
              <a:spcAft>
                <a:spcPts val="928"/>
              </a:spcAft>
              <a:buFont typeface="Arial"/>
              <a:buChar char="◦"/>
              <a:defRPr sz="2300">
                <a:solidFill>
                  <a:srgbClr val="333333"/>
                </a:solidFill>
              </a:defRPr>
            </a:pPr>
            <a:r>
              <a:rPr sz="2200">
                <a:solidFill>
                  <a:srgbClr val="333333"/>
                </a:solidFill>
              </a:rPr>
              <a:t>Text messages, QR codes and ClickFix</a:t>
            </a:r>
          </a:p>
          <a:p>
            <a:pPr marL="397764" indent="-397764">
              <a:spcAft>
                <a:spcPts val="928"/>
              </a:spcAft>
              <a:buFont typeface="Arial"/>
              <a:buChar char="•"/>
              <a:defRPr sz="2300">
                <a:solidFill>
                  <a:srgbClr val="333333"/>
                </a:solidFill>
              </a:defRPr>
            </a:pPr>
            <a:r>
              <a:rPr sz="2200" b="1">
                <a:solidFill>
                  <a:srgbClr val="333333"/>
                </a:solidFill>
              </a:rPr>
              <a:t>Phase 2, Verify</a:t>
            </a:r>
          </a:p>
          <a:p>
            <a:pPr marL="397764" indent="-397764">
              <a:spcAft>
                <a:spcPts val="928"/>
              </a:spcAft>
              <a:buFont typeface="Arial"/>
              <a:buChar char="◦"/>
              <a:defRPr sz="2300">
                <a:solidFill>
                  <a:srgbClr val="333333"/>
                </a:solidFill>
              </a:defRPr>
            </a:pPr>
            <a:r>
              <a:rPr sz="2200">
                <a:solidFill>
                  <a:srgbClr val="333333"/>
                </a:solidFill>
              </a:rPr>
              <a:t>Practical payroll controls</a:t>
            </a:r>
          </a:p>
          <a:p>
            <a:pPr marL="397764" indent="-397764">
              <a:spcAft>
                <a:spcPts val="928"/>
              </a:spcAft>
              <a:buFont typeface="Arial"/>
              <a:buChar char="◦"/>
              <a:defRPr sz="2300">
                <a:solidFill>
                  <a:srgbClr val="333333"/>
                </a:solidFill>
              </a:defRPr>
            </a:pPr>
            <a:r>
              <a:rPr sz="2200">
                <a:solidFill>
                  <a:srgbClr val="333333"/>
                </a:solidFill>
              </a:rPr>
              <a:t>Two scenarios: an AI cloned voice and an AI deepfake video</a:t>
            </a:r>
          </a:p>
          <a:p>
            <a:pPr marL="397764" indent="-397764">
              <a:spcAft>
                <a:spcPts val="928"/>
              </a:spcAft>
              <a:buFont typeface="Arial"/>
              <a:buChar char="•"/>
              <a:defRPr sz="2300">
                <a:solidFill>
                  <a:srgbClr val="333333"/>
                </a:solidFill>
              </a:defRPr>
            </a:pPr>
            <a:r>
              <a:rPr sz="2200" b="1">
                <a:solidFill>
                  <a:srgbClr val="333333"/>
                </a:solidFill>
              </a:rPr>
              <a:t>Phase 3, Contain</a:t>
            </a:r>
          </a:p>
          <a:p>
            <a:pPr marL="397764" indent="-397764">
              <a:spcAft>
                <a:spcPts val="928"/>
              </a:spcAft>
              <a:buFont typeface="Arial"/>
              <a:buChar char="◦"/>
              <a:defRPr sz="2300">
                <a:solidFill>
                  <a:srgbClr val="333333"/>
                </a:solidFill>
              </a:defRPr>
            </a:pPr>
            <a:r>
              <a:rPr sz="2200">
                <a:solidFill>
                  <a:srgbClr val="333333"/>
                </a:solidFill>
              </a:rPr>
              <a:t>What to do if you suspect an attempt, and a knowledge check</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2</a:t>
            </a:r>
          </a:p>
        </p:txBody>
      </p:sp>
      <p:sp>
        <p:nvSpPr>
          <p:cNvPr id="7" name="Kiosk Previous">
            <a:hlinkClick r:id="rId3"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8" name="Kiosk Next">
            <a:hlinkClick r:id="rId4"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9" name="narration_pay_P1.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928" fill="hold"/>
                                        <p:tgtEl>
                                          <p:spTgt spid="9"/>
                                        </p:tgtEl>
                                      </p:cBhvr>
                                    </p:cmd>
                                  </p:childTnLst>
                                </p:cTn>
                              </p:par>
                              <p:par>
                                <p:cTn id="20" presetID="26" presetClass="emph" presetSubtype="0" repeatCount="indefinite" fill="hold" grpId="0" nodeType="withEffect">
                                  <p:stCondLst>
                                    <p:cond delay="30928"/>
                                  </p:stCondLst>
                                  <p:childTnLst>
                                    <p:animEffect transition="out" filter="fade">
                                      <p:cBhvr>
                                        <p:cTn id="21" dur="1000" tmFilter="0, 0; .2, .5; .8, .5; 1, 0"/>
                                        <p:tgtEl>
                                          <p:spTgt spid="8"/>
                                        </p:tgtEl>
                                      </p:cBhvr>
                                    </p:animEffect>
                                    <p:animScale>
                                      <p:cBhvr>
                                        <p:cTn id="22" dur="500" autoRev="1" fill="hold"/>
                                        <p:tgtEl>
                                          <p:spTgt spid="8"/>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9"/>
                </p:tgtEl>
              </p:cMediaNode>
            </p:audio>
          </p:childTnLst>
        </p:cTn>
      </p:par>
    </p:tnLst>
    <p:bldLst>
      <p:bldP spid="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457200" y="457200"/>
            <a:ext cx="11247120" cy="789939"/>
          </a:xfrm>
          <a:prstGeom prst="rect">
            <a:avLst/>
          </a:prstGeom>
          <a:noFill/>
        </p:spPr>
        <p:txBody>
          <a:bodyPr wrap="square">
            <a:spAutoFit/>
          </a:bodyPr>
          <a:lstStyle/>
          <a:p>
            <a:pPr algn="ctr"/>
            <a:r>
              <a:rPr sz="4400" b="1">
                <a:solidFill>
                  <a:srgbClr val="000000"/>
                </a:solidFill>
              </a:rPr>
              <a:t>WHAT IS BUSINESS EMAIL COMPROMISE?</a:t>
            </a:r>
          </a:p>
        </p:txBody>
      </p:sp>
      <p:sp>
        <p:nvSpPr>
          <p:cNvPr id="5" name="TextBox 4"/>
          <p:cNvSpPr txBox="1"/>
          <p:nvPr/>
        </p:nvSpPr>
        <p:spPr>
          <a:xfrm>
            <a:off x="792480" y="1509605"/>
            <a:ext cx="10607040" cy="1516888"/>
          </a:xfrm>
          <a:prstGeom prst="rect">
            <a:avLst/>
          </a:prstGeom>
          <a:noFill/>
        </p:spPr>
        <p:txBody>
          <a:bodyPr wrap="square">
            <a:spAutoFit/>
          </a:bodyPr>
          <a:lstStyle/>
          <a:p>
            <a:pPr algn="l"/>
            <a:r>
              <a:rPr sz="2200">
                <a:solidFill>
                  <a:srgbClr val="333333"/>
                </a:solidFill>
              </a:rPr>
              <a:t>BEC, also called email account compromise, is a scam in which a criminal impersonates someone you trust, or breaks into their real email account, to trick you into changing where money gets sent. Either way, the message looks completely legitimate and asks you to update something you would normally update anyway.</a:t>
            </a:r>
          </a:p>
        </p:txBody>
      </p:sp>
      <p:sp>
        <p:nvSpPr>
          <p:cNvPr id="6" name="Rounded Rectangle 5"/>
          <p:cNvSpPr/>
          <p:nvPr/>
        </p:nvSpPr>
        <p:spPr>
          <a:xfrm>
            <a:off x="929640" y="3168562"/>
            <a:ext cx="10332720" cy="2431800"/>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771"/>
              </a:spcAft>
            </a:pPr>
            <a:r>
              <a:rPr sz="2200" b="1">
                <a:solidFill>
                  <a:srgbClr val="000000"/>
                </a:solidFill>
              </a:rPr>
              <a:t>From: Derek T. &lt;d.thompson@brightpath-corp.com&gt;</a:t>
            </a:r>
          </a:p>
          <a:p>
            <a:pPr>
              <a:spcAft>
                <a:spcPts val="771"/>
              </a:spcAft>
            </a:pPr>
            <a:r>
              <a:rPr sz="2200" b="1">
                <a:solidFill>
                  <a:srgbClr val="000000"/>
                </a:solidFill>
              </a:rPr>
              <a:t>Subject: Bank Details Update: Urgent, Before Friday's Pay Run</a:t>
            </a:r>
          </a:p>
          <a:p>
            <a:pPr>
              <a:spcAft>
                <a:spcPts val="771"/>
              </a:spcAft>
            </a:pPr>
            <a:r>
              <a:rPr sz="2200" b="0">
                <a:solidFill>
                  <a:srgbClr val="000000"/>
                </a:solidFill>
              </a:rPr>
              <a:t>“Hi Maya, my bank closed my old account. I need this Friday's pay to go to a new one, sorry for the late notice! Details attached. Thanks, Derek”</a:t>
            </a:r>
          </a:p>
        </p:txBody>
      </p:sp>
      <p:sp>
        <p:nvSpPr>
          <p:cNvPr id="7" name="TextBox 6"/>
          <p:cNvSpPr txBox="1"/>
          <p:nvPr/>
        </p:nvSpPr>
        <p:spPr>
          <a:xfrm>
            <a:off x="10698480" y="6309360"/>
            <a:ext cx="1280160" cy="365760"/>
          </a:xfrm>
          <a:prstGeom prst="rect">
            <a:avLst/>
          </a:prstGeom>
          <a:noFill/>
        </p:spPr>
        <p:txBody>
          <a:bodyPr wrap="none">
            <a:spAutoFit/>
          </a:bodyPr>
          <a:lstStyle/>
          <a:p>
            <a:r>
              <a:rPr/>
              <a:t>3</a:t>
            </a:r>
          </a:p>
        </p:txBody>
      </p:sp>
      <p:pic>
        <p:nvPicPr>
          <p:cNvPr id="102" name="narration_pay_L02.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0" name="Citation"/>
          <p:cNvSpPr txBox="1"/>
          <p:nvPr/>
        </p:nvSpPr>
        <p:spPr>
          <a:xfrm>
            <a:off x="457200" y="5870448"/>
            <a:ext cx="11247120" cy="432308"/>
          </a:xfrm>
          <a:prstGeom prst="rect">
            <a:avLst/>
          </a:prstGeom>
          <a:noFill/>
        </p:spPr>
        <p:txBody>
          <a:bodyPr wrap="square">
            <a:spAutoFit/>
          </a:bodyPr>
          <a:lstStyle/>
          <a:p>
            <a:pPr algn="l"/>
            <a:r>
              <a:rPr lang="en-US" sz="1800" i="1">
                <a:solidFill>
                  <a:srgbClr val="666666"/>
                </a:solidFill>
              </a:rPr>
              <a:t>Sources: FBI IC3 PSA I-091124, I-061118; IC3 2025 Annual Report</a:t>
            </a:r>
          </a:p>
        </p:txBody>
      </p:sp>
      <p:sp>
        <p:nvSpPr>
          <p:cNvPr id="11" name="Kiosk Previous">
            <a:hlinkClick r:id="rId6"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2" name="Kiosk Next">
            <a:hlinkClick r:id="rId7"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228" fill="hold"/>
                                        <p:tgtEl>
                                          <p:spTgt spid="102"/>
                                        </p:tgtEl>
                                      </p:cBhvr>
                                    </p:cmd>
                                  </p:childTnLst>
                                </p:cTn>
                              </p:par>
                              <p:par>
                                <p:cTn id="20" presetID="26" presetClass="emph" presetSubtype="0" repeatCount="indefinite" fill="hold" grpId="0" nodeType="withEffect">
                                  <p:stCondLst>
                                    <p:cond delay="40228"/>
                                  </p:stCondLst>
                                  <p:childTnLst>
                                    <p:animEffect transition="out" filter="fade">
                                      <p:cBhvr>
                                        <p:cTn id="21" dur="1000" tmFilter="0, 0; .2, .5; .8, .5; 1, 0"/>
                                        <p:tgtEl>
                                          <p:spTgt spid="12"/>
                                        </p:tgtEl>
                                      </p:cBhvr>
                                    </p:animEffect>
                                    <p:animScale>
                                      <p:cBhvr>
                                        <p:cTn id="22" dur="500" autoRev="1" fill="hold"/>
                                        <p:tgtEl>
                                          <p:spTgt spid="1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2"/>
                </p:tgtEl>
              </p:cMediaNode>
            </p:audio>
          </p:childTnLst>
        </p:cTn>
      </p:par>
    </p:tnLst>
    <p:bldLst>
      <p:bldP spid="12"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457200" y="457200"/>
            <a:ext cx="11247120" cy="789939"/>
          </a:xfrm>
          <a:prstGeom prst="rect">
            <a:avLst/>
          </a:prstGeom>
          <a:noFill/>
        </p:spPr>
        <p:txBody>
          <a:bodyPr wrap="square">
            <a:spAutoFit/>
          </a:bodyPr>
          <a:lstStyle/>
          <a:p>
            <a:pPr algn="ctr"/>
            <a:r>
              <a:rPr sz="4400" b="1">
                <a:solidFill>
                  <a:srgbClr val="000000"/>
                </a:solidFill>
              </a:rPr>
              <a:t>HOW A BEC ATTACK ACTUALLY FLOWS</a:t>
            </a:r>
          </a:p>
        </p:txBody>
      </p:sp>
      <p:sp>
        <p:nvSpPr>
          <p:cNvPr id="5" name="Rounded Rectangle 4"/>
          <p:cNvSpPr/>
          <p:nvPr/>
        </p:nvSpPr>
        <p:spPr>
          <a:xfrm>
            <a:off x="548640" y="1622841"/>
            <a:ext cx="2622804" cy="3974013"/>
          </a:xfrm>
          <a:prstGeom prst="roundRect">
            <a:avLst>
              <a:gd name="adj" fmla="val 8000"/>
            </a:avLst>
          </a:prstGeom>
          <a:solidFill>
            <a:srgbClr val="665CC7"/>
          </a:solidFill>
          <a:ln>
            <a:solidFill>
              <a:srgbClr val="665C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1. RESEARCH</a:t>
            </a:r>
          </a:p>
          <a:p>
            <a:pPr algn="ctr"/>
            <a:r>
              <a:rPr sz="2800">
                <a:solidFill>
                  <a:srgbClr val="FFFFFF"/>
                </a:solidFill>
              </a:rPr>
              <a:t>The attacker studies employee names, pay schedules, and who processes changes</a:t>
            </a:r>
          </a:p>
        </p:txBody>
      </p:sp>
      <p:sp>
        <p:nvSpPr>
          <p:cNvPr id="6" name="TextBox 5"/>
          <p:cNvSpPr txBox="1"/>
          <p:nvPr/>
        </p:nvSpPr>
        <p:spPr>
          <a:xfrm>
            <a:off x="3125724" y="3335528"/>
            <a:ext cx="292608" cy="548640"/>
          </a:xfrm>
          <a:prstGeom prst="rect">
            <a:avLst/>
          </a:prstGeom>
          <a:noFill/>
        </p:spPr>
        <p:txBody>
          <a:bodyPr wrap="none">
            <a:spAutoFit/>
          </a:bodyPr>
          <a:lstStyle/>
          <a:p>
            <a:pPr algn="ctr"/>
            <a:r>
              <a:rPr sz="2000" b="1">
                <a:solidFill>
                  <a:srgbClr val="665CC7"/>
                </a:solidFill>
              </a:rPr>
              <a:t>→</a:t>
            </a:r>
          </a:p>
        </p:txBody>
      </p:sp>
      <p:sp>
        <p:nvSpPr>
          <p:cNvPr id="7" name="Rounded Rectangle 6"/>
          <p:cNvSpPr/>
          <p:nvPr/>
        </p:nvSpPr>
        <p:spPr>
          <a:xfrm>
            <a:off x="3372612" y="1622841"/>
            <a:ext cx="2622804" cy="3974013"/>
          </a:xfrm>
          <a:prstGeom prst="roundRect">
            <a:avLst>
              <a:gd name="adj" fmla="val 8000"/>
            </a:avLst>
          </a:prstGeom>
          <a:solidFill>
            <a:srgbClr val="665CC7"/>
          </a:solidFill>
          <a:ln>
            <a:solidFill>
              <a:srgbClr val="665C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2. SPOOF</a:t>
            </a:r>
          </a:p>
          <a:p>
            <a:pPr algn="ctr"/>
            <a:r>
              <a:rPr sz="2800">
                <a:solidFill>
                  <a:srgbClr val="FFFFFF"/>
                </a:solidFill>
              </a:rPr>
              <a:t>A lookalike email, a cloned voice, or a real mailbox the attacker has taken over</a:t>
            </a:r>
          </a:p>
        </p:txBody>
      </p:sp>
      <p:sp>
        <p:nvSpPr>
          <p:cNvPr id="8" name="TextBox 7"/>
          <p:cNvSpPr txBox="1"/>
          <p:nvPr/>
        </p:nvSpPr>
        <p:spPr>
          <a:xfrm>
            <a:off x="5949696" y="3335528"/>
            <a:ext cx="292608" cy="548640"/>
          </a:xfrm>
          <a:prstGeom prst="rect">
            <a:avLst/>
          </a:prstGeom>
          <a:noFill/>
        </p:spPr>
        <p:txBody>
          <a:bodyPr wrap="none">
            <a:spAutoFit/>
          </a:bodyPr>
          <a:lstStyle/>
          <a:p>
            <a:pPr algn="ctr"/>
            <a:r>
              <a:rPr sz="2000" b="1">
                <a:solidFill>
                  <a:srgbClr val="665CC7"/>
                </a:solidFill>
              </a:rPr>
              <a:t>→</a:t>
            </a:r>
          </a:p>
        </p:txBody>
      </p:sp>
      <p:sp>
        <p:nvSpPr>
          <p:cNvPr id="9" name="Rounded Rectangle 8"/>
          <p:cNvSpPr/>
          <p:nvPr/>
        </p:nvSpPr>
        <p:spPr>
          <a:xfrm>
            <a:off x="6196584" y="1622841"/>
            <a:ext cx="2622804" cy="3974013"/>
          </a:xfrm>
          <a:prstGeom prst="roundRect">
            <a:avLst>
              <a:gd name="adj" fmla="val 8000"/>
            </a:avLst>
          </a:prstGeom>
          <a:solidFill>
            <a:srgbClr val="665CC7"/>
          </a:solidFill>
          <a:ln>
            <a:solidFill>
              <a:srgbClr val="665C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3. URGENCY</a:t>
            </a:r>
          </a:p>
          <a:p>
            <a:pPr algn="ctr"/>
            <a:r>
              <a:rPr sz="2800">
                <a:solidFill>
                  <a:srgbClr val="FFFFFF"/>
                </a:solidFill>
              </a:rPr>
              <a:t>A payday deadline, designed to make you skip verification and just update it</a:t>
            </a:r>
          </a:p>
        </p:txBody>
      </p:sp>
      <p:sp>
        <p:nvSpPr>
          <p:cNvPr id="10" name="TextBox 9"/>
          <p:cNvSpPr txBox="1"/>
          <p:nvPr/>
        </p:nvSpPr>
        <p:spPr>
          <a:xfrm>
            <a:off x="8773668" y="3335528"/>
            <a:ext cx="292608" cy="548640"/>
          </a:xfrm>
          <a:prstGeom prst="rect">
            <a:avLst/>
          </a:prstGeom>
          <a:noFill/>
        </p:spPr>
        <p:txBody>
          <a:bodyPr wrap="none">
            <a:spAutoFit/>
          </a:bodyPr>
          <a:lstStyle/>
          <a:p>
            <a:pPr algn="ctr"/>
            <a:r>
              <a:rPr sz="2000" b="1">
                <a:solidFill>
                  <a:srgbClr val="665CC7"/>
                </a:solidFill>
              </a:rPr>
              <a:t>→</a:t>
            </a:r>
          </a:p>
        </p:txBody>
      </p:sp>
      <p:sp>
        <p:nvSpPr>
          <p:cNvPr id="11" name="Rounded Rectangle 10"/>
          <p:cNvSpPr/>
          <p:nvPr/>
        </p:nvSpPr>
        <p:spPr>
          <a:xfrm>
            <a:off x="9020556" y="1622841"/>
            <a:ext cx="2622804" cy="3974013"/>
          </a:xfrm>
          <a:prstGeom prst="roundRect">
            <a:avLst>
              <a:gd name="adj" fmla="val 8000"/>
            </a:avLst>
          </a:prstGeom>
          <a:solidFill>
            <a:srgbClr val="665CC7"/>
          </a:solidFill>
          <a:ln>
            <a:solidFill>
              <a:srgbClr val="665C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4. REDIRECT</a:t>
            </a:r>
          </a:p>
          <a:p>
            <a:pPr algn="ctr"/>
            <a:r>
              <a:rPr sz="2800">
                <a:solidFill>
                  <a:srgbClr val="FFFFFF"/>
                </a:solidFill>
              </a:rPr>
              <a:t>Pay goes to the attacker's account, often not noticed until payday</a:t>
            </a:r>
          </a:p>
        </p:txBody>
      </p:sp>
      <p:sp>
        <p:nvSpPr>
          <p:cNvPr id="12" name="TextBox 11"/>
          <p:cNvSpPr txBox="1"/>
          <p:nvPr/>
        </p:nvSpPr>
        <p:spPr>
          <a:xfrm>
            <a:off x="10698480" y="6309360"/>
            <a:ext cx="1280160" cy="365760"/>
          </a:xfrm>
          <a:prstGeom prst="rect">
            <a:avLst/>
          </a:prstGeom>
          <a:noFill/>
        </p:spPr>
        <p:txBody>
          <a:bodyPr wrap="none">
            <a:spAutoFit/>
          </a:bodyPr>
          <a:lstStyle/>
          <a:p>
            <a:r>
              <a:rPr/>
              <a:t>4</a:t>
            </a:r>
          </a:p>
        </p:txBody>
      </p:sp>
      <p:pic>
        <p:nvPicPr>
          <p:cNvPr id="13" name="narration_pay_L03.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4" name="Kiosk Previous">
            <a:hlinkClick r:id="rId6"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5" name="Kiosk Next">
            <a:hlinkClick r:id="rId7"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5108" fill="hold"/>
                                        <p:tgtEl>
                                          <p:spTgt spid="13"/>
                                        </p:tgtEl>
                                      </p:cBhvr>
                                    </p:cmd>
                                  </p:childTnLst>
                                </p:cTn>
                              </p:par>
                              <p:par>
                                <p:cTn id="20" presetID="26" presetClass="emph" presetSubtype="0" repeatCount="indefinite" fill="hold" grpId="0" nodeType="withEffect">
                                  <p:stCondLst>
                                    <p:cond delay="35108"/>
                                  </p:stCondLst>
                                  <p:childTnLst>
                                    <p:animEffect transition="out" filter="fade">
                                      <p:cBhvr>
                                        <p:cTn id="21" dur="1000" tmFilter="0, 0; .2, .5; .8, .5; 1, 0"/>
                                        <p:tgtEl>
                                          <p:spTgt spid="15"/>
                                        </p:tgtEl>
                                      </p:cBhvr>
                                    </p:animEffect>
                                    <p:animScale>
                                      <p:cBhvr>
                                        <p:cTn id="22" dur="500" autoRev="1" fill="hold"/>
                                        <p:tgtEl>
                                          <p:spTgt spid="15"/>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3"/>
                </p:tgtEl>
              </p:cMediaNode>
            </p:audio>
          </p:childTnLst>
        </p:cTn>
      </p:par>
    </p:tnLst>
    <p:bldLst>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YOU PROCESS WHAT ATTACKERS WANT</a:t>
            </a:r>
          </a:p>
        </p:txBody>
      </p:sp>
      <p:sp>
        <p:nvSpPr>
          <p:cNvPr id="5" name="TextBox 4"/>
          <p:cNvSpPr txBox="1"/>
          <p:nvPr/>
        </p:nvSpPr>
        <p:spPr>
          <a:xfrm>
            <a:off x="792480" y="1385282"/>
            <a:ext cx="10607040" cy="1578864"/>
          </a:xfrm>
          <a:prstGeom prst="rect">
            <a:avLst/>
          </a:prstGeom>
          <a:noFill/>
        </p:spPr>
        <p:txBody>
          <a:bodyPr wrap="square">
            <a:spAutoFit/>
          </a:bodyPr>
          <a:lstStyle/>
          <a:p>
            <a:pPr algn="ctr"/>
            <a:r>
              <a:rPr sz="3200" b="0" i="0" dirty="0">
                <a:solidFill>
                  <a:srgbClr val="333333"/>
                </a:solidFill>
              </a:rPr>
              <a:t>The Payroll team actually moves the money, which makes you the last checkpoint, not a bystander. Attackers also ask for employees' personal information to break into other accounts.</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5</a:t>
            </a:r>
          </a:p>
        </p:txBody>
      </p:sp>
      <p:sp>
        <p:nvSpPr>
          <p:cNvPr id="7" name="Rounded Rectangle 4"/>
          <p:cNvSpPr/>
          <p:nvPr/>
        </p:nvSpPr>
        <p:spPr>
          <a:xfrm>
            <a:off x="548640" y="3027612"/>
            <a:ext cx="3484880" cy="2651353"/>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United States</a:t>
            </a:r>
          </a:p>
          <a:p>
            <a:pPr algn="ctr"/>
            <a:r>
              <a:rPr sz="2600">
                <a:solidFill>
                  <a:srgbClr val="FFFFFF"/>
                </a:solidFill>
              </a:rPr>
              <a:t>USD 3.05 billion in BEC losses reported to the FBI in 2025, from 24,768 complaints</a:t>
            </a:r>
          </a:p>
        </p:txBody>
      </p:sp>
      <p:sp>
        <p:nvSpPr>
          <p:cNvPr id="8" name="Rounded Rectangle 5"/>
          <p:cNvSpPr/>
          <p:nvPr/>
        </p:nvSpPr>
        <p:spPr>
          <a:xfrm>
            <a:off x="4353560" y="3027612"/>
            <a:ext cx="3484880" cy="2651353"/>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Australia</a:t>
            </a:r>
          </a:p>
          <a:p>
            <a:pPr algn="ctr"/>
            <a:r>
              <a:rPr sz="2600">
                <a:solidFill>
                  <a:srgbClr val="FFFFFF"/>
                </a:solidFill>
              </a:rPr>
              <a:t>15% of business cybercrime reports in 2024–25 were BEC fraud with a financial loss</a:t>
            </a:r>
          </a:p>
        </p:txBody>
      </p:sp>
      <p:sp>
        <p:nvSpPr>
          <p:cNvPr id="9" name="Rounded Rectangle 6"/>
          <p:cNvSpPr/>
          <p:nvPr/>
        </p:nvSpPr>
        <p:spPr>
          <a:xfrm>
            <a:off x="8158480" y="3027612"/>
            <a:ext cx="3484880" cy="2651353"/>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Worldwide</a:t>
            </a:r>
          </a:p>
          <a:p>
            <a:pPr algn="ctr"/>
            <a:r>
              <a:rPr sz="2600">
                <a:solidFill>
                  <a:srgbClr val="FFFFFF"/>
                </a:solidFill>
              </a:rPr>
              <a:t>USD 55.5 billion in exposed losses, 2013 to 2023, reported in 186 countries (FBI)</a:t>
            </a:r>
          </a:p>
        </p:txBody>
      </p:sp>
      <p:sp>
        <p:nvSpPr>
          <p:cNvPr id="11" name="Citation"/>
          <p:cNvSpPr txBox="1"/>
          <p:nvPr/>
        </p:nvSpPr>
        <p:spPr>
          <a:xfrm>
            <a:off x="457200" y="5870448"/>
            <a:ext cx="11247120" cy="432308"/>
          </a:xfrm>
          <a:prstGeom prst="rect">
            <a:avLst/>
          </a:prstGeom>
          <a:noFill/>
        </p:spPr>
        <p:txBody>
          <a:bodyPr wrap="square">
            <a:spAutoFit/>
          </a:bodyPr>
          <a:lstStyle/>
          <a:p>
            <a:pPr algn="l"/>
            <a:r>
              <a:rPr lang="en-US" sz="1600" i="1">
                <a:solidFill>
                  <a:srgbClr val="666666"/>
                </a:solidFill>
              </a:rPr>
              <a:t>Sources: FBI IC3 2025 Annual Report; FBI IC3 PSA I-091124-PSA; Australian Signals Directorate Cyber Threat Report 2024–25</a:t>
            </a:r>
          </a:p>
        </p:txBody>
      </p:sp>
      <p:sp>
        <p:nvSpPr>
          <p:cNvPr id="12" name="Kiosk Previous">
            <a:hlinkClick r:id="rId2"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3" name="Kiosk Next">
            <a:hlinkClick r:id="rId1"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14" name="narration_v15_pay_05.mp3">
            <a:hlinkClick r:id="" action="ppaction://media"/>
          </p:cNvPr>
          <p:cNvPicPr>
            <a:picLocks noChangeAspect="1"/>
          </p:cNvPicPr>
          <p:nvPr>
            <a:audioFile r:link="rId7"/>
            <p:extLst>
              <p:ext uri="{DAA4B4D4-6D71-4841-9C94-3DE7FCFB9230}">
                <p14:media xmlns:p14="http://schemas.microsoft.com/office/powerpoint/2010/main" r:embed="rId6"/>
              </p:ext>
            </p:extLst>
          </p:nvPr>
        </p:nvPicPr>
        <p:blipFill>
          <a:blip r:embed="rId8"/>
          <a:stretch>
            <a:fillRect/>
          </a:stretch>
        </p:blipFill>
        <p:spPr>
          <a:xfrm>
            <a:off x="73152" y="6355080"/>
            <a:ext cx="365760" cy="365760"/>
          </a:xfrm>
          <a:prstGeom prst="rect">
            <a:avLst/>
          </a:prstGeom>
        </p:spPr>
      </p:pic>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8488" fill="hold"/>
                                        <p:tgtEl>
                                          <p:spTgt spid="14"/>
                                        </p:tgtEl>
                                      </p:cBhvr>
                                    </p:cmd>
                                  </p:childTnLst>
                                </p:cTn>
                              </p:par>
                              <p:par>
                                <p:cTn id="20" presetID="26" presetClass="emph" presetSubtype="0" repeatCount="indefinite" fill="hold" grpId="0" nodeType="withEffect">
                                  <p:stCondLst>
                                    <p:cond delay="58488"/>
                                  </p:stCondLst>
                                  <p:childTnLst>
                                    <p:animEffect transition="out" filter="fade">
                                      <p:cBhvr>
                                        <p:cTn id="21" dur="1000" tmFilter="0, 0; .2, .5; .8, .5; 1, 0"/>
                                        <p:tgtEl>
                                          <p:spTgt spid="13"/>
                                        </p:tgtEl>
                                      </p:cBhvr>
                                    </p:animEffect>
                                    <p:animScale>
                                      <p:cBhvr>
                                        <p:cTn id="22" dur="500" autoRev="1" fill="hold"/>
                                        <p:tgtEl>
                                          <p:spTgt spid="1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4"/>
                </p:tgtEl>
              </p:cMediaNode>
            </p:audio>
          </p:childTnLst>
        </p:cTn>
      </p:par>
    </p:tnLst>
    <p:bldLst>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792480" y="1789176"/>
            <a:ext cx="10607040" cy="649224"/>
          </a:xfrm>
          <a:prstGeom prst="rect">
            <a:avLst/>
          </a:prstGeom>
          <a:noFill/>
        </p:spPr>
        <p:txBody>
          <a:bodyPr wrap="square">
            <a:spAutoFit/>
          </a:bodyPr>
          <a:lstStyle/>
          <a:p>
            <a:pPr algn="ctr"/>
            <a:r>
              <a:rPr sz="3600" b="1" i="0">
                <a:solidFill>
                  <a:srgbClr val="665CC7"/>
                </a:solidFill>
              </a:rPr>
              <a:t>PHASE 1</a:t>
            </a:r>
          </a:p>
        </p:txBody>
      </p:sp>
      <p:sp>
        <p:nvSpPr>
          <p:cNvPr id="5" name="TextBox 4"/>
          <p:cNvSpPr txBox="1"/>
          <p:nvPr/>
        </p:nvSpPr>
        <p:spPr>
          <a:xfrm>
            <a:off x="731520" y="2941320"/>
            <a:ext cx="10698480" cy="1021080"/>
          </a:xfrm>
          <a:prstGeom prst="rect">
            <a:avLst/>
          </a:prstGeom>
          <a:noFill/>
        </p:spPr>
        <p:txBody>
          <a:bodyPr wrap="none">
            <a:spAutoFit/>
          </a:bodyPr>
          <a:lstStyle/>
          <a:p>
            <a:pPr algn="ctr"/>
            <a:r>
              <a:rPr sz="6000" b="1">
                <a:solidFill>
                  <a:srgbClr val="000000"/>
                </a:solidFill>
              </a:rPr>
              <a:t>DETECT</a:t>
            </a:r>
          </a:p>
        </p:txBody>
      </p:sp>
      <p:sp>
        <p:nvSpPr>
          <p:cNvPr id="6" name="TextBox 5"/>
          <p:cNvSpPr txBox="1"/>
          <p:nvPr/>
        </p:nvSpPr>
        <p:spPr>
          <a:xfrm>
            <a:off x="792480" y="4465320"/>
            <a:ext cx="10607040" cy="649224"/>
          </a:xfrm>
          <a:prstGeom prst="rect">
            <a:avLst/>
          </a:prstGeom>
          <a:noFill/>
        </p:spPr>
        <p:txBody>
          <a:bodyPr wrap="square">
            <a:spAutoFit/>
          </a:bodyPr>
          <a:lstStyle/>
          <a:p>
            <a:pPr algn="ctr"/>
            <a:r>
              <a:rPr sz="3600" b="0" i="1">
                <a:solidFill>
                  <a:srgbClr val="333333"/>
                </a:solidFill>
              </a:rPr>
              <a:t>Can you spot it before it costs anything?</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6</a:t>
            </a:r>
          </a:p>
        </p:txBody>
      </p:sp>
      <p:pic>
        <p:nvPicPr>
          <p:cNvPr id="57" name="narration_slide4.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
        <p:nvSpPr>
          <p:cNvPr id="58" name="Kiosk Previous">
            <a:hlinkClick r:id="rId2"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59" name="Kiosk Next">
            <a:hlinkClick r:id="rId1"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363" fill="hold"/>
                                        <p:tgtEl>
                                          <p:spTgt spid="57"/>
                                        </p:tgtEl>
                                      </p:cBhvr>
                                    </p:cmd>
                                  </p:childTnLst>
                                </p:cTn>
                              </p:par>
                              <p:par>
                                <p:cTn id="20" presetID="26" presetClass="emph" presetSubtype="0" repeatCount="indefinite" fill="hold" grpId="0" nodeType="withEffect">
                                  <p:stCondLst>
                                    <p:cond delay="11363"/>
                                  </p:stCondLst>
                                  <p:childTnLst>
                                    <p:animEffect transition="out" filter="fade">
                                      <p:cBhvr>
                                        <p:cTn id="21" dur="1000" tmFilter="0, 0; .2, .5; .8, .5; 1, 0"/>
                                        <p:tgtEl>
                                          <p:spTgt spid="59"/>
                                        </p:tgtEl>
                                      </p:cBhvr>
                                    </p:animEffect>
                                    <p:animScale>
                                      <p:cBhvr>
                                        <p:cTn id="22" dur="500" autoRev="1" fill="hold"/>
                                        <p:tgtEl>
                                          <p:spTgt spid="5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457200" y="320040"/>
            <a:ext cx="11247120" cy="789939"/>
          </a:xfrm>
          <a:prstGeom prst="rect">
            <a:avLst/>
          </a:prstGeom>
          <a:noFill/>
        </p:spPr>
        <p:txBody>
          <a:bodyPr wrap="square">
            <a:spAutoFit/>
          </a:bodyPr>
          <a:lstStyle/>
          <a:p>
            <a:pPr algn="ctr"/>
            <a:r>
              <a:rPr sz="4400" b="1">
                <a:solidFill>
                  <a:srgbClr val="000000"/>
                </a:solidFill>
              </a:rPr>
              <a:t>SCENARIO: THE DIRECT DEPOSIT SWITCH</a:t>
            </a:r>
          </a:p>
        </p:txBody>
      </p:sp>
      <p:sp>
        <p:nvSpPr>
          <p:cNvPr id="5" name="TextBox 4"/>
          <p:cNvSpPr txBox="1"/>
          <p:nvPr/>
        </p:nvSpPr>
        <p:spPr>
          <a:xfrm>
            <a:off x="792480" y="1298448"/>
            <a:ext cx="10607040" cy="923544"/>
          </a:xfrm>
          <a:prstGeom prst="rect">
            <a:avLst/>
          </a:prstGeom>
          <a:noFill/>
        </p:spPr>
        <p:txBody>
          <a:bodyPr wrap="square">
            <a:spAutoFit/>
          </a:bodyPr>
          <a:lstStyle/>
          <a:p>
            <a:pPr algn="ctr"/>
            <a:r>
              <a:rPr sz="2600" b="0" i="1">
                <a:solidFill>
                  <a:srgbClr val="333333"/>
                </a:solidFill>
              </a:rPr>
              <a:t>A direct-deposit change arrives by email, just before pay day.</a:t>
            </a:r>
          </a:p>
        </p:txBody>
      </p:sp>
      <p:pic>
        <p:nvPicPr>
          <p:cNvPr id="6" name="Video_Project_8.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940212" y="2204567"/>
            <a:ext cx="6317672" cy="3474720"/>
          </a:xfrm>
          <a:prstGeom prst="rect">
            <a:avLst/>
          </a:prstGeom>
        </p:spPr>
      </p:pic>
      <p:sp>
        <p:nvSpPr>
          <p:cNvPr id="7" name="TextBox 6"/>
          <p:cNvSpPr txBox="1"/>
          <p:nvPr/>
        </p:nvSpPr>
        <p:spPr>
          <a:xfrm>
            <a:off x="10698480" y="6309360"/>
            <a:ext cx="1280160" cy="365760"/>
          </a:xfrm>
          <a:prstGeom prst="rect">
            <a:avLst/>
          </a:prstGeom>
          <a:noFill/>
        </p:spPr>
        <p:txBody>
          <a:bodyPr wrap="none">
            <a:spAutoFit/>
          </a:bodyPr>
          <a:lstStyle/>
          <a:p>
            <a:pPr algn="r"/>
            <a:r>
              <a:rPr sz="1100"/>
              <a:t>7</a:t>
            </a:r>
          </a:p>
        </p:txBody>
      </p:sp>
      <p:sp>
        <p:nvSpPr>
          <p:cNvPr id="8" name="TextBox 7">
            <a:extLst>
              <a:ext uri="{FF2B5EF4-FFF2-40B4-BE49-F238E27FC236}">
                <a16:creationId xmlns:a16="http://schemas.microsoft.com/office/drawing/2014/main" id="{6CBEE750-341A-A772-29F0-F732D179C1D6}"/>
              </a:ext>
            </a:extLst>
          </p:cNvPr>
          <p:cNvSpPr txBox="1"/>
          <p:nvPr/>
        </p:nvSpPr>
        <p:spPr>
          <a:xfrm>
            <a:off x="2588150" y="5746800"/>
            <a:ext cx="7315200" cy="540766"/>
          </a:xfrm>
          <a:prstGeom prst="rect">
            <a:avLst/>
          </a:prstGeom>
          <a:noFill/>
        </p:spPr>
        <p:txBody>
          <a:bodyPr wrap="square" rtlCol="0">
            <a:spAutoFit/>
          </a:bodyPr>
          <a:lstStyle/>
          <a:p>
            <a:pPr algn="ctr"/>
            <a:r>
              <a:rPr lang="en-US" dirty="0" sz="2400"/>
              <a:t>               Click to play the video</a:t>
            </a:r>
            <a:endParaRPr lang="en-AU" dirty="0"/>
          </a:p>
        </p:txBody>
      </p:sp>
      <p:sp>
        <p:nvSpPr>
          <p:cNvPr id="9" name="Kiosk Previous">
            <a:hlinkClick r:id="rId6"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0" name="Kiosk Next">
            <a:hlinkClick r:id="rId7"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3"/>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a:t>
            </a:r>
          </a:p>
        </p:txBody>
      </p:sp>
      <p:sp>
        <p:nvSpPr>
          <p:cNvPr id="6" name="TextBox 5"/>
          <p:cNvSpPr txBox="1"/>
          <p:nvPr/>
        </p:nvSpPr>
        <p:spPr>
          <a:xfrm>
            <a:off x="792480" y="1777376"/>
            <a:ext cx="10607040" cy="494284"/>
          </a:xfrm>
          <a:prstGeom prst="rect">
            <a:avLst/>
          </a:prstGeom>
          <a:noFill/>
        </p:spPr>
        <p:txBody>
          <a:bodyPr wrap="square">
            <a:spAutoFit/>
          </a:bodyPr>
          <a:lstStyle/>
          <a:p>
            <a:pPr algn="ctr"/>
            <a:r>
              <a:rPr sz="2600" b="0" i="1">
                <a:solidFill>
                  <a:srgbClr val="333333"/>
                </a:solidFill>
              </a:rPr>
              <a:t>You have 30 seconds. Read this email and call out every red flag you can find.</a:t>
            </a:r>
          </a:p>
        </p:txBody>
      </p:sp>
      <p:sp>
        <p:nvSpPr>
          <p:cNvPr id="7" name="Rounded Rectangle 6"/>
          <p:cNvSpPr/>
          <p:nvPr/>
        </p:nvSpPr>
        <p:spPr>
          <a:xfrm>
            <a:off x="929640" y="2361460"/>
            <a:ext cx="10332720" cy="2816815"/>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wrap="square" lIns="274320" tIns="228600" rtlCol="0" anchor="ctr"/>
          <a:lstStyle/>
          <a:p>
            <a:pPr algn="ctr">
              <a:defRPr sz="2600" b="1">
                <a:solidFill>
                  <a:srgbClr val="000000"/>
                </a:solidFill>
              </a:defRPr>
            </a:pPr>
            <a:r>
              <a:rPr sz="2600" b="1">
                <a:solidFill>
                  <a:srgbClr val="000000"/>
                </a:solidFill>
              </a:rPr>
              <a:t>From: Derek T. &lt;d.thompson@brightpath-corp.com&gt;</a:t>
            </a:r>
          </a:p>
          <a:p>
            <a:pPr>
              <a:defRPr sz="2600" b="1">
                <a:solidFill>
                  <a:srgbClr val="000000"/>
                </a:solidFill>
              </a:defRPr>
            </a:pPr>
            <a:r>
              <a:rPr sz="2600" b="1">
                <a:solidFill>
                  <a:srgbClr val="000000"/>
                </a:solidFill>
              </a:rPr>
              <a:t>Subject: Bank Details Update: Urgent, Before Friday's Pay Run</a:t>
            </a:r>
          </a:p>
          <a:p>
            <a:pPr>
              <a:defRPr sz="2600" b="0">
                <a:solidFill>
                  <a:srgbClr val="000000"/>
                </a:solidFill>
              </a:defRPr>
            </a:pPr>
            <a:r>
              <a:rPr sz="2600" b="0">
                <a:solidFill>
                  <a:srgbClr val="000000"/>
                </a:solidFill>
              </a:rPr>
              <a:t>Hi Maya, my bank closed my old account. I need this Friday's pay to go to a new one, sorry for the late notice! Details attached.</a:t>
            </a:r>
          </a:p>
          <a:p>
            <a:pPr>
              <a:defRPr sz="2600" b="0">
                <a:solidFill>
                  <a:srgbClr val="000000"/>
                </a:solidFill>
              </a:defRPr>
            </a:pPr>
            <a:r>
              <a:rPr sz="2600" b="0">
                <a:solidFill>
                  <a:srgbClr val="000000"/>
                </a:solidFill>
              </a:rPr>
              <a:t>Thanks, Derek</a:t>
            </a:r>
          </a:p>
        </p:txBody>
      </p:sp>
      <p:sp>
        <p:nvSpPr>
          <p:cNvPr id="8" name="TextBox 7"/>
          <p:cNvSpPr txBox="1"/>
          <p:nvPr/>
        </p:nvSpPr>
        <p:spPr>
          <a:xfrm>
            <a:off x="792480" y="5268075"/>
            <a:ext cx="10607040" cy="494284"/>
          </a:xfrm>
          <a:prstGeom prst="rect">
            <a:avLst/>
          </a:prstGeom>
          <a:noFill/>
        </p:spPr>
        <p:txBody>
          <a:bodyPr wrap="square">
            <a:spAutoFit/>
          </a:bodyPr>
          <a:lstStyle/>
          <a:p>
            <a:pPr algn="ctr"/>
            <a:r>
              <a:rPr lang="en-US" sz="2600" b="0" i="1" dirty="0">
                <a:solidFill>
                  <a:srgbClr val="333333"/>
                </a:solidFill>
              </a:rPr>
              <a:t>Answer is on the next slide</a:t>
            </a:r>
            <a:endParaRPr sz="2600" b="0" i="1" dirty="0">
              <a:solidFill>
                <a:srgbClr val="333333"/>
              </a:solidFill>
            </a:endParaRP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8</a:t>
            </a:r>
          </a:p>
        </p:txBody>
      </p:sp>
      <p:sp>
        <p:nvSpPr>
          <p:cNvPr id="10" name="Kiosk Previous">
            <a:hlinkClick r:id="rId4"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1" name="Kiosk Next">
            <a:hlinkClick r:id="rId5"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 REVEALED</a:t>
            </a:r>
          </a:p>
        </p:txBody>
      </p:sp>
      <p:sp>
        <p:nvSpPr>
          <p:cNvPr id="6" name="TextBox 5"/>
          <p:cNvSpPr txBox="1"/>
          <p:nvPr/>
        </p:nvSpPr>
        <p:spPr>
          <a:xfrm>
            <a:off x="548640" y="1737360"/>
            <a:ext cx="7498079" cy="4023360"/>
          </a:xfrm>
          <a:prstGeom prst="rect">
            <a:avLst/>
          </a:prstGeom>
          <a:noFill/>
        </p:spPr>
        <p:txBody>
          <a:bodyPr wrap="square">
            <a:spAutoFit/>
          </a:bodyPr>
          <a:lstStyle/>
          <a:p>
            <a:pPr>
              <a:spcAft>
                <a:spcPts val="1056"/>
              </a:spcAft>
              <a:defRPr sz="2600">
                <a:solidFill>
                  <a:srgbClr val="333333"/>
                </a:solidFill>
              </a:defRPr>
            </a:pPr>
            <a:r>
              <a:rPr dirty="0" sz="2000"/>
              <a:t>🚩  A deadline tied straight to Friday’s pay run, designed to rush the decision.</a:t>
            </a:r>
            <a:endParaRPr dirty="0"/>
          </a:p>
          <a:p>
            <a:pPr>
              <a:spcAft>
                <a:spcPts val="1056"/>
              </a:spcAft>
              <a:defRPr sz="2600">
                <a:solidFill>
                  <a:srgbClr val="333333"/>
                </a:solidFill>
              </a:defRPr>
            </a:pPr>
            <a:r>
              <a:rPr dirty="0" sz="2000"/>
              <a:t>🚩  “Sorry for the late notice” makes the urgency feel considerate, not suspicious.</a:t>
            </a:r>
            <a:endParaRPr dirty="0"/>
          </a:p>
          <a:p>
            <a:pPr>
              <a:spcAft>
                <a:spcPts val="1056"/>
              </a:spcAft>
              <a:defRPr sz="2600">
                <a:solidFill>
                  <a:srgbClr val="333333"/>
                </a:solidFill>
              </a:defRPr>
            </a:pPr>
            <a:r>
              <a:rPr dirty="0" sz="2000"/>
              <a:t>🚩  Bypass: bank-detail changes should go through HR's self-service system, not a casual email to Payroll.</a:t>
            </a:r>
            <a:endParaRPr dirty="0"/>
          </a:p>
          <a:p>
            <a:pPr>
              <a:spcAft>
                <a:spcPts val="1056"/>
              </a:spcAft>
              <a:defRPr sz="2600">
                <a:solidFill>
                  <a:srgbClr val="333333"/>
                </a:solidFill>
              </a:defRPr>
            </a:pPr>
            <a:r>
              <a:rPr dirty="0" sz="2000"/>
              <a:t>🚩  No verification: nothing here actually proves it's Derek, just a name and a request.</a:t>
            </a:r>
            <a:endParaRPr dirty="0"/>
          </a:p>
          <a:p>
            <a:pPr>
              <a:spcAft>
                <a:spcPts val="1056"/>
              </a:spcAft>
              <a:defRPr sz="2600">
                <a:solidFill>
                  <a:srgbClr val="333333"/>
                </a:solidFill>
              </a:defRPr>
            </a:pPr>
            <a:r>
              <a:rPr dirty="0" sz="2000"/>
              <a:t>🚩  Domain: brightpath-corp.com, where the real company domain has no hyphen (brightpathcorp.com), easy to miss at a glance.</a:t>
            </a:r>
            <a:endParaRPr dirty="0"/>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9</a:t>
            </a:r>
          </a:p>
        </p:txBody>
      </p:sp>
      <p:sp>
        <p:nvSpPr>
          <p:cNvPr id="9"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FBI IC3 PSA I-091124-PSA (misspelled domain names); Cialdini, HBR (2001)</a:t>
            </a:r>
          </a:p>
        </p:txBody>
      </p:sp>
      <p:sp>
        <p:nvSpPr>
          <p:cNvPr id="10" name="TextBox 4"/>
          <p:cNvSpPr txBox="1"/>
          <p:nvPr/>
        </p:nvSpPr>
        <p:spPr>
          <a:xfrm>
            <a:off x="8412480" y="1691640"/>
            <a:ext cx="3291840" cy="457200"/>
          </a:xfrm>
          <a:prstGeom prst="rect">
            <a:avLst/>
          </a:prstGeom>
          <a:noFill/>
        </p:spPr>
        <p:txBody>
          <a:bodyPr wrap="square">
            <a:spAutoFit/>
          </a:bodyPr>
          <a:lstStyle/>
          <a:p>
            <a:pPr algn="ctr"/>
            <a:r>
              <a:rPr sz="2200" b="1" i="0" dirty="0">
                <a:solidFill>
                  <a:srgbClr val="333333"/>
                </a:solidFill>
              </a:rPr>
              <a:t>LEVERS PULLED</a:t>
            </a:r>
          </a:p>
        </p:txBody>
      </p:sp>
      <p:sp>
        <p:nvSpPr>
          <p:cNvPr id="11" name="Rounded Rectangle 4"/>
          <p:cNvSpPr/>
          <p:nvPr/>
        </p:nvSpPr>
        <p:spPr>
          <a:xfrm>
            <a:off x="8412480" y="2240280"/>
            <a:ext cx="3291840" cy="118872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Scarcity</a:t>
            </a:r>
          </a:p>
          <a:p>
            <a:pPr algn="ctr"/>
            <a:r>
              <a:rPr sz="2000">
                <a:solidFill>
                  <a:srgbClr val="FFFFFF"/>
                </a:solidFill>
              </a:rPr>
              <a:t>A tight deadline makes you skip the check.</a:t>
            </a:r>
          </a:p>
        </p:txBody>
      </p:sp>
      <p:sp>
        <p:nvSpPr>
          <p:cNvPr id="12" name="Rounded Rectangle 4"/>
          <p:cNvSpPr/>
          <p:nvPr/>
        </p:nvSpPr>
        <p:spPr>
          <a:xfrm>
            <a:off x="8412480" y="3520440"/>
            <a:ext cx="3291840" cy="118872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Liking</a:t>
            </a:r>
          </a:p>
          <a:p>
            <a:pPr algn="ctr"/>
            <a:r>
              <a:rPr sz="2000">
                <a:solidFill>
                  <a:srgbClr val="FFFFFF"/>
                </a:solidFill>
              </a:rPr>
              <a:t>A polite, friendly tone lowers your guard.</a:t>
            </a:r>
          </a:p>
        </p:txBody>
      </p:sp>
      <p:sp>
        <p:nvSpPr>
          <p:cNvPr id="13" name="Kiosk Previous">
            <a:hlinkClick r:id="rId3"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4" name="Kiosk Next">
            <a:hlinkClick r:id="rId4"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15" name="narration_pay_P2.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1853" fill="hold"/>
                                        <p:tgtEl>
                                          <p:spTgt spid="15"/>
                                        </p:tgtEl>
                                      </p:cBhvr>
                                    </p:cmd>
                                  </p:childTnLst>
                                </p:cTn>
                              </p:par>
                              <p:par>
                                <p:cTn id="20" presetID="26" presetClass="emph" presetSubtype="0" repeatCount="indefinite" fill="hold" grpId="0" nodeType="withEffect">
                                  <p:stCondLst>
                                    <p:cond delay="51853"/>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5"/>
                </p:tgtEl>
              </p:cMediaNode>
            </p:audio>
          </p:childTnLst>
        </p:cTn>
      </p:par>
    </p:tnLst>
    <p:bldLst>
      <p:bldP spid="1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a:t>
            </a:r>
          </a:p>
        </p:txBody>
      </p:sp>
      <p:sp>
        <p:nvSpPr>
          <p:cNvPr id="6" name="TextBox 5"/>
          <p:cNvSpPr txBox="1"/>
          <p:nvPr/>
        </p:nvSpPr>
        <p:spPr>
          <a:xfrm>
            <a:off x="792480" y="1825467"/>
            <a:ext cx="10607040" cy="463296"/>
          </a:xfrm>
          <a:prstGeom prst="rect">
            <a:avLst/>
          </a:prstGeom>
          <a:noFill/>
        </p:spPr>
        <p:txBody>
          <a:bodyPr wrap="square">
            <a:spAutoFit/>
          </a:bodyPr>
          <a:lstStyle/>
          <a:p>
            <a:pPr algn="ctr"/>
            <a:r>
              <a:rPr sz="2400" b="0" i="1">
                <a:solidFill>
                  <a:srgbClr val="333333"/>
                </a:solidFill>
              </a:rPr>
              <a:t>You have 30 seconds. Read this email and call out every red flag you can find.</a:t>
            </a:r>
          </a:p>
        </p:txBody>
      </p:sp>
      <p:sp>
        <p:nvSpPr>
          <p:cNvPr id="7" name="Rounded Rectangle 6"/>
          <p:cNvSpPr/>
          <p:nvPr/>
        </p:nvSpPr>
        <p:spPr>
          <a:xfrm>
            <a:off x="929640" y="2426654"/>
            <a:ext cx="10332720" cy="2686427"/>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wrap="square" lIns="274320" tIns="228600" rtlCol="0" anchor="ctr"/>
          <a:lstStyle/>
          <a:p>
            <a:pPr algn="ctr">
              <a:defRPr sz="2400" b="1">
                <a:solidFill>
                  <a:srgbClr val="000000"/>
                </a:solidFill>
              </a:defRPr>
            </a:pPr>
            <a:r>
              <a:rPr sz="2400" b="1">
                <a:solidFill>
                  <a:srgbClr val="000000"/>
                </a:solidFill>
              </a:rPr>
              <a:t>From: Priya Raman, Chief Financial Officer &lt;p.raman@brightpathcorp.com&gt;</a:t>
            </a:r>
          </a:p>
          <a:p>
            <a:pPr>
              <a:defRPr sz="2400" b="1">
                <a:solidFill>
                  <a:srgbClr val="000000"/>
                </a:solidFill>
              </a:defRPr>
            </a:pPr>
            <a:r>
              <a:rPr sz="2400" b="1">
                <a:solidFill>
                  <a:srgbClr val="000000"/>
                </a:solidFill>
              </a:rPr>
              <a:t>Subject: URGENT and confidential: employee data for the audit</a:t>
            </a:r>
          </a:p>
          <a:p>
            <a:pPr>
              <a:defRPr sz="2400" b="0">
                <a:solidFill>
                  <a:srgbClr val="000000"/>
                </a:solidFill>
              </a:defRPr>
            </a:pPr>
            <a:r>
              <a:rPr sz="2400" b="0">
                <a:solidFill>
                  <a:srgbClr val="000000"/>
                </a:solidFill>
              </a:rPr>
              <a:t>Maya, the auditors need the full employee list today: names, dates of birth, tax file numbers and bank details. Send it to me directly by 3 pm. Please do not copy anyone else in, this is confidential. Thanks, Priya</a:t>
            </a:r>
          </a:p>
        </p:txBody>
      </p:sp>
      <p:sp>
        <p:nvSpPr>
          <p:cNvPr id="8" name="TextBox 7"/>
          <p:cNvSpPr txBox="1"/>
          <p:nvPr/>
        </p:nvSpPr>
        <p:spPr>
          <a:xfrm>
            <a:off x="792480" y="5250972"/>
            <a:ext cx="10607040" cy="463296"/>
          </a:xfrm>
          <a:prstGeom prst="rect">
            <a:avLst/>
          </a:prstGeom>
          <a:noFill/>
        </p:spPr>
        <p:txBody>
          <a:bodyPr wrap="square">
            <a:spAutoFit/>
          </a:bodyPr>
          <a:lstStyle/>
          <a:p>
            <a:pPr algn="ctr"/>
            <a:r>
              <a:rPr lang="en-US" sz="2400" b="0" i="1" dirty="0">
                <a:solidFill>
                  <a:srgbClr val="333333"/>
                </a:solidFill>
              </a:rPr>
              <a:t>Answer is on the next slide</a:t>
            </a:r>
            <a:endParaRPr sz="2400" b="0" i="1" dirty="0">
              <a:solidFill>
                <a:srgbClr val="333333"/>
              </a:solidFill>
            </a:endParaRP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10</a:t>
            </a:r>
          </a:p>
        </p:txBody>
      </p:sp>
      <p:sp>
        <p:nvSpPr>
          <p:cNvPr id="10" name="Kiosk Previous">
            <a:hlinkClick r:id="rId3"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1" name="Kiosk Next">
            <a:hlinkClick r:id="rId4"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 REVEALED</a:t>
            </a:r>
          </a:p>
        </p:txBody>
      </p:sp>
      <p:sp>
        <p:nvSpPr>
          <p:cNvPr id="6" name="TextBox 5"/>
          <p:cNvSpPr txBox="1"/>
          <p:nvPr/>
        </p:nvSpPr>
        <p:spPr>
          <a:xfrm>
            <a:off x="548640" y="1737360"/>
            <a:ext cx="7498079" cy="4023360"/>
          </a:xfrm>
          <a:prstGeom prst="rect">
            <a:avLst/>
          </a:prstGeom>
          <a:noFill/>
        </p:spPr>
        <p:txBody>
          <a:bodyPr wrap="square">
            <a:spAutoFit/>
          </a:bodyPr>
          <a:lstStyle/>
          <a:p>
            <a:pPr>
              <a:spcAft>
                <a:spcPts val="1008"/>
              </a:spcAft>
              <a:defRPr sz="2500">
                <a:solidFill>
                  <a:srgbClr val="333333"/>
                </a:solidFill>
              </a:defRPr>
            </a:pPr>
            <a:r>
              <a:rPr dirty="0" sz="2000"/>
              <a:t>🚩  Staff data by email: tax file numbers and bank details should never be sent on request.</a:t>
            </a:r>
            <a:endParaRPr dirty="0"/>
          </a:p>
          <a:p>
            <a:pPr>
              <a:spcAft>
                <a:spcPts val="1008"/>
              </a:spcAft>
              <a:defRPr sz="2500">
                <a:solidFill>
                  <a:srgbClr val="333333"/>
                </a:solidFill>
              </a:defRPr>
            </a:pPr>
            <a:r>
              <a:rPr dirty="0" sz="2000"/>
              <a:t>🚩  The “CFO” asks directly, skipping HR and Privacy.</a:t>
            </a:r>
            <a:endParaRPr dirty="0"/>
          </a:p>
          <a:p>
            <a:pPr>
              <a:spcAft>
                <a:spcPts val="1008"/>
              </a:spcAft>
              <a:defRPr sz="2500">
                <a:solidFill>
                  <a:srgbClr val="333333"/>
                </a:solidFill>
              </a:defRPr>
            </a:pPr>
            <a:r>
              <a:rPr dirty="0" sz="2000"/>
              <a:t>🚩  “By 3 pm” leaves no time to check.</a:t>
            </a:r>
            <a:endParaRPr dirty="0"/>
          </a:p>
          <a:p>
            <a:pPr>
              <a:spcAft>
                <a:spcPts val="1008"/>
              </a:spcAft>
              <a:defRPr sz="2500">
                <a:solidFill>
                  <a:srgbClr val="333333"/>
                </a:solidFill>
              </a:defRPr>
            </a:pPr>
            <a:r>
              <a:rPr dirty="0" sz="2000"/>
              <a:t>🚩  “Do not copy anyone else in” cuts you off from the people who would check.</a:t>
            </a:r>
            <a:endParaRPr dirty="0"/>
          </a:p>
          <a:p>
            <a:pPr>
              <a:spcAft>
                <a:spcPts val="1008"/>
              </a:spcAft>
              <a:defRPr sz="2500">
                <a:solidFill>
                  <a:srgbClr val="333333"/>
                </a:solidFill>
              </a:defRPr>
            </a:pPr>
            <a:r>
              <a:rPr dirty="0" sz="2000"/>
              <a:t>🚩  A vague reason: “the audit”, with no audit reference.</a:t>
            </a:r>
            <a:endParaRPr dirty="0"/>
          </a:p>
          <a:p>
            <a:pPr>
              <a:spcAft>
                <a:spcPts val="1008"/>
              </a:spcAft>
              <a:defRPr sz="2500">
                <a:solidFill>
                  <a:srgbClr val="333333"/>
                </a:solidFill>
              </a:defRPr>
            </a:pPr>
            <a:r>
              <a:rPr dirty="0" sz="2000"/>
              <a:t>No executive request justifies emailing staff data. Confirm through a known contact and use only approved secure channels.</a:t>
            </a:r>
            <a:endParaRPr dirty="0"/>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11</a:t>
            </a:r>
          </a:p>
        </p:txBody>
      </p:sp>
      <p:sp>
        <p:nvSpPr>
          <p:cNvPr id="8"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IRS (W-2 scam warning); FBI IC3 PSA I-091124-PSA; Cialdini, HBR (2001)</a:t>
            </a:r>
          </a:p>
        </p:txBody>
      </p:sp>
      <p:sp>
        <p:nvSpPr>
          <p:cNvPr id="9" name="TextBox 4"/>
          <p:cNvSpPr txBox="1"/>
          <p:nvPr/>
        </p:nvSpPr>
        <p:spPr>
          <a:xfrm>
            <a:off x="8412480" y="1691640"/>
            <a:ext cx="3291840" cy="457200"/>
          </a:xfrm>
          <a:prstGeom prst="rect">
            <a:avLst/>
          </a:prstGeom>
          <a:noFill/>
        </p:spPr>
        <p:txBody>
          <a:bodyPr wrap="square">
            <a:spAutoFit/>
          </a:bodyPr>
          <a:lstStyle/>
          <a:p>
            <a:pPr algn="ctr"/>
            <a:r>
              <a:rPr sz="2200" b="1" i="0" dirty="0">
                <a:solidFill>
                  <a:srgbClr val="333333"/>
                </a:solidFill>
              </a:rPr>
              <a:t>LEVERS PULLED</a:t>
            </a:r>
          </a:p>
        </p:txBody>
      </p:sp>
      <p:sp>
        <p:nvSpPr>
          <p:cNvPr id="10" name="Rounded Rectangle 4"/>
          <p:cNvSpPr/>
          <p:nvPr/>
        </p:nvSpPr>
        <p:spPr>
          <a:xfrm>
            <a:off x="8412480" y="2240280"/>
            <a:ext cx="3291840" cy="118872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Authority</a:t>
            </a:r>
          </a:p>
          <a:p>
            <a:pPr algn="ctr"/>
            <a:r>
              <a:rPr sz="2000">
                <a:solidFill>
                  <a:srgbClr val="FFFFFF"/>
                </a:solidFill>
              </a:rPr>
              <a:t>People comply when someone senior asks.</a:t>
            </a:r>
          </a:p>
        </p:txBody>
      </p:sp>
      <p:sp>
        <p:nvSpPr>
          <p:cNvPr id="11" name="Rounded Rectangle 4"/>
          <p:cNvSpPr/>
          <p:nvPr/>
        </p:nvSpPr>
        <p:spPr>
          <a:xfrm>
            <a:off x="8412480" y="3520440"/>
            <a:ext cx="3291840" cy="118872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Scarcity</a:t>
            </a:r>
          </a:p>
          <a:p>
            <a:pPr algn="ctr"/>
            <a:r>
              <a:rPr sz="2000">
                <a:solidFill>
                  <a:srgbClr val="FFFFFF"/>
                </a:solidFill>
              </a:rPr>
              <a:t>Little time means little checking.</a:t>
            </a:r>
          </a:p>
        </p:txBody>
      </p:sp>
      <p:sp>
        <p:nvSpPr>
          <p:cNvPr id="12" name="TextBox 4"/>
          <p:cNvSpPr txBox="1"/>
          <p:nvPr/>
        </p:nvSpPr>
        <p:spPr>
          <a:xfrm>
            <a:off x="8412480" y="4846320"/>
            <a:ext cx="3291840" cy="1005840"/>
          </a:xfrm>
          <a:prstGeom prst="rect">
            <a:avLst/>
          </a:prstGeom>
          <a:noFill/>
        </p:spPr>
        <p:txBody>
          <a:bodyPr wrap="square">
            <a:spAutoFit/>
          </a:bodyPr>
          <a:lstStyle/>
          <a:p>
            <a:pPr algn="ctr"/>
            <a:r>
              <a:rPr sz="2000" b="0" i="1" dirty="0">
                <a:solidFill>
                  <a:srgbClr val="333333"/>
                </a:solidFill>
              </a:rPr>
              <a:t>Plus secrecy: nobody else sees it, so nobody can check.</a:t>
            </a:r>
          </a:p>
        </p:txBody>
      </p:sp>
      <p:sp>
        <p:nvSpPr>
          <p:cNvPr id="13" name="Kiosk Previous">
            <a:hlinkClick r:id="rId3"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4" name="Kiosk Next">
            <a:hlinkClick r:id="rId4"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15" name="narration_pay_P3.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1043" fill="hold"/>
                                        <p:tgtEl>
                                          <p:spTgt spid="15"/>
                                        </p:tgtEl>
                                      </p:cBhvr>
                                    </p:cmd>
                                  </p:childTnLst>
                                </p:cTn>
                              </p:par>
                              <p:par>
                                <p:cTn id="20" presetID="26" presetClass="emph" presetSubtype="0" repeatCount="indefinite" fill="hold" grpId="0" nodeType="withEffect">
                                  <p:stCondLst>
                                    <p:cond delay="51043"/>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5"/>
                </p:tgtEl>
              </p:cMediaNode>
            </p:audio>
          </p:childTnLst>
        </p:cTn>
      </p:par>
    </p:tnLst>
    <p:bldLst>
      <p:bldP spid="14"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LEARN</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SAME LEVERS, OTHER CHANNELS</a:t>
            </a:r>
          </a:p>
        </p:txBody>
      </p:sp>
      <p:sp>
        <p:nvSpPr>
          <p:cNvPr id="6" name="TextBox 8"/>
          <p:cNvSpPr txBox="1"/>
          <p:nvPr/>
        </p:nvSpPr>
        <p:spPr>
          <a:xfrm>
            <a:off x="10698480" y="6309360"/>
            <a:ext cx="1280160" cy="365760"/>
          </a:xfrm>
          <a:prstGeom prst="rect">
            <a:avLst/>
          </a:prstGeom>
          <a:noFill/>
        </p:spPr>
        <p:txBody>
          <a:bodyPr wrap="none">
            <a:spAutoFit/>
          </a:bodyPr>
          <a:lstStyle/>
          <a:p>
            <a:pPr algn="r"/>
            <a:r>
              <a:rPr sz="1100"/>
              <a:t>12</a:t>
            </a:r>
          </a:p>
        </p:txBody>
      </p:sp>
      <p:sp>
        <p:nvSpPr>
          <p:cNvPr id="7" name="Rounded Rectangle 6"/>
          <p:cNvSpPr/>
          <p:nvPr/>
        </p:nvSpPr>
        <p:spPr>
          <a:xfrm>
            <a:off x="548640" y="2103120"/>
            <a:ext cx="5394960" cy="2194560"/>
          </a:xfrm>
          <a:prstGeom prst="roundRect">
            <a:avLst/>
          </a:prstGeom>
          <a:solidFill>
            <a:srgbClr val="2B2650"/>
          </a:solidFill>
          <a:ln>
            <a:solidFill>
              <a:srgbClr val="CCCCCC"/>
            </a:solidFill>
          </a:ln>
        </p:spPr>
        <p:style>
          <a:lnRef idx="1">
            <a:schemeClr val="accent1"/>
          </a:lnRef>
          <a:fillRef idx="3">
            <a:schemeClr val="accent1"/>
          </a:fillRef>
          <a:effectRef idx="2">
            <a:schemeClr val="accent1"/>
          </a:effectRef>
          <a:fontRef idx="minor">
            <a:schemeClr val="lt1"/>
          </a:fontRef>
        </p:style>
        <p:txBody>
          <a:bodyPr wrap="square" lIns="274320" tIns="228600" rtlCol="0" anchor="ctr"/>
          <a:lstStyle/>
          <a:p>
            <a:pPr algn="ctr">
              <a:defRPr sz="3000" b="1">
                <a:solidFill>
                  <a:srgbClr val="000000"/>
                </a:solidFill>
              </a:defRPr>
            </a:pPr>
            <a:r>
              <a:rPr sz="2800" b="1">
                <a:solidFill>
                  <a:srgbClr val="000000"/>
                </a:solidFill>
              </a:rPr>
              <a:t/>
            </a:r>
          </a:p>
        </p:txBody>
      </p:sp>
      <p:sp>
        <p:nvSpPr>
          <p:cNvPr id="8" name="Rounded Rectangle 6"/>
          <p:cNvSpPr/>
          <p:nvPr/>
        </p:nvSpPr>
        <p:spPr>
          <a:xfrm>
            <a:off x="822960" y="2286000"/>
            <a:ext cx="4846320" cy="1828800"/>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wrap="square" lIns="274320" tIns="228600" rtlCol="0" anchor="ctr"/>
          <a:lstStyle/>
          <a:p>
            <a:pPr algn="l">
              <a:defRPr sz="2100" b="1">
                <a:solidFill>
                  <a:srgbClr val="000000"/>
                </a:solidFill>
              </a:defRPr>
            </a:pPr>
            <a:r>
              <a:rPr sz="2000" b="1">
                <a:solidFill>
                  <a:srgbClr val="000000"/>
                </a:solidFill>
              </a:rPr>
              <a:t>Payroll</a:t>
            </a:r>
          </a:p>
          <a:p>
            <a:pPr algn="l">
              <a:defRPr sz="2300" b="1">
                <a:solidFill>
                  <a:srgbClr val="000000"/>
                </a:solidFill>
              </a:defRPr>
            </a:pPr>
            <a:r>
              <a:rPr sz="2000" b="0">
                <a:solidFill>
                  <a:srgbClr val="000000"/>
                </a:solidFill>
              </a:rPr>
              <a:t>Action required: activate multi-factor authentication for your payroll account.</a:t>
            </a:r>
          </a:p>
          <a:p>
            <a:pPr algn="l">
              <a:defRPr sz="2100" b="1">
                <a:solidFill>
                  <a:srgbClr val="000000"/>
                </a:solidFill>
              </a:defRPr>
            </a:pPr>
            <a:r>
              <a:rPr sz="2000" b="0" u="sng">
                <a:solidFill>
                  <a:srgbClr val="2563EB"/>
                </a:solidFill>
              </a:rPr>
              <a:t>https://payroll-mfa-activate.com</a:t>
            </a:r>
          </a:p>
        </p:txBody>
      </p:sp>
      <p:sp>
        <p:nvSpPr>
          <p:cNvPr id="9"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StateScoop (NYC payroll texts); ThreatDown (Enhanced Bonus QR phish)</a:t>
            </a:r>
          </a:p>
        </p:txBody>
      </p:sp>
      <p:sp>
        <p:nvSpPr>
          <p:cNvPr id="10" name="TextBox 4"/>
          <p:cNvSpPr txBox="1"/>
          <p:nvPr/>
        </p:nvSpPr>
        <p:spPr>
          <a:xfrm>
            <a:off x="548640" y="1572768"/>
            <a:ext cx="5394960" cy="457200"/>
          </a:xfrm>
          <a:prstGeom prst="rect">
            <a:avLst/>
          </a:prstGeom>
          <a:noFill/>
        </p:spPr>
        <p:txBody>
          <a:bodyPr wrap="square">
            <a:spAutoFit/>
          </a:bodyPr>
          <a:lstStyle/>
          <a:p>
            <a:pPr algn="ctr"/>
            <a:r>
              <a:rPr sz="2000" b="1" i="0" dirty="0">
                <a:solidFill>
                  <a:srgbClr val="333333"/>
                </a:solidFill>
              </a:rPr>
              <a:t>Text message: a real New York City case</a:t>
            </a:r>
          </a:p>
        </p:txBody>
      </p:sp>
      <p:sp>
        <p:nvSpPr>
          <p:cNvPr id="11" name="TextBox 4"/>
          <p:cNvSpPr txBox="1"/>
          <p:nvPr/>
        </p:nvSpPr>
        <p:spPr>
          <a:xfrm>
            <a:off x="6263640" y="1572768"/>
            <a:ext cx="5394960" cy="457200"/>
          </a:xfrm>
          <a:prstGeom prst="rect">
            <a:avLst/>
          </a:prstGeom>
          <a:noFill/>
        </p:spPr>
        <p:txBody>
          <a:bodyPr wrap="square">
            <a:spAutoFit/>
          </a:bodyPr>
          <a:lstStyle/>
          <a:p>
            <a:pPr algn="ctr"/>
            <a:r>
              <a:rPr sz="2000" b="1" i="0" dirty="0">
                <a:solidFill>
                  <a:srgbClr val="333333"/>
                </a:solidFill>
              </a:rPr>
              <a:t>QR code: a real “Enhanced Bonus” campaign</a:t>
            </a:r>
          </a:p>
        </p:txBody>
      </p:sp>
      <p:sp>
        <p:nvSpPr>
          <p:cNvPr id="12" name="Rounded Rectangle 6"/>
          <p:cNvSpPr/>
          <p:nvPr/>
        </p:nvSpPr>
        <p:spPr>
          <a:xfrm>
            <a:off x="6263640" y="2103120"/>
            <a:ext cx="5394960" cy="2194560"/>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wrap="square" lIns="274320" tIns="228600" rtlCol="0" anchor="ctr"/>
          <a:lstStyle/>
          <a:p>
            <a:pPr algn="ctr">
              <a:defRPr sz="3000" b="1">
                <a:solidFill>
                  <a:srgbClr val="000000"/>
                </a:solidFill>
              </a:defRPr>
            </a:pPr>
            <a:r>
              <a:rPr sz="2800" b="1">
                <a:solidFill>
                  <a:srgbClr val="000000"/>
                </a:solidFill>
              </a:rPr>
              <a:t/>
            </a:r>
          </a:p>
        </p:txBody>
      </p:sp>
      <p:sp>
        <p:nvSpPr>
          <p:cNvPr id="13" name="Rounded Rectangle 6"/>
          <p:cNvSpPr/>
          <p:nvPr/>
        </p:nvSpPr>
        <p:spPr>
          <a:xfrm>
            <a:off x="6355080" y="2148840"/>
            <a:ext cx="5212080" cy="731520"/>
          </a:xfrm>
          <a:prstGeom prst="rect"/>
          <a:noFill/>
          <a:ln>
            <a:noFill/>
          </a:ln>
          <a:effectLst/>
        </p:spPr>
        <p:style>
          <a:lnRef idx="1">
            <a:schemeClr val="accent1"/>
          </a:lnRef>
          <a:fillRef idx="3">
            <a:schemeClr val="accent1"/>
          </a:fillRef>
          <a:effectRef idx="2">
            <a:schemeClr val="accent1"/>
          </a:effectRef>
          <a:fontRef idx="minor">
            <a:schemeClr val="lt1"/>
          </a:fontRef>
        </p:style>
        <p:txBody>
          <a:bodyPr wrap="square" lIns="45720" tIns="45720" rtlCol="0" anchor="ctr" rIns="45720" bIns="45720"/>
          <a:lstStyle/>
          <a:p>
            <a:pPr algn="ctr">
              <a:defRPr sz="2400" b="1">
                <a:solidFill>
                  <a:srgbClr val="000000"/>
                </a:solidFill>
              </a:defRPr>
            </a:pPr>
            <a:r>
              <a:rPr sz="1800" b="1">
                <a:solidFill>
                  <a:srgbClr val="000000"/>
                </a:solidFill>
              </a:rPr>
              <a:t>HR / PAYROLL</a:t>
            </a:r>
          </a:p>
          <a:p>
            <a:pPr algn="ctr">
              <a:defRPr sz="2000" b="1">
                <a:solidFill>
                  <a:srgbClr val="000000"/>
                </a:solidFill>
              </a:defRPr>
            </a:pPr>
            <a:r>
              <a:rPr sz="1800" b="0">
                <a:solidFill>
                  <a:srgbClr val="000000"/>
                </a:solidFill>
              </a:rPr>
              <a:t>Document review</a:t>
            </a:r>
          </a:p>
        </p:txBody>
      </p:sp>
      <p:pic>
        <p:nvPicPr>
          <p:cNvPr id="14" name="Picture 16" descr="image.png"/>
          <p:cNvPicPr>
            <a:picLocks noChangeAspect="1"/>
          </p:cNvPicPr>
          <p:nvPr/>
        </p:nvPicPr>
        <p:blipFill>
          <a:blip r:embed="rId3"/>
          <a:stretch>
            <a:fillRect/>
          </a:stretch>
        </p:blipFill>
        <p:spPr>
          <a:xfrm>
            <a:off x="8321040" y="2926080"/>
            <a:ext cx="1097280" cy="1097280"/>
          </a:xfrm>
          <a:prstGeom prst="rect">
            <a:avLst/>
          </a:prstGeom>
        </p:spPr>
      </p:pic>
      <p:sp>
        <p:nvSpPr>
          <p:cNvPr id="15" name="Rounded Rectangle 6"/>
          <p:cNvSpPr/>
          <p:nvPr/>
        </p:nvSpPr>
        <p:spPr>
          <a:xfrm>
            <a:off x="6355080" y="3794760"/>
            <a:ext cx="5212080" cy="457200"/>
          </a:xfrm>
          <a:prstGeom prst="rect"/>
          <a:noFill/>
          <a:ln>
            <a:noFill/>
          </a:ln>
          <a:effectLst/>
        </p:spPr>
        <p:style>
          <a:lnRef idx="1">
            <a:schemeClr val="accent1"/>
          </a:lnRef>
          <a:fillRef idx="3">
            <a:schemeClr val="accent1"/>
          </a:fillRef>
          <a:effectRef idx="2">
            <a:schemeClr val="accent1"/>
          </a:effectRef>
          <a:fontRef idx="minor">
            <a:schemeClr val="lt1"/>
          </a:fontRef>
        </p:style>
        <p:txBody>
          <a:bodyPr wrap="square" lIns="45720" tIns="45720" rtlCol="0" anchor="ctr" rIns="45720" bIns="45720"/>
          <a:lstStyle/>
          <a:p>
            <a:pPr algn="ctr">
              <a:defRPr sz="2000" b="1">
                <a:solidFill>
                  <a:srgbClr val="000000"/>
                </a:solidFill>
              </a:defRPr>
            </a:pPr>
            <a:r>
              <a:rPr sz="2000" b="1">
                <a:solidFill>
                  <a:srgbClr val="000000"/>
                </a:solidFill>
              </a:rPr>
              <a:t>Scan with your phone camera</a:t>
            </a:r>
          </a:p>
        </p:txBody>
      </p:sp>
      <p:sp>
        <p:nvSpPr>
          <p:cNvPr id="16" name="Rounded Rectangle 4"/>
          <p:cNvSpPr/>
          <p:nvPr/>
        </p:nvSpPr>
        <p:spPr>
          <a:xfrm>
            <a:off x="548640" y="4434840"/>
            <a:ext cx="2606040" cy="50292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Authority</a:t>
            </a:r>
          </a:p>
        </p:txBody>
      </p:sp>
      <p:sp>
        <p:nvSpPr>
          <p:cNvPr id="17" name="Rounded Rectangle 4"/>
          <p:cNvSpPr/>
          <p:nvPr/>
        </p:nvSpPr>
        <p:spPr>
          <a:xfrm>
            <a:off x="3337560" y="4434840"/>
            <a:ext cx="2606040" cy="50292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Scarcity</a:t>
            </a:r>
          </a:p>
        </p:txBody>
      </p:sp>
      <p:sp>
        <p:nvSpPr>
          <p:cNvPr id="18" name="Rounded Rectangle 4"/>
          <p:cNvSpPr/>
          <p:nvPr/>
        </p:nvSpPr>
        <p:spPr>
          <a:xfrm>
            <a:off x="6263640" y="4434840"/>
            <a:ext cx="2606040" cy="50292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Authority</a:t>
            </a:r>
          </a:p>
        </p:txBody>
      </p:sp>
      <p:sp>
        <p:nvSpPr>
          <p:cNvPr id="19" name="Rounded Rectangle 4"/>
          <p:cNvSpPr/>
          <p:nvPr/>
        </p:nvSpPr>
        <p:spPr>
          <a:xfrm>
            <a:off x="9052560" y="4434840"/>
            <a:ext cx="2606040" cy="50292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Reciprocity</a:t>
            </a:r>
          </a:p>
        </p:txBody>
      </p:sp>
      <p:sp>
        <p:nvSpPr>
          <p:cNvPr id="20" name="TextBox 4"/>
          <p:cNvSpPr txBox="1"/>
          <p:nvPr/>
        </p:nvSpPr>
        <p:spPr>
          <a:xfrm>
            <a:off x="548640" y="5029200"/>
            <a:ext cx="5394960" cy="777240"/>
          </a:xfrm>
          <a:prstGeom prst="rect">
            <a:avLst/>
          </a:prstGeom>
          <a:noFill/>
        </p:spPr>
        <p:txBody>
          <a:bodyPr wrap="square">
            <a:spAutoFit/>
          </a:bodyPr>
          <a:lstStyle/>
          <a:p>
            <a:pPr algn="ctr"/>
            <a:r>
              <a:rPr sz="2000" b="0" i="0" dirty="0">
                <a:solidFill>
                  <a:srgbClr val="333333"/>
                </a:solidFill>
              </a:rPr>
              <a:t>Do not tap. Check in the payroll portal, then report it.</a:t>
            </a:r>
          </a:p>
        </p:txBody>
      </p:sp>
      <p:sp>
        <p:nvSpPr>
          <p:cNvPr id="21" name="TextBox 4"/>
          <p:cNvSpPr txBox="1"/>
          <p:nvPr/>
        </p:nvSpPr>
        <p:spPr>
          <a:xfrm>
            <a:off x="6263640" y="5029200"/>
            <a:ext cx="5394960" cy="777240"/>
          </a:xfrm>
          <a:prstGeom prst="rect">
            <a:avLst/>
          </a:prstGeom>
          <a:noFill/>
        </p:spPr>
        <p:txBody>
          <a:bodyPr wrap="square">
            <a:spAutoFit/>
          </a:bodyPr>
          <a:lstStyle/>
          <a:p>
            <a:pPr algn="ctr"/>
            <a:r>
              <a:rPr sz="2000" b="0" i="0" dirty="0">
                <a:solidFill>
                  <a:srgbClr val="333333"/>
                </a:solidFill>
              </a:rPr>
              <a:t>Do not scan. Open pay documents through the HR portal, then report it.</a:t>
            </a:r>
          </a:p>
        </p:txBody>
      </p:sp>
      <p:sp>
        <p:nvSpPr>
          <p:cNvPr id="22" name="Kiosk Previous">
            <a:hlinkClick r:id="rId4"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23" name="Kiosk Next">
            <a:hlinkClick r:id="rId5"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24" name="narration_pay_P4.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3890" fill="hold"/>
                                        <p:tgtEl>
                                          <p:spTgt spid="24"/>
                                        </p:tgtEl>
                                      </p:cBhvr>
                                    </p:cmd>
                                  </p:childTnLst>
                                </p:cTn>
                              </p:par>
                              <p:par>
                                <p:cTn id="20" presetID="26" presetClass="emph" presetSubtype="0" repeatCount="indefinite" fill="hold" grpId="0" nodeType="withEffect">
                                  <p:stCondLst>
                                    <p:cond delay="53890"/>
                                  </p:stCondLst>
                                  <p:childTnLst>
                                    <p:animEffect transition="out" filter="fade">
                                      <p:cBhvr>
                                        <p:cTn id="21" dur="1000" tmFilter="0, 0; .2, .5; .8, .5; 1, 0"/>
                                        <p:tgtEl>
                                          <p:spTgt spid="23"/>
                                        </p:tgtEl>
                                      </p:cBhvr>
                                    </p:animEffect>
                                    <p:animScale>
                                      <p:cBhvr>
                                        <p:cTn id="22" dur="500" autoRev="1" fill="hold"/>
                                        <p:tgtEl>
                                          <p:spTgt spid="2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24"/>
                </p:tgtEl>
              </p:cMediaNode>
            </p:audio>
          </p:childTnLst>
        </p:cTn>
      </p:par>
    </p:tnLst>
    <p:bldLst>
      <p:bldP spid="23"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CLICKFIX: HOW A REAL MAILBOX GETS TAKEN</a:t>
            </a:r>
          </a:p>
        </p:txBody>
      </p:sp>
      <p:sp>
        <p:nvSpPr>
          <p:cNvPr id="5" name="TextBox 7"/>
          <p:cNvSpPr txBox="1"/>
          <p:nvPr/>
        </p:nvSpPr>
        <p:spPr>
          <a:xfrm>
            <a:off x="10698480" y="6309360"/>
            <a:ext cx="1280160" cy="365760"/>
          </a:xfrm>
          <a:prstGeom prst="rect">
            <a:avLst/>
          </a:prstGeom>
          <a:noFill/>
        </p:spPr>
        <p:txBody>
          <a:bodyPr wrap="none">
            <a:spAutoFit/>
          </a:bodyPr>
          <a:lstStyle/>
          <a:p>
            <a:pPr algn="r"/>
            <a:r>
              <a:rPr sz="1100"/>
              <a:t>13</a:t>
            </a:r>
          </a:p>
        </p:txBody>
      </p:sp>
      <p:sp>
        <p:nvSpPr>
          <p:cNvPr id="6" name="Rounded Rectangle 4"/>
          <p:cNvSpPr/>
          <p:nvPr/>
        </p:nvSpPr>
        <p:spPr>
          <a:xfrm>
            <a:off x="457200" y="1554480"/>
            <a:ext cx="1920240" cy="182880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1</a:t>
            </a:r>
          </a:p>
          <a:p>
            <a:pPr algn="ctr"/>
            <a:r>
              <a:rPr sz="2000">
                <a:solidFill>
                  <a:srgbClr val="FFFFFF"/>
                </a:solidFill>
              </a:rPr>
              <a:t>A fake security check on a web page</a:t>
            </a:r>
          </a:p>
        </p:txBody>
      </p:sp>
      <p:sp>
        <p:nvSpPr>
          <p:cNvPr id="7" name="Right Arrow 9"/>
          <p:cNvSpPr/>
          <p:nvPr/>
        </p:nvSpPr>
        <p:spPr>
          <a:xfrm>
            <a:off x="241401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4"/>
          <p:cNvSpPr/>
          <p:nvPr/>
        </p:nvSpPr>
        <p:spPr>
          <a:xfrm>
            <a:off x="2788920" y="1554480"/>
            <a:ext cx="1920240" cy="182880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2</a:t>
            </a:r>
          </a:p>
          <a:p>
            <a:pPr algn="ctr"/>
            <a:r>
              <a:rPr sz="2000">
                <a:solidFill>
                  <a:srgbClr val="FFFFFF"/>
                </a:solidFill>
              </a:rPr>
              <a:t>You paste a command to “fix” it</a:t>
            </a:r>
          </a:p>
        </p:txBody>
      </p:sp>
      <p:sp>
        <p:nvSpPr>
          <p:cNvPr id="9" name="Right Arrow 11"/>
          <p:cNvSpPr/>
          <p:nvPr/>
        </p:nvSpPr>
        <p:spPr>
          <a:xfrm>
            <a:off x="474573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4"/>
          <p:cNvSpPr/>
          <p:nvPr/>
        </p:nvSpPr>
        <p:spPr>
          <a:xfrm>
            <a:off x="5120640" y="1554480"/>
            <a:ext cx="1920240" cy="182880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3</a:t>
            </a:r>
          </a:p>
          <a:p>
            <a:pPr algn="ctr"/>
            <a:r>
              <a:rPr sz="2000">
                <a:solidFill>
                  <a:srgbClr val="FFFFFF"/>
                </a:solidFill>
              </a:rPr>
              <a:t>It steals saved passwords and sessions</a:t>
            </a:r>
          </a:p>
        </p:txBody>
      </p:sp>
      <p:sp>
        <p:nvSpPr>
          <p:cNvPr id="11" name="Right Arrow 13"/>
          <p:cNvSpPr/>
          <p:nvPr/>
        </p:nvSpPr>
        <p:spPr>
          <a:xfrm>
            <a:off x="707745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4"/>
          <p:cNvSpPr/>
          <p:nvPr/>
        </p:nvSpPr>
        <p:spPr>
          <a:xfrm>
            <a:off x="7452359" y="1554480"/>
            <a:ext cx="1920240" cy="182880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4</a:t>
            </a:r>
          </a:p>
          <a:p>
            <a:pPr algn="ctr"/>
            <a:r>
              <a:rPr sz="2000">
                <a:solidFill>
                  <a:srgbClr val="FFFFFF"/>
                </a:solidFill>
              </a:rPr>
              <a:t>A real mailbox is taken over</a:t>
            </a:r>
          </a:p>
        </p:txBody>
      </p:sp>
      <p:sp>
        <p:nvSpPr>
          <p:cNvPr id="13" name="Right Arrow 15"/>
          <p:cNvSpPr/>
          <p:nvPr/>
        </p:nvSpPr>
        <p:spPr>
          <a:xfrm>
            <a:off x="940917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4"/>
          <p:cNvSpPr/>
          <p:nvPr/>
        </p:nvSpPr>
        <p:spPr>
          <a:xfrm>
            <a:off x="9784080" y="1554480"/>
            <a:ext cx="1920240" cy="182880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5</a:t>
            </a:r>
          </a:p>
          <a:p>
            <a:pPr algn="ctr"/>
            <a:r>
              <a:rPr sz="2000">
                <a:solidFill>
                  <a:srgbClr val="FFFFFF"/>
                </a:solidFill>
              </a:rPr>
              <a:t>The BEC message comes from a real address</a:t>
            </a:r>
          </a:p>
        </p:txBody>
      </p:sp>
      <p:sp>
        <p:nvSpPr>
          <p:cNvPr id="15"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Push Security, “The state of ClickFix” (Sep 2026), which cites Microsoft’s 2025 report</a:t>
            </a:r>
          </a:p>
        </p:txBody>
      </p:sp>
      <p:sp>
        <p:nvSpPr>
          <p:cNvPr id="16" name="TextBox 4"/>
          <p:cNvSpPr txBox="1"/>
          <p:nvPr/>
        </p:nvSpPr>
        <p:spPr>
          <a:xfrm>
            <a:off x="795528" y="3520440"/>
            <a:ext cx="10607040" cy="685800"/>
          </a:xfrm>
          <a:prstGeom prst="rect">
            <a:avLst/>
          </a:prstGeom>
          <a:noFill/>
        </p:spPr>
        <p:txBody>
          <a:bodyPr wrap="square">
            <a:spAutoFit/>
          </a:bodyPr>
          <a:lstStyle/>
          <a:p>
            <a:pPr algn="ctr"/>
            <a:r>
              <a:rPr sz="2000" b="0" i="0" dirty="0">
                <a:solidFill>
                  <a:srgbClr val="333333"/>
                </a:solidFill>
              </a:rPr>
              <a:t>Growing fast: the top way in during 2025 in Microsoft’s data (47%), and 52% of Push Security’s detections through Q2 2026, reaching 67% in August.</a:t>
            </a:r>
          </a:p>
        </p:txBody>
      </p:sp>
      <p:sp>
        <p:nvSpPr>
          <p:cNvPr id="17" name="TextBox 4"/>
          <p:cNvSpPr txBox="1"/>
          <p:nvPr/>
        </p:nvSpPr>
        <p:spPr>
          <a:xfrm>
            <a:off x="795528" y="4206240"/>
            <a:ext cx="10607040" cy="365760"/>
          </a:xfrm>
          <a:prstGeom prst="rect">
            <a:avLst/>
          </a:prstGeom>
          <a:noFill/>
        </p:spPr>
        <p:txBody>
          <a:bodyPr wrap="square">
            <a:spAutoFit/>
          </a:bodyPr>
          <a:lstStyle/>
          <a:p>
            <a:pPr algn="ctr"/>
            <a:r>
              <a:rPr sz="2000" b="0" i="0" dirty="0">
                <a:solidFill>
                  <a:srgbClr val="333333"/>
                </a:solidFill>
              </a:rPr>
              <a:t>Most arrive through web search results and compromised sites, not email.</a:t>
            </a:r>
          </a:p>
        </p:txBody>
      </p:sp>
      <p:sp>
        <p:nvSpPr>
          <p:cNvPr id="18" name="TextBox 4"/>
          <p:cNvSpPr txBox="1"/>
          <p:nvPr/>
        </p:nvSpPr>
        <p:spPr>
          <a:xfrm>
            <a:off x="795528" y="4572000"/>
            <a:ext cx="10607040" cy="731520"/>
          </a:xfrm>
          <a:prstGeom prst="rect">
            <a:avLst/>
          </a:prstGeom>
          <a:noFill/>
        </p:spPr>
        <p:txBody>
          <a:bodyPr wrap="square">
            <a:spAutoFit/>
          </a:bodyPr>
          <a:lstStyle/>
          <a:p>
            <a:pPr algn="ctr"/>
            <a:r>
              <a:rPr sz="2000" b="1" i="0" dirty="0">
                <a:solidFill>
                  <a:srgbClr val="333333"/>
                </a:solidFill>
              </a:rPr>
              <a:t>In Payroll: pay changes can then come from a genuine staff address, so every change needs a second check.</a:t>
            </a:r>
          </a:p>
        </p:txBody>
      </p:sp>
      <p:sp>
        <p:nvSpPr>
          <p:cNvPr id="19" name="TextBox 4"/>
          <p:cNvSpPr txBox="1"/>
          <p:nvPr/>
        </p:nvSpPr>
        <p:spPr>
          <a:xfrm>
            <a:off x="795528" y="5303520"/>
            <a:ext cx="10607040" cy="411480"/>
          </a:xfrm>
          <a:prstGeom prst="rect">
            <a:avLst/>
          </a:prstGeom>
          <a:noFill/>
        </p:spPr>
        <p:txBody>
          <a:bodyPr wrap="square">
            <a:spAutoFit/>
          </a:bodyPr>
          <a:lstStyle/>
          <a:p>
            <a:pPr algn="ctr"/>
            <a:r>
              <a:rPr sz="2000" b="0" i="1" dirty="0">
                <a:solidFill>
                  <a:srgbClr val="333333"/>
                </a:solidFill>
              </a:rPr>
              <a:t>Already pasted something? Stop and tell IT at once. Do not try to clean it up.</a:t>
            </a:r>
          </a:p>
        </p:txBody>
      </p:sp>
      <p:sp>
        <p:nvSpPr>
          <p:cNvPr id="20" name="Kiosk Previous">
            <a:hlinkClick r:id="rId3"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21" name="Kiosk Next">
            <a:hlinkClick r:id="rId4"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22" name="narration_pay_P5.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561" fill="hold"/>
                                        <p:tgtEl>
                                          <p:spTgt spid="22"/>
                                        </p:tgtEl>
                                      </p:cBhvr>
                                    </p:cmd>
                                  </p:childTnLst>
                                </p:cTn>
                              </p:par>
                              <p:par>
                                <p:cTn id="20" presetID="26" presetClass="emph" presetSubtype="0" repeatCount="indefinite" fill="hold" grpId="0" nodeType="withEffect">
                                  <p:stCondLst>
                                    <p:cond delay="80561"/>
                                  </p:stCondLst>
                                  <p:childTnLst>
                                    <p:animEffect transition="out" filter="fade">
                                      <p:cBhvr>
                                        <p:cTn id="21" dur="1000" tmFilter="0, 0; .2, .5; .8, .5; 1, 0"/>
                                        <p:tgtEl>
                                          <p:spTgt spid="21"/>
                                        </p:tgtEl>
                                      </p:cBhvr>
                                    </p:animEffect>
                                    <p:animScale>
                                      <p:cBhvr>
                                        <p:cTn id="22" dur="500" autoRev="1"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22"/>
                </p:tgtEl>
              </p:cMediaNode>
            </p:audio>
          </p:childTnLst>
        </p:cTn>
      </p:par>
    </p:tnLst>
    <p:bldLst>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792480" y="1510284"/>
            <a:ext cx="10607040" cy="649224"/>
          </a:xfrm>
          <a:prstGeom prst="rect">
            <a:avLst/>
          </a:prstGeom>
          <a:noFill/>
        </p:spPr>
        <p:txBody>
          <a:bodyPr wrap="square">
            <a:spAutoFit/>
          </a:bodyPr>
          <a:lstStyle/>
          <a:p>
            <a:pPr algn="ctr"/>
            <a:r>
              <a:rPr sz="3600" b="1" i="0">
                <a:solidFill>
                  <a:srgbClr val="665CC7"/>
                </a:solidFill>
              </a:rPr>
              <a:t>PHASE 2</a:t>
            </a:r>
          </a:p>
        </p:txBody>
      </p:sp>
      <p:sp>
        <p:nvSpPr>
          <p:cNvPr id="5" name="TextBox 4"/>
          <p:cNvSpPr txBox="1"/>
          <p:nvPr/>
        </p:nvSpPr>
        <p:spPr>
          <a:xfrm>
            <a:off x="731520" y="2662428"/>
            <a:ext cx="10698480" cy="1021080"/>
          </a:xfrm>
          <a:prstGeom prst="rect">
            <a:avLst/>
          </a:prstGeom>
          <a:noFill/>
        </p:spPr>
        <p:txBody>
          <a:bodyPr wrap="none">
            <a:spAutoFit/>
          </a:bodyPr>
          <a:lstStyle/>
          <a:p>
            <a:pPr algn="ctr"/>
            <a:r>
              <a:rPr sz="6000" b="1">
                <a:solidFill>
                  <a:srgbClr val="000000"/>
                </a:solidFill>
              </a:rPr>
              <a:t>VERIFY</a:t>
            </a:r>
          </a:p>
        </p:txBody>
      </p:sp>
      <p:sp>
        <p:nvSpPr>
          <p:cNvPr id="6" name="TextBox 5"/>
          <p:cNvSpPr txBox="1"/>
          <p:nvPr/>
        </p:nvSpPr>
        <p:spPr>
          <a:xfrm>
            <a:off x="792480" y="4186428"/>
            <a:ext cx="10607040" cy="1207008"/>
          </a:xfrm>
          <a:prstGeom prst="rect">
            <a:avLst/>
          </a:prstGeom>
          <a:noFill/>
        </p:spPr>
        <p:txBody>
          <a:bodyPr wrap="square">
            <a:spAutoFit/>
          </a:bodyPr>
          <a:lstStyle/>
          <a:p>
            <a:pPr algn="ctr"/>
            <a:r>
              <a:rPr sz="3600" b="0" i="1">
                <a:solidFill>
                  <a:srgbClr val="333333"/>
                </a:solidFill>
              </a:rPr>
              <a:t>The one habit that would have stopped it, no matter the channel.</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14</a:t>
            </a:r>
          </a:p>
        </p:txBody>
      </p:sp>
      <p:pic>
        <p:nvPicPr>
          <p:cNvPr id="57" name="narration_slide10.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
        <p:nvSpPr>
          <p:cNvPr id="58" name="Kiosk Previous">
            <a:hlinkClick r:id="rId2"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59" name="Kiosk Next">
            <a:hlinkClick r:id="rId1"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836" fill="hold"/>
                                        <p:tgtEl>
                                          <p:spTgt spid="57"/>
                                        </p:tgtEl>
                                      </p:cBhvr>
                                    </p:cmd>
                                  </p:childTnLst>
                                </p:cTn>
                              </p:par>
                              <p:par>
                                <p:cTn id="20" presetID="26" presetClass="emph" presetSubtype="0" repeatCount="indefinite" fill="hold" grpId="0" nodeType="withEffect">
                                  <p:stCondLst>
                                    <p:cond delay="7836"/>
                                  </p:stCondLst>
                                  <p:childTnLst>
                                    <p:animEffect transition="out" filter="fade">
                                      <p:cBhvr>
                                        <p:cTn id="21" dur="1000" tmFilter="0, 0; .2, .5; .8, .5; 1, 0"/>
                                        <p:tgtEl>
                                          <p:spTgt spid="59"/>
                                        </p:tgtEl>
                                      </p:cBhvr>
                                    </p:animEffect>
                                    <p:animScale>
                                      <p:cBhvr>
                                        <p:cTn id="22" dur="500" autoRev="1" fill="hold"/>
                                        <p:tgtEl>
                                          <p:spTgt spid="5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457200" y="411480"/>
            <a:ext cx="11247120" cy="662940"/>
          </a:xfrm>
          <a:prstGeom prst="rect">
            <a:avLst/>
          </a:prstGeom>
          <a:noFill/>
        </p:spPr>
        <p:txBody>
          <a:bodyPr wrap="square">
            <a:spAutoFit/>
          </a:bodyPr>
          <a:lstStyle/>
          <a:p>
            <a:pPr algn="ctr"/>
            <a:r>
              <a:rPr sz="3600" b="1">
                <a:solidFill>
                  <a:srgbClr val="000000"/>
                </a:solidFill>
              </a:rPr>
              <a:t>ALWAYS VERIFY: SOMEWHERE THE REQUEST CAN'T REACH</a:t>
            </a:r>
          </a:p>
        </p:txBody>
      </p:sp>
      <p:sp>
        <p:nvSpPr>
          <p:cNvPr id="5" name="Rounded Rectangle 4"/>
          <p:cNvSpPr/>
          <p:nvPr/>
        </p:nvSpPr>
        <p:spPr>
          <a:xfrm>
            <a:off x="548640" y="1253686"/>
            <a:ext cx="2602230" cy="3589702"/>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rPr>
              <a:t>Known Contact</a:t>
            </a:r>
          </a:p>
          <a:p>
            <a:pPr algn="ctr"/>
            <a:r>
              <a:rPr sz="2400">
                <a:solidFill>
                  <a:srgbClr val="FFFFFF"/>
                </a:solidFill>
              </a:rPr>
              <a:t>Call a number already on file, never one the message gave you</a:t>
            </a:r>
          </a:p>
        </p:txBody>
      </p:sp>
      <p:sp>
        <p:nvSpPr>
          <p:cNvPr id="6" name="Rounded Rectangle 5"/>
          <p:cNvSpPr/>
          <p:nvPr/>
        </p:nvSpPr>
        <p:spPr>
          <a:xfrm>
            <a:off x="3379470" y="1253686"/>
            <a:ext cx="2602230" cy="3589702"/>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rPr>
              <a:t>System of Record</a:t>
            </a:r>
          </a:p>
          <a:p>
            <a:pPr algn="ctr"/>
            <a:r>
              <a:rPr sz="2400">
                <a:solidFill>
                  <a:srgbClr val="FFFFFF"/>
                </a:solidFill>
              </a:rPr>
              <a:t>Check HR/vendor systems directly, not the inbox that received the request</a:t>
            </a:r>
          </a:p>
        </p:txBody>
      </p:sp>
      <p:sp>
        <p:nvSpPr>
          <p:cNvPr id="7" name="Rounded Rectangle 6"/>
          <p:cNvSpPr/>
          <p:nvPr/>
        </p:nvSpPr>
        <p:spPr>
          <a:xfrm>
            <a:off x="6210300" y="1253686"/>
            <a:ext cx="2602230" cy="3589702"/>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rPr>
              <a:t>Second Set of Eyes</a:t>
            </a:r>
          </a:p>
          <a:p>
            <a:pPr algn="ctr"/>
            <a:r>
              <a:rPr sz="2400">
                <a:solidFill>
                  <a:srgbClr val="FFFFFF"/>
                </a:solidFill>
              </a:rPr>
              <a:t>For anything above threshold, get another person to confirm independently</a:t>
            </a:r>
          </a:p>
        </p:txBody>
      </p:sp>
      <p:sp>
        <p:nvSpPr>
          <p:cNvPr id="8" name="Rounded Rectangle 7"/>
          <p:cNvSpPr/>
          <p:nvPr/>
        </p:nvSpPr>
        <p:spPr>
          <a:xfrm>
            <a:off x="9041130" y="1253686"/>
            <a:ext cx="2602230" cy="3589702"/>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rPr>
              <a:t>Time to Verify</a:t>
            </a:r>
          </a:p>
          <a:p>
            <a:pPr algn="ctr"/>
            <a:r>
              <a:rPr sz="2400">
                <a:solidFill>
                  <a:srgbClr val="FFFFFF"/>
                </a:solidFill>
              </a:rPr>
              <a:t>Urgency is the tactic, so slowing down is always allowed, payday included</a:t>
            </a:r>
          </a:p>
        </p:txBody>
      </p:sp>
      <p:sp>
        <p:nvSpPr>
          <p:cNvPr id="9" name="TextBox 8"/>
          <p:cNvSpPr txBox="1"/>
          <p:nvPr/>
        </p:nvSpPr>
        <p:spPr>
          <a:xfrm>
            <a:off x="792480" y="4914704"/>
            <a:ext cx="10607040" cy="866140"/>
          </a:xfrm>
          <a:prstGeom prst="rect">
            <a:avLst/>
          </a:prstGeom>
          <a:noFill/>
        </p:spPr>
        <p:txBody>
          <a:bodyPr wrap="square">
            <a:spAutoFit/>
          </a:bodyPr>
          <a:lstStyle/>
          <a:p>
            <a:pPr algn="ctr"/>
            <a:r>
              <a:rPr sz="2400" b="1" i="1">
                <a:solidFill>
                  <a:srgbClr val="333333"/>
                </a:solidFill>
              </a:rPr>
              <a:t>If a request didn't come through your normal process, it isn't a request. It's a test.</a:t>
            </a:r>
          </a:p>
        </p:txBody>
      </p:sp>
      <p:sp>
        <p:nvSpPr>
          <p:cNvPr id="10" name="TextBox 9"/>
          <p:cNvSpPr txBox="1"/>
          <p:nvPr/>
        </p:nvSpPr>
        <p:spPr>
          <a:xfrm>
            <a:off x="10698480" y="6309360"/>
            <a:ext cx="1280160" cy="365760"/>
          </a:xfrm>
          <a:prstGeom prst="rect">
            <a:avLst/>
          </a:prstGeom>
          <a:noFill/>
        </p:spPr>
        <p:txBody>
          <a:bodyPr wrap="none">
            <a:spAutoFit/>
          </a:bodyPr>
          <a:lstStyle/>
          <a:p>
            <a:pPr algn="r"/>
            <a:r>
              <a:rPr sz="1100"/>
              <a:t>15</a:t>
            </a:r>
          </a:p>
        </p:txBody>
      </p:sp>
      <p:pic>
        <p:nvPicPr>
          <p:cNvPr id="60" name="narration_slide9.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
        <p:nvSpPr>
          <p:cNvPr id="61" name="Kiosk Previous">
            <a:hlinkClick r:id="rId2"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62" name="Kiosk Next">
            <a:hlinkClick r:id="rId1"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8373" fill="hold"/>
                                        <p:tgtEl>
                                          <p:spTgt spid="60"/>
                                        </p:tgtEl>
                                      </p:cBhvr>
                                    </p:cmd>
                                  </p:childTnLst>
                                </p:cTn>
                              </p:par>
                              <p:par>
                                <p:cTn id="20" presetID="26" presetClass="emph" presetSubtype="0" repeatCount="indefinite" fill="hold" grpId="0" nodeType="withEffect">
                                  <p:stCondLst>
                                    <p:cond delay="38373"/>
                                  </p:stCondLst>
                                  <p:childTnLst>
                                    <p:animEffect transition="out" filter="fade">
                                      <p:cBhvr>
                                        <p:cTn id="21" dur="1000" tmFilter="0, 0; .2, .5; .8, .5; 1, 0"/>
                                        <p:tgtEl>
                                          <p:spTgt spid="62"/>
                                        </p:tgtEl>
                                      </p:cBhvr>
                                    </p:animEffect>
                                    <p:animScale>
                                      <p:cBhvr>
                                        <p:cTn id="22" dur="500" autoRev="1" fill="hold"/>
                                        <p:tgtEl>
                                          <p:spTgt spid="6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60"/>
                </p:tgtEl>
              </p:cMediaNode>
            </p:audio>
          </p:childTnLst>
        </p:cTn>
      </p:par>
    </p:tnLst>
    <p:bldLst>
      <p:bldP spid="62"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BUILD THE CONTROLS IN</a:t>
            </a:r>
          </a:p>
        </p:txBody>
      </p:sp>
      <p:sp>
        <p:nvSpPr>
          <p:cNvPr id="5" name="Rounded Rectangle 4"/>
          <p:cNvSpPr/>
          <p:nvPr/>
        </p:nvSpPr>
        <p:spPr>
          <a:xfrm>
            <a:off x="548640" y="1525824"/>
            <a:ext cx="3454400" cy="401260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Self-service only</a:t>
            </a:r>
          </a:p>
          <a:p>
            <a:pPr algn="ctr"/>
            <a:r>
              <a:rPr sz="2800">
                <a:solidFill>
                  <a:srgbClr val="FFFFFF"/>
                </a:solidFill>
              </a:rPr>
              <a:t>Bank details change only through the employee portal, protected by MFA.</a:t>
            </a:r>
          </a:p>
        </p:txBody>
      </p:sp>
      <p:sp>
        <p:nvSpPr>
          <p:cNvPr id="6" name="Rounded Rectangle 5"/>
          <p:cNvSpPr/>
          <p:nvPr/>
        </p:nvSpPr>
        <p:spPr>
          <a:xfrm>
            <a:off x="4368800" y="1525824"/>
            <a:ext cx="3454400" cy="401260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Alert the employee</a:t>
            </a:r>
          </a:p>
          <a:p>
            <a:pPr algn="ctr"/>
            <a:r>
              <a:rPr sz="2800">
                <a:solidFill>
                  <a:srgbClr val="FFFFFF"/>
                </a:solidFill>
              </a:rPr>
              <a:t>Every change sends an automatic alert to the contact details already on file.</a:t>
            </a:r>
          </a:p>
        </p:txBody>
      </p:sp>
      <p:sp>
        <p:nvSpPr>
          <p:cNvPr id="7" name="Rounded Rectangle 6"/>
          <p:cNvSpPr/>
          <p:nvPr/>
        </p:nvSpPr>
        <p:spPr>
          <a:xfrm>
            <a:off x="8188960" y="1525824"/>
            <a:ext cx="3454400" cy="4012600"/>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Hold the first payment</a:t>
            </a:r>
          </a:p>
          <a:p>
            <a:pPr algn="ctr"/>
            <a:r>
              <a:rPr sz="2800">
                <a:solidFill>
                  <a:srgbClr val="FFFFFF"/>
                </a:solidFill>
              </a:rPr>
              <a:t>A short hold on the first payment to a new account gives the alert time to reach the real employee.</a:t>
            </a:r>
          </a:p>
        </p:txBody>
      </p:sp>
      <p:sp>
        <p:nvSpPr>
          <p:cNvPr id="8" name="TextBox 7"/>
          <p:cNvSpPr txBox="1"/>
          <p:nvPr/>
        </p:nvSpPr>
        <p:spPr>
          <a:xfrm>
            <a:off x="10698480" y="6309360"/>
            <a:ext cx="1280160" cy="365760"/>
          </a:xfrm>
          <a:prstGeom prst="rect">
            <a:avLst/>
          </a:prstGeom>
          <a:noFill/>
        </p:spPr>
        <p:txBody>
          <a:bodyPr wrap="none">
            <a:spAutoFit/>
          </a:bodyPr>
          <a:lstStyle/>
          <a:p>
            <a:pPr algn="r"/>
            <a:r>
              <a:rPr sz="1100"/>
              <a:t>16</a:t>
            </a:r>
          </a:p>
        </p:txBody>
      </p:sp>
      <p:pic>
        <p:nvPicPr>
          <p:cNvPr id="10" name="narration_pay_L06.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1" name="Citation"/>
          <p:cNvSpPr txBox="1"/>
          <p:nvPr/>
        </p:nvSpPr>
        <p:spPr>
          <a:xfrm>
            <a:off x="457200" y="5870448"/>
            <a:ext cx="11247120" cy="432308"/>
          </a:xfrm>
          <a:prstGeom prst="rect">
            <a:avLst/>
          </a:prstGeom>
          <a:noFill/>
        </p:spPr>
        <p:txBody>
          <a:bodyPr wrap="square">
            <a:spAutoFit/>
          </a:bodyPr>
          <a:lstStyle/>
          <a:p>
            <a:pPr algn="l"/>
            <a:r>
              <a:rPr lang="en-US" sz="1800" i="1">
                <a:solidFill>
                  <a:srgbClr val="666666"/>
                </a:solidFill>
              </a:rPr>
              <a:t>Source: FBI IC3 PSA I-091124-PSA (verify changes by secondary channel or 2FA)</a:t>
            </a:r>
          </a:p>
        </p:txBody>
      </p:sp>
      <p:sp>
        <p:nvSpPr>
          <p:cNvPr id="12" name="Kiosk Previous">
            <a:hlinkClick r:id="rId6"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3" name="Kiosk Next">
            <a:hlinkClick r:id="rId7"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791" fill="hold"/>
                                        <p:tgtEl>
                                          <p:spTgt spid="10"/>
                                        </p:tgtEl>
                                      </p:cBhvr>
                                    </p:cmd>
                                  </p:childTnLst>
                                </p:cTn>
                              </p:par>
                              <p:par>
                                <p:cTn id="20" presetID="26" presetClass="emph" presetSubtype="0" repeatCount="indefinite" fill="hold" grpId="0" nodeType="withEffect">
                                  <p:stCondLst>
                                    <p:cond delay="31791"/>
                                  </p:stCondLst>
                                  <p:childTnLst>
                                    <p:animEffect transition="out" filter="fade">
                                      <p:cBhvr>
                                        <p:cTn id="21" dur="1000" tmFilter="0, 0; .2, .5; .8, .5; 1, 0"/>
                                        <p:tgtEl>
                                          <p:spTgt spid="13"/>
                                        </p:tgtEl>
                                      </p:cBhvr>
                                    </p:animEffect>
                                    <p:animScale>
                                      <p:cBhvr>
                                        <p:cTn id="22" dur="500" autoRev="1" fill="hold"/>
                                        <p:tgtEl>
                                          <p:spTgt spid="1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1772397"/>
            <a:ext cx="3657600" cy="478790"/>
          </a:xfrm>
          <a:prstGeom prst="rect">
            <a:avLst/>
          </a:prstGeom>
          <a:noFill/>
        </p:spPr>
        <p:txBody>
          <a:bodyPr wrap="none">
            <a:spAutoFit/>
          </a:bodyPr>
          <a:lstStyle/>
          <a:p>
            <a:r>
              <a:rPr sz="2400" b="1">
                <a:solidFill>
                  <a:srgbClr val="E88A00"/>
                </a:solidFill>
              </a:rPr>
              <a:t>▶ SCENARIO: PHONE CALL</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THE DIRECT DEPOSIT CALL</a:t>
            </a:r>
          </a:p>
        </p:txBody>
      </p:sp>
      <p:sp>
        <p:nvSpPr>
          <p:cNvPr id="6" name="TextBox 5"/>
          <p:cNvSpPr txBox="1"/>
          <p:nvPr/>
        </p:nvSpPr>
        <p:spPr>
          <a:xfrm>
            <a:off x="792480" y="2336009"/>
            <a:ext cx="10607040" cy="1614199"/>
          </a:xfrm>
          <a:prstGeom prst="rect">
            <a:avLst/>
          </a:prstGeom>
          <a:noFill/>
        </p:spPr>
        <p:txBody>
          <a:bodyPr wrap="square">
            <a:spAutoFit/>
          </a:bodyPr>
          <a:lstStyle/>
          <a:p>
            <a:pPr algn="ctr"/>
            <a:r>
              <a:rPr sz="2200" b="0" i="1" dirty="0">
                <a:solidFill>
                  <a:srgbClr val="333333"/>
                </a:solidFill>
              </a:rPr>
              <a:t>Same request as before, but this time it is a phone call. A familiar voice says her bank account was frozen and she needs tomorrow's pay in a new account. The HR portal is down until Monday and the pay run locks at 2 pm. Your process: bank details change only through the portal, and urgent pay exceptions go to the HR manager.</a:t>
            </a:r>
          </a:p>
        </p:txBody>
      </p:sp>
      <p:sp>
        <p:nvSpPr>
          <p:cNvPr id="7" name="Rounded Rectangle 6">
            <a:hlinkClick action="ppaction://hlinksldjump" r:id="rId3"/>
          </p:cNvPr>
          <p:cNvSpPr/>
          <p:nvPr/>
        </p:nvSpPr>
        <p:spPr>
          <a:xfrm>
            <a:off x="548640" y="4023360"/>
            <a:ext cx="3529584" cy="1737360"/>
          </a:xfrm>
          <a:prstGeom prst="roundRect">
            <a:avLst>
              <a:gd name="adj" fmla="val 8000"/>
            </a:avLst>
          </a:prstGeom>
          <a:solidFill>
            <a:srgbClr val="8B7FE8"/>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Take the new details by phone, and enter them with a note that she confirmed.</a:t>
            </a:r>
          </a:p>
        </p:txBody>
      </p:sp>
      <p:sp>
        <p:nvSpPr>
          <p:cNvPr id="13" name="Rounded Rectangle X">
            <a:hlinkClick action="ppaction://hlinksldjump" r:id="rId4"/>
          </p:cNvPr>
          <p:cNvSpPr/>
          <p:nvPr/>
        </p:nvSpPr>
        <p:spPr>
          <a:xfrm>
            <a:off x="4329684" y="4023360"/>
            <a:ext cx="3529584" cy="1737360"/>
          </a:xfrm>
          <a:prstGeom prst="roundRect">
            <a:avLst>
              <a:gd name="adj" fmla="val 8000"/>
            </a:avLst>
          </a:prstGeom>
          <a:solidFill>
            <a:srgbClr val="8B7FE8"/>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Leave her account unchanged for this run, and pass the request to the HR manager.</a:t>
            </a:r>
          </a:p>
        </p:txBody>
      </p:sp>
      <p:sp>
        <p:nvSpPr>
          <p:cNvPr id="8" name="Rounded Rectangle 7">
            <a:hlinkClick action="ppaction://hlinksldjump" r:id="rId9"/>
          </p:cNvPr>
          <p:cNvSpPr/>
          <p:nvPr/>
        </p:nvSpPr>
        <p:spPr>
          <a:xfrm>
            <a:off x="8110728" y="4023360"/>
            <a:ext cx="3529584" cy="1737360"/>
          </a:xfrm>
          <a:prstGeom prst="roundRect">
            <a:avLst>
              <a:gd name="adj" fmla="val 8000"/>
            </a:avLst>
          </a:prstGeom>
          <a:solidFill>
            <a:srgbClr val="8B7FE8"/>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dirty="0">
                <a:solidFill>
                  <a:srgbClr val="FFFFFF"/>
                </a:solidFill>
              </a:rPr>
              <a:t>Ask her to email a signed change form, and hold it until the portal is back.</a:t>
            </a:r>
          </a:p>
        </p:txBody>
      </p:sp>
      <p:sp>
        <p:nvSpPr>
          <p:cNvPr id="9" name="TextBox 8"/>
          <p:cNvSpPr txBox="1"/>
          <p:nvPr/>
        </p:nvSpPr>
        <p:spPr>
          <a:xfrm>
            <a:off x="792480" y="5897880"/>
            <a:ext cx="10607040" cy="478790"/>
          </a:xfrm>
          <a:prstGeom prst="rect">
            <a:avLst/>
          </a:prstGeom>
          <a:noFill/>
        </p:spPr>
        <p:txBody>
          <a:bodyPr wrap="square">
            <a:spAutoFit/>
          </a:bodyPr>
          <a:lstStyle/>
          <a:p>
            <a:pPr algn="ctr"/>
            <a:r>
              <a:rPr sz="2200" b="0" i="1">
                <a:solidFill>
                  <a:srgbClr val="333333"/>
                </a:solidFill>
              </a:rPr>
              <a:t>Click a card to choose.</a:t>
            </a:r>
          </a:p>
        </p:txBody>
      </p:sp>
      <p:sp>
        <p:nvSpPr>
          <p:cNvPr id="10" name="TextBox 9"/>
          <p:cNvSpPr txBox="1"/>
          <p:nvPr/>
        </p:nvSpPr>
        <p:spPr>
          <a:xfrm>
            <a:off x="10698480" y="6309360"/>
            <a:ext cx="1280160" cy="365760"/>
          </a:xfrm>
          <a:prstGeom prst="rect">
            <a:avLst/>
          </a:prstGeom>
          <a:noFill/>
        </p:spPr>
        <p:txBody>
          <a:bodyPr wrap="none">
            <a:spAutoFit/>
          </a:bodyPr>
          <a:lstStyle/>
          <a:p>
            <a:pPr algn="r"/>
            <a:r>
              <a:rPr sz="1100"/>
              <a:t>17</a:t>
            </a:r>
          </a:p>
        </p:txBody>
      </p:sp>
      <p:pic>
        <p:nvPicPr>
          <p:cNvPr id="11" name="narration_pay_L07.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
        <p:nvSpPr>
          <p:cNvPr id="12" name="Kiosk Previous">
            <a:hlinkClick r:id="rId8" action="ppaction://hlinksldjump"/>
          </p:cNvPr>
          <p:cNvSpPr/>
          <p:nvPr/>
        </p:nvSpPr>
        <p:spPr>
          <a:xfrm>
            <a:off x="536448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12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1"/>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8B7FE8"/>
                </a:solidFill>
              </a:rPr>
              <a:t>PAYMENT MISDIRECTED</a:t>
            </a:r>
          </a:p>
        </p:txBody>
      </p:sp>
      <p:sp>
        <p:nvSpPr>
          <p:cNvPr id="5" name="TextBox 4"/>
          <p:cNvSpPr txBox="1"/>
          <p:nvPr/>
        </p:nvSpPr>
        <p:spPr>
          <a:xfrm>
            <a:off x="792480" y="2290318"/>
            <a:ext cx="10607040" cy="2322576"/>
          </a:xfrm>
          <a:prstGeom prst="rect">
            <a:avLst/>
          </a:prstGeom>
          <a:noFill/>
        </p:spPr>
        <p:txBody>
          <a:bodyPr wrap="square">
            <a:spAutoFit/>
          </a:bodyPr>
          <a:lstStyle/>
          <a:p>
            <a:pPr algn="ctr"/>
            <a:r>
              <a:rPr sz="2800" b="0" i="0">
                <a:solidFill>
                  <a:srgbClr val="333333"/>
                </a:solidFill>
              </a:rPr>
              <a:t>The note makes the change look approved, and tomorrow's pay goes to the new account. On Monday the real employee calls, confused: she never asked for a change. The voice was cloned from a video interview posted months ago, and a note in the record is not verification.</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18</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8B7FE8"/>
                </a:solidFill>
              </a:rPr>
              <a:t>ATTEMPT STOPPED</a:t>
            </a:r>
          </a:p>
        </p:txBody>
      </p:sp>
      <p:sp>
        <p:nvSpPr>
          <p:cNvPr id="5" name="TextBox 4"/>
          <p:cNvSpPr txBox="1"/>
          <p:nvPr/>
        </p:nvSpPr>
        <p:spPr>
          <a:xfrm>
            <a:off x="792480" y="2476246"/>
            <a:ext cx="10607040" cy="1764792"/>
          </a:xfrm>
          <a:prstGeom prst="rect">
            <a:avLst/>
          </a:prstGeom>
          <a:noFill/>
        </p:spPr>
        <p:txBody>
          <a:bodyPr wrap="square">
            <a:spAutoFit/>
          </a:bodyPr>
          <a:lstStyle/>
          <a:p>
            <a:pPr algn="ctr"/>
            <a:r>
              <a:rPr sz="2400" b="0" i="0">
                <a:solidFill>
                  <a:srgbClr val="333333"/>
                </a:solidFill>
              </a:rPr>
              <a:t>Her pay goes to the existing account as normal. The HR manager checks the HR record and reaches the real employee, who never called. The attempt is reported, and any change waits for the portal. A pay run lock is pressure, not authority.</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19</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8B7FE8"/>
                </a:solidFill>
              </a:rPr>
              <a:t>PARTLY RIGHT</a:t>
            </a:r>
          </a:p>
        </p:txBody>
      </p:sp>
      <p:sp>
        <p:nvSpPr>
          <p:cNvPr id="5" name="TextBox 4"/>
          <p:cNvSpPr txBox="1"/>
          <p:nvPr/>
        </p:nvSpPr>
        <p:spPr>
          <a:xfrm>
            <a:off x="792480" y="2476246"/>
            <a:ext cx="10607040" cy="1764792"/>
          </a:xfrm>
          <a:prstGeom prst="rect">
            <a:avLst/>
          </a:prstGeom>
          <a:noFill/>
        </p:spPr>
        <p:txBody>
          <a:bodyPr wrap="square">
            <a:spAutoFit/>
          </a:bodyPr>
          <a:lstStyle/>
          <a:p>
            <a:pPr algn="ctr"/>
            <a:r>
              <a:rPr sz="2800" b="0" i="0">
                <a:solidFill>
                  <a:srgbClr val="333333"/>
                </a:solidFill>
              </a:rPr>
              <a:t>Nothing changes, so the fraud fails. But a signed form can be forged, nobody checked who was calling, and the HR manager never heard about it. The same caller can try a colleague on the next shift.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20</a:t>
            </a:r>
          </a:p>
        </p:txBody>
      </p:sp>
      <p:sp>
        <p:nvSpPr>
          <p:cNvPr id="8" name="Kiosk Previous">
            <a:hlinkClick action="ppaction://hlinksldjump" r:id="rId3"/>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action="ppaction://hlinksldjump" r:id="rId4"/>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640080"/>
            <a:ext cx="11247120" cy="789939"/>
          </a:xfrm>
          <a:prstGeom prst="rect">
            <a:avLst/>
          </a:prstGeom>
          <a:noFill/>
        </p:spPr>
        <p:txBody>
          <a:bodyPr wrap="square">
            <a:spAutoFit/>
          </a:bodyPr>
          <a:lstStyle/>
          <a:p>
            <a:pPr algn="ctr"/>
            <a:r>
              <a:rPr sz="4400" b="1">
                <a:solidFill>
                  <a:srgbClr val="000000"/>
                </a:solidFill>
              </a:rPr>
              <a:t>DEBRIEF</a:t>
            </a:r>
          </a:p>
        </p:txBody>
      </p:sp>
      <p:sp>
        <p:nvSpPr>
          <p:cNvPr id="5" name="TextBox 4"/>
          <p:cNvSpPr txBox="1"/>
          <p:nvPr/>
        </p:nvSpPr>
        <p:spPr>
          <a:xfrm>
            <a:off x="792480" y="1744472"/>
            <a:ext cx="10607040" cy="3803904"/>
          </a:xfrm>
          <a:prstGeom prst="rect">
            <a:avLst/>
          </a:prstGeom>
          <a:noFill/>
        </p:spPr>
        <p:txBody>
          <a:bodyPr wrap="square">
            <a:spAutoFit/>
          </a:bodyPr>
          <a:lstStyle/>
          <a:p>
            <a:pPr>
              <a:spcAft>
                <a:spcPts val="1440"/>
              </a:spcAft>
              <a:defRPr sz="3600">
                <a:solidFill>
                  <a:srgbClr val="333333"/>
                </a:solidFill>
              </a:defRPr>
            </a:pPr>
            <a:r>
              <a:rPr sz="2800">
                <a:solidFill>
                  <a:srgbClr val="333333"/>
                </a:solidFill>
              </a:rPr>
              <a:t>A cloned voice can sound exactly like a colleague, so the call itself proves nothing. The pressure came from the pay run lock, and the note “she confirmed by phone” is the workaround that makes an unverified change look approved.</a:t>
            </a:r>
          </a:p>
          <a:p>
            <a:pPr>
              <a:spcAft>
                <a:spcPts val="1440"/>
              </a:spcAft>
              <a:defRPr sz="3600">
                <a:solidFill>
                  <a:srgbClr val="333333"/>
                </a:solidFill>
              </a:defRPr>
            </a:pPr>
            <a:r>
              <a:rPr sz="2800">
                <a:solidFill>
                  <a:srgbClr val="333333"/>
                </a:solidFill>
              </a:rPr>
              <a:t>Bank details change through the portal. When someone needs pay urgently, the exception goes to the HR manager, who can check her identity through the HR record. Passing it on is the control working, not you being unhelpful.</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21</a:t>
            </a:r>
          </a:p>
        </p:txBody>
      </p:sp>
      <p:pic>
        <p:nvPicPr>
          <p:cNvPr id="9" name="narration_pay_L08.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0" name="Citation"/>
          <p:cNvSpPr txBox="1"/>
          <p:nvPr/>
        </p:nvSpPr>
        <p:spPr>
          <a:xfrm>
            <a:off x="457200" y="5870448"/>
            <a:ext cx="11247120" cy="432308"/>
          </a:xfrm>
          <a:prstGeom prst="rect">
            <a:avLst/>
          </a:prstGeom>
          <a:noFill/>
        </p:spPr>
        <p:txBody>
          <a:bodyPr wrap="square">
            <a:spAutoFit/>
          </a:bodyPr>
          <a:lstStyle/>
          <a:p>
            <a:pPr algn="l"/>
            <a:r>
              <a:rPr lang="en-US" sz="1800" i="1">
                <a:solidFill>
                  <a:srgbClr val="666666"/>
                </a:solidFill>
              </a:rPr>
              <a:t>Source: FBI IC3 PSA I-120324-PSA (AI-generated audio used to impersonate people)</a:t>
            </a:r>
          </a:p>
        </p:txBody>
      </p:sp>
      <p:sp>
        <p:nvSpPr>
          <p:cNvPr id="11" name="Kiosk Previous">
            <a:hlinkClick r:id="rId6"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2" name="Kiosk Next">
            <a:hlinkClick r:id="rId7"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354" fill="hold"/>
                                        <p:tgtEl>
                                          <p:spTgt spid="9"/>
                                        </p:tgtEl>
                                      </p:cBhvr>
                                    </p:cmd>
                                  </p:childTnLst>
                                </p:cTn>
                              </p:par>
                              <p:par>
                                <p:cTn id="20" presetID="26" presetClass="emph" presetSubtype="0" repeatCount="indefinite" fill="hold" grpId="0" nodeType="withEffect">
                                  <p:stCondLst>
                                    <p:cond delay="30354"/>
                                  </p:stCondLst>
                                  <p:childTnLst>
                                    <p:animEffect transition="out" filter="fade">
                                      <p:cBhvr>
                                        <p:cTn id="21" dur="1000" tmFilter="0, 0; .2, .5; .8, .5; 1, 0"/>
                                        <p:tgtEl>
                                          <p:spTgt spid="12"/>
                                        </p:tgtEl>
                                      </p:cBhvr>
                                    </p:animEffect>
                                    <p:animScale>
                                      <p:cBhvr>
                                        <p:cTn id="22" dur="500" autoRev="1" fill="hold"/>
                                        <p:tgtEl>
                                          <p:spTgt spid="1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9"/>
                </p:tgtEl>
              </p:cMediaNode>
            </p:audio>
          </p:childTnLst>
        </p:cTn>
      </p:par>
    </p:tnLst>
    <p:bldLst>
      <p:bldP spid="1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1769285"/>
            <a:ext cx="3657600" cy="432308"/>
          </a:xfrm>
          <a:prstGeom prst="rect">
            <a:avLst/>
          </a:prstGeom>
          <a:noFill/>
        </p:spPr>
        <p:txBody>
          <a:bodyPr wrap="none">
            <a:spAutoFit/>
          </a:bodyPr>
          <a:lstStyle/>
          <a:p>
            <a:r>
              <a:rPr sz="2200" b="1">
                <a:solidFill>
                  <a:srgbClr val="E88A00"/>
                </a:solidFill>
              </a:rPr>
              <a:t>▶ SCENARIO: VIDEO CALL</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THE AUDIT REQUEST</a:t>
            </a:r>
          </a:p>
        </p:txBody>
      </p:sp>
      <p:sp>
        <p:nvSpPr>
          <p:cNvPr id="6" name="TextBox 5"/>
          <p:cNvSpPr txBox="1"/>
          <p:nvPr/>
        </p:nvSpPr>
        <p:spPr>
          <a:xfrm>
            <a:off x="792480" y="2283302"/>
            <a:ext cx="10607040" cy="1666906"/>
          </a:xfrm>
          <a:prstGeom prst="rect">
            <a:avLst/>
          </a:prstGeom>
          <a:noFill/>
        </p:spPr>
        <p:txBody>
          <a:bodyPr wrap="square">
            <a:spAutoFit/>
          </a:bodyPr>
          <a:lstStyle/>
          <a:p>
            <a:pPr algn="ctr"/>
            <a:r>
              <a:rPr sz="2200" b="0" i="1" dirty="0">
                <a:solidFill>
                  <a:srgbClr val="333333"/>
                </a:solidFill>
              </a:rPr>
              <a:t>A video call from an external auditor, demanding immediate access to payroll records. You know him and have seen him before, and he is on camera. He says the audit closes today and your manager has already agreed. Your process: audit requests come from Finance, and records go only through the secure audit folder.</a:t>
            </a:r>
            <a:endParaRPr sz="2200" b="0" i="1" dirty="0">
              <a:solidFill>
                <a:srgbClr val="333333"/>
              </a:solidFill>
            </a:endParaRPr>
          </a:p>
        </p:txBody>
      </p:sp>
      <p:sp>
        <p:nvSpPr>
          <p:cNvPr id="7" name="Rounded Rectangle 6">
            <a:hlinkClick action="ppaction://hlinksldjump" r:id="rId3"/>
          </p:cNvPr>
          <p:cNvSpPr/>
          <p:nvPr/>
        </p:nvSpPr>
        <p:spPr>
          <a:xfrm>
            <a:off x="548640" y="4023360"/>
            <a:ext cx="3529584" cy="1737360"/>
          </a:xfrm>
          <a:prstGeom prst="roundRect">
            <a:avLst>
              <a:gd name="adj" fmla="val 8000"/>
            </a:avLst>
          </a:prstGeom>
          <a:solidFill>
            <a:srgbClr val="8B7FE8"/>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Put the records he names in the secure audit folder, and give him access.</a:t>
            </a:r>
          </a:p>
        </p:txBody>
      </p:sp>
      <p:sp>
        <p:nvSpPr>
          <p:cNvPr id="13" name="Rounded Rectangle X">
            <a:hlinkClick action="ppaction://hlinksldjump" r:id="rId9"/>
          </p:cNvPr>
          <p:cNvSpPr/>
          <p:nvPr/>
        </p:nvSpPr>
        <p:spPr>
          <a:xfrm>
            <a:off x="4329684" y="4023360"/>
            <a:ext cx="3529584" cy="1737360"/>
          </a:xfrm>
          <a:prstGeom prst="roundRect">
            <a:avLst>
              <a:gd name="adj" fmla="val 8000"/>
            </a:avLst>
          </a:prstGeom>
          <a:solidFill>
            <a:srgbClr val="8B7FE8"/>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Tell him you need his request in writing, then share the records when it arrives.</a:t>
            </a:r>
          </a:p>
        </p:txBody>
      </p:sp>
      <p:sp>
        <p:nvSpPr>
          <p:cNvPr id="8" name="Rounded Rectangle 7">
            <a:hlinkClick action="ppaction://hlinksldjump" r:id="rId4"/>
          </p:cNvPr>
          <p:cNvSpPr/>
          <p:nvPr/>
        </p:nvSpPr>
        <p:spPr>
          <a:xfrm>
            <a:off x="8110728" y="4023360"/>
            <a:ext cx="3529584" cy="1737360"/>
          </a:xfrm>
          <a:prstGeom prst="roundRect">
            <a:avLst>
              <a:gd name="adj" fmla="val 8000"/>
            </a:avLst>
          </a:prstGeom>
          <a:solidFill>
            <a:srgbClr val="8B7FE8"/>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Ask Finance to confirm that the audit is scheduled, before you share anything.</a:t>
            </a:r>
          </a:p>
        </p:txBody>
      </p:sp>
      <p:sp>
        <p:nvSpPr>
          <p:cNvPr id="9" name="TextBox 8"/>
          <p:cNvSpPr txBox="1"/>
          <p:nvPr/>
        </p:nvSpPr>
        <p:spPr>
          <a:xfrm>
            <a:off x="792480" y="5897880"/>
            <a:ext cx="10607040" cy="432308"/>
          </a:xfrm>
          <a:prstGeom prst="rect">
            <a:avLst/>
          </a:prstGeom>
          <a:noFill/>
        </p:spPr>
        <p:txBody>
          <a:bodyPr wrap="square">
            <a:spAutoFit/>
          </a:bodyPr>
          <a:lstStyle/>
          <a:p>
            <a:pPr algn="ctr"/>
            <a:r>
              <a:rPr sz="2200" b="0" i="1">
                <a:solidFill>
                  <a:srgbClr val="333333"/>
                </a:solidFill>
              </a:rPr>
              <a:t>Click a card to choose.</a:t>
            </a:r>
          </a:p>
        </p:txBody>
      </p:sp>
      <p:sp>
        <p:nvSpPr>
          <p:cNvPr id="10" name="TextBox 9"/>
          <p:cNvSpPr txBox="1"/>
          <p:nvPr/>
        </p:nvSpPr>
        <p:spPr>
          <a:xfrm>
            <a:off x="10698480" y="6309360"/>
            <a:ext cx="1280160" cy="365760"/>
          </a:xfrm>
          <a:prstGeom prst="rect">
            <a:avLst/>
          </a:prstGeom>
          <a:noFill/>
        </p:spPr>
        <p:txBody>
          <a:bodyPr wrap="none">
            <a:spAutoFit/>
          </a:bodyPr>
          <a:lstStyle/>
          <a:p>
            <a:pPr algn="r"/>
            <a:r>
              <a:rPr sz="1100"/>
              <a:t>22</a:t>
            </a:r>
          </a:p>
        </p:txBody>
      </p:sp>
      <p:pic>
        <p:nvPicPr>
          <p:cNvPr id="11" name="narration_pay_L09.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
        <p:nvSpPr>
          <p:cNvPr id="12" name="Kiosk Previous">
            <a:hlinkClick r:id="rId8" action="ppaction://hlinksldjump"/>
          </p:cNvPr>
          <p:cNvSpPr/>
          <p:nvPr/>
        </p:nvSpPr>
        <p:spPr>
          <a:xfrm>
            <a:off x="536448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58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1"/>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8B7FE8"/>
                </a:solidFill>
              </a:rPr>
              <a:t>RECORDS EXPOSED</a:t>
            </a:r>
          </a:p>
        </p:txBody>
      </p:sp>
      <p:sp>
        <p:nvSpPr>
          <p:cNvPr id="5" name="TextBox 4"/>
          <p:cNvSpPr txBox="1"/>
          <p:nvPr/>
        </p:nvSpPr>
        <p:spPr>
          <a:xfrm>
            <a:off x="792480" y="2290318"/>
            <a:ext cx="10607040" cy="2322576"/>
          </a:xfrm>
          <a:prstGeom prst="rect">
            <a:avLst/>
          </a:prstGeom>
          <a:noFill/>
        </p:spPr>
        <p:txBody>
          <a:bodyPr wrap="square">
            <a:spAutoFit/>
          </a:bodyPr>
          <a:lstStyle/>
          <a:p>
            <a:pPr algn="ctr"/>
            <a:r>
              <a:rPr sz="2800" b="0" i="0">
                <a:solidFill>
                  <a:srgbClr val="333333"/>
                </a:solidFill>
              </a:rPr>
              <a:t>The folder is secure, but the person you gave access to is not the auditor. He downloads the payroll file within minutes and disappears. There is no audit on record, and the real auditor confirms he never called. A secure channel protects the delivery, not the request.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23</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8B7FE8"/>
                </a:solidFill>
              </a:rPr>
              <a:t>ATTEMPT STOPPED</a:t>
            </a:r>
          </a:p>
        </p:txBody>
      </p:sp>
      <p:sp>
        <p:nvSpPr>
          <p:cNvPr id="5" name="TextBox 4"/>
          <p:cNvSpPr txBox="1"/>
          <p:nvPr/>
        </p:nvSpPr>
        <p:spPr>
          <a:xfrm>
            <a:off x="792480" y="2290318"/>
            <a:ext cx="10607040" cy="2322576"/>
          </a:xfrm>
          <a:prstGeom prst="rect">
            <a:avLst/>
          </a:prstGeom>
          <a:noFill/>
        </p:spPr>
        <p:txBody>
          <a:bodyPr wrap="square">
            <a:spAutoFit/>
          </a:bodyPr>
          <a:lstStyle/>
          <a:p>
            <a:pPr algn="ctr"/>
            <a:r>
              <a:rPr sz="3200" b="0" i="0">
                <a:solidFill>
                  <a:srgbClr val="333333"/>
                </a:solidFill>
              </a:rPr>
              <a:t>Finance has no audit scheduled for today, and the real auditor confirms he never called. He is annoyed on the call, but nothing was shared and the attempt is reported.</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24</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8B7FE8"/>
                </a:solidFill>
              </a:rPr>
              <a:t>PARTLY RIGHT</a:t>
            </a:r>
          </a:p>
        </p:txBody>
      </p:sp>
      <p:sp>
        <p:nvSpPr>
          <p:cNvPr id="5" name="TextBox 4"/>
          <p:cNvSpPr txBox="1"/>
          <p:nvPr/>
        </p:nvSpPr>
        <p:spPr>
          <a:xfrm>
            <a:off x="792480" y="2290318"/>
            <a:ext cx="10607040" cy="2322576"/>
          </a:xfrm>
          <a:prstGeom prst="rect">
            <a:avLst/>
          </a:prstGeom>
          <a:noFill/>
        </p:spPr>
        <p:txBody>
          <a:bodyPr wrap="square">
            <a:spAutoFit/>
          </a:bodyPr>
          <a:lstStyle/>
          <a:p>
            <a:pPr algn="ctr"/>
            <a:r>
              <a:rPr sz="3200" b="0" i="0">
                <a:solidFill>
                  <a:srgbClr val="333333"/>
                </a:solidFill>
              </a:rPr>
              <a:t>The request arrives within minutes from a lookalike address and reads like a real audit notice. Nothing is shared yet, but you still have not asked Finance whether an audit exists, and the pressure has simply moved to your inbox.</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25</a:t>
            </a:r>
          </a:p>
        </p:txBody>
      </p:sp>
      <p:sp>
        <p:nvSpPr>
          <p:cNvPr id="8" name="Kiosk Previous">
            <a:hlinkClick action="ppaction://hlinksldjump" r:id="rId3"/>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action="ppaction://hlinksldjump" r:id="rId4"/>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640080"/>
            <a:ext cx="11247120" cy="789939"/>
          </a:xfrm>
          <a:prstGeom prst="rect">
            <a:avLst/>
          </a:prstGeom>
          <a:noFill/>
        </p:spPr>
        <p:txBody>
          <a:bodyPr wrap="square">
            <a:spAutoFit/>
          </a:bodyPr>
          <a:lstStyle/>
          <a:p>
            <a:pPr algn="ctr"/>
            <a:r>
              <a:rPr sz="4400" b="1">
                <a:solidFill>
                  <a:srgbClr val="000000"/>
                </a:solidFill>
              </a:rPr>
              <a:t>DEBRIEF</a:t>
            </a:r>
          </a:p>
        </p:txBody>
      </p:sp>
      <p:sp>
        <p:nvSpPr>
          <p:cNvPr id="5" name="TextBox 4"/>
          <p:cNvSpPr txBox="1"/>
          <p:nvPr/>
        </p:nvSpPr>
        <p:spPr>
          <a:xfrm>
            <a:off x="792480" y="1642491"/>
            <a:ext cx="10607040" cy="4007866"/>
          </a:xfrm>
          <a:prstGeom prst="rect">
            <a:avLst/>
          </a:prstGeom>
          <a:noFill/>
        </p:spPr>
        <p:txBody>
          <a:bodyPr wrap="square">
            <a:spAutoFit/>
          </a:bodyPr>
          <a:lstStyle/>
          <a:p>
            <a:pPr>
              <a:spcAft>
                <a:spcPts val="1328"/>
              </a:spcAft>
              <a:defRPr sz="3300">
                <a:solidFill>
                  <a:srgbClr val="333333"/>
                </a:solidFill>
              </a:defRPr>
            </a:pPr>
            <a:r>
              <a:rPr sz="2800">
                <a:solidFill>
                  <a:srgbClr val="333333"/>
                </a:solidFill>
              </a:rPr>
              <a:t>A video call with a face you recognise can be a deepfake built from public footage, and “your manager already agreed” is a claim you cannot see. Using the secure folder looks like following the process, but the process starts with the request being real.</a:t>
            </a:r>
          </a:p>
          <a:p>
            <a:pPr>
              <a:spcAft>
                <a:spcPts val="1328"/>
              </a:spcAft>
              <a:defRPr sz="3300">
                <a:solidFill>
                  <a:srgbClr val="333333"/>
                </a:solidFill>
              </a:defRPr>
            </a:pPr>
            <a:r>
              <a:rPr sz="2800">
                <a:solidFill>
                  <a:srgbClr val="333333"/>
                </a:solidFill>
              </a:rPr>
              <a:t>Audit requests come through Finance. Ask Finance whether the audit exists before you share anything, however familiar the face.</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26</a:t>
            </a:r>
          </a:p>
        </p:txBody>
      </p:sp>
      <p:pic>
        <p:nvPicPr>
          <p:cNvPr id="8" name="narration_pay_L10.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9" name="Citation"/>
          <p:cNvSpPr txBox="1"/>
          <p:nvPr/>
        </p:nvSpPr>
        <p:spPr>
          <a:xfrm>
            <a:off x="457200" y="5870448"/>
            <a:ext cx="11247120" cy="432308"/>
          </a:xfrm>
          <a:prstGeom prst="rect">
            <a:avLst/>
          </a:prstGeom>
          <a:noFill/>
        </p:spPr>
        <p:txBody>
          <a:bodyPr wrap="square">
            <a:spAutoFit/>
          </a:bodyPr>
          <a:lstStyle/>
          <a:p>
            <a:pPr algn="l"/>
            <a:r>
              <a:rPr lang="en-US" sz="1800" i="1">
                <a:solidFill>
                  <a:srgbClr val="666666"/>
                </a:solidFill>
              </a:rPr>
              <a:t>Source: FBI IC3 PSA I-120324-PSA (AI video in live chats with alleged executives)</a:t>
            </a:r>
          </a:p>
        </p:txBody>
      </p:sp>
      <p:sp>
        <p:nvSpPr>
          <p:cNvPr id="10" name="Kiosk Previous">
            <a:hlinkClick r:id="rId6"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1" name="Kiosk Next">
            <a:hlinkClick r:id="rId7"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522" fill="hold"/>
                                        <p:tgtEl>
                                          <p:spTgt spid="8"/>
                                        </p:tgtEl>
                                      </p:cBhvr>
                                    </p:cmd>
                                  </p:childTnLst>
                                </p:cTn>
                              </p:par>
                              <p:par>
                                <p:cTn id="20" presetID="26" presetClass="emph" presetSubtype="0" repeatCount="indefinite" fill="hold" grpId="0" nodeType="withEffect">
                                  <p:stCondLst>
                                    <p:cond delay="25522"/>
                                  </p:stCondLst>
                                  <p:childTnLst>
                                    <p:animEffect transition="out" filter="fade">
                                      <p:cBhvr>
                                        <p:cTn id="21" dur="1000" tmFilter="0, 0; .2, .5; .8, .5; 1, 0"/>
                                        <p:tgtEl>
                                          <p:spTgt spid="11"/>
                                        </p:tgtEl>
                                      </p:cBhvr>
                                    </p:animEffect>
                                    <p:animScale>
                                      <p:cBhvr>
                                        <p:cTn id="22" dur="500" autoRev="1" fill="hold"/>
                                        <p:tgtEl>
                                          <p:spTgt spid="1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8"/>
                </p:tgtEl>
              </p:cMediaNode>
            </p:audio>
          </p:childTnLst>
        </p:cTn>
      </p:par>
    </p:tnLst>
    <p:bldLst>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792480" y="1510284"/>
            <a:ext cx="10607040" cy="649224"/>
          </a:xfrm>
          <a:prstGeom prst="rect">
            <a:avLst/>
          </a:prstGeom>
          <a:noFill/>
        </p:spPr>
        <p:txBody>
          <a:bodyPr wrap="square">
            <a:spAutoFit/>
          </a:bodyPr>
          <a:lstStyle/>
          <a:p>
            <a:pPr algn="ctr"/>
            <a:r>
              <a:rPr sz="3600" b="1" i="0">
                <a:solidFill>
                  <a:srgbClr val="665CC7"/>
                </a:solidFill>
              </a:rPr>
              <a:t>PHASE 3</a:t>
            </a:r>
          </a:p>
        </p:txBody>
      </p:sp>
      <p:sp>
        <p:nvSpPr>
          <p:cNvPr id="5" name="TextBox 4"/>
          <p:cNvSpPr txBox="1"/>
          <p:nvPr/>
        </p:nvSpPr>
        <p:spPr>
          <a:xfrm>
            <a:off x="731520" y="2662428"/>
            <a:ext cx="10698480" cy="1021080"/>
          </a:xfrm>
          <a:prstGeom prst="rect">
            <a:avLst/>
          </a:prstGeom>
          <a:noFill/>
        </p:spPr>
        <p:txBody>
          <a:bodyPr wrap="none">
            <a:spAutoFit/>
          </a:bodyPr>
          <a:lstStyle/>
          <a:p>
            <a:pPr algn="ctr"/>
            <a:r>
              <a:rPr sz="6000" b="1">
                <a:solidFill>
                  <a:srgbClr val="000000"/>
                </a:solidFill>
              </a:rPr>
              <a:t>CONTAIN</a:t>
            </a:r>
          </a:p>
        </p:txBody>
      </p:sp>
      <p:sp>
        <p:nvSpPr>
          <p:cNvPr id="6" name="TextBox 5"/>
          <p:cNvSpPr txBox="1"/>
          <p:nvPr/>
        </p:nvSpPr>
        <p:spPr>
          <a:xfrm>
            <a:off x="792480" y="4186428"/>
            <a:ext cx="10607040" cy="1207008"/>
          </a:xfrm>
          <a:prstGeom prst="rect">
            <a:avLst/>
          </a:prstGeom>
          <a:noFill/>
        </p:spPr>
        <p:txBody>
          <a:bodyPr wrap="square">
            <a:spAutoFit/>
          </a:bodyPr>
          <a:lstStyle/>
          <a:p>
            <a:pPr algn="ctr"/>
            <a:r>
              <a:rPr sz="3600" b="0" i="1">
                <a:solidFill>
                  <a:srgbClr val="333333"/>
                </a:solidFill>
              </a:rPr>
              <a:t>You caught it, or you didn't. Either way, here's what happens next.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27</a:t>
            </a:r>
          </a:p>
        </p:txBody>
      </p:sp>
      <p:pic>
        <p:nvPicPr>
          <p:cNvPr id="57" name="narration_slide18.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
        <p:nvSpPr>
          <p:cNvPr id="58" name="Kiosk Previous">
            <a:hlinkClick r:id="rId2"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59" name="Kiosk Next">
            <a:hlinkClick r:id="rId1"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418" fill="hold"/>
                                        <p:tgtEl>
                                          <p:spTgt spid="57"/>
                                        </p:tgtEl>
                                      </p:cBhvr>
                                    </p:cmd>
                                  </p:childTnLst>
                                </p:cTn>
                              </p:par>
                              <p:par>
                                <p:cTn id="20" presetID="26" presetClass="emph" presetSubtype="0" repeatCount="indefinite" fill="hold" grpId="0" nodeType="withEffect">
                                  <p:stCondLst>
                                    <p:cond delay="7418"/>
                                  </p:stCondLst>
                                  <p:childTnLst>
                                    <p:animEffect transition="out" filter="fade">
                                      <p:cBhvr>
                                        <p:cTn id="21" dur="1000" tmFilter="0, 0; .2, .5; .8, .5; 1, 0"/>
                                        <p:tgtEl>
                                          <p:spTgt spid="59"/>
                                        </p:tgtEl>
                                      </p:cBhvr>
                                    </p:animEffect>
                                    <p:animScale>
                                      <p:cBhvr>
                                        <p:cTn id="22" dur="500" autoRev="1" fill="hold"/>
                                        <p:tgtEl>
                                          <p:spTgt spid="5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9"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CONTAIN: WHAT TO DO, IN ORDER</a:t>
            </a:r>
          </a:p>
        </p:txBody>
      </p:sp>
      <p:sp>
        <p:nvSpPr>
          <p:cNvPr id="5" name="TextBox 7"/>
          <p:cNvSpPr txBox="1"/>
          <p:nvPr/>
        </p:nvSpPr>
        <p:spPr>
          <a:xfrm>
            <a:off x="10698480" y="6309360"/>
            <a:ext cx="1280160" cy="365760"/>
          </a:xfrm>
          <a:prstGeom prst="rect">
            <a:avLst/>
          </a:prstGeom>
          <a:noFill/>
        </p:spPr>
        <p:txBody>
          <a:bodyPr wrap="none">
            <a:spAutoFit/>
          </a:bodyPr>
          <a:lstStyle/>
          <a:p>
            <a:pPr algn="r"/>
            <a:r>
              <a:rPr sz="1100"/>
              <a:t>28</a:t>
            </a:r>
          </a:p>
        </p:txBody>
      </p:sp>
      <p:sp>
        <p:nvSpPr>
          <p:cNvPr id="6"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FBI IC3 2025 Annual Report; ASD’s ACSC; Report Fraud; CAFC; GDPR; OAIC; IDCARE</a:t>
            </a:r>
          </a:p>
        </p:txBody>
      </p:sp>
      <p:sp>
        <p:nvSpPr>
          <p:cNvPr id="38" name="Contain note"/>
          <p:cNvSpPr txBox="1"/>
          <p:nvPr/>
        </p:nvSpPr>
        <p:spPr>
          <a:xfrm>
            <a:off x="457200" y="1143000"/>
            <a:ext cx="11247120" cy="274320"/>
          </a:xfrm>
          <a:prstGeom prst="rect">
            <a:avLst/>
          </a:prstGeom>
          <a:noFill/>
        </p:spPr>
        <p:txBody>
          <a:bodyPr wrap="square">
            <a:spAutoFit/>
          </a:bodyPr>
          <a:lstStyle/>
          <a:p>
            <a:pPr algn="ctr"/>
            <a:r>
              <a:rPr lang="en-US" sz="1400" i="1">
                <a:solidFill>
                  <a:srgbClr val="666666"/>
                </a:solidFill>
              </a:rPr>
              <a:t>The order may change depending on the situation. Follow your organisation's incident procedure.</a:t>
            </a:r>
          </a:p>
        </p:txBody>
      </p:sp>
      <p:sp>
        <p:nvSpPr>
          <p:cNvPr id="7" name="Rounded Rectangle 10"/>
          <p:cNvSpPr/>
          <p:nvPr/>
        </p:nvSpPr>
        <p:spPr>
          <a:xfrm>
            <a:off x="1280160" y="1481328"/>
            <a:ext cx="3749039" cy="502920"/>
          </a:xfrm>
          <a:prstGeom prst="roundRect">
            <a:avLst/>
          </a:prstGeom>
          <a:solidFill>
            <a:srgbClr val="FFFFFF"/>
          </a:solidFill>
          <a:ln w="19050">
            <a:solidFill>
              <a:srgbClr val="7A5FBF"/>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a:solidFill>
                  <a:srgbClr val="2E2A45"/>
                </a:solidFill>
              </a:rPr>
              <a:t>You suspect an attempt</a:t>
            </a:r>
          </a:p>
        </p:txBody>
      </p:sp>
      <p:sp>
        <p:nvSpPr>
          <p:cNvPr id="8" name="Right Arrow 11"/>
          <p:cNvSpPr/>
          <p:nvPr/>
        </p:nvSpPr>
        <p:spPr>
          <a:xfrm>
            <a:off x="5138928" y="1554480"/>
            <a:ext cx="457200" cy="365760"/>
          </a:xfrm>
          <a:prstGeom prst="rightArrow">
            <a:avLst/>
          </a:prstGeom>
          <a:solidFill>
            <a:srgbClr val="7A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12"/>
          <p:cNvSpPr/>
          <p:nvPr/>
        </p:nvSpPr>
        <p:spPr>
          <a:xfrm>
            <a:off x="5705856" y="1481328"/>
            <a:ext cx="5212080" cy="502920"/>
          </a:xfrm>
          <a:prstGeom prst="roundRect">
            <a:avLst/>
          </a:prstGeom>
          <a:solidFill>
            <a:srgbClr val="FFFFFF"/>
          </a:solidFill>
          <a:ln w="19050">
            <a:solidFill>
              <a:srgbClr val="7A5FBF"/>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a:solidFill>
                  <a:srgbClr val="2E2A45"/>
                </a:solidFill>
              </a:rPr>
              <a:t>Has money or data moved?</a:t>
            </a:r>
          </a:p>
        </p:txBody>
      </p:sp>
      <p:sp>
        <p:nvSpPr>
          <p:cNvPr id="10" name="Rounded Rectangle 13"/>
          <p:cNvSpPr/>
          <p:nvPr/>
        </p:nvSpPr>
        <p:spPr>
          <a:xfrm>
            <a:off x="548640" y="2148840"/>
            <a:ext cx="5440680" cy="2194560"/>
          </a:xfrm>
          <a:prstGeom prst="roundRect">
            <a:avLst>
              <a:gd name="adj" fmla="val 8000"/>
            </a:avLst>
          </a:prstGeom>
          <a:solidFill>
            <a:srgbClr val="E7E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4"/>
          <p:cNvSpPr txBox="1"/>
          <p:nvPr/>
        </p:nvSpPr>
        <p:spPr>
          <a:xfrm>
            <a:off x="731520" y="2194560"/>
            <a:ext cx="5029200" cy="411480"/>
          </a:xfrm>
          <a:prstGeom prst="rect">
            <a:avLst/>
          </a:prstGeom>
          <a:noFill/>
        </p:spPr>
        <p:txBody>
          <a:bodyPr wrap="square">
            <a:spAutoFit/>
          </a:bodyPr>
          <a:lstStyle/>
          <a:p>
            <a:pPr algn="l"/>
            <a:r>
              <a:rPr sz="2200" b="1" i="0" dirty="0">
                <a:solidFill>
                  <a:srgbClr val="4B3A8C"/>
                </a:solidFill>
              </a:rPr>
              <a:t>No: nothing moved yet</a:t>
            </a:r>
          </a:p>
        </p:txBody>
      </p:sp>
      <p:sp>
        <p:nvSpPr>
          <p:cNvPr id="12" name="Oval 15"/>
          <p:cNvSpPr/>
          <p:nvPr/>
        </p:nvSpPr>
        <p:spPr>
          <a:xfrm>
            <a:off x="795528" y="2761488"/>
            <a:ext cx="420624" cy="420624"/>
          </a:xfrm>
          <a:prstGeom prst="ellipse">
            <a:avLst/>
          </a:prstGeom>
          <a:solidFill>
            <a:srgbClr val="7A5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1</a:t>
            </a:r>
          </a:p>
        </p:txBody>
      </p:sp>
      <p:sp>
        <p:nvSpPr>
          <p:cNvPr id="13" name="TextBox 4"/>
          <p:cNvSpPr txBox="1"/>
          <p:nvPr/>
        </p:nvSpPr>
        <p:spPr>
          <a:xfrm>
            <a:off x="1371600" y="2743200"/>
            <a:ext cx="4526280" cy="457200"/>
          </a:xfrm>
          <a:prstGeom prst="rect">
            <a:avLst/>
          </a:prstGeom>
          <a:noFill/>
        </p:spPr>
        <p:txBody>
          <a:bodyPr wrap="square">
            <a:spAutoFit/>
          </a:bodyPr>
          <a:lstStyle/>
          <a:p>
            <a:pPr algn="l"/>
            <a:r>
              <a:rPr sz="2000" b="0" i="0" dirty="0">
                <a:solidFill>
                  <a:srgbClr val="2E2A45"/>
                </a:solidFill>
              </a:rPr>
              <a:t>Hold the change</a:t>
            </a:r>
          </a:p>
        </p:txBody>
      </p:sp>
      <p:sp>
        <p:nvSpPr>
          <p:cNvPr id="14" name="Rectangle 17"/>
          <p:cNvSpPr/>
          <p:nvPr/>
        </p:nvSpPr>
        <p:spPr>
          <a:xfrm>
            <a:off x="992124" y="3182112"/>
            <a:ext cx="27432" cy="146303"/>
          </a:xfrm>
          <a:prstGeom prst="rect">
            <a:avLst/>
          </a:prstGeom>
          <a:solidFill>
            <a:srgbClr val="7A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8"/>
          <p:cNvSpPr/>
          <p:nvPr/>
        </p:nvSpPr>
        <p:spPr>
          <a:xfrm>
            <a:off x="795528" y="3328416"/>
            <a:ext cx="420624" cy="420624"/>
          </a:xfrm>
          <a:prstGeom prst="ellipse">
            <a:avLst/>
          </a:prstGeom>
          <a:solidFill>
            <a:srgbClr val="7A5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2</a:t>
            </a:r>
          </a:p>
        </p:txBody>
      </p:sp>
      <p:sp>
        <p:nvSpPr>
          <p:cNvPr id="16" name="TextBox 4"/>
          <p:cNvSpPr txBox="1"/>
          <p:nvPr/>
        </p:nvSpPr>
        <p:spPr>
          <a:xfrm>
            <a:off x="1371600" y="3310128"/>
            <a:ext cx="4526280" cy="457200"/>
          </a:xfrm>
          <a:prstGeom prst="rect">
            <a:avLst/>
          </a:prstGeom>
          <a:noFill/>
        </p:spPr>
        <p:txBody>
          <a:bodyPr wrap="square">
            <a:spAutoFit/>
          </a:bodyPr>
          <a:lstStyle/>
          <a:p>
            <a:pPr algn="l"/>
            <a:r>
              <a:rPr sz="2000" b="0" i="0" dirty="0">
                <a:solidFill>
                  <a:srgbClr val="2E2A45"/>
                </a:solidFill>
              </a:rPr>
              <a:t>Verify through a known contact</a:t>
            </a:r>
          </a:p>
        </p:txBody>
      </p:sp>
      <p:sp>
        <p:nvSpPr>
          <p:cNvPr id="17" name="Rectangle 20"/>
          <p:cNvSpPr/>
          <p:nvPr/>
        </p:nvSpPr>
        <p:spPr>
          <a:xfrm>
            <a:off x="992124" y="3749040"/>
            <a:ext cx="27432" cy="146303"/>
          </a:xfrm>
          <a:prstGeom prst="rect">
            <a:avLst/>
          </a:prstGeom>
          <a:solidFill>
            <a:srgbClr val="7A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21"/>
          <p:cNvSpPr/>
          <p:nvPr/>
        </p:nvSpPr>
        <p:spPr>
          <a:xfrm>
            <a:off x="795528" y="3895344"/>
            <a:ext cx="420624" cy="420624"/>
          </a:xfrm>
          <a:prstGeom prst="ellipse">
            <a:avLst/>
          </a:prstGeom>
          <a:solidFill>
            <a:srgbClr val="7A5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3</a:t>
            </a:r>
          </a:p>
        </p:txBody>
      </p:sp>
      <p:sp>
        <p:nvSpPr>
          <p:cNvPr id="19" name="TextBox 4"/>
          <p:cNvSpPr txBox="1"/>
          <p:nvPr/>
        </p:nvSpPr>
        <p:spPr>
          <a:xfrm>
            <a:off x="1371600" y="3877056"/>
            <a:ext cx="4526280" cy="457200"/>
          </a:xfrm>
          <a:prstGeom prst="rect">
            <a:avLst/>
          </a:prstGeom>
          <a:noFill/>
        </p:spPr>
        <p:txBody>
          <a:bodyPr wrap="square">
            <a:spAutoFit/>
          </a:bodyPr>
          <a:lstStyle/>
          <a:p>
            <a:pPr algn="l"/>
            <a:r>
              <a:rPr sz="2000" b="0" i="0" dirty="0">
                <a:solidFill>
                  <a:srgbClr val="2E2A45"/>
                </a:solidFill>
              </a:rPr>
              <a:t>Tell IT or Security</a:t>
            </a:r>
          </a:p>
        </p:txBody>
      </p:sp>
      <p:sp>
        <p:nvSpPr>
          <p:cNvPr id="20" name="Rounded Rectangle 23"/>
          <p:cNvSpPr/>
          <p:nvPr/>
        </p:nvSpPr>
        <p:spPr>
          <a:xfrm>
            <a:off x="6199632" y="2148840"/>
            <a:ext cx="5440680" cy="2194560"/>
          </a:xfrm>
          <a:prstGeom prst="roundRect">
            <a:avLst>
              <a:gd name="adj" fmla="val 8000"/>
            </a:avLst>
          </a:prstGeom>
          <a:solidFill>
            <a:srgbClr val="FBE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4"/>
          <p:cNvSpPr txBox="1"/>
          <p:nvPr/>
        </p:nvSpPr>
        <p:spPr>
          <a:xfrm>
            <a:off x="6382512" y="2194560"/>
            <a:ext cx="5029200" cy="411480"/>
          </a:xfrm>
          <a:prstGeom prst="rect">
            <a:avLst/>
          </a:prstGeom>
          <a:noFill/>
        </p:spPr>
        <p:txBody>
          <a:bodyPr wrap="square">
            <a:spAutoFit/>
          </a:bodyPr>
          <a:lstStyle/>
          <a:p>
            <a:pPr algn="l"/>
            <a:r>
              <a:rPr sz="2200" b="1" i="0" dirty="0">
                <a:solidFill>
                  <a:srgbClr val="A3470F"/>
                </a:solidFill>
              </a:rPr>
              <a:t>Yes: already moved</a:t>
            </a:r>
          </a:p>
        </p:txBody>
      </p:sp>
      <p:sp>
        <p:nvSpPr>
          <p:cNvPr id="22" name="Oval 25"/>
          <p:cNvSpPr/>
          <p:nvPr/>
        </p:nvSpPr>
        <p:spPr>
          <a:xfrm>
            <a:off x="6446520" y="2761488"/>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1</a:t>
            </a:r>
          </a:p>
        </p:txBody>
      </p:sp>
      <p:sp>
        <p:nvSpPr>
          <p:cNvPr id="23" name="TextBox 4"/>
          <p:cNvSpPr txBox="1"/>
          <p:nvPr/>
        </p:nvSpPr>
        <p:spPr>
          <a:xfrm>
            <a:off x="7022592" y="2743200"/>
            <a:ext cx="4526280" cy="457200"/>
          </a:xfrm>
          <a:prstGeom prst="rect">
            <a:avLst/>
          </a:prstGeom>
          <a:noFill/>
        </p:spPr>
        <p:txBody>
          <a:bodyPr wrap="square">
            <a:spAutoFit/>
          </a:bodyPr>
          <a:lstStyle/>
          <a:p>
            <a:pPr algn="l"/>
            <a:r>
              <a:rPr sz="2000" b="0" i="0" dirty="0">
                <a:solidFill>
                  <a:srgbClr val="2E2A45"/>
                </a:solidFill>
              </a:rPr>
              <a:t>Call your bank: ask for a recall</a:t>
            </a:r>
          </a:p>
        </p:txBody>
      </p:sp>
      <p:sp>
        <p:nvSpPr>
          <p:cNvPr id="24" name="Rectangle 27"/>
          <p:cNvSpPr/>
          <p:nvPr/>
        </p:nvSpPr>
        <p:spPr>
          <a:xfrm>
            <a:off x="6643116" y="3182112"/>
            <a:ext cx="27432" cy="146303"/>
          </a:xfrm>
          <a:prstGeom prst="rect">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8"/>
          <p:cNvSpPr/>
          <p:nvPr/>
        </p:nvSpPr>
        <p:spPr>
          <a:xfrm>
            <a:off x="6446520" y="3328416"/>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2</a:t>
            </a:r>
          </a:p>
        </p:txBody>
      </p:sp>
      <p:sp>
        <p:nvSpPr>
          <p:cNvPr id="26" name="TextBox 4"/>
          <p:cNvSpPr txBox="1"/>
          <p:nvPr/>
        </p:nvSpPr>
        <p:spPr>
          <a:xfrm>
            <a:off x="7022592" y="3310128"/>
            <a:ext cx="4526280" cy="457200"/>
          </a:xfrm>
          <a:prstGeom prst="rect">
            <a:avLst/>
          </a:prstGeom>
          <a:noFill/>
        </p:spPr>
        <p:txBody>
          <a:bodyPr wrap="square">
            <a:spAutoFit/>
          </a:bodyPr>
          <a:lstStyle/>
          <a:p>
            <a:pPr algn="l"/>
            <a:r>
              <a:rPr sz="2000" b="0" i="0" dirty="0">
                <a:solidFill>
                  <a:srgbClr val="2E2A45"/>
                </a:solidFill>
              </a:rPr>
              <a:t>Tell the real employee</a:t>
            </a:r>
          </a:p>
        </p:txBody>
      </p:sp>
      <p:sp>
        <p:nvSpPr>
          <p:cNvPr id="27" name="Rectangle 30"/>
          <p:cNvSpPr/>
          <p:nvPr/>
        </p:nvSpPr>
        <p:spPr>
          <a:xfrm>
            <a:off x="6643116" y="3749040"/>
            <a:ext cx="27432" cy="146303"/>
          </a:xfrm>
          <a:prstGeom prst="rect">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31"/>
          <p:cNvSpPr/>
          <p:nvPr/>
        </p:nvSpPr>
        <p:spPr>
          <a:xfrm>
            <a:off x="6446520" y="3895344"/>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3</a:t>
            </a:r>
          </a:p>
        </p:txBody>
      </p:sp>
      <p:sp>
        <p:nvSpPr>
          <p:cNvPr id="29" name="TextBox 4"/>
          <p:cNvSpPr txBox="1"/>
          <p:nvPr/>
        </p:nvSpPr>
        <p:spPr>
          <a:xfrm>
            <a:off x="7022592" y="3877056"/>
            <a:ext cx="4526280" cy="457200"/>
          </a:xfrm>
          <a:prstGeom prst="rect">
            <a:avLst/>
          </a:prstGeom>
          <a:noFill/>
        </p:spPr>
        <p:txBody>
          <a:bodyPr wrap="square">
            <a:spAutoFit/>
          </a:bodyPr>
          <a:lstStyle/>
          <a:p>
            <a:pPr algn="l"/>
            <a:r>
              <a:rPr sz="2000" b="0" i="0" dirty="0">
                <a:solidFill>
                  <a:srgbClr val="2E2A45"/>
                </a:solidFill>
              </a:rPr>
              <a:t>Tell your manager</a:t>
            </a:r>
          </a:p>
        </p:txBody>
      </p:sp>
      <p:sp>
        <p:nvSpPr>
          <p:cNvPr id="30" name="Down Arrow 33"/>
          <p:cNvSpPr/>
          <p:nvPr/>
        </p:nvSpPr>
        <p:spPr>
          <a:xfrm>
            <a:off x="3086100" y="4389120"/>
            <a:ext cx="365760" cy="237744"/>
          </a:xfrm>
          <a:prstGeom prst="downArrow">
            <a:avLst/>
          </a:prstGeom>
          <a:solidFill>
            <a:srgbClr val="9A8C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own Arrow 34"/>
          <p:cNvSpPr/>
          <p:nvPr/>
        </p:nvSpPr>
        <p:spPr>
          <a:xfrm>
            <a:off x="8737092" y="4389120"/>
            <a:ext cx="365760" cy="237744"/>
          </a:xfrm>
          <a:prstGeom prst="downArrow">
            <a:avLst/>
          </a:prstGeom>
          <a:solidFill>
            <a:srgbClr val="9A8C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4"/>
          <p:cNvSpPr/>
          <p:nvPr/>
        </p:nvSpPr>
        <p:spPr>
          <a:xfrm>
            <a:off x="548640" y="4663440"/>
            <a:ext cx="3611880" cy="1170432"/>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Keep the evidence</a:t>
            </a:r>
          </a:p>
          <a:p>
            <a:pPr algn="ctr"/>
            <a:r>
              <a:rPr sz="1800">
                <a:solidFill>
                  <a:srgbClr val="FFFFFF"/>
                </a:solidFill>
              </a:rPr>
              <a:t>Email, text, call log</a:t>
            </a:r>
          </a:p>
        </p:txBody>
      </p:sp>
      <p:sp>
        <p:nvSpPr>
          <p:cNvPr id="33" name="Rounded Rectangle 4"/>
          <p:cNvSpPr/>
          <p:nvPr/>
        </p:nvSpPr>
        <p:spPr>
          <a:xfrm>
            <a:off x="4288536" y="4663440"/>
            <a:ext cx="3611880" cy="1170432"/>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Report it</a:t>
            </a:r>
          </a:p>
          <a:p>
            <a:pPr algn="ctr"/>
            <a:r>
              <a:rPr sz="1800">
                <a:solidFill>
                  <a:srgbClr val="FFFFFF"/>
                </a:solidFill>
              </a:rPr>
              <a:t>ReportCyber, IC3, Report Fraud, CAFC</a:t>
            </a:r>
          </a:p>
        </p:txBody>
      </p:sp>
      <p:sp>
        <p:nvSpPr>
          <p:cNvPr id="34" name="Rounded Rectangle 4"/>
          <p:cNvSpPr/>
          <p:nvPr/>
        </p:nvSpPr>
        <p:spPr>
          <a:xfrm>
            <a:off x="8028431" y="4663440"/>
            <a:ext cx="3611880" cy="1170432"/>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Check privacy duties</a:t>
            </a:r>
          </a:p>
          <a:p>
            <a:pPr algn="ctr"/>
            <a:r>
              <a:rPr sz="1400">
                <a:solidFill>
                  <a:srgbClr val="FFFFFF"/>
                </a:solidFill>
              </a:rPr>
              <a:t>Rules differ by country; in Australia, the Notifiable Data Breaches scheme covers tax file numbers.</a:t>
            </a:r>
          </a:p>
        </p:txBody>
      </p:sp>
      <p:sp>
        <p:nvSpPr>
          <p:cNvPr id="35" name="Kiosk Previous">
            <a:hlinkClick r:id="rId3"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36" name="Kiosk Next">
            <a:hlinkClick r:id="rId4"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37" name="narration_pay_P7.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2594" fill="hold"/>
                                        <p:tgtEl>
                                          <p:spTgt spid="37"/>
                                        </p:tgtEl>
                                      </p:cBhvr>
                                    </p:cmd>
                                  </p:childTnLst>
                                </p:cTn>
                              </p:par>
                              <p:par>
                                <p:cTn id="20" presetID="26" presetClass="emph" presetSubtype="0" repeatCount="indefinite" fill="hold" grpId="0" nodeType="withEffect">
                                  <p:stCondLst>
                                    <p:cond delay="72594"/>
                                  </p:stCondLst>
                                  <p:childTnLst>
                                    <p:animEffect transition="out" filter="fade">
                                      <p:cBhvr>
                                        <p:cTn id="21" dur="1000" tmFilter="0, 0; .2, .5; .8, .5; 1, 0"/>
                                        <p:tgtEl>
                                          <p:spTgt spid="36"/>
                                        </p:tgtEl>
                                      </p:cBhvr>
                                    </p:animEffect>
                                    <p:animScale>
                                      <p:cBhvr>
                                        <p:cTn id="22" dur="500" autoRev="1" fill="hold"/>
                                        <p:tgtEl>
                                          <p:spTgt spid="36"/>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37"/>
                </p:tgtEl>
              </p:cMediaNode>
            </p:audio>
          </p:childTnLst>
        </p:cTn>
      </p:par>
    </p:tnLst>
    <p:bldLst>
      <p:bldP spid="3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480" y="774511"/>
            <a:ext cx="10607040" cy="789939"/>
          </a:xfrm>
          <a:prstGeom prst="rect">
            <a:avLst/>
          </a:prstGeom>
          <a:noFill/>
        </p:spPr>
        <p:txBody>
          <a:bodyPr wrap="square">
            <a:spAutoFit/>
          </a:bodyPr>
          <a:lstStyle/>
          <a:p>
            <a:pPr algn="ctr"/>
            <a:r>
              <a:rPr sz="4400" b="1">
                <a:solidFill>
                  <a:srgbClr val="000000"/>
                </a:solidFill>
              </a:rPr>
              <a:t>KNOWLEDGE CHECK: CONTAIN (Q1)</a:t>
            </a:r>
          </a:p>
        </p:txBody>
      </p:sp>
      <p:sp>
        <p:nvSpPr>
          <p:cNvPr id="5" name="TextBox 4"/>
          <p:cNvSpPr txBox="1"/>
          <p:nvPr/>
        </p:nvSpPr>
        <p:spPr>
          <a:xfrm>
            <a:off x="792480" y="1784414"/>
            <a:ext cx="10607040" cy="1114044"/>
          </a:xfrm>
          <a:prstGeom prst="rect">
            <a:avLst/>
          </a:prstGeom>
          <a:noFill/>
        </p:spPr>
        <p:txBody>
          <a:bodyPr wrap="square">
            <a:spAutoFit/>
          </a:bodyPr>
          <a:lstStyle/>
          <a:p>
            <a:pPr algn="ctr"/>
            <a:r>
              <a:rPr sz="2800" b="1" i="0">
                <a:solidFill>
                  <a:srgbClr val="333333"/>
                </a:solidFill>
              </a:rPr>
              <a:t>It is Saturday. You now suspect Friday's bank-detail change was fake, and the pay has already gone out. What do you do first?</a:t>
            </a:r>
          </a:p>
        </p:txBody>
      </p:sp>
      <p:sp>
        <p:nvSpPr>
          <p:cNvPr id="6" name="Rounded Rectangle 5">
            <a:hlinkClick action="ppaction://hlinksldjump" r:id="rId4"/>
          </p:cNvPr>
          <p:cNvSpPr/>
          <p:nvPr/>
        </p:nvSpPr>
        <p:spPr>
          <a:xfrm>
            <a:off x="932688" y="3520440"/>
            <a:ext cx="10332720" cy="731520"/>
          </a:xfrm>
          <a:prstGeom prst="roundRect">
            <a:avLst>
              <a:gd name="adj" fmla="val 15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2000" b="1">
                <a:solidFill>
                  <a:srgbClr val="FFFFFF"/>
                </a:solidFill>
              </a:rPr>
              <a:t>A)  Email the employee to confirm her new details, then contact the bank on Monday</a:t>
            </a:r>
          </a:p>
        </p:txBody>
      </p:sp>
      <p:sp>
        <p:nvSpPr>
          <p:cNvPr id="7" name="Rounded Rectangle 6">
            <a:hlinkClick action="ppaction://hlinksldjump" r:id="rId3"/>
          </p:cNvPr>
          <p:cNvSpPr/>
          <p:nvPr/>
        </p:nvSpPr>
        <p:spPr>
          <a:xfrm>
            <a:off x="932688" y="4325112"/>
            <a:ext cx="10332720" cy="731520"/>
          </a:xfrm>
          <a:prstGeom prst="roundRect">
            <a:avLst>
              <a:gd name="adj" fmla="val 15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2000" b="1">
                <a:solidFill>
                  <a:srgbClr val="FFFFFF"/>
                </a:solidFill>
              </a:rPr>
              <a:t>B)  Call your bank's after-hours fraud line and ask them to recall the payment</a:t>
            </a:r>
          </a:p>
        </p:txBody>
      </p:sp>
      <p:sp>
        <p:nvSpPr>
          <p:cNvPr id="8" name="Rounded Rectangle 7">
            <a:hlinkClick action="ppaction://hlinksldjump" r:id="rId4"/>
          </p:cNvPr>
          <p:cNvSpPr/>
          <p:nvPr/>
        </p:nvSpPr>
        <p:spPr>
          <a:xfrm>
            <a:off x="932688" y="5129784"/>
            <a:ext cx="10332720" cy="731520"/>
          </a:xfrm>
          <a:prstGeom prst="roundRect">
            <a:avLst>
              <a:gd name="adj" fmla="val 15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2000" b="1">
                <a:solidFill>
                  <a:srgbClr val="FFFFFF"/>
                </a:solidFill>
              </a:rPr>
              <a:t>C)  Tell IT and your manager first, so that one person coordinates the response</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29</a:t>
            </a:r>
          </a:p>
        </p:txBody>
      </p:sp>
      <p:sp>
        <p:nvSpPr>
          <p:cNvPr id="10" name="Kiosk Previous">
            <a:hlinkClick r:id="rId5" action="ppaction://hlinksldjump"/>
          </p:cNvPr>
          <p:cNvSpPr/>
          <p:nvPr/>
        </p:nvSpPr>
        <p:spPr>
          <a:xfrm>
            <a:off x="536448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Tree>
  </p:cSld>
  <p:clrMapOvr>
    <a:masterClrMapping/>
  </p:clrMapOvr>
  <p:transition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E88A00"/>
                </a:solidFill>
              </a:rPr>
              <a:t>NOT QUITE</a:t>
            </a:r>
          </a:p>
        </p:txBody>
      </p:sp>
      <p:sp>
        <p:nvSpPr>
          <p:cNvPr id="5" name="TextBox 4"/>
          <p:cNvSpPr txBox="1"/>
          <p:nvPr/>
        </p:nvSpPr>
        <p:spPr>
          <a:xfrm>
            <a:off x="792480" y="2290318"/>
            <a:ext cx="10607040" cy="2322576"/>
          </a:xfrm>
          <a:prstGeom prst="rect">
            <a:avLst/>
          </a:prstGeom>
          <a:noFill/>
        </p:spPr>
        <p:txBody>
          <a:bodyPr wrap="square">
            <a:spAutoFit/>
          </a:bodyPr>
          <a:lstStyle/>
          <a:p>
            <a:pPr algn="ctr"/>
            <a:r>
              <a:rPr sz="3200" b="0" i="0">
                <a:solidFill>
                  <a:srgbClr val="333333"/>
                </a:solidFill>
              </a:rPr>
              <a:t>The answer is B) Call your bank's after-hours fraud line and ask them to recall the payment. Once money has moved, speed matters most. The bank is the only one who can try to recall it, so call first, then tell the real employee, IT and your manager.</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30</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108456"/>
            <a:ext cx="9418320" cy="773176"/>
          </a:xfrm>
          <a:prstGeom prst="rect">
            <a:avLst/>
          </a:prstGeom>
          <a:noFill/>
        </p:spPr>
        <p:txBody>
          <a:bodyPr wrap="none">
            <a:spAutoFit/>
          </a:bodyPr>
          <a:lstStyle/>
          <a:p>
            <a:pPr algn="ctr"/>
            <a:r>
              <a:rPr sz="4400" b="1">
                <a:solidFill>
                  <a:srgbClr val="8B7FE8"/>
                </a:solidFill>
              </a:rPr>
              <a:t>CORRECT!</a:t>
            </a:r>
          </a:p>
        </p:txBody>
      </p:sp>
      <p:sp>
        <p:nvSpPr>
          <p:cNvPr id="5" name="TextBox 4"/>
          <p:cNvSpPr txBox="1"/>
          <p:nvPr/>
        </p:nvSpPr>
        <p:spPr>
          <a:xfrm>
            <a:off x="792480" y="2384552"/>
            <a:ext cx="10607040" cy="1764792"/>
          </a:xfrm>
          <a:prstGeom prst="rect">
            <a:avLst/>
          </a:prstGeom>
          <a:noFill/>
        </p:spPr>
        <p:txBody>
          <a:bodyPr wrap="square">
            <a:spAutoFit/>
          </a:bodyPr>
          <a:lstStyle/>
          <a:p>
            <a:pPr algn="ctr"/>
            <a:r>
              <a:rPr sz="3200" b="0" i="0">
                <a:solidFill>
                  <a:srgbClr val="333333"/>
                </a:solidFill>
              </a:rPr>
              <a:t>Right. Once money has moved, speed matters most. The bank is the only one who can try to recall it, so call first, then tell the real employee, IT and your manager.</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31</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480" y="867475"/>
            <a:ext cx="10607040" cy="789939"/>
          </a:xfrm>
          <a:prstGeom prst="rect">
            <a:avLst/>
          </a:prstGeom>
          <a:noFill/>
        </p:spPr>
        <p:txBody>
          <a:bodyPr wrap="square">
            <a:spAutoFit/>
          </a:bodyPr>
          <a:lstStyle/>
          <a:p>
            <a:pPr algn="ctr"/>
            <a:r>
              <a:rPr sz="4400" b="1">
                <a:solidFill>
                  <a:srgbClr val="000000"/>
                </a:solidFill>
              </a:rPr>
              <a:t>KNOWLEDGE CHECK: CONTAIN (Q2)</a:t>
            </a:r>
          </a:p>
        </p:txBody>
      </p:sp>
      <p:sp>
        <p:nvSpPr>
          <p:cNvPr id="5" name="TextBox 4"/>
          <p:cNvSpPr txBox="1"/>
          <p:nvPr/>
        </p:nvSpPr>
        <p:spPr>
          <a:xfrm>
            <a:off x="792480" y="1847054"/>
            <a:ext cx="10607040" cy="866140"/>
          </a:xfrm>
          <a:prstGeom prst="rect">
            <a:avLst/>
          </a:prstGeom>
          <a:noFill/>
        </p:spPr>
        <p:txBody>
          <a:bodyPr wrap="square">
            <a:spAutoFit/>
          </a:bodyPr>
          <a:lstStyle/>
          <a:p>
            <a:pPr algn="ctr"/>
            <a:r>
              <a:rPr sz="2400" b="1" i="0">
                <a:solidFill>
                  <a:srgbClr val="333333"/>
                </a:solidFill>
              </a:rPr>
              <a:t>An employee tapped a text link and typed in her pay details. Your manager says to keep it quiet to avoid panic. What do you do?</a:t>
            </a:r>
          </a:p>
        </p:txBody>
      </p:sp>
      <p:sp>
        <p:nvSpPr>
          <p:cNvPr id="6" name="Rounded Rectangle 5">
            <a:hlinkClick action="ppaction://hlinksldjump" r:id="rId4"/>
          </p:cNvPr>
          <p:cNvSpPr/>
          <p:nvPr/>
        </p:nvSpPr>
        <p:spPr>
          <a:xfrm>
            <a:off x="932688" y="3520440"/>
            <a:ext cx="10332720" cy="731520"/>
          </a:xfrm>
          <a:prstGeom prst="roundRect">
            <a:avLst>
              <a:gd name="adj" fmla="val 15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2000" b="1">
                <a:solidFill>
                  <a:srgbClr val="FFFFFF"/>
                </a:solidFill>
              </a:rPr>
              <a:t>A)  Warn staff, tell IT, and have her contact her bank and change passwords</a:t>
            </a:r>
          </a:p>
        </p:txBody>
      </p:sp>
      <p:sp>
        <p:nvSpPr>
          <p:cNvPr id="7" name="Rounded Rectangle 6">
            <a:hlinkClick action="ppaction://hlinksldjump" r:id="rId3"/>
          </p:cNvPr>
          <p:cNvSpPr/>
          <p:nvPr/>
        </p:nvSpPr>
        <p:spPr>
          <a:xfrm>
            <a:off x="932688" y="4325112"/>
            <a:ext cx="10332720" cy="731520"/>
          </a:xfrm>
          <a:prstGeom prst="roundRect">
            <a:avLst>
              <a:gd name="adj" fmla="val 15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2000" b="1">
                <a:solidFill>
                  <a:srgbClr val="FFFFFF"/>
                </a:solidFill>
              </a:rPr>
              <a:t>B)  Tell IT quietly and watch her accounts, so staff are not alarmed</a:t>
            </a:r>
          </a:p>
        </p:txBody>
      </p:sp>
      <p:sp>
        <p:nvSpPr>
          <p:cNvPr id="8" name="Rounded Rectangle 7">
            <a:hlinkClick action="ppaction://hlinksldjump" r:id="rId3"/>
          </p:cNvPr>
          <p:cNvSpPr/>
          <p:nvPr/>
        </p:nvSpPr>
        <p:spPr>
          <a:xfrm>
            <a:off x="932688" y="5129784"/>
            <a:ext cx="10332720" cy="731520"/>
          </a:xfrm>
          <a:prstGeom prst="roundRect">
            <a:avLst>
              <a:gd name="adj" fmla="val 15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2000" b="1">
                <a:solidFill>
                  <a:srgbClr val="FFFFFF"/>
                </a:solidFill>
              </a:rPr>
              <a:t>C)  Ask her to contact her bank, and leave the wider response to IT</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32</a:t>
            </a:r>
          </a:p>
        </p:txBody>
      </p:sp>
      <p:sp>
        <p:nvSpPr>
          <p:cNvPr id="10" name="Kiosk Previous">
            <a:hlinkClick r:id="rId5" action="ppaction://hlinksldjump"/>
          </p:cNvPr>
          <p:cNvSpPr/>
          <p:nvPr/>
        </p:nvSpPr>
        <p:spPr>
          <a:xfrm>
            <a:off x="536448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Tree>
  </p:cSld>
  <p:clrMapOvr>
    <a:masterClrMapping/>
  </p:clrMapOvr>
  <p:transition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E88A00"/>
                </a:solidFill>
              </a:rPr>
              <a:t>NOT QUITE</a:t>
            </a:r>
          </a:p>
        </p:txBody>
      </p:sp>
      <p:sp>
        <p:nvSpPr>
          <p:cNvPr id="5" name="TextBox 4"/>
          <p:cNvSpPr txBox="1"/>
          <p:nvPr/>
        </p:nvSpPr>
        <p:spPr>
          <a:xfrm>
            <a:off x="792480" y="2476246"/>
            <a:ext cx="10607040" cy="1764792"/>
          </a:xfrm>
          <a:prstGeom prst="rect">
            <a:avLst/>
          </a:prstGeom>
          <a:noFill/>
        </p:spPr>
        <p:txBody>
          <a:bodyPr wrap="square">
            <a:spAutoFit/>
          </a:bodyPr>
          <a:lstStyle/>
          <a:p>
            <a:pPr algn="ctr"/>
            <a:r>
              <a:rPr sz="2400" b="0" i="0">
                <a:solidFill>
                  <a:srgbClr val="333333"/>
                </a:solidFill>
              </a:rPr>
              <a:t>The answer is A) Warn staff, tell IT, and have her contact her bank and change passwords. Quiet fixes give attackers more time. Others may have received the same text, so warn staff and tell IT as well as protecting her accounts.</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33</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387348"/>
            <a:ext cx="9418320" cy="773176"/>
          </a:xfrm>
          <a:prstGeom prst="rect">
            <a:avLst/>
          </a:prstGeom>
          <a:noFill/>
        </p:spPr>
        <p:txBody>
          <a:bodyPr wrap="none">
            <a:spAutoFit/>
          </a:bodyPr>
          <a:lstStyle/>
          <a:p>
            <a:pPr algn="ctr"/>
            <a:r>
              <a:rPr sz="4400" b="1">
                <a:solidFill>
                  <a:srgbClr val="8B7FE8"/>
                </a:solidFill>
              </a:rPr>
              <a:t>CORRECT!</a:t>
            </a:r>
          </a:p>
        </p:txBody>
      </p:sp>
      <p:sp>
        <p:nvSpPr>
          <p:cNvPr id="5" name="TextBox 4"/>
          <p:cNvSpPr txBox="1"/>
          <p:nvPr/>
        </p:nvSpPr>
        <p:spPr>
          <a:xfrm>
            <a:off x="792480" y="2663444"/>
            <a:ext cx="10607040" cy="1207008"/>
          </a:xfrm>
          <a:prstGeom prst="rect">
            <a:avLst/>
          </a:prstGeom>
          <a:noFill/>
        </p:spPr>
        <p:txBody>
          <a:bodyPr wrap="square">
            <a:spAutoFit/>
          </a:bodyPr>
          <a:lstStyle/>
          <a:p>
            <a:pPr algn="ctr"/>
            <a:r>
              <a:rPr sz="2400" b="0" i="0">
                <a:solidFill>
                  <a:srgbClr val="333333"/>
                </a:solidFill>
              </a:rPr>
              <a:t>Right. Quiet fixes give attackers more time. Others may have received the same text, so warn staff and tell IT as well as protecting her accounts.</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34</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SUMMARY</a:t>
            </a:r>
          </a:p>
        </p:txBody>
      </p:sp>
      <p:sp>
        <p:nvSpPr>
          <p:cNvPr id="5" name="Rounded Rectangle 4"/>
          <p:cNvSpPr/>
          <p:nvPr/>
        </p:nvSpPr>
        <p:spPr>
          <a:xfrm>
            <a:off x="548640" y="1929573"/>
            <a:ext cx="3484880" cy="2162685"/>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DETECT</a:t>
            </a:r>
          </a:p>
          <a:p>
            <a:pPr algn="ctr"/>
            <a:r>
              <a:rPr sz="2800">
                <a:solidFill>
                  <a:srgbClr val="FFFFFF"/>
                </a:solidFill>
              </a:rPr>
              <a:t>Payday pressure is the pattern</a:t>
            </a:r>
          </a:p>
        </p:txBody>
      </p:sp>
      <p:sp>
        <p:nvSpPr>
          <p:cNvPr id="6" name="Rounded Rectangle 5"/>
          <p:cNvSpPr/>
          <p:nvPr/>
        </p:nvSpPr>
        <p:spPr>
          <a:xfrm>
            <a:off x="4353560" y="1929573"/>
            <a:ext cx="3484880" cy="2162685"/>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VERIFY</a:t>
            </a:r>
          </a:p>
          <a:p>
            <a:pPr algn="ctr"/>
            <a:r>
              <a:rPr sz="2800">
                <a:solidFill>
                  <a:srgbClr val="FFFFFF"/>
                </a:solidFill>
              </a:rPr>
              <a:t>Use the system of record, not the message</a:t>
            </a:r>
          </a:p>
        </p:txBody>
      </p:sp>
      <p:sp>
        <p:nvSpPr>
          <p:cNvPr id="7" name="Rounded Rectangle 6"/>
          <p:cNvSpPr/>
          <p:nvPr/>
        </p:nvSpPr>
        <p:spPr>
          <a:xfrm>
            <a:off x="8158480" y="1929573"/>
            <a:ext cx="3484880" cy="2162685"/>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CONTAIN</a:t>
            </a:r>
          </a:p>
          <a:p>
            <a:pPr algn="ctr"/>
            <a:r>
              <a:rPr sz="2800">
                <a:solidFill>
                  <a:srgbClr val="FFFFFF"/>
                </a:solidFill>
              </a:rPr>
              <a:t>Bank first, tell the employee, then report</a:t>
            </a:r>
          </a:p>
        </p:txBody>
      </p:sp>
      <p:sp>
        <p:nvSpPr>
          <p:cNvPr id="8" name="TextBox 7"/>
          <p:cNvSpPr txBox="1"/>
          <p:nvPr/>
        </p:nvSpPr>
        <p:spPr>
          <a:xfrm>
            <a:off x="792480" y="4595178"/>
            <a:ext cx="10607040" cy="649224"/>
          </a:xfrm>
          <a:prstGeom prst="rect">
            <a:avLst/>
          </a:prstGeom>
          <a:noFill/>
        </p:spPr>
        <p:txBody>
          <a:bodyPr wrap="square">
            <a:spAutoFit/>
          </a:bodyPr>
          <a:lstStyle/>
          <a:p>
            <a:pPr algn="ctr"/>
            <a:r>
              <a:rPr sz="3600" b="1" i="1">
                <a:solidFill>
                  <a:srgbClr val="333333"/>
                </a:solidFill>
              </a:rPr>
              <a:t>Always verify somewhere the request can't reach.</a:t>
            </a:r>
          </a:p>
        </p:txBody>
      </p:sp>
      <p:sp>
        <p:nvSpPr>
          <p:cNvPr id="13" name="Adapt note"/>
          <p:cNvSpPr txBox="1"/>
          <p:nvPr/>
        </p:nvSpPr>
        <p:spPr>
          <a:xfrm>
            <a:off x="792480" y="5354130"/>
            <a:ext cx="10607040" cy="713232"/>
          </a:xfrm>
          <a:prstGeom prst="rect">
            <a:avLst/>
          </a:prstGeom>
          <a:noFill/>
        </p:spPr>
        <p:txBody>
          <a:bodyPr wrap="square">
            <a:spAutoFit/>
          </a:bodyPr>
          <a:lstStyle/>
          <a:p>
            <a:pPr algn="ctr"/>
            <a:r>
              <a:rPr sz="2000" b="0" i="1">
                <a:solidFill>
                  <a:srgbClr val="333333"/>
                </a:solidFill>
              </a:rPr>
              <a:t>Laws, contacts and reporting services differ by country and industry. Adapt this module before you use it.</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35</a:t>
            </a:r>
          </a:p>
        </p:txBody>
      </p:sp>
      <p:pic>
        <p:nvPicPr>
          <p:cNvPr id="10" name="narration_pay_L13.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
        <p:nvSpPr>
          <p:cNvPr id="11" name="Kiosk Previous">
            <a:hlinkClick r:id="rId2"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2" name="Kiosk Next">
            <a:hlinkClick r:id="rId1" action="ppaction://hlinksldjump"/>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660" fill="hold"/>
                                        <p:tgtEl>
                                          <p:spTgt spid="10"/>
                                        </p:tgtEl>
                                      </p:cBhvr>
                                    </p:cmd>
                                  </p:childTnLst>
                                </p:cTn>
                              </p:par>
                              <p:par>
                                <p:cTn id="20" presetID="26" presetClass="emph" presetSubtype="0" repeatCount="indefinite" fill="hold" grpId="0" nodeType="withEffect">
                                  <p:stCondLst>
                                    <p:cond delay="24660"/>
                                  </p:stCondLst>
                                  <p:childTnLst>
                                    <p:animEffect transition="out" filter="fade">
                                      <p:cBhvr>
                                        <p:cTn id="21" dur="1000" tmFilter="0, 0; .2, .5; .8, .5; 1, 0"/>
                                        <p:tgtEl>
                                          <p:spTgt spid="12"/>
                                        </p:tgtEl>
                                      </p:cBhvr>
                                    </p:animEffect>
                                    <p:animScale>
                                      <p:cBhvr>
                                        <p:cTn id="22" dur="500" autoRev="1" fill="hold"/>
                                        <p:tgtEl>
                                          <p:spTgt spid="1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1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731520" y="1270127"/>
            <a:ext cx="10698480" cy="943609"/>
          </a:xfrm>
          <a:prstGeom prst="rect">
            <a:avLst/>
          </a:prstGeom>
          <a:noFill/>
        </p:spPr>
        <p:txBody>
          <a:bodyPr wrap="none">
            <a:spAutoFit/>
          </a:bodyPr>
          <a:lstStyle/>
          <a:p>
            <a:pPr algn="ctr"/>
            <a:r>
              <a:rPr sz="4800" b="1">
                <a:solidFill>
                  <a:srgbClr val="000000"/>
                </a:solidFill>
              </a:rPr>
              <a:t>THANK YOU</a:t>
            </a:r>
          </a:p>
        </p:txBody>
      </p:sp>
      <p:sp>
        <p:nvSpPr>
          <p:cNvPr id="5" name="TextBox 4"/>
          <p:cNvSpPr txBox="1"/>
          <p:nvPr/>
        </p:nvSpPr>
        <p:spPr>
          <a:xfrm>
            <a:off x="792480" y="2716656"/>
            <a:ext cx="10607040" cy="1207008"/>
          </a:xfrm>
          <a:prstGeom prst="rect">
            <a:avLst/>
          </a:prstGeom>
          <a:noFill/>
        </p:spPr>
        <p:txBody>
          <a:bodyPr wrap="square">
            <a:spAutoFit/>
          </a:bodyPr>
          <a:lstStyle/>
          <a:p>
            <a:pPr algn="ctr"/>
            <a:r>
              <a:rPr sz="3600" b="0" i="0">
                <a:solidFill>
                  <a:srgbClr val="333333"/>
                </a:solidFill>
              </a:rPr>
              <a:t>Questions? Reach out to Jenny: s4927217@uq.edu.au</a:t>
            </a:r>
          </a:p>
        </p:txBody>
      </p:sp>
      <p:sp>
        <p:nvSpPr>
          <p:cNvPr id="6" name="TextBox 5"/>
          <p:cNvSpPr txBox="1"/>
          <p:nvPr/>
        </p:nvSpPr>
        <p:spPr>
          <a:xfrm>
            <a:off x="792480" y="4426584"/>
            <a:ext cx="10607040" cy="1207008"/>
          </a:xfrm>
          <a:prstGeom prst="rect">
            <a:avLst/>
          </a:prstGeom>
          <a:noFill/>
        </p:spPr>
        <p:txBody>
          <a:bodyPr wrap="square">
            <a:spAutoFit/>
          </a:bodyPr>
          <a:lstStyle/>
          <a:p>
            <a:pPr algn="ctr"/>
            <a:r>
              <a:rPr sz="3600" b="0" i="0">
                <a:solidFill>
                  <a:srgbClr val="333333"/>
                </a:solidFill>
              </a:rPr>
              <a:t>Prepared as part of the Role-Based BEC Competency Framework (RBCF)</a:t>
            </a:r>
          </a:p>
        </p:txBody>
      </p:sp>
      <p:pic>
        <p:nvPicPr>
          <p:cNvPr id="56" name="narration_slide27.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
        <p:nvSpPr>
          <p:cNvPr id="58" name="Kiosk Previous">
            <a:hlinkClick r:id="rId2" action="ppaction://hlinksldjump"/>
          </p:cNvPr>
          <p:cNvSpPr/>
          <p:nvPr/>
        </p:nvSpPr>
        <p:spPr>
          <a:xfrm>
            <a:off x="449580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59" name="Kiosk Finish">
            <a:hlinkClick r:id="" action="ppaction://hlinkshowjump?jump=endshow"/>
          </p:cNvPr>
          <p:cNvSpPr/>
          <p:nvPr/>
        </p:nvSpPr>
        <p:spPr>
          <a:xfrm>
            <a:off x="6233160" y="6309360"/>
            <a:ext cx="1463040" cy="384048"/>
          </a:xfrm>
          <a:prstGeom prst="roundRect">
            <a:avLst>
              <a:gd name="adj" fmla="val 8000"/>
            </a:avLst>
          </a:prstGeom>
          <a:solidFill>
            <a:srgbClr val="A69BFB"/>
          </a:solidFill>
          <a:ln>
            <a:solidFill>
              <a:srgbClr val="665CC7"/>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Finish</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326" fill="hold"/>
                                        <p:tgtEl>
                                          <p:spTgt spid="5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6"/>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1172</Words>
  <Application>Microsoft Office PowerPoint</Application>
  <PresentationFormat>Widescreen</PresentationFormat>
  <Paragraphs>154</Paragraphs>
  <Slides>27</Slides>
  <Notes>1</Notes>
  <HiddenSlides>0</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Email Compromise Training: HR and Payroll (kiosk version)</dc:title>
  <dc:subject>Role-Based BEC Competency Framework (RBCF)</dc:subject>
  <dc:creator>Ida Jenifer Jayaprakasam</dc:creator>
  <cp:keywords>business email compromise; BEC; role-based training; RBCF</cp:keywords>
  <dc:description>Capstone project CYBR7901/7902, University of Queensland</dc:description>
  <cp:lastModifiedBy>Ida Jenifer Jayaprakasam</cp:lastModifiedBy>
  <cp:revision>2</cp:revision>
  <dcterms:created xsi:type="dcterms:W3CDTF">2013-01-27T09:14:16Z</dcterms:created>
  <dcterms:modified xsi:type="dcterms:W3CDTF">2026-09-18T01:28:08Z</dcterms:modified>
  <cp:category/>
</cp:coreProperties>
</file>